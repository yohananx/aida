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latin typeface="Times New Roman"/>
              </a:rPr>
              <a:t>AIDA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latin typeface="Times New Roman"/>
              </a:rPr>
              <a:t>An Affective Intelligent Dialogue Agent Using the Adaptive
Emotion-Aware Intervention Framework for Mental Health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800" b="0">
                <a:latin typeface="Times New Roman"/>
              </a:rPr>
              <a:t>Department of Computer Science</a:t>
            </a:r>
          </a:p>
          <a:p>
            <a:pPr algn="ctr"/>
            <a:r>
              <a:rPr sz="1800" b="0">
                <a:latin typeface="Times New Roman"/>
              </a:rPr>
              <a:t>Landmark University, Omu-Aran, Kwara State</a:t>
            </a:r>
          </a:p>
          <a:p>
            <a:pPr algn="ctr"/>
            <a:r>
              <a:rPr sz="1800" b="0">
                <a:latin typeface="Times New Roman"/>
              </a:rPr>
              <a:t/>
            </a:r>
          </a:p>
          <a:p>
            <a:pPr algn="ctr"/>
            <a:r>
              <a:rPr sz="1800" b="0">
                <a:latin typeface="Times New Roman"/>
              </a:rPr>
              <a:t>YOHANAN KOLAWOLA</a:t>
            </a:r>
          </a:p>
          <a:p>
            <a:pPr algn="ctr"/>
            <a:r>
              <a:rPr sz="1800" b="0">
                <a:latin typeface="Times New Roman"/>
              </a:rPr>
              <a:t>21CD008347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Times New Roman"/>
              </a:rPr>
              <a:t>Supervisor: Dr. Emmanuel Igbekele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Times New Roman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30929280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3092928000" y="2560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Statement of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3092928000" y="374903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Aim and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937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3092928000" y="4937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98570880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560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9857088000" y="2560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Results and 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74903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9857088000" y="374903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2000">
                <a:latin typeface="Times New Roman"/>
              </a:rPr>
              <a:t>Mental health disorders affect 1 in 8 people globally (WHO, 2022); in Nigeria, fewer than 10% of those affected access care</a:t>
            </a:r>
          </a:p>
          <a:p>
            <a:pPr algn="l">
              <a:spcAft>
                <a:spcPts val="800"/>
              </a:spcAft>
            </a:pPr>
            <a:r>
              <a:rPr sz="2000">
                <a:latin typeface="Times New Roman"/>
              </a:rPr>
              <a:t>AI-powered chatbots (Woebot, Wysa, Tess) have shown efficacy in reducing depression and anxiety symptoms through CBT-aligned conversation</a:t>
            </a:r>
          </a:p>
          <a:p>
            <a:pPr algn="l">
              <a:spcAft>
                <a:spcPts val="800"/>
              </a:spcAft>
            </a:pPr>
            <a:r>
              <a:rPr sz="2000">
                <a:latin typeface="Times New Roman"/>
              </a:rPr>
              <a:t>Existing chatbots detect current emotion but lack trajectory awareness — they cannot distinguish between transient distress and escalating crisis</a:t>
            </a:r>
          </a:p>
          <a:p>
            <a:pPr algn="l">
              <a:spcAft>
                <a:spcPts val="800"/>
              </a:spcAft>
            </a:pPr>
            <a:r>
              <a:rPr sz="2000">
                <a:latin typeface="Times New Roman"/>
              </a:rPr>
              <a:t>AIDA addresses this gap through the Adaptive Emotion-Aware Intervention Framework (AEIF), a 6-layer pipeline that integrates emotion detection, trend analysis, and strategy selection</a:t>
            </a:r>
          </a:p>
          <a:p>
            <a:pPr algn="l">
              <a:spcAft>
                <a:spcPts val="800"/>
              </a:spcAft>
            </a:pPr>
            <a:r>
              <a:rPr sz="2000">
                <a:latin typeface="Times New Roman"/>
              </a:rPr>
              <a:t>Target population: Nigerian young adults (18–35), with support for Nigerian Pidgin English and Nigeria-specific crisis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INTRODUCTION (Cont'd)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2000">
                <a:latin typeface="Times New Roman"/>
              </a:rPr>
              <a:t>The AEIF framework contributes a novel architecture: trajectory-aware strategy selection in mental health chatbots</a:t>
            </a:r>
          </a:p>
          <a:p>
            <a:pPr algn="l">
              <a:spcAft>
                <a:spcPts val="800"/>
              </a:spcAft>
            </a:pPr>
            <a:r>
              <a:rPr sz="2000">
                <a:latin typeface="Times New Roman"/>
              </a:rPr>
              <a:t>AEIF vs Baseline comparison demonstrates that strategy-guidance produces qualitatively superior empathetic alignment</a:t>
            </a:r>
          </a:p>
          <a:p>
            <a:pPr algn="l">
              <a:spcAft>
                <a:spcPts val="800"/>
              </a:spcAft>
            </a:pPr>
            <a:r>
              <a:rPr sz="2000">
                <a:latin typeface="Times New Roman"/>
              </a:rPr>
              <a:t>The system achieved 77.08% emotion accuracy, 100% crisis detection, 100% trend accuracy on a 58-case evaluation set</a:t>
            </a:r>
          </a:p>
          <a:p>
            <a:pPr algn="l">
              <a:spcAft>
                <a:spcPts val="800"/>
              </a:spcAft>
            </a:pPr>
            <a:r>
              <a:rPr sz="2000">
                <a:latin typeface="Times New Roman"/>
              </a:rPr>
              <a:t>All 31 unit tests pass across 5 test modules (emotion, crisis, trend, strategy, pipeline)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STATEMENT OF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2000">
                <a:latin typeface="Times New Roman"/>
              </a:rPr>
              <a:t>Nigeria has a psychiatrist-to-population ratio of approximately 1:1 million (WHO), leaving millions without access to mental health support</a:t>
            </a:r>
          </a:p>
          <a:p>
            <a:pPr algn="l">
              <a:spcAft>
                <a:spcPts val="800"/>
              </a:spcAft>
            </a:pPr>
            <a:r>
              <a:rPr sz="2000">
                <a:latin typeface="Times New Roman"/>
              </a:rPr>
              <a:t>Existing mental health chatbots detect a user's current emotional state but do not model emotional trajectory over time</a:t>
            </a:r>
          </a:p>
          <a:p>
            <a:pPr algn="l">
              <a:spcAft>
                <a:spcPts val="800"/>
              </a:spcAft>
            </a:pPr>
            <a:r>
              <a:rPr sz="2000">
                <a:latin typeface="Times New Roman"/>
              </a:rPr>
              <a:t>Without trend awareness, chatbots cannot differentiate between a user who is persistently distressed vs. one who is improving</a:t>
            </a:r>
          </a:p>
          <a:p>
            <a:pPr algn="l">
              <a:spcAft>
                <a:spcPts val="800"/>
              </a:spcAft>
            </a:pPr>
            <a:r>
              <a:rPr sz="2000">
                <a:latin typeface="Times New Roman"/>
              </a:rPr>
              <a:t>Existing systems lack culturally adapted features for Nigerian users, including Pidgin English support and local crisis resources</a:t>
            </a:r>
          </a:p>
          <a:p>
            <a:pPr algn="l">
              <a:spcAft>
                <a:spcPts val="800"/>
              </a:spcAft>
            </a:pPr>
            <a:r>
              <a:rPr sz="2000">
                <a:latin typeface="Times New Roman"/>
              </a:rPr>
              <a:t>Strategy selection in existing systems is not driven by trajectory data, limiting response quality in multi-turn conversations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AIM AND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 b="0">
                <a:latin typeface="Times New Roman"/>
              </a:rPr>
              <a:t>Aim: To design, implement, and evaluate the AEIF framework — a trajectory-aware, culturally adapted conversational agent for preliminary mental health support among Nigerian young adults.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1">
                <a:latin typeface="Times New Roman"/>
              </a:rPr>
              <a:t>Objectives: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1. Analyse existing mental health chatbot architectures to identify the gap in trajectory-aware emotional support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2. Design the 6-layer AEIF framework integrating emotion classification, trend analysis, and strategy selection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3. Implement AIDA as a FastAPI backend with a React frontend, including Nigerian Pidgin support and local crisis resources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4. Evaluate the system using automated metrics (77.08% emotion accuracy, 100% crisis accuracy, 100% trend accuracy)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5. Conduct a qualitative AEIF vs. Baseline pipeline comparison across three scripted conversation scenarios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Woebot (Fitzpatrick et al., 2017) — RCT showing significant depression reduction using CBT-based chatbot, but no emotion trajectory tracking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Wysa (Inkster et al., 2018) — Empathy-driven conversational agent with demonstrated real-world impact, but limited to single-turn emotion detection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Emotional Support Conversation framework (Liu et al., 2021) — Proposed multi-strategy approach for ESC, but no trajectory-to-strategy mapping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GoEmotions dataset (Demszky et al., 2020) — 27 fine-grained emotion categories, basis for AEIF's 6-cluster taxonomy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Key gap: No existing system integrates emotion trajectory analysis directly into strategy selection for mental health chatbots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METHODOLOGY: AEIF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The AEIF framework is a 6-layer sequential processing pipeline: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Layer 1 — Safety Check: Keyword-based crisis detection (including Nigerian Pidgin)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Layer 2 — Emotion Detection: HF transformer + keyword fallback → 6 emotion clusters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Layer 3 — Memory Update: In-memory session store, 20-turn cap, dominant emotion tracking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Layer 4 — Trend Analysis: Severity-weighted scoring → 7 trend labels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Layer 5 — Strategy Selection: 12-condition lookup → 9 CBT-aligned strategies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Layer 6 — Response Generation: Groq LLM (llama-3.3-70b) + template fallback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Design Science Research (DSR) methodology: 6 iterations of design-evaluate-refine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METHODOLOGY: EMOTION TAXONOMY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AEIF defines 6 mutually exclusive emotion clusters mapped from HuggingFace and GoEmotions labels: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POSITIVE (0.0) — joy, love, gratitude, optimism, relief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NEUTRAL (0.3) — neutral statements, factual content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AMBIGUOUS (0.4) — confusion, surprise, contradictory expressions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ANXIETY (0.6) — fear, nervousness, worry, dread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ANGER (0.7) — anger, annoyance, disgust, frustration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SADNESS (0.8) — sadness, grief, disappointment, hopelessness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CRISIS (1.0) — detected by safety layer before emotion classification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Ambiguity detection: contrastive conjunctions (but, though, however) + mixed keywords → AMBIGUOUS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METHODOLOGY: TREND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Unweighted arithmetic mean of severity scores over sliding window (max 10 entries)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Minimum 3 turns required before trend is derived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7 trend types (detected in priority order):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1. ELEVATED_ANGER — 2+ consecutive ANGER (highest priority, safety-relevant)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2. ESCALATING_DISTRESS — every score strictly increasing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3. IMPROVING — every score strictly decreasing + negative emotions in first half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4. FLUCTUATING — 1+ direction reversals between consecutive triples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5. PERSISTENT_DISTRESS — mean severity &gt; 0.55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6. STABLE_POSITIVE — mean severity ≤ 0.2 + POSITIVE in last 3 entries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7. INSUFFICIENT_DATA — fewer than 3 turns or no trend detected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METHODOLOGY: STRATEGY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12-condition lookup table: 6 trend-to-strategy + 6 emotion-to-strategy (for INSUFFICIENT_DATA)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Trend → Strategy: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PERSISTENT_DISTRESS → VALIDATION_AND_REFLECTION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ESCALATING_DISTRESS → GROUNDING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ELEVATED_ANGER → CALM_REFLECTION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IMPROVING → ENCOURAGEMENT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STABLE_POSITIVE → POSITIVE_REINFORCEMENT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  FLUCTUATING → EXPLORATORY_INQUIRY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LLM system prompt includes: emotion cluster, trend, strategy label, strategy instruction, and 6 hard rules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IMPLEMENTATION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Backend: FastAPI (Python 3.14), 7 REST endpoints, CORS-configured for localhost:5173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Frontend: React + Vite 5, 6 components (Disclaimer, EmotionPulse, TrendTimeline, StrategyBadge, FeedbackStars, SessionSummary)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Emotion Classifier: HuggingFace j-hartmann/emotion-english-distilroberta-base + keyword fallback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LLM: Groq API (llama-3.3-70b-versatile) with exponential backoff retry (3 attempts, 0.5s/1.0s/2.0s)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Crisis Resources: Nigeria-specific (MANI: 08091116264, LASEMA: 08000432584, NEMA: 112)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Pidgin Support: Keyword lists for sadness ("nobody dey for me"), anxiety ("my mind dey scatter"), anger ("I dey vex")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Baseline Comparison Mode: use_aeif=False disables Layers 4-5, enabling controlled A/B testing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All data is in-memory only — no database, no disk writes, no PII collection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RESULTS: EMOTION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Automated evaluation on 58-case test set (48 non-crisis, 10 crisis):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  Overall emotion accuracy: 77.08% (37/48 non-crisis cases)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  Crisis detection accuracy: 100% (10/10 + no false positives)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  Trend analysis accuracy: 100% (7/7 scripted sequences)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  All 31 unit tests pass across 5 test modules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Per-cluster performance: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  POSITIVE: Precision 1.000, Recall 0.889, F1 = 0.941 (n=9)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  ANGER:    Precision 0.800, Recall 1.000, F1 = 0.889 (n=4)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  SADNESS:  Precision 1.000, Recall 0.800, F1 = 0.889 (n=10)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  ANXIETY:  Precision 0.800, Recall 0.800, F1 = 0.800 (n=5)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  NEUTRAL:  Precision 0.500, Recall 0.900, F1 = 0.643 (n=10)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  AMBIGUOUS: Precision 1.000, Recall 0.400, F1 = 0.571 (n=10)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RESULTS: AEIF vs BASELINE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Three scripted scenarios (sadness, anxiety, mixed-emotion) run through both pipelines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Key finding — Mixed-emotion Turn 2: Same input ("Everyone says I should be happy"), same emotion (POSITIVE)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  AEIF (POSITIVE_REINFORCEMENT): "It's great that you're surrounded by supportive people..." — affirming, celebratory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  Baseline (no strategy): "It can be really tough when others don't understand..." — explores incongruence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Key finding — Sadness Turn 3: Three consecutive SADNESS → PERSISTENT_DISTRESS → VALIDATION_AND_REFLECTION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  AEIF response: Reflects accumulated distress, names the emotional experience without interpreting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  Baseline: Subtly pathologises ("this can be a sign that you're feeling drained")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Pattern across all scenarios: AEIF responses are strategy-specific, context-escalating, and empathetically calibrated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RESULTS: DEMO CONVERSATION (7-TURN)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Turn 1: "I have been feeling really down lately" → SADNESS → VALIDATION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Turn 2: "I failed my final year project presentation" → SADNESS → VALIDATION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Turn 3: "My supervisor was disappointed" → ANGER → PERSISTENT_DISTRESS → VALIDATION_AND_REFLECTION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Turn 4: "I feel so worthless and tired of trying" → SADNESS → FLUCTUATING → EXPLORATORY_INQUIRY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Turn 5: "Maybe things can get better" → NEUTRAL → FLUCTUATING → EXPLORATORY_INQUIRY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Turn 6: "My friend called and it helped a little" → NEUTRAL → FLUCTUATING → EXPLORATORY_INQUIRY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Turn 7: "I think I just needed to talk to someone" → NEUTRAL → FLUCTUATING → EXPLORATORY_INQUIRY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Significant escalation at Turn 3: Accumulated distress triggers strategy shift from VALIDATION to VALIDATION_AND_REFLECTION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Times New Roman"/>
              </a:rPr>
              <a:t>Dominant emotion: SADNESS | Final trend: FLUCTUATING | 14 total messages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IMPLEMENTATION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HuggingFace Model Latency: Transformer model startup 45-60s → resolved via HF_HUB_OFFLINE=1 cache (under 2s)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Trend Threshold Calibration: Initial ESCALATING_DISTRESS was too strict for real plateaus → reordered priority chain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Ambiguity Detection: Contradictory statements classified as NEUTRAL due to high HF neutral logit → added ambiguity pre-check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Crisis Pattern Coverage: Indirect expressions missed → expanded to 35+ patterns including Pidgin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Baseline Mode: Required structural change to pipeline (use_aeif flag) with zero regression risk to primary path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AIDA implements the AEIF framework — a trajectory-aware, culturally adapted conversational agent for mental health support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AEIF introduces a novel architecture: trend analysis directly drives strategy selection in multi-turn conversation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Quantitative: 77.08% emotion accuracy, 100% crisis accuracy, 100% trend accuracy, 31/31 unit tests pass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Qualitative: AEIF responses are consistently more empathetically calibrated than baseline across 3 scenarios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Culturally adapted for Nigerian users: Pidgin English support, local crisis resources (MANI, LASEMA, NEMA)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Limitations: In-memory storage only, no user study yet, keyword classifier misses subtle positive signals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Times New Roman"/>
              </a:rPr>
              <a:t>Future work: User study with Nigerian participants, contextual emotion classification, database persistence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1000"/>
              </a:spcAft>
            </a:pPr>
            <a:r>
              <a:rPr sz="1400">
                <a:latin typeface="Times New Roman"/>
              </a:rPr>
              <a:t>Fitzpatrick, K. K., Darcy, A., &amp; Vierhile, M. (2017). Delivering cognitive behavior therapy to young adults with symptoms of depression and anxiety using a fully automated conversational agent (Woebot): A randomized controlled trial. JMIR Mental Health, 4(2), e19.</a:t>
            </a:r>
          </a:p>
          <a:p>
            <a:pPr algn="l">
              <a:spcAft>
                <a:spcPts val="1000"/>
              </a:spcAft>
            </a:pPr>
            <a:r>
              <a:rPr sz="1400">
                <a:latin typeface="Times New Roman"/>
              </a:rPr>
              <a:t>Inkster, B., Sarda, S., &amp; Subramanian, V. (2018). An empathy-driven, conversational artificial intelligence agent (Wysa) for digital mental well-being. JMIR mHealth and uHealth, 6(11), e12106.</a:t>
            </a:r>
          </a:p>
          <a:p>
            <a:pPr algn="l">
              <a:spcAft>
                <a:spcPts val="1000"/>
              </a:spcAft>
            </a:pPr>
            <a:r>
              <a:rPr sz="1400">
                <a:latin typeface="Times New Roman"/>
              </a:rPr>
              <a:t>Liu, S., Zheng, C., Demasi, O., Sabour, S., Li, Y., Yu, Z., ... &amp; Huang, M. (2021). Towards emotional support dialog systems. Proceedings of ACL 2021.</a:t>
            </a:r>
          </a:p>
          <a:p>
            <a:pPr algn="l">
              <a:spcAft>
                <a:spcPts val="1000"/>
              </a:spcAft>
            </a:pPr>
            <a:r>
              <a:rPr sz="1400">
                <a:latin typeface="Times New Roman"/>
              </a:rPr>
              <a:t>Demszky, D., Movshovitz-Attias, D., Ko, J., Cowen, A., Nemade, G., &amp; Ravi, S. (2020). GoEmotions: A dataset of fine-grained emotions. Proceedings of ACL 2020.</a:t>
            </a:r>
          </a:p>
          <a:p>
            <a:pPr algn="l">
              <a:spcAft>
                <a:spcPts val="1000"/>
              </a:spcAft>
            </a:pPr>
            <a:r>
              <a:rPr sz="1400">
                <a:latin typeface="Times New Roman"/>
              </a:rPr>
              <a:t>Patel, V., Saxena, S., Lund, C., et al. (2018). The Lancet Commission on global mental health and sustainable development. The Lancet, 392(10157), 1553-1598.</a:t>
            </a:r>
          </a:p>
          <a:p>
            <a:pPr algn="l">
              <a:spcAft>
                <a:spcPts val="1000"/>
              </a:spcAft>
            </a:pPr>
            <a:r>
              <a:rPr sz="1400">
                <a:latin typeface="Times New Roman"/>
              </a:rPr>
              <a:t>Naslund, J. A., Aschbrenner, K. A., Araya, R., et al. (2017). Digital technology for treating and preventing mental disorders in low-income and middle-income countries. The Lancet Psychiatry, 4(6), 486-500.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</a:rPr>
              <a:t>ACKNOWLEDGEMENT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600"/>
              </a:spcAft>
            </a:pPr>
            <a:r>
              <a:rPr sz="2000">
                <a:latin typeface="Times New Roman"/>
              </a:rPr>
              <a:t>I want to sincerely thank God Almighty for His grace throughout this project.</a:t>
            </a:r>
          </a:p>
          <a:p>
            <a:pPr algn="ctr">
              <a:spcAft>
                <a:spcPts val="600"/>
              </a:spcAft>
            </a:pPr>
            <a:r>
              <a:rPr sz="2000">
                <a:latin typeface="Times New Roman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2000">
                <a:latin typeface="Times New Roman"/>
              </a:rPr>
              <a:t>Landmark University, Department of Computer Science</a:t>
            </a:r>
          </a:p>
          <a:p>
            <a:pPr algn="ctr">
              <a:spcAft>
                <a:spcPts val="600"/>
              </a:spcAft>
            </a:pPr>
            <a:r>
              <a:rPr sz="2000">
                <a:latin typeface="Times New Roman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2000">
                <a:latin typeface="Times New Roman"/>
              </a:rPr>
              <a:t>Supervisor: Dr. Emmanuel O. Igbekele</a:t>
            </a:r>
          </a:p>
          <a:p>
            <a:pPr algn="ctr">
              <a:spcAft>
                <a:spcPts val="600"/>
              </a:spcAft>
            </a:pPr>
            <a:r>
              <a:rPr sz="2000">
                <a:latin typeface="Times New Roman"/>
              </a:rPr>
              <a:t>Co-supervisor: Mr. Fortune O. Amrevuawho</a:t>
            </a:r>
          </a:p>
          <a:p>
            <a:pPr algn="ctr">
              <a:spcAft>
                <a:spcPts val="600"/>
              </a:spcAft>
            </a:pPr>
            <a:r>
              <a:rPr sz="2000">
                <a:latin typeface="Times New Roman"/>
              </a:rPr>
              <a:t>HOD: Prof. Marion O. Adebiyi</a:t>
            </a:r>
          </a:p>
          <a:p>
            <a:pPr algn="ctr">
              <a:spcAft>
                <a:spcPts val="600"/>
              </a:spcAft>
            </a:pPr>
            <a:r>
              <a:rPr sz="2000">
                <a:latin typeface="Times New Roman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2000">
                <a:latin typeface="Times New Roman"/>
              </a:rPr>
              <a:t>And finally my family and friends for their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