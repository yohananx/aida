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E"/>
        </a:solidFill>
      </p:bgPr>
    </p:bg>
    <p:spTree>
      <p:nvGrpSpPr>
        <p:cNvPr id="1" name=""/>
        <p:cNvGrpSpPr/>
        <p:nvPr/>
      </p:nvGrpSpPr>
      <p:grpSpPr>
        <a:xfrm>
          <a:off x="0" y="0"/>
          <a:ext cx="0" cy="0"/>
          <a:chOff x="0" y="0"/>
          <a:chExt cx="0" cy="0"/>
        </a:xfrm>
      </p:grpSpPr>
      <p:sp>
        <p:nvSpPr>
          <p:cNvPr id="2" name="Shape 0"/>
          <p:cNvSpPr/>
          <p:nvPr/>
        </p:nvSpPr>
        <p:spPr>
          <a:xfrm>
            <a:off x="6217920" y="320040"/>
            <a:ext cx="2788920" cy="4480560"/>
          </a:xfrm>
          <a:prstGeom prst="roundRect">
            <a:avLst>
              <a:gd name="adj" fmla="val 9836"/>
            </a:avLst>
          </a:prstGeom>
          <a:solidFill>
            <a:srgbClr val="0A6E72">
              <a:alpha val="18000"/>
            </a:srgbClr>
          </a:solidFill>
          <a:ln w="12700">
            <a:solidFill>
              <a:srgbClr val="0A6E72">
                <a:alpha val="30000"/>
              </a:srgbClr>
            </a:solidFill>
            <a:prstDash val="solid"/>
          </a:ln>
        </p:spPr>
      </p:sp>
      <p:sp>
        <p:nvSpPr>
          <p:cNvPr id="3" name="Shape 1"/>
          <p:cNvSpPr/>
          <p:nvPr/>
        </p:nvSpPr>
        <p:spPr>
          <a:xfrm>
            <a:off x="6492240" y="502920"/>
            <a:ext cx="2194560" cy="2194560"/>
          </a:xfrm>
          <a:prstGeom prst="ellipse">
            <a:avLst/>
          </a:prstGeom>
          <a:solidFill>
            <a:srgbClr val="128C8E">
              <a:alpha val="25000"/>
            </a:srgbClr>
          </a:solidFill>
          <a:ln w="12700">
            <a:solidFill>
              <a:srgbClr val="000000">
                <a:alpha val="0"/>
              </a:srgbClr>
            </a:solidFill>
            <a:prstDash val="solid"/>
          </a:ln>
        </p:spPr>
      </p:sp>
      <p:sp>
        <p:nvSpPr>
          <p:cNvPr id="4" name="Text 2"/>
          <p:cNvSpPr/>
          <p:nvPr/>
        </p:nvSpPr>
        <p:spPr>
          <a:xfrm>
            <a:off x="502920" y="548640"/>
            <a:ext cx="5486400" cy="118872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AIDA</a:t>
            </a:r>
            <a:endParaRPr lang="en-US" sz="7200" dirty="0"/>
          </a:p>
        </p:txBody>
      </p:sp>
      <p:sp>
        <p:nvSpPr>
          <p:cNvPr id="5" name="Text 3"/>
          <p:cNvSpPr/>
          <p:nvPr/>
        </p:nvSpPr>
        <p:spPr>
          <a:xfrm>
            <a:off x="502920" y="1691640"/>
            <a:ext cx="5943600" cy="411480"/>
          </a:xfrm>
          <a:prstGeom prst="rect">
            <a:avLst/>
          </a:prstGeom>
          <a:noFill/>
          <a:ln/>
        </p:spPr>
        <p:txBody>
          <a:bodyPr wrap="square" lIns="0" tIns="0" rIns="0" bIns="0" rtlCol="0" anchor="ctr"/>
          <a:lstStyle/>
          <a:p>
            <a:pPr indent="0" marL="0">
              <a:buNone/>
            </a:pPr>
            <a:r>
              <a:rPr lang="en-US" sz="1600" b="1" dirty="0">
                <a:solidFill>
                  <a:srgbClr val="C9993A"/>
                </a:solidFill>
                <a:latin typeface="Calibri" pitchFamily="34" charset="0"/>
                <a:ea typeface="Calibri" pitchFamily="34" charset="-122"/>
                <a:cs typeface="Calibri" pitchFamily="34" charset="-120"/>
              </a:rPr>
              <a:t>Affective Intelligent Dialogue Agent</a:t>
            </a:r>
            <a:endParaRPr lang="en-US" sz="1600" dirty="0"/>
          </a:p>
        </p:txBody>
      </p:sp>
      <p:sp>
        <p:nvSpPr>
          <p:cNvPr id="6" name="Text 4"/>
          <p:cNvSpPr/>
          <p:nvPr/>
        </p:nvSpPr>
        <p:spPr>
          <a:xfrm>
            <a:off x="502920" y="2148840"/>
            <a:ext cx="5669280" cy="548640"/>
          </a:xfrm>
          <a:prstGeom prst="rect">
            <a:avLst/>
          </a:prstGeom>
          <a:noFill/>
          <a:ln/>
        </p:spPr>
        <p:txBody>
          <a:bodyPr wrap="square" lIns="0" tIns="0" rIns="0" bIns="0" rtlCol="0" anchor="ctr"/>
          <a:lstStyle/>
          <a:p>
            <a:pPr indent="0" marL="0">
              <a:buNone/>
            </a:pPr>
            <a:r>
              <a:rPr lang="en-US" sz="1300" dirty="0">
                <a:solidFill>
                  <a:srgbClr val="A8C8D8"/>
                </a:solidFill>
                <a:latin typeface="Calibri" pitchFamily="34" charset="0"/>
                <a:ea typeface="Calibri" pitchFamily="34" charset="-122"/>
                <a:cs typeface="Calibri" pitchFamily="34" charset="-120"/>
              </a:rPr>
              <a:t>Adaptive Emotion-Aware Intervention Framework for Mental Health Support</a:t>
            </a:r>
            <a:endParaRPr lang="en-US" sz="1300" dirty="0"/>
          </a:p>
        </p:txBody>
      </p:sp>
      <p:sp>
        <p:nvSpPr>
          <p:cNvPr id="7" name="Shape 5"/>
          <p:cNvSpPr/>
          <p:nvPr/>
        </p:nvSpPr>
        <p:spPr>
          <a:xfrm>
            <a:off x="502920" y="2834640"/>
            <a:ext cx="5029200" cy="22860"/>
          </a:xfrm>
          <a:prstGeom prst="rect">
            <a:avLst/>
          </a:prstGeom>
          <a:solidFill>
            <a:srgbClr val="C9993A"/>
          </a:solidFill>
          <a:ln w="12700">
            <a:solidFill>
              <a:srgbClr val="C9993A"/>
            </a:solidFill>
            <a:prstDash val="solid"/>
          </a:ln>
        </p:spPr>
      </p:sp>
      <p:sp>
        <p:nvSpPr>
          <p:cNvPr id="8" name="Text 6"/>
          <p:cNvSpPr/>
          <p:nvPr/>
        </p:nvSpPr>
        <p:spPr>
          <a:xfrm>
            <a:off x="502920" y="2944368"/>
            <a:ext cx="5486400" cy="292608"/>
          </a:xfrm>
          <a:prstGeom prst="rect">
            <a:avLst/>
          </a:prstGeom>
          <a:noFill/>
          <a:ln/>
        </p:spPr>
        <p:txBody>
          <a:bodyPr wrap="square" lIns="0" tIns="0" rIns="0" bIns="0" rtlCol="0" anchor="ctr"/>
          <a:lstStyle/>
          <a:p>
            <a:pPr indent="0" marL="0">
              <a:buNone/>
            </a:pPr>
            <a:r>
              <a:rPr lang="en-US" sz="1200" dirty="0">
                <a:solidFill>
                  <a:srgbClr val="90B8C8"/>
                </a:solidFill>
                <a:latin typeface="Calibri" pitchFamily="34" charset="0"/>
                <a:ea typeface="Calibri" pitchFamily="34" charset="-122"/>
                <a:cs typeface="Calibri" pitchFamily="34" charset="-120"/>
              </a:rPr>
              <a:t>Yohanan Kolawola  ·  21CD008347</a:t>
            </a:r>
            <a:endParaRPr lang="en-US" sz="1200" dirty="0"/>
          </a:p>
        </p:txBody>
      </p:sp>
      <p:sp>
        <p:nvSpPr>
          <p:cNvPr id="9" name="Text 7"/>
          <p:cNvSpPr/>
          <p:nvPr/>
        </p:nvSpPr>
        <p:spPr>
          <a:xfrm>
            <a:off x="502920" y="3246120"/>
            <a:ext cx="5669280" cy="256032"/>
          </a:xfrm>
          <a:prstGeom prst="rect">
            <a:avLst/>
          </a:prstGeom>
          <a:noFill/>
          <a:ln/>
        </p:spPr>
        <p:txBody>
          <a:bodyPr wrap="square" lIns="0" tIns="0" rIns="0" bIns="0" rtlCol="0" anchor="ctr"/>
          <a:lstStyle/>
          <a:p>
            <a:pPr indent="0" marL="0">
              <a:buNone/>
            </a:pPr>
            <a:r>
              <a:rPr lang="en-US" sz="1100" dirty="0">
                <a:solidFill>
                  <a:srgbClr val="90B8C8"/>
                </a:solidFill>
                <a:latin typeface="Calibri" pitchFamily="34" charset="0"/>
                <a:ea typeface="Calibri" pitchFamily="34" charset="-122"/>
                <a:cs typeface="Calibri" pitchFamily="34" charset="-120"/>
              </a:rPr>
              <a:t>Department of Computer Science  ·  Landmark University, Omu-Aran</a:t>
            </a:r>
            <a:endParaRPr lang="en-US" sz="1100" dirty="0"/>
          </a:p>
        </p:txBody>
      </p:sp>
      <p:sp>
        <p:nvSpPr>
          <p:cNvPr id="10" name="Text 8"/>
          <p:cNvSpPr/>
          <p:nvPr/>
        </p:nvSpPr>
        <p:spPr>
          <a:xfrm>
            <a:off x="502920" y="3529584"/>
            <a:ext cx="5486400" cy="256032"/>
          </a:xfrm>
          <a:prstGeom prst="rect">
            <a:avLst/>
          </a:prstGeom>
          <a:noFill/>
          <a:ln/>
        </p:spPr>
        <p:txBody>
          <a:bodyPr wrap="square" lIns="0" tIns="0" rIns="0" bIns="0" rtlCol="0" anchor="ctr"/>
          <a:lstStyle/>
          <a:p>
            <a:pPr indent="0" marL="0">
              <a:buNone/>
            </a:pPr>
            <a:r>
              <a:rPr lang="en-US" sz="1100" dirty="0">
                <a:solidFill>
                  <a:srgbClr val="90B8C8"/>
                </a:solidFill>
                <a:latin typeface="Calibri" pitchFamily="34" charset="0"/>
                <a:ea typeface="Calibri" pitchFamily="34" charset="-122"/>
                <a:cs typeface="Calibri" pitchFamily="34" charset="-120"/>
              </a:rPr>
              <a:t>Supervisor: Dr. Emmanuel O. Igbekele</a:t>
            </a:r>
            <a:endParaRPr lang="en-US" sz="1100" dirty="0"/>
          </a:p>
        </p:txBody>
      </p:sp>
      <p:sp>
        <p:nvSpPr>
          <p:cNvPr id="11" name="Text 9"/>
          <p:cNvSpPr/>
          <p:nvPr/>
        </p:nvSpPr>
        <p:spPr>
          <a:xfrm>
            <a:off x="502920" y="4663440"/>
            <a:ext cx="2743200" cy="274320"/>
          </a:xfrm>
          <a:prstGeom prst="rect">
            <a:avLst/>
          </a:prstGeom>
          <a:noFill/>
          <a:ln/>
        </p:spPr>
        <p:txBody>
          <a:bodyPr wrap="square" lIns="0" tIns="0" rIns="0" bIns="0" rtlCol="0" anchor="ctr"/>
          <a:lstStyle/>
          <a:p>
            <a:pPr indent="0" marL="0">
              <a:buNone/>
            </a:pPr>
            <a:r>
              <a:rPr lang="en-US" sz="1100" dirty="0">
                <a:solidFill>
                  <a:srgbClr val="70A0B8"/>
                </a:solidFill>
                <a:latin typeface="Calibri" pitchFamily="34" charset="0"/>
                <a:ea typeface="Calibri" pitchFamily="34" charset="-122"/>
                <a:cs typeface="Calibri" pitchFamily="34" charset="-120"/>
              </a:rPr>
              <a:t>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PRESENTATION OUTLINE</a:t>
            </a:r>
            <a:endParaRPr lang="en-US" sz="2200" dirty="0"/>
          </a:p>
        </p:txBody>
      </p:sp>
      <p:sp>
        <p:nvSpPr>
          <p:cNvPr id="4" name="Text 2"/>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2 / 19</a:t>
            </a:r>
            <a:endParaRPr lang="en-US" sz="900" dirty="0"/>
          </a:p>
        </p:txBody>
      </p:sp>
      <p:sp>
        <p:nvSpPr>
          <p:cNvPr id="5" name="Shape 3"/>
          <p:cNvSpPr/>
          <p:nvPr/>
        </p:nvSpPr>
        <p:spPr>
          <a:xfrm>
            <a:off x="365760" y="1234440"/>
            <a:ext cx="1920240" cy="1417320"/>
          </a:xfrm>
          <a:prstGeom prst="roundRect">
            <a:avLst>
              <a:gd name="adj" fmla="val 7742"/>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6" name="Text 4"/>
          <p:cNvSpPr/>
          <p:nvPr/>
        </p:nvSpPr>
        <p:spPr>
          <a:xfrm>
            <a:off x="475488" y="1325880"/>
            <a:ext cx="457200" cy="320040"/>
          </a:xfrm>
          <a:prstGeom prst="rect">
            <a:avLst/>
          </a:prstGeom>
          <a:noFill/>
          <a:ln/>
        </p:spPr>
        <p:txBody>
          <a:bodyPr wrap="square" lIns="0" tIns="0" rIns="0" bIns="0" rtlCol="0" anchor="ctr"/>
          <a:lstStyle/>
          <a:p>
            <a:pPr indent="0" marL="0">
              <a:buNone/>
            </a:pPr>
            <a:r>
              <a:rPr lang="en-US" sz="1800" b="1" dirty="0">
                <a:solidFill>
                  <a:srgbClr val="C9993A"/>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475488" y="1673352"/>
            <a:ext cx="1691640" cy="29260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Introduction</a:t>
            </a:r>
            <a:endParaRPr lang="en-US" sz="1200" dirty="0"/>
          </a:p>
        </p:txBody>
      </p:sp>
      <p:sp>
        <p:nvSpPr>
          <p:cNvPr id="8" name="Text 6"/>
          <p:cNvSpPr/>
          <p:nvPr/>
        </p:nvSpPr>
        <p:spPr>
          <a:xfrm>
            <a:off x="475488" y="1993392"/>
            <a:ext cx="1691640" cy="5029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The mental health access gap + AI chatbot opportunity</a:t>
            </a:r>
            <a:endParaRPr lang="en-US" sz="950" dirty="0"/>
          </a:p>
        </p:txBody>
      </p:sp>
      <p:sp>
        <p:nvSpPr>
          <p:cNvPr id="9" name="Shape 7"/>
          <p:cNvSpPr/>
          <p:nvPr/>
        </p:nvSpPr>
        <p:spPr>
          <a:xfrm>
            <a:off x="2468880" y="1234440"/>
            <a:ext cx="1920240" cy="1417320"/>
          </a:xfrm>
          <a:prstGeom prst="roundRect">
            <a:avLst>
              <a:gd name="adj" fmla="val 7742"/>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0" name="Text 8"/>
          <p:cNvSpPr/>
          <p:nvPr/>
        </p:nvSpPr>
        <p:spPr>
          <a:xfrm>
            <a:off x="2578608" y="1325880"/>
            <a:ext cx="457200" cy="320040"/>
          </a:xfrm>
          <a:prstGeom prst="rect">
            <a:avLst/>
          </a:prstGeom>
          <a:noFill/>
          <a:ln/>
        </p:spPr>
        <p:txBody>
          <a:bodyPr wrap="square" lIns="0" tIns="0" rIns="0" bIns="0" rtlCol="0" anchor="ctr"/>
          <a:lstStyle/>
          <a:p>
            <a:pPr indent="0" marL="0">
              <a:buNone/>
            </a:pPr>
            <a:r>
              <a:rPr lang="en-US" sz="1800" b="1" dirty="0">
                <a:solidFill>
                  <a:srgbClr val="C9993A"/>
                </a:solidFill>
                <a:latin typeface="Calibri" pitchFamily="34" charset="0"/>
                <a:ea typeface="Calibri" pitchFamily="34" charset="-122"/>
                <a:cs typeface="Calibri" pitchFamily="34" charset="-120"/>
              </a:rPr>
              <a:t>02</a:t>
            </a:r>
            <a:endParaRPr lang="en-US" sz="1800" dirty="0"/>
          </a:p>
        </p:txBody>
      </p:sp>
      <p:sp>
        <p:nvSpPr>
          <p:cNvPr id="11" name="Text 9"/>
          <p:cNvSpPr/>
          <p:nvPr/>
        </p:nvSpPr>
        <p:spPr>
          <a:xfrm>
            <a:off x="2578608" y="1673352"/>
            <a:ext cx="1691640" cy="29260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Problem Statement</a:t>
            </a:r>
            <a:endParaRPr lang="en-US" sz="1200" dirty="0"/>
          </a:p>
        </p:txBody>
      </p:sp>
      <p:sp>
        <p:nvSpPr>
          <p:cNvPr id="12" name="Text 10"/>
          <p:cNvSpPr/>
          <p:nvPr/>
        </p:nvSpPr>
        <p:spPr>
          <a:xfrm>
            <a:off x="2578608" y="1993392"/>
            <a:ext cx="1691640" cy="5029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Why existing chatbots fall short</a:t>
            </a:r>
            <a:endParaRPr lang="en-US" sz="950" dirty="0"/>
          </a:p>
        </p:txBody>
      </p:sp>
      <p:sp>
        <p:nvSpPr>
          <p:cNvPr id="13" name="Shape 11"/>
          <p:cNvSpPr/>
          <p:nvPr/>
        </p:nvSpPr>
        <p:spPr>
          <a:xfrm>
            <a:off x="4572000" y="1234440"/>
            <a:ext cx="1920240" cy="1417320"/>
          </a:xfrm>
          <a:prstGeom prst="roundRect">
            <a:avLst>
              <a:gd name="adj" fmla="val 7742"/>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4" name="Text 12"/>
          <p:cNvSpPr/>
          <p:nvPr/>
        </p:nvSpPr>
        <p:spPr>
          <a:xfrm>
            <a:off x="4681728" y="1325880"/>
            <a:ext cx="457200" cy="320040"/>
          </a:xfrm>
          <a:prstGeom prst="rect">
            <a:avLst/>
          </a:prstGeom>
          <a:noFill/>
          <a:ln/>
        </p:spPr>
        <p:txBody>
          <a:bodyPr wrap="square" lIns="0" tIns="0" rIns="0" bIns="0" rtlCol="0" anchor="ctr"/>
          <a:lstStyle/>
          <a:p>
            <a:pPr indent="0" marL="0">
              <a:buNone/>
            </a:pPr>
            <a:r>
              <a:rPr lang="en-US" sz="1800" b="1" dirty="0">
                <a:solidFill>
                  <a:srgbClr val="C9993A"/>
                </a:solidFill>
                <a:latin typeface="Calibri" pitchFamily="34" charset="0"/>
                <a:ea typeface="Calibri" pitchFamily="34" charset="-122"/>
                <a:cs typeface="Calibri" pitchFamily="34" charset="-120"/>
              </a:rPr>
              <a:t>03</a:t>
            </a:r>
            <a:endParaRPr lang="en-US" sz="1800" dirty="0"/>
          </a:p>
        </p:txBody>
      </p:sp>
      <p:sp>
        <p:nvSpPr>
          <p:cNvPr id="15" name="Text 13"/>
          <p:cNvSpPr/>
          <p:nvPr/>
        </p:nvSpPr>
        <p:spPr>
          <a:xfrm>
            <a:off x="4681728" y="1673352"/>
            <a:ext cx="1691640" cy="29260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Aim &amp; Objectives</a:t>
            </a:r>
            <a:endParaRPr lang="en-US" sz="1200" dirty="0"/>
          </a:p>
        </p:txBody>
      </p:sp>
      <p:sp>
        <p:nvSpPr>
          <p:cNvPr id="16" name="Text 14"/>
          <p:cNvSpPr/>
          <p:nvPr/>
        </p:nvSpPr>
        <p:spPr>
          <a:xfrm>
            <a:off x="4681728" y="1993392"/>
            <a:ext cx="1691640" cy="5029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What AIDA sets out to achieve</a:t>
            </a:r>
            <a:endParaRPr lang="en-US" sz="950" dirty="0"/>
          </a:p>
        </p:txBody>
      </p:sp>
      <p:sp>
        <p:nvSpPr>
          <p:cNvPr id="17" name="Shape 15"/>
          <p:cNvSpPr/>
          <p:nvPr/>
        </p:nvSpPr>
        <p:spPr>
          <a:xfrm>
            <a:off x="6675120" y="1234440"/>
            <a:ext cx="1920240" cy="1417320"/>
          </a:xfrm>
          <a:prstGeom prst="roundRect">
            <a:avLst>
              <a:gd name="adj" fmla="val 7742"/>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8" name="Text 16"/>
          <p:cNvSpPr/>
          <p:nvPr/>
        </p:nvSpPr>
        <p:spPr>
          <a:xfrm>
            <a:off x="6784848" y="1325880"/>
            <a:ext cx="457200" cy="320040"/>
          </a:xfrm>
          <a:prstGeom prst="rect">
            <a:avLst/>
          </a:prstGeom>
          <a:noFill/>
          <a:ln/>
        </p:spPr>
        <p:txBody>
          <a:bodyPr wrap="square" lIns="0" tIns="0" rIns="0" bIns="0" rtlCol="0" anchor="ctr"/>
          <a:lstStyle/>
          <a:p>
            <a:pPr indent="0" marL="0">
              <a:buNone/>
            </a:pPr>
            <a:r>
              <a:rPr lang="en-US" sz="1800" b="1" dirty="0">
                <a:solidFill>
                  <a:srgbClr val="C9993A"/>
                </a:solidFill>
                <a:latin typeface="Calibri" pitchFamily="34" charset="0"/>
                <a:ea typeface="Calibri" pitchFamily="34" charset="-122"/>
                <a:cs typeface="Calibri" pitchFamily="34" charset="-120"/>
              </a:rPr>
              <a:t>04</a:t>
            </a:r>
            <a:endParaRPr lang="en-US" sz="1800" dirty="0"/>
          </a:p>
        </p:txBody>
      </p:sp>
      <p:sp>
        <p:nvSpPr>
          <p:cNvPr id="19" name="Text 17"/>
          <p:cNvSpPr/>
          <p:nvPr/>
        </p:nvSpPr>
        <p:spPr>
          <a:xfrm>
            <a:off x="6784848" y="1673352"/>
            <a:ext cx="1691640" cy="29260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Literature Review</a:t>
            </a:r>
            <a:endParaRPr lang="en-US" sz="1200" dirty="0"/>
          </a:p>
        </p:txBody>
      </p:sp>
      <p:sp>
        <p:nvSpPr>
          <p:cNvPr id="20" name="Text 18"/>
          <p:cNvSpPr/>
          <p:nvPr/>
        </p:nvSpPr>
        <p:spPr>
          <a:xfrm>
            <a:off x="6784848" y="1993392"/>
            <a:ext cx="1691640" cy="5029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Key prior work and research gaps</a:t>
            </a:r>
            <a:endParaRPr lang="en-US" sz="950" dirty="0"/>
          </a:p>
        </p:txBody>
      </p:sp>
      <p:sp>
        <p:nvSpPr>
          <p:cNvPr id="21" name="Shape 19"/>
          <p:cNvSpPr/>
          <p:nvPr/>
        </p:nvSpPr>
        <p:spPr>
          <a:xfrm>
            <a:off x="1325880" y="2971800"/>
            <a:ext cx="1920240" cy="1417320"/>
          </a:xfrm>
          <a:prstGeom prst="roundRect">
            <a:avLst>
              <a:gd name="adj" fmla="val 7742"/>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2" name="Text 20"/>
          <p:cNvSpPr/>
          <p:nvPr/>
        </p:nvSpPr>
        <p:spPr>
          <a:xfrm>
            <a:off x="1435608" y="3063240"/>
            <a:ext cx="457200" cy="320040"/>
          </a:xfrm>
          <a:prstGeom prst="rect">
            <a:avLst/>
          </a:prstGeom>
          <a:noFill/>
          <a:ln/>
        </p:spPr>
        <p:txBody>
          <a:bodyPr wrap="square" lIns="0" tIns="0" rIns="0" bIns="0" rtlCol="0" anchor="ctr"/>
          <a:lstStyle/>
          <a:p>
            <a:pPr indent="0" marL="0">
              <a:buNone/>
            </a:pPr>
            <a:r>
              <a:rPr lang="en-US" sz="1800" b="1" dirty="0">
                <a:solidFill>
                  <a:srgbClr val="C9993A"/>
                </a:solidFill>
                <a:latin typeface="Calibri" pitchFamily="34" charset="0"/>
                <a:ea typeface="Calibri" pitchFamily="34" charset="-122"/>
                <a:cs typeface="Calibri" pitchFamily="34" charset="-120"/>
              </a:rPr>
              <a:t>05</a:t>
            </a:r>
            <a:endParaRPr lang="en-US" sz="1800" dirty="0"/>
          </a:p>
        </p:txBody>
      </p:sp>
      <p:sp>
        <p:nvSpPr>
          <p:cNvPr id="23" name="Text 21"/>
          <p:cNvSpPr/>
          <p:nvPr/>
        </p:nvSpPr>
        <p:spPr>
          <a:xfrm>
            <a:off x="1435608" y="3410712"/>
            <a:ext cx="1691640" cy="29260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Methodology</a:t>
            </a:r>
            <a:endParaRPr lang="en-US" sz="1200" dirty="0"/>
          </a:p>
        </p:txBody>
      </p:sp>
      <p:sp>
        <p:nvSpPr>
          <p:cNvPr id="24" name="Text 22"/>
          <p:cNvSpPr/>
          <p:nvPr/>
        </p:nvSpPr>
        <p:spPr>
          <a:xfrm>
            <a:off x="1435608" y="3730752"/>
            <a:ext cx="1691640" cy="5029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The 6-layer AEIF framework</a:t>
            </a:r>
            <a:endParaRPr lang="en-US" sz="950" dirty="0"/>
          </a:p>
        </p:txBody>
      </p:sp>
      <p:sp>
        <p:nvSpPr>
          <p:cNvPr id="25" name="Shape 23"/>
          <p:cNvSpPr/>
          <p:nvPr/>
        </p:nvSpPr>
        <p:spPr>
          <a:xfrm>
            <a:off x="3931920" y="2971800"/>
            <a:ext cx="1920240" cy="1417320"/>
          </a:xfrm>
          <a:prstGeom prst="roundRect">
            <a:avLst>
              <a:gd name="adj" fmla="val 7742"/>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6" name="Text 24"/>
          <p:cNvSpPr/>
          <p:nvPr/>
        </p:nvSpPr>
        <p:spPr>
          <a:xfrm>
            <a:off x="4041648" y="3063240"/>
            <a:ext cx="457200" cy="320040"/>
          </a:xfrm>
          <a:prstGeom prst="rect">
            <a:avLst/>
          </a:prstGeom>
          <a:noFill/>
          <a:ln/>
        </p:spPr>
        <p:txBody>
          <a:bodyPr wrap="square" lIns="0" tIns="0" rIns="0" bIns="0" rtlCol="0" anchor="ctr"/>
          <a:lstStyle/>
          <a:p>
            <a:pPr indent="0" marL="0">
              <a:buNone/>
            </a:pPr>
            <a:r>
              <a:rPr lang="en-US" sz="1800" b="1" dirty="0">
                <a:solidFill>
                  <a:srgbClr val="C9993A"/>
                </a:solidFill>
                <a:latin typeface="Calibri" pitchFamily="34" charset="0"/>
                <a:ea typeface="Calibri" pitchFamily="34" charset="-122"/>
                <a:cs typeface="Calibri" pitchFamily="34" charset="-120"/>
              </a:rPr>
              <a:t>06</a:t>
            </a:r>
            <a:endParaRPr lang="en-US" sz="1800" dirty="0"/>
          </a:p>
        </p:txBody>
      </p:sp>
      <p:sp>
        <p:nvSpPr>
          <p:cNvPr id="27" name="Text 25"/>
          <p:cNvSpPr/>
          <p:nvPr/>
        </p:nvSpPr>
        <p:spPr>
          <a:xfrm>
            <a:off x="4041648" y="3410712"/>
            <a:ext cx="1691640" cy="29260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Results</a:t>
            </a:r>
            <a:endParaRPr lang="en-US" sz="1200" dirty="0"/>
          </a:p>
        </p:txBody>
      </p:sp>
      <p:sp>
        <p:nvSpPr>
          <p:cNvPr id="28" name="Text 26"/>
          <p:cNvSpPr/>
          <p:nvPr/>
        </p:nvSpPr>
        <p:spPr>
          <a:xfrm>
            <a:off x="4041648" y="3730752"/>
            <a:ext cx="1691640" cy="5029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Quantitative metrics + qualitative comparison</a:t>
            </a:r>
            <a:endParaRPr lang="en-US" sz="950" dirty="0"/>
          </a:p>
        </p:txBody>
      </p:sp>
      <p:sp>
        <p:nvSpPr>
          <p:cNvPr id="29" name="Shape 27"/>
          <p:cNvSpPr/>
          <p:nvPr/>
        </p:nvSpPr>
        <p:spPr>
          <a:xfrm>
            <a:off x="6537960" y="2971800"/>
            <a:ext cx="1920240" cy="1417320"/>
          </a:xfrm>
          <a:prstGeom prst="roundRect">
            <a:avLst>
              <a:gd name="adj" fmla="val 7742"/>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30" name="Text 28"/>
          <p:cNvSpPr/>
          <p:nvPr/>
        </p:nvSpPr>
        <p:spPr>
          <a:xfrm>
            <a:off x="6647688" y="3063240"/>
            <a:ext cx="457200" cy="320040"/>
          </a:xfrm>
          <a:prstGeom prst="rect">
            <a:avLst/>
          </a:prstGeom>
          <a:noFill/>
          <a:ln/>
        </p:spPr>
        <p:txBody>
          <a:bodyPr wrap="square" lIns="0" tIns="0" rIns="0" bIns="0" rtlCol="0" anchor="ctr"/>
          <a:lstStyle/>
          <a:p>
            <a:pPr indent="0" marL="0">
              <a:buNone/>
            </a:pPr>
            <a:r>
              <a:rPr lang="en-US" sz="1800" b="1" dirty="0">
                <a:solidFill>
                  <a:srgbClr val="C9993A"/>
                </a:solidFill>
                <a:latin typeface="Calibri" pitchFamily="34" charset="0"/>
                <a:ea typeface="Calibri" pitchFamily="34" charset="-122"/>
                <a:cs typeface="Calibri" pitchFamily="34" charset="-120"/>
              </a:rPr>
              <a:t>07</a:t>
            </a:r>
            <a:endParaRPr lang="en-US" sz="1800" dirty="0"/>
          </a:p>
        </p:txBody>
      </p:sp>
      <p:sp>
        <p:nvSpPr>
          <p:cNvPr id="31" name="Text 29"/>
          <p:cNvSpPr/>
          <p:nvPr/>
        </p:nvSpPr>
        <p:spPr>
          <a:xfrm>
            <a:off x="6647688" y="3410712"/>
            <a:ext cx="1691640" cy="292608"/>
          </a:xfrm>
          <a:prstGeom prst="rect">
            <a:avLst/>
          </a:prstGeom>
          <a:noFill/>
          <a:ln/>
        </p:spPr>
        <p:txBody>
          <a:bodyPr wrap="square" lIns="0" tIns="0" rIns="0" bIns="0" rtlCol="0" anchor="ctr"/>
          <a:lstStyle/>
          <a:p>
            <a:pPr indent="0" marL="0">
              <a:buNone/>
            </a:pPr>
            <a:r>
              <a:rPr lang="en-US" sz="1200" b="1" dirty="0">
                <a:solidFill>
                  <a:srgbClr val="1A2E3B"/>
                </a:solidFill>
                <a:latin typeface="Calibri" pitchFamily="34" charset="0"/>
                <a:ea typeface="Calibri" pitchFamily="34" charset="-122"/>
                <a:cs typeface="Calibri" pitchFamily="34" charset="-120"/>
              </a:rPr>
              <a:t>Conclusion</a:t>
            </a:r>
            <a:endParaRPr lang="en-US" sz="1200" dirty="0"/>
          </a:p>
        </p:txBody>
      </p:sp>
      <p:sp>
        <p:nvSpPr>
          <p:cNvPr id="32" name="Text 30"/>
          <p:cNvSpPr/>
          <p:nvPr/>
        </p:nvSpPr>
        <p:spPr>
          <a:xfrm>
            <a:off x="6647688" y="3730752"/>
            <a:ext cx="1691640" cy="5029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Summary, limitations, future work</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The Mental Health Access Gap</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3 / 19</a:t>
            </a:r>
            <a:endParaRPr lang="en-US" sz="900" dirty="0"/>
          </a:p>
        </p:txBody>
      </p:sp>
      <p:sp>
        <p:nvSpPr>
          <p:cNvPr id="6" name="Shape 4"/>
          <p:cNvSpPr/>
          <p:nvPr/>
        </p:nvSpPr>
        <p:spPr>
          <a:xfrm>
            <a:off x="320040" y="1097280"/>
            <a:ext cx="2377440" cy="3474720"/>
          </a:xfrm>
          <a:prstGeom prst="roundRect">
            <a:avLst>
              <a:gd name="adj" fmla="val 4615"/>
            </a:avLst>
          </a:prstGeom>
          <a:solidFill>
            <a:srgbClr val="0D2B3E"/>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7" name="Text 5"/>
          <p:cNvSpPr/>
          <p:nvPr/>
        </p:nvSpPr>
        <p:spPr>
          <a:xfrm>
            <a:off x="320040" y="1417320"/>
            <a:ext cx="2377440" cy="685800"/>
          </a:xfrm>
          <a:prstGeom prst="rect">
            <a:avLst/>
          </a:prstGeom>
          <a:noFill/>
          <a:ln/>
        </p:spPr>
        <p:txBody>
          <a:bodyPr wrap="square" lIns="0" tIns="0" rIns="0" bIns="0" rtlCol="0" anchor="ctr"/>
          <a:lstStyle/>
          <a:p>
            <a:pPr algn="ctr" indent="0" marL="0">
              <a:buNone/>
            </a:pPr>
            <a:r>
              <a:rPr lang="en-US" sz="4400" b="1" dirty="0">
                <a:solidFill>
                  <a:srgbClr val="C9993A"/>
                </a:solidFill>
                <a:latin typeface="Calibri" pitchFamily="34" charset="0"/>
                <a:ea typeface="Calibri" pitchFamily="34" charset="-122"/>
                <a:cs typeface="Calibri" pitchFamily="34" charset="-120"/>
              </a:rPr>
              <a:t>1 in 8</a:t>
            </a:r>
            <a:endParaRPr lang="en-US" sz="4400" dirty="0"/>
          </a:p>
        </p:txBody>
      </p:sp>
      <p:sp>
        <p:nvSpPr>
          <p:cNvPr id="8" name="Text 6"/>
          <p:cNvSpPr/>
          <p:nvPr/>
        </p:nvSpPr>
        <p:spPr>
          <a:xfrm>
            <a:off x="384048" y="2121408"/>
            <a:ext cx="2240280" cy="640080"/>
          </a:xfrm>
          <a:prstGeom prst="rect">
            <a:avLst/>
          </a:prstGeom>
          <a:noFill/>
          <a:ln/>
        </p:spPr>
        <p:txBody>
          <a:bodyPr wrap="square" lIns="0" tIns="0" rIns="0" bIns="0" rtlCol="0" anchor="ctr"/>
          <a:lstStyle/>
          <a:p>
            <a:pPr algn="ctr" indent="0" marL="0">
              <a:buNone/>
            </a:pPr>
            <a:r>
              <a:rPr lang="en-US" sz="1100" dirty="0">
                <a:solidFill>
                  <a:srgbClr val="A8C8D8"/>
                </a:solidFill>
                <a:latin typeface="Calibri" pitchFamily="34" charset="0"/>
                <a:ea typeface="Calibri" pitchFamily="34" charset="-122"/>
                <a:cs typeface="Calibri" pitchFamily="34" charset="-120"/>
              </a:rPr>
              <a:t>people globally</a:t>
            </a:r>
            <a:endParaRPr lang="en-US" sz="1100" dirty="0"/>
          </a:p>
          <a:p>
            <a:pPr algn="ctr" indent="0" marL="0">
              <a:buNone/>
            </a:pPr>
            <a:r>
              <a:rPr lang="en-US" sz="1100" dirty="0">
                <a:solidFill>
                  <a:srgbClr val="A8C8D8"/>
                </a:solidFill>
                <a:latin typeface="Calibri" pitchFamily="34" charset="0"/>
                <a:ea typeface="Calibri" pitchFamily="34" charset="-122"/>
                <a:cs typeface="Calibri" pitchFamily="34" charset="-120"/>
              </a:rPr>
              <a:t>live with a mental</a:t>
            </a:r>
            <a:endParaRPr lang="en-US" sz="1100" dirty="0"/>
          </a:p>
          <a:p>
            <a:pPr algn="ctr" indent="0" marL="0">
              <a:buNone/>
            </a:pPr>
            <a:r>
              <a:rPr lang="en-US" sz="1100" dirty="0">
                <a:solidFill>
                  <a:srgbClr val="A8C8D8"/>
                </a:solidFill>
                <a:latin typeface="Calibri" pitchFamily="34" charset="0"/>
                <a:ea typeface="Calibri" pitchFamily="34" charset="-122"/>
                <a:cs typeface="Calibri" pitchFamily="34" charset="-120"/>
              </a:rPr>
              <a:t>health disorder</a:t>
            </a:r>
            <a:endParaRPr lang="en-US" sz="1100" dirty="0"/>
          </a:p>
        </p:txBody>
      </p:sp>
      <p:sp>
        <p:nvSpPr>
          <p:cNvPr id="9" name="Shape 7"/>
          <p:cNvSpPr/>
          <p:nvPr/>
        </p:nvSpPr>
        <p:spPr>
          <a:xfrm>
            <a:off x="640080" y="2880360"/>
            <a:ext cx="1828800" cy="22860"/>
          </a:xfrm>
          <a:prstGeom prst="rect">
            <a:avLst/>
          </a:prstGeom>
          <a:solidFill>
            <a:srgbClr val="128C8E"/>
          </a:solidFill>
          <a:ln w="12700">
            <a:solidFill>
              <a:srgbClr val="128C8E"/>
            </a:solidFill>
            <a:prstDash val="solid"/>
          </a:ln>
        </p:spPr>
      </p:sp>
      <p:sp>
        <p:nvSpPr>
          <p:cNvPr id="10" name="Text 8"/>
          <p:cNvSpPr/>
          <p:nvPr/>
        </p:nvSpPr>
        <p:spPr>
          <a:xfrm>
            <a:off x="320040" y="3035808"/>
            <a:ext cx="237744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&lt;10%</a:t>
            </a:r>
            <a:endParaRPr lang="en-US" sz="3200" dirty="0"/>
          </a:p>
        </p:txBody>
      </p:sp>
      <p:sp>
        <p:nvSpPr>
          <p:cNvPr id="11" name="Text 9"/>
          <p:cNvSpPr/>
          <p:nvPr/>
        </p:nvSpPr>
        <p:spPr>
          <a:xfrm>
            <a:off x="384048" y="3584448"/>
            <a:ext cx="2240280" cy="685800"/>
          </a:xfrm>
          <a:prstGeom prst="rect">
            <a:avLst/>
          </a:prstGeom>
          <a:noFill/>
          <a:ln/>
        </p:spPr>
        <p:txBody>
          <a:bodyPr wrap="square" lIns="0" tIns="0" rIns="0" bIns="0" rtlCol="0" anchor="ctr"/>
          <a:lstStyle/>
          <a:p>
            <a:pPr algn="ctr" indent="0" marL="0">
              <a:buNone/>
            </a:pPr>
            <a:r>
              <a:rPr lang="en-US" sz="1050" dirty="0">
                <a:solidFill>
                  <a:srgbClr val="A8C8D8"/>
                </a:solidFill>
                <a:latin typeface="Calibri" pitchFamily="34" charset="0"/>
                <a:ea typeface="Calibri" pitchFamily="34" charset="-122"/>
                <a:cs typeface="Calibri" pitchFamily="34" charset="-120"/>
              </a:rPr>
              <a:t>of Nigerians with</a:t>
            </a:r>
            <a:endParaRPr lang="en-US" sz="1050" dirty="0"/>
          </a:p>
          <a:p>
            <a:pPr algn="ctr" indent="0" marL="0">
              <a:buNone/>
            </a:pPr>
            <a:r>
              <a:rPr lang="en-US" sz="1050" dirty="0">
                <a:solidFill>
                  <a:srgbClr val="A8C8D8"/>
                </a:solidFill>
                <a:latin typeface="Calibri" pitchFamily="34" charset="0"/>
                <a:ea typeface="Calibri" pitchFamily="34" charset="-122"/>
                <a:cs typeface="Calibri" pitchFamily="34" charset="-120"/>
              </a:rPr>
              <a:t>mental illness access care</a:t>
            </a:r>
            <a:endParaRPr lang="en-US" sz="1050" dirty="0"/>
          </a:p>
          <a:p>
            <a:pPr algn="ctr" indent="0" marL="0">
              <a:buNone/>
            </a:pPr>
            <a:r>
              <a:rPr lang="en-US" sz="1050" dirty="0">
                <a:solidFill>
                  <a:srgbClr val="A8C8D8"/>
                </a:solidFill>
                <a:latin typeface="Calibri" pitchFamily="34" charset="0"/>
                <a:ea typeface="Calibri" pitchFamily="34" charset="-122"/>
                <a:cs typeface="Calibri" pitchFamily="34" charset="-120"/>
              </a:rPr>
              <a:t>(WHO, 2022)</a:t>
            </a:r>
            <a:endParaRPr lang="en-US" sz="1050" dirty="0"/>
          </a:p>
        </p:txBody>
      </p:sp>
      <p:sp>
        <p:nvSpPr>
          <p:cNvPr id="12" name="Shape 10"/>
          <p:cNvSpPr/>
          <p:nvPr/>
        </p:nvSpPr>
        <p:spPr>
          <a:xfrm>
            <a:off x="2926080" y="1143000"/>
            <a:ext cx="589788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3" name="Text 11"/>
          <p:cNvSpPr/>
          <p:nvPr/>
        </p:nvSpPr>
        <p:spPr>
          <a:xfrm>
            <a:off x="3063240" y="1188720"/>
            <a:ext cx="5577840" cy="256032"/>
          </a:xfrm>
          <a:prstGeom prst="rect">
            <a:avLst/>
          </a:prstGeom>
          <a:noFill/>
          <a:ln/>
        </p:spPr>
        <p:txBody>
          <a:bodyPr wrap="square" lIns="0" tIns="0" rIns="0" bIns="0" rtlCol="0" anchor="ctr"/>
          <a:lstStyle/>
          <a:p>
            <a:pPr indent="0" marL="0">
              <a:buNone/>
            </a:pPr>
            <a:r>
              <a:rPr lang="en-US" sz="1100" b="1" dirty="0">
                <a:solidFill>
                  <a:srgbClr val="0A6E72"/>
                </a:solidFill>
                <a:latin typeface="Calibri" pitchFamily="34" charset="0"/>
                <a:ea typeface="Calibri" pitchFamily="34" charset="-122"/>
                <a:cs typeface="Calibri" pitchFamily="34" charset="-120"/>
              </a:rPr>
              <a:t>🌍 Global burden</a:t>
            </a:r>
            <a:endParaRPr lang="en-US" sz="1100" dirty="0"/>
          </a:p>
        </p:txBody>
      </p:sp>
      <p:sp>
        <p:nvSpPr>
          <p:cNvPr id="14" name="Text 12"/>
          <p:cNvSpPr/>
          <p:nvPr/>
        </p:nvSpPr>
        <p:spPr>
          <a:xfrm>
            <a:off x="3063240" y="1463040"/>
            <a:ext cx="5577840" cy="411480"/>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Mental health disorders rose sharply post-COVID-19, with young adults disproportionately affected (Santomauro et al., 2021).</a:t>
            </a:r>
            <a:endParaRPr lang="en-US" sz="1000" dirty="0"/>
          </a:p>
        </p:txBody>
      </p:sp>
      <p:sp>
        <p:nvSpPr>
          <p:cNvPr id="15" name="Shape 13"/>
          <p:cNvSpPr/>
          <p:nvPr/>
        </p:nvSpPr>
        <p:spPr>
          <a:xfrm>
            <a:off x="2926080" y="2057400"/>
            <a:ext cx="589788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6" name="Text 14"/>
          <p:cNvSpPr/>
          <p:nvPr/>
        </p:nvSpPr>
        <p:spPr>
          <a:xfrm>
            <a:off x="3063240" y="2103120"/>
            <a:ext cx="5577840" cy="256032"/>
          </a:xfrm>
          <a:prstGeom prst="rect">
            <a:avLst/>
          </a:prstGeom>
          <a:noFill/>
          <a:ln/>
        </p:spPr>
        <p:txBody>
          <a:bodyPr wrap="square" lIns="0" tIns="0" rIns="0" bIns="0" rtlCol="0" anchor="ctr"/>
          <a:lstStyle/>
          <a:p>
            <a:pPr indent="0" marL="0">
              <a:buNone/>
            </a:pPr>
            <a:r>
              <a:rPr lang="en-US" sz="1100" b="1" dirty="0">
                <a:solidFill>
                  <a:srgbClr val="0A6E72"/>
                </a:solidFill>
                <a:latin typeface="Calibri" pitchFamily="34" charset="0"/>
                <a:ea typeface="Calibri" pitchFamily="34" charset="-122"/>
                <a:cs typeface="Calibri" pitchFamily="34" charset="-120"/>
              </a:rPr>
              <a:t>🇳🇬 Nigeria's crisis</a:t>
            </a:r>
            <a:endParaRPr lang="en-US" sz="1100" dirty="0"/>
          </a:p>
        </p:txBody>
      </p:sp>
      <p:sp>
        <p:nvSpPr>
          <p:cNvPr id="17" name="Text 15"/>
          <p:cNvSpPr/>
          <p:nvPr/>
        </p:nvSpPr>
        <p:spPr>
          <a:xfrm>
            <a:off x="3063240" y="2377440"/>
            <a:ext cx="5577840" cy="411480"/>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Fewer than 300 psychiatrists for 200+ million people. Stigma and cost prevent most from seeking help (Atilola et al., 2020).</a:t>
            </a:r>
            <a:endParaRPr lang="en-US" sz="1000" dirty="0"/>
          </a:p>
        </p:txBody>
      </p:sp>
      <p:sp>
        <p:nvSpPr>
          <p:cNvPr id="18" name="Shape 16"/>
          <p:cNvSpPr/>
          <p:nvPr/>
        </p:nvSpPr>
        <p:spPr>
          <a:xfrm>
            <a:off x="2926080" y="2971800"/>
            <a:ext cx="589788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9" name="Text 17"/>
          <p:cNvSpPr/>
          <p:nvPr/>
        </p:nvSpPr>
        <p:spPr>
          <a:xfrm>
            <a:off x="3063240" y="3017520"/>
            <a:ext cx="5577840" cy="256032"/>
          </a:xfrm>
          <a:prstGeom prst="rect">
            <a:avLst/>
          </a:prstGeom>
          <a:noFill/>
          <a:ln/>
        </p:spPr>
        <p:txBody>
          <a:bodyPr wrap="square" lIns="0" tIns="0" rIns="0" bIns="0" rtlCol="0" anchor="ctr"/>
          <a:lstStyle/>
          <a:p>
            <a:pPr indent="0" marL="0">
              <a:buNone/>
            </a:pPr>
            <a:r>
              <a:rPr lang="en-US" sz="1100" b="1" dirty="0">
                <a:solidFill>
                  <a:srgbClr val="0A6E72"/>
                </a:solidFill>
                <a:latin typeface="Calibri" pitchFamily="34" charset="0"/>
                <a:ea typeface="Calibri" pitchFamily="34" charset="-122"/>
                <a:cs typeface="Calibri" pitchFamily="34" charset="-120"/>
              </a:rPr>
              <a:t>🤖 AI as a bridge</a:t>
            </a:r>
            <a:endParaRPr lang="en-US" sz="1100" dirty="0"/>
          </a:p>
        </p:txBody>
      </p:sp>
      <p:sp>
        <p:nvSpPr>
          <p:cNvPr id="20" name="Text 18"/>
          <p:cNvSpPr/>
          <p:nvPr/>
        </p:nvSpPr>
        <p:spPr>
          <a:xfrm>
            <a:off x="3063240" y="3291840"/>
            <a:ext cx="5577840" cy="411480"/>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Chatbots like Woebot and Wysa show efficacy in reducing depression &amp; anxiety symptoms through CBT-aligned conversation.</a:t>
            </a:r>
            <a:endParaRPr lang="en-US" sz="1000" dirty="0"/>
          </a:p>
        </p:txBody>
      </p:sp>
      <p:sp>
        <p:nvSpPr>
          <p:cNvPr id="21" name="Shape 19"/>
          <p:cNvSpPr/>
          <p:nvPr/>
        </p:nvSpPr>
        <p:spPr>
          <a:xfrm>
            <a:off x="2926080" y="3886200"/>
            <a:ext cx="589788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2" name="Text 20"/>
          <p:cNvSpPr/>
          <p:nvPr/>
        </p:nvSpPr>
        <p:spPr>
          <a:xfrm>
            <a:off x="3063240" y="3931920"/>
            <a:ext cx="5577840" cy="256032"/>
          </a:xfrm>
          <a:prstGeom prst="rect">
            <a:avLst/>
          </a:prstGeom>
          <a:noFill/>
          <a:ln/>
        </p:spPr>
        <p:txBody>
          <a:bodyPr wrap="square" lIns="0" tIns="0" rIns="0" bIns="0" rtlCol="0" anchor="ctr"/>
          <a:lstStyle/>
          <a:p>
            <a:pPr indent="0" marL="0">
              <a:buNone/>
            </a:pPr>
            <a:r>
              <a:rPr lang="en-US" sz="1100" b="1" dirty="0">
                <a:solidFill>
                  <a:srgbClr val="0A6E72"/>
                </a:solidFill>
                <a:latin typeface="Calibri" pitchFamily="34" charset="0"/>
                <a:ea typeface="Calibri" pitchFamily="34" charset="-122"/>
                <a:cs typeface="Calibri" pitchFamily="34" charset="-120"/>
              </a:rPr>
              <a:t>⚠️ The gap</a:t>
            </a:r>
            <a:endParaRPr lang="en-US" sz="1100" dirty="0"/>
          </a:p>
        </p:txBody>
      </p:sp>
      <p:sp>
        <p:nvSpPr>
          <p:cNvPr id="23" name="Text 21"/>
          <p:cNvSpPr/>
          <p:nvPr/>
        </p:nvSpPr>
        <p:spPr>
          <a:xfrm>
            <a:off x="3063240" y="4206240"/>
            <a:ext cx="5577840" cy="411480"/>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Existing chatbots respond to the current emotion only — they cannot distinguish transient distress from an escalating crisis.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STATEMENT OF PROBLEM</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Why existing chatbots fall short</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4 / 19</a:t>
            </a:r>
            <a:endParaRPr lang="en-US" sz="900" dirty="0"/>
          </a:p>
        </p:txBody>
      </p:sp>
      <p:sp>
        <p:nvSpPr>
          <p:cNvPr id="6" name="Shape 4"/>
          <p:cNvSpPr/>
          <p:nvPr/>
        </p:nvSpPr>
        <p:spPr>
          <a:xfrm>
            <a:off x="320040" y="1170432"/>
            <a:ext cx="384048" cy="384048"/>
          </a:xfrm>
          <a:prstGeom prst="ellipse">
            <a:avLst/>
          </a:prstGeom>
          <a:solidFill>
            <a:srgbClr val="C9993A"/>
          </a:solidFill>
          <a:ln w="12700">
            <a:solidFill>
              <a:srgbClr val="000000">
                <a:alpha val="0"/>
              </a:srgbClr>
            </a:solidFill>
            <a:prstDash val="solid"/>
          </a:ln>
        </p:spPr>
      </p:sp>
      <p:sp>
        <p:nvSpPr>
          <p:cNvPr id="7" name="Text 5"/>
          <p:cNvSpPr/>
          <p:nvPr/>
        </p:nvSpPr>
        <p:spPr>
          <a:xfrm>
            <a:off x="320040" y="1170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Shape 6"/>
          <p:cNvSpPr/>
          <p:nvPr/>
        </p:nvSpPr>
        <p:spPr>
          <a:xfrm>
            <a:off x="822960" y="1097280"/>
            <a:ext cx="800100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9" name="Text 7"/>
          <p:cNvSpPr/>
          <p:nvPr/>
        </p:nvSpPr>
        <p:spPr>
          <a:xfrm>
            <a:off x="987552" y="1152144"/>
            <a:ext cx="7680960" cy="246888"/>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Workforce Gap</a:t>
            </a:r>
            <a:endParaRPr lang="en-US" sz="1100" dirty="0"/>
          </a:p>
        </p:txBody>
      </p:sp>
      <p:sp>
        <p:nvSpPr>
          <p:cNvPr id="10" name="Text 8"/>
          <p:cNvSpPr/>
          <p:nvPr/>
        </p:nvSpPr>
        <p:spPr>
          <a:xfrm>
            <a:off x="987552" y="1426464"/>
            <a:ext cx="7680960" cy="292608"/>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~1 psychiatrist per 1 million Nigerians (WHO). Digital tools are not optional — they are necessary infrastructure.</a:t>
            </a:r>
            <a:endParaRPr lang="en-US" sz="1000" dirty="0"/>
          </a:p>
        </p:txBody>
      </p:sp>
      <p:sp>
        <p:nvSpPr>
          <p:cNvPr id="11" name="Shape 9"/>
          <p:cNvSpPr/>
          <p:nvPr/>
        </p:nvSpPr>
        <p:spPr>
          <a:xfrm>
            <a:off x="320040" y="1965960"/>
            <a:ext cx="384048" cy="384048"/>
          </a:xfrm>
          <a:prstGeom prst="ellipse">
            <a:avLst/>
          </a:prstGeom>
          <a:solidFill>
            <a:srgbClr val="0A6E72"/>
          </a:solidFill>
          <a:ln w="12700">
            <a:solidFill>
              <a:srgbClr val="000000">
                <a:alpha val="0"/>
              </a:srgbClr>
            </a:solidFill>
            <a:prstDash val="solid"/>
          </a:ln>
        </p:spPr>
      </p:sp>
      <p:sp>
        <p:nvSpPr>
          <p:cNvPr id="12" name="Text 10"/>
          <p:cNvSpPr/>
          <p:nvPr/>
        </p:nvSpPr>
        <p:spPr>
          <a:xfrm>
            <a:off x="3200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Shape 11"/>
          <p:cNvSpPr/>
          <p:nvPr/>
        </p:nvSpPr>
        <p:spPr>
          <a:xfrm>
            <a:off x="822960" y="1892808"/>
            <a:ext cx="800100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4" name="Text 12"/>
          <p:cNvSpPr/>
          <p:nvPr/>
        </p:nvSpPr>
        <p:spPr>
          <a:xfrm>
            <a:off x="987552" y="1947672"/>
            <a:ext cx="7680960" cy="246888"/>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Reactive, Not Trajectory-Aware</a:t>
            </a:r>
            <a:endParaRPr lang="en-US" sz="1100" dirty="0"/>
          </a:p>
        </p:txBody>
      </p:sp>
      <p:sp>
        <p:nvSpPr>
          <p:cNvPr id="15" name="Text 13"/>
          <p:cNvSpPr/>
          <p:nvPr/>
        </p:nvSpPr>
        <p:spPr>
          <a:xfrm>
            <a:off x="987552" y="2221992"/>
            <a:ext cx="7680960" cy="292608"/>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Current chatbots classify the current message in isolation. A user expressing sadness 5 turns in a row gets the same response as someone saying it once.</a:t>
            </a:r>
            <a:endParaRPr lang="en-US" sz="1000" dirty="0"/>
          </a:p>
        </p:txBody>
      </p:sp>
      <p:sp>
        <p:nvSpPr>
          <p:cNvPr id="16" name="Shape 14"/>
          <p:cNvSpPr/>
          <p:nvPr/>
        </p:nvSpPr>
        <p:spPr>
          <a:xfrm>
            <a:off x="320040" y="2761488"/>
            <a:ext cx="384048" cy="384048"/>
          </a:xfrm>
          <a:prstGeom prst="ellipse">
            <a:avLst/>
          </a:prstGeom>
          <a:solidFill>
            <a:srgbClr val="0A6E72"/>
          </a:solidFill>
          <a:ln w="12700">
            <a:solidFill>
              <a:srgbClr val="000000">
                <a:alpha val="0"/>
              </a:srgbClr>
            </a:solidFill>
            <a:prstDash val="solid"/>
          </a:ln>
        </p:spPr>
      </p:sp>
      <p:sp>
        <p:nvSpPr>
          <p:cNvPr id="17" name="Text 15"/>
          <p:cNvSpPr/>
          <p:nvPr/>
        </p:nvSpPr>
        <p:spPr>
          <a:xfrm>
            <a:off x="320040" y="2761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Shape 16"/>
          <p:cNvSpPr/>
          <p:nvPr/>
        </p:nvSpPr>
        <p:spPr>
          <a:xfrm>
            <a:off x="822960" y="2688336"/>
            <a:ext cx="800100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9" name="Text 17"/>
          <p:cNvSpPr/>
          <p:nvPr/>
        </p:nvSpPr>
        <p:spPr>
          <a:xfrm>
            <a:off x="987552" y="2743200"/>
            <a:ext cx="7680960" cy="246888"/>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No Strategy Selection</a:t>
            </a:r>
            <a:endParaRPr lang="en-US" sz="1100" dirty="0"/>
          </a:p>
        </p:txBody>
      </p:sp>
      <p:sp>
        <p:nvSpPr>
          <p:cNvPr id="20" name="Text 18"/>
          <p:cNvSpPr/>
          <p:nvPr/>
        </p:nvSpPr>
        <p:spPr>
          <a:xfrm>
            <a:off x="987552" y="3017520"/>
            <a:ext cx="7680960" cy="292608"/>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Without a trend, there is no evidence base for choosing between Validation, Grounding, Encouragement or Exploratory Inquiry.</a:t>
            </a:r>
            <a:endParaRPr lang="en-US" sz="1000" dirty="0"/>
          </a:p>
        </p:txBody>
      </p:sp>
      <p:sp>
        <p:nvSpPr>
          <p:cNvPr id="21" name="Shape 19"/>
          <p:cNvSpPr/>
          <p:nvPr/>
        </p:nvSpPr>
        <p:spPr>
          <a:xfrm>
            <a:off x="320040" y="3557016"/>
            <a:ext cx="384048" cy="384048"/>
          </a:xfrm>
          <a:prstGeom prst="ellipse">
            <a:avLst/>
          </a:prstGeom>
          <a:solidFill>
            <a:srgbClr val="C9993A"/>
          </a:solidFill>
          <a:ln w="12700">
            <a:solidFill>
              <a:srgbClr val="000000">
                <a:alpha val="0"/>
              </a:srgbClr>
            </a:solidFill>
            <a:prstDash val="solid"/>
          </a:ln>
        </p:spPr>
      </p:sp>
      <p:sp>
        <p:nvSpPr>
          <p:cNvPr id="22" name="Text 20"/>
          <p:cNvSpPr/>
          <p:nvPr/>
        </p:nvSpPr>
        <p:spPr>
          <a:xfrm>
            <a:off x="320040" y="3557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Shape 21"/>
          <p:cNvSpPr/>
          <p:nvPr/>
        </p:nvSpPr>
        <p:spPr>
          <a:xfrm>
            <a:off x="822960" y="3483864"/>
            <a:ext cx="800100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4" name="Text 22"/>
          <p:cNvSpPr/>
          <p:nvPr/>
        </p:nvSpPr>
        <p:spPr>
          <a:xfrm>
            <a:off x="987552" y="3538728"/>
            <a:ext cx="7680960" cy="246888"/>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Cultural Blind Spots</a:t>
            </a:r>
            <a:endParaRPr lang="en-US" sz="1100" dirty="0"/>
          </a:p>
        </p:txBody>
      </p:sp>
      <p:sp>
        <p:nvSpPr>
          <p:cNvPr id="25" name="Text 23"/>
          <p:cNvSpPr/>
          <p:nvPr/>
        </p:nvSpPr>
        <p:spPr>
          <a:xfrm>
            <a:off x="987552" y="3813048"/>
            <a:ext cx="7680960" cy="292608"/>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Systems trained on Western English corpora miss Nigerian Pidgin expressions and lack local crisis resources.</a:t>
            </a:r>
            <a:endParaRPr lang="en-US" sz="1000" dirty="0"/>
          </a:p>
        </p:txBody>
      </p:sp>
      <p:sp>
        <p:nvSpPr>
          <p:cNvPr id="26" name="Shape 24"/>
          <p:cNvSpPr/>
          <p:nvPr/>
        </p:nvSpPr>
        <p:spPr>
          <a:xfrm>
            <a:off x="320040" y="4352544"/>
            <a:ext cx="384048" cy="384048"/>
          </a:xfrm>
          <a:prstGeom prst="ellipse">
            <a:avLst/>
          </a:prstGeom>
          <a:solidFill>
            <a:srgbClr val="C9993A"/>
          </a:solidFill>
          <a:ln w="12700">
            <a:solidFill>
              <a:srgbClr val="000000">
                <a:alpha val="0"/>
              </a:srgbClr>
            </a:solidFill>
            <a:prstDash val="solid"/>
          </a:ln>
        </p:spPr>
      </p:sp>
      <p:sp>
        <p:nvSpPr>
          <p:cNvPr id="27" name="Text 25"/>
          <p:cNvSpPr/>
          <p:nvPr/>
        </p:nvSpPr>
        <p:spPr>
          <a:xfrm>
            <a:off x="3200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Shape 26"/>
          <p:cNvSpPr/>
          <p:nvPr/>
        </p:nvSpPr>
        <p:spPr>
          <a:xfrm>
            <a:off x="822960" y="4279392"/>
            <a:ext cx="800100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9" name="Text 27"/>
          <p:cNvSpPr/>
          <p:nvPr/>
        </p:nvSpPr>
        <p:spPr>
          <a:xfrm>
            <a:off x="987552" y="4334256"/>
            <a:ext cx="7680960" cy="246888"/>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Safety Gaps</a:t>
            </a:r>
            <a:endParaRPr lang="en-US" sz="1100" dirty="0"/>
          </a:p>
        </p:txBody>
      </p:sp>
      <p:sp>
        <p:nvSpPr>
          <p:cNvPr id="30" name="Text 28"/>
          <p:cNvSpPr/>
          <p:nvPr/>
        </p:nvSpPr>
        <p:spPr>
          <a:xfrm>
            <a:off x="987552" y="4608576"/>
            <a:ext cx="7680960" cy="292608"/>
          </a:xfrm>
          <a:prstGeom prst="rect">
            <a:avLst/>
          </a:prstGeom>
          <a:noFill/>
          <a:ln/>
        </p:spPr>
        <p:txBody>
          <a:bodyPr wrap="square" lIns="0" tIns="0" rIns="0" bIns="0" rtlCol="0" anchor="ctr"/>
          <a:lstStyle/>
          <a:p>
            <a:pPr indent="0" marL="0">
              <a:buNone/>
            </a:pPr>
            <a:r>
              <a:rPr lang="en-US" sz="1000" dirty="0">
                <a:solidFill>
                  <a:srgbClr val="4A6274"/>
                </a:solidFill>
                <a:latin typeface="Calibri" pitchFamily="34" charset="0"/>
                <a:ea typeface="Calibri" pitchFamily="34" charset="-122"/>
                <a:cs typeface="Calibri" pitchFamily="34" charset="-120"/>
              </a:rPr>
              <a:t>Indirect crisis signals ("what's even the point", "nobody go miss me") are often missed by English-only classifiers.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AIM AND OBJECTIVES</a:t>
            </a:r>
            <a:endParaRPr lang="en-US" sz="2200" dirty="0"/>
          </a:p>
        </p:txBody>
      </p:sp>
      <p:sp>
        <p:nvSpPr>
          <p:cNvPr id="4" name="Text 2"/>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5 / 19</a:t>
            </a:r>
            <a:endParaRPr lang="en-US" sz="900" dirty="0"/>
          </a:p>
        </p:txBody>
      </p:sp>
      <p:sp>
        <p:nvSpPr>
          <p:cNvPr id="5" name="Shape 3"/>
          <p:cNvSpPr/>
          <p:nvPr/>
        </p:nvSpPr>
        <p:spPr>
          <a:xfrm>
            <a:off x="320040" y="1097280"/>
            <a:ext cx="8503920" cy="822960"/>
          </a:xfrm>
          <a:prstGeom prst="roundRect">
            <a:avLst>
              <a:gd name="adj" fmla="val 13333"/>
            </a:avLst>
          </a:prstGeom>
          <a:solidFill>
            <a:srgbClr val="0A6E72"/>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6" name="Text 4"/>
          <p:cNvSpPr/>
          <p:nvPr/>
        </p:nvSpPr>
        <p:spPr>
          <a:xfrm>
            <a:off x="475488" y="1161288"/>
            <a:ext cx="731520" cy="256032"/>
          </a:xfrm>
          <a:prstGeom prst="rect">
            <a:avLst/>
          </a:prstGeom>
          <a:noFill/>
          <a:ln/>
        </p:spPr>
        <p:txBody>
          <a:bodyPr wrap="square" lIns="0" tIns="0" rIns="0" bIns="0" rtlCol="0" anchor="ctr"/>
          <a:lstStyle/>
          <a:p>
            <a:pPr indent="0" marL="0">
              <a:buNone/>
            </a:pPr>
            <a:r>
              <a:rPr lang="en-US" sz="1000" b="1" dirty="0">
                <a:solidFill>
                  <a:srgbClr val="C9993A"/>
                </a:solidFill>
                <a:latin typeface="Calibri" pitchFamily="34" charset="0"/>
                <a:ea typeface="Calibri" pitchFamily="34" charset="-122"/>
                <a:cs typeface="Calibri" pitchFamily="34" charset="-120"/>
              </a:rPr>
              <a:t>AIM</a:t>
            </a:r>
            <a:endParaRPr lang="en-US" sz="1000" dirty="0"/>
          </a:p>
        </p:txBody>
      </p:sp>
      <p:sp>
        <p:nvSpPr>
          <p:cNvPr id="7" name="Text 5"/>
          <p:cNvSpPr/>
          <p:nvPr/>
        </p:nvSpPr>
        <p:spPr>
          <a:xfrm>
            <a:off x="475488" y="1426464"/>
            <a:ext cx="822960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To design, implement, and evaluate the AEIF framework — a trajectory-aware, culturally adapted conversational agent for preliminary mental health support among Nigerian young adults.</a:t>
            </a:r>
            <a:endParaRPr lang="en-US" sz="1100" dirty="0"/>
          </a:p>
        </p:txBody>
      </p:sp>
      <p:sp>
        <p:nvSpPr>
          <p:cNvPr id="8" name="Shape 6"/>
          <p:cNvSpPr/>
          <p:nvPr/>
        </p:nvSpPr>
        <p:spPr>
          <a:xfrm>
            <a:off x="320040" y="2084832"/>
            <a:ext cx="2697480" cy="1097280"/>
          </a:xfrm>
          <a:prstGeom prst="roundRect">
            <a:avLst>
              <a:gd name="adj" fmla="val 10000"/>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9" name="Text 7"/>
          <p:cNvSpPr/>
          <p:nvPr/>
        </p:nvSpPr>
        <p:spPr>
          <a:xfrm>
            <a:off x="484632" y="2148840"/>
            <a:ext cx="237744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Analyse</a:t>
            </a:r>
            <a:endParaRPr lang="en-US" sz="1200" dirty="0"/>
          </a:p>
        </p:txBody>
      </p:sp>
      <p:sp>
        <p:nvSpPr>
          <p:cNvPr id="10" name="Text 8"/>
          <p:cNvSpPr/>
          <p:nvPr/>
        </p:nvSpPr>
        <p:spPr>
          <a:xfrm>
            <a:off x="484632" y="2468880"/>
            <a:ext cx="2377440" cy="59436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Review existing chatbot architectures to identify the trajectory-aware support gap</a:t>
            </a:r>
            <a:endParaRPr lang="en-US" sz="1050" dirty="0"/>
          </a:p>
        </p:txBody>
      </p:sp>
      <p:sp>
        <p:nvSpPr>
          <p:cNvPr id="11" name="Shape 9"/>
          <p:cNvSpPr/>
          <p:nvPr/>
        </p:nvSpPr>
        <p:spPr>
          <a:xfrm>
            <a:off x="3200400" y="2084832"/>
            <a:ext cx="2697480" cy="1097280"/>
          </a:xfrm>
          <a:prstGeom prst="roundRect">
            <a:avLst>
              <a:gd name="adj" fmla="val 10000"/>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2" name="Text 10"/>
          <p:cNvSpPr/>
          <p:nvPr/>
        </p:nvSpPr>
        <p:spPr>
          <a:xfrm>
            <a:off x="3364992" y="2148840"/>
            <a:ext cx="237744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Design</a:t>
            </a:r>
            <a:endParaRPr lang="en-US" sz="1200" dirty="0"/>
          </a:p>
        </p:txBody>
      </p:sp>
      <p:sp>
        <p:nvSpPr>
          <p:cNvPr id="13" name="Text 11"/>
          <p:cNvSpPr/>
          <p:nvPr/>
        </p:nvSpPr>
        <p:spPr>
          <a:xfrm>
            <a:off x="3364992" y="2468880"/>
            <a:ext cx="2377440" cy="59436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Specify the 6-layer AEIF framework: emotion classification, trend analysis, strategy selection</a:t>
            </a:r>
            <a:endParaRPr lang="en-US" sz="1050" dirty="0"/>
          </a:p>
        </p:txBody>
      </p:sp>
      <p:sp>
        <p:nvSpPr>
          <p:cNvPr id="14" name="Shape 12"/>
          <p:cNvSpPr/>
          <p:nvPr/>
        </p:nvSpPr>
        <p:spPr>
          <a:xfrm>
            <a:off x="6080760" y="2084832"/>
            <a:ext cx="2697480" cy="1097280"/>
          </a:xfrm>
          <a:prstGeom prst="roundRect">
            <a:avLst>
              <a:gd name="adj" fmla="val 10000"/>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5" name="Text 13"/>
          <p:cNvSpPr/>
          <p:nvPr/>
        </p:nvSpPr>
        <p:spPr>
          <a:xfrm>
            <a:off x="6245352" y="2148840"/>
            <a:ext cx="237744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Implement</a:t>
            </a:r>
            <a:endParaRPr lang="en-US" sz="1200" dirty="0"/>
          </a:p>
        </p:txBody>
      </p:sp>
      <p:sp>
        <p:nvSpPr>
          <p:cNvPr id="16" name="Text 14"/>
          <p:cNvSpPr/>
          <p:nvPr/>
        </p:nvSpPr>
        <p:spPr>
          <a:xfrm>
            <a:off x="6245352" y="2468880"/>
            <a:ext cx="2377440" cy="59436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Build AIDA — FastAPI backend + React frontend with Pidgin support and Nigerian crisis resources</a:t>
            </a:r>
            <a:endParaRPr lang="en-US" sz="1050" dirty="0"/>
          </a:p>
        </p:txBody>
      </p:sp>
      <p:sp>
        <p:nvSpPr>
          <p:cNvPr id="17" name="Shape 15"/>
          <p:cNvSpPr/>
          <p:nvPr/>
        </p:nvSpPr>
        <p:spPr>
          <a:xfrm>
            <a:off x="320040" y="3337560"/>
            <a:ext cx="4023360" cy="1463040"/>
          </a:xfrm>
          <a:prstGeom prst="roundRect">
            <a:avLst>
              <a:gd name="adj" fmla="val 7500"/>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8" name="Text 16"/>
          <p:cNvSpPr/>
          <p:nvPr/>
        </p:nvSpPr>
        <p:spPr>
          <a:xfrm>
            <a:off x="502920" y="3401568"/>
            <a:ext cx="365760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Evaluate</a:t>
            </a:r>
            <a:endParaRPr lang="en-US" sz="1200" dirty="0"/>
          </a:p>
        </p:txBody>
      </p:sp>
      <p:sp>
        <p:nvSpPr>
          <p:cNvPr id="19" name="Text 17"/>
          <p:cNvSpPr/>
          <p:nvPr/>
        </p:nvSpPr>
        <p:spPr>
          <a:xfrm>
            <a:off x="502920" y="3712464"/>
            <a:ext cx="3657600" cy="868680"/>
          </a:xfrm>
          <a:prstGeom prst="rect">
            <a:avLst/>
          </a:prstGeom>
          <a:noFill/>
          <a:ln/>
        </p:spPr>
        <p:txBody>
          <a:bodyPr wrap="square" lIns="0" tIns="0" rIns="0" bIns="0" rtlCol="0" anchor="ctr"/>
          <a:lstStyle/>
          <a:p>
            <a:pPr indent="0" marL="0">
              <a:buNone/>
            </a:pPr>
            <a:r>
              <a:rPr lang="en-US" sz="1100" dirty="0">
                <a:solidFill>
                  <a:srgbClr val="4A6274"/>
                </a:solidFill>
                <a:latin typeface="Calibri" pitchFamily="34" charset="0"/>
                <a:ea typeface="Calibri" pitchFamily="34" charset="-122"/>
                <a:cs typeface="Calibri" pitchFamily="34" charset="-120"/>
              </a:rPr>
              <a:t>Automated metrics: 77.08% emotion accuracy, 100% crisis accuracy, 100% trend accuracy</a:t>
            </a:r>
            <a:endParaRPr lang="en-US" sz="1100" dirty="0"/>
          </a:p>
        </p:txBody>
      </p:sp>
      <p:sp>
        <p:nvSpPr>
          <p:cNvPr id="20" name="Shape 18"/>
          <p:cNvSpPr/>
          <p:nvPr/>
        </p:nvSpPr>
        <p:spPr>
          <a:xfrm>
            <a:off x="4663440" y="3337560"/>
            <a:ext cx="4023360" cy="1463040"/>
          </a:xfrm>
          <a:prstGeom prst="roundRect">
            <a:avLst>
              <a:gd name="adj" fmla="val 7500"/>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1" name="Text 19"/>
          <p:cNvSpPr/>
          <p:nvPr/>
        </p:nvSpPr>
        <p:spPr>
          <a:xfrm>
            <a:off x="4846320" y="3401568"/>
            <a:ext cx="365760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Compare</a:t>
            </a:r>
            <a:endParaRPr lang="en-US" sz="1200" dirty="0"/>
          </a:p>
        </p:txBody>
      </p:sp>
      <p:sp>
        <p:nvSpPr>
          <p:cNvPr id="22" name="Text 20"/>
          <p:cNvSpPr/>
          <p:nvPr/>
        </p:nvSpPr>
        <p:spPr>
          <a:xfrm>
            <a:off x="4846320" y="3712464"/>
            <a:ext cx="3657600" cy="868680"/>
          </a:xfrm>
          <a:prstGeom prst="rect">
            <a:avLst/>
          </a:prstGeom>
          <a:noFill/>
          <a:ln/>
        </p:spPr>
        <p:txBody>
          <a:bodyPr wrap="square" lIns="0" tIns="0" rIns="0" bIns="0" rtlCol="0" anchor="ctr"/>
          <a:lstStyle/>
          <a:p>
            <a:pPr indent="0" marL="0">
              <a:buNone/>
            </a:pPr>
            <a:r>
              <a:rPr lang="en-US" sz="1100" dirty="0">
                <a:solidFill>
                  <a:srgbClr val="4A6274"/>
                </a:solidFill>
                <a:latin typeface="Calibri" pitchFamily="34" charset="0"/>
                <a:ea typeface="Calibri" pitchFamily="34" charset="-122"/>
                <a:cs typeface="Calibri" pitchFamily="34" charset="-120"/>
              </a:rPr>
              <a:t>Qualitative AEIF vs. Baseline pipeline comparison across 3 scripted conversation scenarios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LITERATURE REVIEW</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Key prior work &amp; identified gaps</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6 / 19</a:t>
            </a:r>
            <a:endParaRPr lang="en-US" sz="900" dirty="0"/>
          </a:p>
        </p:txBody>
      </p:sp>
      <p:sp>
        <p:nvSpPr>
          <p:cNvPr id="6" name="Shape 4"/>
          <p:cNvSpPr/>
          <p:nvPr/>
        </p:nvSpPr>
        <p:spPr>
          <a:xfrm>
            <a:off x="320040" y="1115568"/>
            <a:ext cx="850392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7" name="Text 5"/>
          <p:cNvSpPr/>
          <p:nvPr/>
        </p:nvSpPr>
        <p:spPr>
          <a:xfrm>
            <a:off x="475488" y="1161288"/>
            <a:ext cx="150876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Woebot</a:t>
            </a:r>
            <a:endParaRPr lang="en-US" sz="1200" dirty="0"/>
          </a:p>
        </p:txBody>
      </p:sp>
      <p:sp>
        <p:nvSpPr>
          <p:cNvPr id="8" name="Text 6"/>
          <p:cNvSpPr/>
          <p:nvPr/>
        </p:nvSpPr>
        <p:spPr>
          <a:xfrm>
            <a:off x="475488" y="1453896"/>
            <a:ext cx="1508760" cy="228600"/>
          </a:xfrm>
          <a:prstGeom prst="rect">
            <a:avLst/>
          </a:prstGeom>
          <a:noFill/>
          <a:ln/>
        </p:spPr>
        <p:txBody>
          <a:bodyPr wrap="square" lIns="0" tIns="0" rIns="0" bIns="0" rtlCol="0" anchor="ctr"/>
          <a:lstStyle/>
          <a:p>
            <a:pPr indent="0" marL="0">
              <a:buNone/>
            </a:pPr>
            <a:r>
              <a:rPr lang="en-US" sz="900" i="1" dirty="0">
                <a:solidFill>
                  <a:srgbClr val="7FA3B5"/>
                </a:solidFill>
                <a:latin typeface="Calibri" pitchFamily="34" charset="0"/>
                <a:ea typeface="Calibri" pitchFamily="34" charset="-122"/>
                <a:cs typeface="Calibri" pitchFamily="34" charset="-120"/>
              </a:rPr>
              <a:t>Fitzpatrick et al., 2017</a:t>
            </a:r>
            <a:endParaRPr lang="en-US" sz="900" dirty="0"/>
          </a:p>
        </p:txBody>
      </p:sp>
      <p:sp>
        <p:nvSpPr>
          <p:cNvPr id="9" name="Shape 7"/>
          <p:cNvSpPr/>
          <p:nvPr/>
        </p:nvSpPr>
        <p:spPr>
          <a:xfrm>
            <a:off x="2148840" y="1207008"/>
            <a:ext cx="13716" cy="594360"/>
          </a:xfrm>
          <a:prstGeom prst="rect">
            <a:avLst/>
          </a:prstGeom>
          <a:solidFill>
            <a:srgbClr val="D6EEEF"/>
          </a:solidFill>
          <a:ln w="12700">
            <a:solidFill>
              <a:srgbClr val="D6EEEF"/>
            </a:solidFill>
            <a:prstDash val="solid"/>
          </a:ln>
        </p:spPr>
      </p:sp>
      <p:sp>
        <p:nvSpPr>
          <p:cNvPr id="10" name="Text 8"/>
          <p:cNvSpPr/>
          <p:nvPr/>
        </p:nvSpPr>
        <p:spPr>
          <a:xfrm>
            <a:off x="2304288" y="1161288"/>
            <a:ext cx="3474720" cy="347472"/>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 RCT: significant depression reduction via CBT chatbot</a:t>
            </a:r>
            <a:endParaRPr lang="en-US" sz="1050" dirty="0"/>
          </a:p>
        </p:txBody>
      </p:sp>
      <p:sp>
        <p:nvSpPr>
          <p:cNvPr id="11" name="Text 9"/>
          <p:cNvSpPr/>
          <p:nvPr/>
        </p:nvSpPr>
        <p:spPr>
          <a:xfrm>
            <a:off x="2304288" y="1545336"/>
            <a:ext cx="3474720" cy="274320"/>
          </a:xfrm>
          <a:prstGeom prst="rect">
            <a:avLst/>
          </a:prstGeom>
          <a:noFill/>
          <a:ln/>
        </p:spPr>
        <p:txBody>
          <a:bodyPr wrap="square" lIns="0" tIns="0" rIns="0" bIns="0" rtlCol="0" anchor="ctr"/>
          <a:lstStyle/>
          <a:p>
            <a:pPr indent="0" marL="0">
              <a:buNone/>
            </a:pPr>
            <a:r>
              <a:rPr lang="en-US" sz="1000" dirty="0">
                <a:solidFill>
                  <a:srgbClr val="B83232"/>
                </a:solidFill>
                <a:latin typeface="Calibri" pitchFamily="34" charset="0"/>
                <a:ea typeface="Calibri" pitchFamily="34" charset="-122"/>
                <a:cs typeface="Calibri" pitchFamily="34" charset="-120"/>
              </a:rPr>
              <a:t>✘ No emotion trajectory tracking</a:t>
            </a:r>
            <a:endParaRPr lang="en-US" sz="1000" dirty="0"/>
          </a:p>
        </p:txBody>
      </p:sp>
      <p:sp>
        <p:nvSpPr>
          <p:cNvPr id="12" name="Shape 10"/>
          <p:cNvSpPr/>
          <p:nvPr/>
        </p:nvSpPr>
        <p:spPr>
          <a:xfrm>
            <a:off x="5989320" y="1344168"/>
            <a:ext cx="2697480" cy="320040"/>
          </a:xfrm>
          <a:prstGeom prst="roundRect">
            <a:avLst>
              <a:gd name="adj" fmla="val 28571"/>
            </a:avLst>
          </a:prstGeom>
          <a:solidFill>
            <a:srgbClr val="FDE8E8"/>
          </a:solidFill>
          <a:ln w="12700">
            <a:solidFill>
              <a:srgbClr val="ECA0A0"/>
            </a:solidFill>
            <a:prstDash val="solid"/>
          </a:ln>
        </p:spPr>
      </p:sp>
      <p:sp>
        <p:nvSpPr>
          <p:cNvPr id="13" name="Text 11"/>
          <p:cNvSpPr/>
          <p:nvPr/>
        </p:nvSpPr>
        <p:spPr>
          <a:xfrm>
            <a:off x="6016752" y="1344168"/>
            <a:ext cx="2651760" cy="320040"/>
          </a:xfrm>
          <a:prstGeom prst="rect">
            <a:avLst/>
          </a:prstGeom>
          <a:noFill/>
          <a:ln/>
        </p:spPr>
        <p:txBody>
          <a:bodyPr wrap="square" lIns="0" tIns="0" rIns="0" bIns="0" rtlCol="0" anchor="ctr"/>
          <a:lstStyle/>
          <a:p>
            <a:pPr indent="0" marL="0">
              <a:buNone/>
            </a:pPr>
            <a:r>
              <a:rPr lang="en-US" sz="900" dirty="0">
                <a:solidFill>
                  <a:srgbClr val="B83232"/>
                </a:solidFill>
                <a:latin typeface="Calibri" pitchFamily="34" charset="0"/>
                <a:ea typeface="Calibri" pitchFamily="34" charset="-122"/>
                <a:cs typeface="Calibri" pitchFamily="34" charset="-120"/>
              </a:rPr>
              <a:t>GAP: No emotion trajectory tracking</a:t>
            </a:r>
            <a:endParaRPr lang="en-US" sz="900" dirty="0"/>
          </a:p>
        </p:txBody>
      </p:sp>
      <p:sp>
        <p:nvSpPr>
          <p:cNvPr id="14" name="Shape 12"/>
          <p:cNvSpPr/>
          <p:nvPr/>
        </p:nvSpPr>
        <p:spPr>
          <a:xfrm>
            <a:off x="320040" y="2029968"/>
            <a:ext cx="850392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5" name="Text 13"/>
          <p:cNvSpPr/>
          <p:nvPr/>
        </p:nvSpPr>
        <p:spPr>
          <a:xfrm>
            <a:off x="475488" y="2075688"/>
            <a:ext cx="150876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Wysa</a:t>
            </a:r>
            <a:endParaRPr lang="en-US" sz="1200" dirty="0"/>
          </a:p>
        </p:txBody>
      </p:sp>
      <p:sp>
        <p:nvSpPr>
          <p:cNvPr id="16" name="Text 14"/>
          <p:cNvSpPr/>
          <p:nvPr/>
        </p:nvSpPr>
        <p:spPr>
          <a:xfrm>
            <a:off x="475488" y="2368296"/>
            <a:ext cx="1508760" cy="228600"/>
          </a:xfrm>
          <a:prstGeom prst="rect">
            <a:avLst/>
          </a:prstGeom>
          <a:noFill/>
          <a:ln/>
        </p:spPr>
        <p:txBody>
          <a:bodyPr wrap="square" lIns="0" tIns="0" rIns="0" bIns="0" rtlCol="0" anchor="ctr"/>
          <a:lstStyle/>
          <a:p>
            <a:pPr indent="0" marL="0">
              <a:buNone/>
            </a:pPr>
            <a:r>
              <a:rPr lang="en-US" sz="900" i="1" dirty="0">
                <a:solidFill>
                  <a:srgbClr val="7FA3B5"/>
                </a:solidFill>
                <a:latin typeface="Calibri" pitchFamily="34" charset="0"/>
                <a:ea typeface="Calibri" pitchFamily="34" charset="-122"/>
                <a:cs typeface="Calibri" pitchFamily="34" charset="-120"/>
              </a:rPr>
              <a:t>Inkster et al., 2018</a:t>
            </a:r>
            <a:endParaRPr lang="en-US" sz="900" dirty="0"/>
          </a:p>
        </p:txBody>
      </p:sp>
      <p:sp>
        <p:nvSpPr>
          <p:cNvPr id="17" name="Shape 15"/>
          <p:cNvSpPr/>
          <p:nvPr/>
        </p:nvSpPr>
        <p:spPr>
          <a:xfrm>
            <a:off x="2148840" y="2121408"/>
            <a:ext cx="13716" cy="594360"/>
          </a:xfrm>
          <a:prstGeom prst="rect">
            <a:avLst/>
          </a:prstGeom>
          <a:solidFill>
            <a:srgbClr val="D6EEEF"/>
          </a:solidFill>
          <a:ln w="12700">
            <a:solidFill>
              <a:srgbClr val="D6EEEF"/>
            </a:solidFill>
            <a:prstDash val="solid"/>
          </a:ln>
        </p:spPr>
      </p:sp>
      <p:sp>
        <p:nvSpPr>
          <p:cNvPr id="18" name="Text 16"/>
          <p:cNvSpPr/>
          <p:nvPr/>
        </p:nvSpPr>
        <p:spPr>
          <a:xfrm>
            <a:off x="2304288" y="2075688"/>
            <a:ext cx="3474720" cy="347472"/>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 Real-world empathy-driven agent; measurable outcomes</a:t>
            </a:r>
            <a:endParaRPr lang="en-US" sz="1050" dirty="0"/>
          </a:p>
        </p:txBody>
      </p:sp>
      <p:sp>
        <p:nvSpPr>
          <p:cNvPr id="19" name="Text 17"/>
          <p:cNvSpPr/>
          <p:nvPr/>
        </p:nvSpPr>
        <p:spPr>
          <a:xfrm>
            <a:off x="2304288" y="2459736"/>
            <a:ext cx="3474720" cy="274320"/>
          </a:xfrm>
          <a:prstGeom prst="rect">
            <a:avLst/>
          </a:prstGeom>
          <a:noFill/>
          <a:ln/>
        </p:spPr>
        <p:txBody>
          <a:bodyPr wrap="square" lIns="0" tIns="0" rIns="0" bIns="0" rtlCol="0" anchor="ctr"/>
          <a:lstStyle/>
          <a:p>
            <a:pPr indent="0" marL="0">
              <a:buNone/>
            </a:pPr>
            <a:r>
              <a:rPr lang="en-US" sz="1000" dirty="0">
                <a:solidFill>
                  <a:srgbClr val="B83232"/>
                </a:solidFill>
                <a:latin typeface="Calibri" pitchFamily="34" charset="0"/>
                <a:ea typeface="Calibri" pitchFamily="34" charset="-122"/>
                <a:cs typeface="Calibri" pitchFamily="34" charset="-120"/>
              </a:rPr>
              <a:t>✘ Single-turn emotion only; scripted fallback</a:t>
            </a:r>
            <a:endParaRPr lang="en-US" sz="1000" dirty="0"/>
          </a:p>
        </p:txBody>
      </p:sp>
      <p:sp>
        <p:nvSpPr>
          <p:cNvPr id="20" name="Shape 18"/>
          <p:cNvSpPr/>
          <p:nvPr/>
        </p:nvSpPr>
        <p:spPr>
          <a:xfrm>
            <a:off x="5989320" y="2258568"/>
            <a:ext cx="2697480" cy="320040"/>
          </a:xfrm>
          <a:prstGeom prst="roundRect">
            <a:avLst>
              <a:gd name="adj" fmla="val 28571"/>
            </a:avLst>
          </a:prstGeom>
          <a:solidFill>
            <a:srgbClr val="FDE8E8"/>
          </a:solidFill>
          <a:ln w="12700">
            <a:solidFill>
              <a:srgbClr val="ECA0A0"/>
            </a:solidFill>
            <a:prstDash val="solid"/>
          </a:ln>
        </p:spPr>
      </p:sp>
      <p:sp>
        <p:nvSpPr>
          <p:cNvPr id="21" name="Text 19"/>
          <p:cNvSpPr/>
          <p:nvPr/>
        </p:nvSpPr>
        <p:spPr>
          <a:xfrm>
            <a:off x="6016752" y="2258568"/>
            <a:ext cx="2651760" cy="320040"/>
          </a:xfrm>
          <a:prstGeom prst="rect">
            <a:avLst/>
          </a:prstGeom>
          <a:noFill/>
          <a:ln/>
        </p:spPr>
        <p:txBody>
          <a:bodyPr wrap="square" lIns="0" tIns="0" rIns="0" bIns="0" rtlCol="0" anchor="ctr"/>
          <a:lstStyle/>
          <a:p>
            <a:pPr indent="0" marL="0">
              <a:buNone/>
            </a:pPr>
            <a:r>
              <a:rPr lang="en-US" sz="900" dirty="0">
                <a:solidFill>
                  <a:srgbClr val="B83232"/>
                </a:solidFill>
                <a:latin typeface="Calibri" pitchFamily="34" charset="0"/>
                <a:ea typeface="Calibri" pitchFamily="34" charset="-122"/>
                <a:cs typeface="Calibri" pitchFamily="34" charset="-120"/>
              </a:rPr>
              <a:t>GAP: Single-turn emotion only</a:t>
            </a:r>
            <a:endParaRPr lang="en-US" sz="900" dirty="0"/>
          </a:p>
        </p:txBody>
      </p:sp>
      <p:sp>
        <p:nvSpPr>
          <p:cNvPr id="22" name="Shape 20"/>
          <p:cNvSpPr/>
          <p:nvPr/>
        </p:nvSpPr>
        <p:spPr>
          <a:xfrm>
            <a:off x="320040" y="2944368"/>
            <a:ext cx="850392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3" name="Text 21"/>
          <p:cNvSpPr/>
          <p:nvPr/>
        </p:nvSpPr>
        <p:spPr>
          <a:xfrm>
            <a:off x="475488" y="2990088"/>
            <a:ext cx="150876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ESC Framework</a:t>
            </a:r>
            <a:endParaRPr lang="en-US" sz="1200" dirty="0"/>
          </a:p>
        </p:txBody>
      </p:sp>
      <p:sp>
        <p:nvSpPr>
          <p:cNvPr id="24" name="Text 22"/>
          <p:cNvSpPr/>
          <p:nvPr/>
        </p:nvSpPr>
        <p:spPr>
          <a:xfrm>
            <a:off x="475488" y="3282696"/>
            <a:ext cx="1508760" cy="228600"/>
          </a:xfrm>
          <a:prstGeom prst="rect">
            <a:avLst/>
          </a:prstGeom>
          <a:noFill/>
          <a:ln/>
        </p:spPr>
        <p:txBody>
          <a:bodyPr wrap="square" lIns="0" tIns="0" rIns="0" bIns="0" rtlCol="0" anchor="ctr"/>
          <a:lstStyle/>
          <a:p>
            <a:pPr indent="0" marL="0">
              <a:buNone/>
            </a:pPr>
            <a:r>
              <a:rPr lang="en-US" sz="900" i="1" dirty="0">
                <a:solidFill>
                  <a:srgbClr val="7FA3B5"/>
                </a:solidFill>
                <a:latin typeface="Calibri" pitchFamily="34" charset="0"/>
                <a:ea typeface="Calibri" pitchFamily="34" charset="-122"/>
                <a:cs typeface="Calibri" pitchFamily="34" charset="-120"/>
              </a:rPr>
              <a:t>Liu et al., 2021</a:t>
            </a:r>
            <a:endParaRPr lang="en-US" sz="900" dirty="0"/>
          </a:p>
        </p:txBody>
      </p:sp>
      <p:sp>
        <p:nvSpPr>
          <p:cNvPr id="25" name="Shape 23"/>
          <p:cNvSpPr/>
          <p:nvPr/>
        </p:nvSpPr>
        <p:spPr>
          <a:xfrm>
            <a:off x="2148840" y="3035808"/>
            <a:ext cx="13716" cy="594360"/>
          </a:xfrm>
          <a:prstGeom prst="rect">
            <a:avLst/>
          </a:prstGeom>
          <a:solidFill>
            <a:srgbClr val="D6EEEF"/>
          </a:solidFill>
          <a:ln w="12700">
            <a:solidFill>
              <a:srgbClr val="D6EEEF"/>
            </a:solidFill>
            <a:prstDash val="solid"/>
          </a:ln>
        </p:spPr>
      </p:sp>
      <p:sp>
        <p:nvSpPr>
          <p:cNvPr id="26" name="Text 24"/>
          <p:cNvSpPr/>
          <p:nvPr/>
        </p:nvSpPr>
        <p:spPr>
          <a:xfrm>
            <a:off x="2304288" y="2990088"/>
            <a:ext cx="3474720" cy="347472"/>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 Multi-strategy emotional support model; strategy taxonomy</a:t>
            </a:r>
            <a:endParaRPr lang="en-US" sz="1050" dirty="0"/>
          </a:p>
        </p:txBody>
      </p:sp>
      <p:sp>
        <p:nvSpPr>
          <p:cNvPr id="27" name="Text 25"/>
          <p:cNvSpPr/>
          <p:nvPr/>
        </p:nvSpPr>
        <p:spPr>
          <a:xfrm>
            <a:off x="2304288" y="3374136"/>
            <a:ext cx="3474720" cy="274320"/>
          </a:xfrm>
          <a:prstGeom prst="rect">
            <a:avLst/>
          </a:prstGeom>
          <a:noFill/>
          <a:ln/>
        </p:spPr>
        <p:txBody>
          <a:bodyPr wrap="square" lIns="0" tIns="0" rIns="0" bIns="0" rtlCol="0" anchor="ctr"/>
          <a:lstStyle/>
          <a:p>
            <a:pPr indent="0" marL="0">
              <a:buNone/>
            </a:pPr>
            <a:r>
              <a:rPr lang="en-US" sz="1000" dirty="0">
                <a:solidFill>
                  <a:srgbClr val="B83232"/>
                </a:solidFill>
                <a:latin typeface="Calibri" pitchFamily="34" charset="0"/>
                <a:ea typeface="Calibri" pitchFamily="34" charset="-122"/>
                <a:cs typeface="Calibri" pitchFamily="34" charset="-120"/>
              </a:rPr>
              <a:t>✘ No trajectory→strategy mapping implemented</a:t>
            </a:r>
            <a:endParaRPr lang="en-US" sz="1000" dirty="0"/>
          </a:p>
        </p:txBody>
      </p:sp>
      <p:sp>
        <p:nvSpPr>
          <p:cNvPr id="28" name="Shape 26"/>
          <p:cNvSpPr/>
          <p:nvPr/>
        </p:nvSpPr>
        <p:spPr>
          <a:xfrm>
            <a:off x="5989320" y="3172968"/>
            <a:ext cx="2697480" cy="320040"/>
          </a:xfrm>
          <a:prstGeom prst="roundRect">
            <a:avLst>
              <a:gd name="adj" fmla="val 28571"/>
            </a:avLst>
          </a:prstGeom>
          <a:solidFill>
            <a:srgbClr val="FDE8E8"/>
          </a:solidFill>
          <a:ln w="12700">
            <a:solidFill>
              <a:srgbClr val="ECA0A0"/>
            </a:solidFill>
            <a:prstDash val="solid"/>
          </a:ln>
        </p:spPr>
      </p:sp>
      <p:sp>
        <p:nvSpPr>
          <p:cNvPr id="29" name="Text 27"/>
          <p:cNvSpPr/>
          <p:nvPr/>
        </p:nvSpPr>
        <p:spPr>
          <a:xfrm>
            <a:off x="6016752" y="3172968"/>
            <a:ext cx="2651760" cy="320040"/>
          </a:xfrm>
          <a:prstGeom prst="rect">
            <a:avLst/>
          </a:prstGeom>
          <a:noFill/>
          <a:ln/>
        </p:spPr>
        <p:txBody>
          <a:bodyPr wrap="square" lIns="0" tIns="0" rIns="0" bIns="0" rtlCol="0" anchor="ctr"/>
          <a:lstStyle/>
          <a:p>
            <a:pPr indent="0" marL="0">
              <a:buNone/>
            </a:pPr>
            <a:r>
              <a:rPr lang="en-US" sz="900" dirty="0">
                <a:solidFill>
                  <a:srgbClr val="B83232"/>
                </a:solidFill>
                <a:latin typeface="Calibri" pitchFamily="34" charset="0"/>
                <a:ea typeface="Calibri" pitchFamily="34" charset="-122"/>
                <a:cs typeface="Calibri" pitchFamily="34" charset="-120"/>
              </a:rPr>
              <a:t>GAP: No trajectory→strategy mapping implemented</a:t>
            </a:r>
            <a:endParaRPr lang="en-US" sz="900" dirty="0"/>
          </a:p>
        </p:txBody>
      </p:sp>
      <p:sp>
        <p:nvSpPr>
          <p:cNvPr id="30" name="Shape 28"/>
          <p:cNvSpPr/>
          <p:nvPr/>
        </p:nvSpPr>
        <p:spPr>
          <a:xfrm>
            <a:off x="320040" y="3858768"/>
            <a:ext cx="8503920" cy="804672"/>
          </a:xfrm>
          <a:prstGeom prst="roundRect">
            <a:avLst>
              <a:gd name="adj" fmla="val 1363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31" name="Text 29"/>
          <p:cNvSpPr/>
          <p:nvPr/>
        </p:nvSpPr>
        <p:spPr>
          <a:xfrm>
            <a:off x="475488" y="3904488"/>
            <a:ext cx="1508760" cy="274320"/>
          </a:xfrm>
          <a:prstGeom prst="rect">
            <a:avLst/>
          </a:prstGeom>
          <a:noFill/>
          <a:ln/>
        </p:spPr>
        <p:txBody>
          <a:bodyPr wrap="square" lIns="0" tIns="0" rIns="0" bIns="0" rtlCol="0" anchor="ctr"/>
          <a:lstStyle/>
          <a:p>
            <a:pPr indent="0" marL="0">
              <a:buNone/>
            </a:pPr>
            <a:r>
              <a:rPr lang="en-US" sz="1200" b="1" dirty="0">
                <a:solidFill>
                  <a:srgbClr val="0A6E72"/>
                </a:solidFill>
                <a:latin typeface="Calibri" pitchFamily="34" charset="0"/>
                <a:ea typeface="Calibri" pitchFamily="34" charset="-122"/>
                <a:cs typeface="Calibri" pitchFamily="34" charset="-120"/>
              </a:rPr>
              <a:t>GoEmotions</a:t>
            </a:r>
            <a:endParaRPr lang="en-US" sz="1200" dirty="0"/>
          </a:p>
        </p:txBody>
      </p:sp>
      <p:sp>
        <p:nvSpPr>
          <p:cNvPr id="32" name="Text 30"/>
          <p:cNvSpPr/>
          <p:nvPr/>
        </p:nvSpPr>
        <p:spPr>
          <a:xfrm>
            <a:off x="475488" y="4197096"/>
            <a:ext cx="1508760" cy="228600"/>
          </a:xfrm>
          <a:prstGeom prst="rect">
            <a:avLst/>
          </a:prstGeom>
          <a:noFill/>
          <a:ln/>
        </p:spPr>
        <p:txBody>
          <a:bodyPr wrap="square" lIns="0" tIns="0" rIns="0" bIns="0" rtlCol="0" anchor="ctr"/>
          <a:lstStyle/>
          <a:p>
            <a:pPr indent="0" marL="0">
              <a:buNone/>
            </a:pPr>
            <a:r>
              <a:rPr lang="en-US" sz="900" i="1" dirty="0">
                <a:solidFill>
                  <a:srgbClr val="7FA3B5"/>
                </a:solidFill>
                <a:latin typeface="Calibri" pitchFamily="34" charset="0"/>
                <a:ea typeface="Calibri" pitchFamily="34" charset="-122"/>
                <a:cs typeface="Calibri" pitchFamily="34" charset="-120"/>
              </a:rPr>
              <a:t>Demszky et al., 2020</a:t>
            </a:r>
            <a:endParaRPr lang="en-US" sz="900" dirty="0"/>
          </a:p>
        </p:txBody>
      </p:sp>
      <p:sp>
        <p:nvSpPr>
          <p:cNvPr id="33" name="Shape 31"/>
          <p:cNvSpPr/>
          <p:nvPr/>
        </p:nvSpPr>
        <p:spPr>
          <a:xfrm>
            <a:off x="2148840" y="3950208"/>
            <a:ext cx="13716" cy="594360"/>
          </a:xfrm>
          <a:prstGeom prst="rect">
            <a:avLst/>
          </a:prstGeom>
          <a:solidFill>
            <a:srgbClr val="D6EEEF"/>
          </a:solidFill>
          <a:ln w="12700">
            <a:solidFill>
              <a:srgbClr val="D6EEEF"/>
            </a:solidFill>
            <a:prstDash val="solid"/>
          </a:ln>
        </p:spPr>
      </p:sp>
      <p:sp>
        <p:nvSpPr>
          <p:cNvPr id="34" name="Text 32"/>
          <p:cNvSpPr/>
          <p:nvPr/>
        </p:nvSpPr>
        <p:spPr>
          <a:xfrm>
            <a:off x="2304288" y="3904488"/>
            <a:ext cx="3474720" cy="347472"/>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 27 fine-grained emotion labels; basis for AEIF taxonomy</a:t>
            </a:r>
            <a:endParaRPr lang="en-US" sz="1050" dirty="0"/>
          </a:p>
        </p:txBody>
      </p:sp>
      <p:sp>
        <p:nvSpPr>
          <p:cNvPr id="35" name="Text 33"/>
          <p:cNvSpPr/>
          <p:nvPr/>
        </p:nvSpPr>
        <p:spPr>
          <a:xfrm>
            <a:off x="2304288" y="4288536"/>
            <a:ext cx="3474720" cy="274320"/>
          </a:xfrm>
          <a:prstGeom prst="rect">
            <a:avLst/>
          </a:prstGeom>
          <a:noFill/>
          <a:ln/>
        </p:spPr>
        <p:txBody>
          <a:bodyPr wrap="square" lIns="0" tIns="0" rIns="0" bIns="0" rtlCol="0" anchor="ctr"/>
          <a:lstStyle/>
          <a:p>
            <a:pPr indent="0" marL="0">
              <a:buNone/>
            </a:pPr>
            <a:r>
              <a:rPr lang="en-US" sz="1000" dirty="0">
                <a:solidFill>
                  <a:srgbClr val="B83232"/>
                </a:solidFill>
                <a:latin typeface="Calibri" pitchFamily="34" charset="0"/>
                <a:ea typeface="Calibri" pitchFamily="34" charset="-122"/>
                <a:cs typeface="Calibri" pitchFamily="34" charset="-120"/>
              </a:rPr>
              <a:t>✘ Western corpus; no Pidgin/African language support</a:t>
            </a:r>
            <a:endParaRPr lang="en-US" sz="1000" dirty="0"/>
          </a:p>
        </p:txBody>
      </p:sp>
      <p:sp>
        <p:nvSpPr>
          <p:cNvPr id="36" name="Shape 34"/>
          <p:cNvSpPr/>
          <p:nvPr/>
        </p:nvSpPr>
        <p:spPr>
          <a:xfrm>
            <a:off x="5989320" y="4087368"/>
            <a:ext cx="2697480" cy="320040"/>
          </a:xfrm>
          <a:prstGeom prst="roundRect">
            <a:avLst>
              <a:gd name="adj" fmla="val 28571"/>
            </a:avLst>
          </a:prstGeom>
          <a:solidFill>
            <a:srgbClr val="FDE8E8"/>
          </a:solidFill>
          <a:ln w="12700">
            <a:solidFill>
              <a:srgbClr val="ECA0A0"/>
            </a:solidFill>
            <a:prstDash val="solid"/>
          </a:ln>
        </p:spPr>
      </p:sp>
      <p:sp>
        <p:nvSpPr>
          <p:cNvPr id="37" name="Text 35"/>
          <p:cNvSpPr/>
          <p:nvPr/>
        </p:nvSpPr>
        <p:spPr>
          <a:xfrm>
            <a:off x="6016752" y="4087368"/>
            <a:ext cx="2651760" cy="320040"/>
          </a:xfrm>
          <a:prstGeom prst="rect">
            <a:avLst/>
          </a:prstGeom>
          <a:noFill/>
          <a:ln/>
        </p:spPr>
        <p:txBody>
          <a:bodyPr wrap="square" lIns="0" tIns="0" rIns="0" bIns="0" rtlCol="0" anchor="ctr"/>
          <a:lstStyle/>
          <a:p>
            <a:pPr indent="0" marL="0">
              <a:buNone/>
            </a:pPr>
            <a:r>
              <a:rPr lang="en-US" sz="900" dirty="0">
                <a:solidFill>
                  <a:srgbClr val="B83232"/>
                </a:solidFill>
                <a:latin typeface="Calibri" pitchFamily="34" charset="0"/>
                <a:ea typeface="Calibri" pitchFamily="34" charset="-122"/>
                <a:cs typeface="Calibri" pitchFamily="34" charset="-120"/>
              </a:rPr>
              <a:t>GAP: Western corpus</a:t>
            </a:r>
            <a:endParaRPr lang="en-US" sz="900" dirty="0"/>
          </a:p>
        </p:txBody>
      </p:sp>
      <p:sp>
        <p:nvSpPr>
          <p:cNvPr id="38" name="Shape 36"/>
          <p:cNvSpPr/>
          <p:nvPr/>
        </p:nvSpPr>
        <p:spPr>
          <a:xfrm>
            <a:off x="320040" y="4709160"/>
            <a:ext cx="8503920" cy="320040"/>
          </a:xfrm>
          <a:prstGeom prst="roundRect">
            <a:avLst>
              <a:gd name="adj" fmla="val 34286"/>
            </a:avLst>
          </a:prstGeom>
          <a:solidFill>
            <a:srgbClr val="0D2B3E"/>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39" name="Text 37"/>
          <p:cNvSpPr/>
          <p:nvPr/>
        </p:nvSpPr>
        <p:spPr>
          <a:xfrm>
            <a:off x="502920" y="4727448"/>
            <a:ext cx="8229600" cy="274320"/>
          </a:xfrm>
          <a:prstGeom prst="rect">
            <a:avLst/>
          </a:prstGeom>
          <a:noFill/>
          <a:ln/>
        </p:spPr>
        <p:txBody>
          <a:bodyPr wrap="square" lIns="0" tIns="0" rIns="0" bIns="0" rtlCol="0" anchor="ctr"/>
          <a:lstStyle/>
          <a:p>
            <a:pPr indent="0" marL="0">
              <a:buNone/>
            </a:pPr>
            <a:r>
              <a:rPr lang="en-US" sz="1050" b="1" dirty="0">
                <a:solidFill>
                  <a:srgbClr val="C9993A"/>
                </a:solidFill>
                <a:latin typeface="Calibri" pitchFamily="34" charset="0"/>
                <a:ea typeface="Calibri" pitchFamily="34" charset="-122"/>
                <a:cs typeface="Calibri" pitchFamily="34" charset="-120"/>
              </a:rPr>
              <a:t>Key gap: No existing system integrates emotion trajectory analysis directly into strategy selection for mental health chatbots.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METHODOLOGY: THE AEIF FRAMEWORK</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6-Layer Sequential Processing Pipeline</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7 / 19</a:t>
            </a:r>
            <a:endParaRPr lang="en-US" sz="900" dirty="0"/>
          </a:p>
        </p:txBody>
      </p:sp>
      <p:sp>
        <p:nvSpPr>
          <p:cNvPr id="6" name="Shape 4"/>
          <p:cNvSpPr/>
          <p:nvPr/>
        </p:nvSpPr>
        <p:spPr>
          <a:xfrm>
            <a:off x="274320" y="1097280"/>
            <a:ext cx="1536192" cy="960120"/>
          </a:xfrm>
          <a:prstGeom prst="roundRect">
            <a:avLst>
              <a:gd name="adj" fmla="val 9524"/>
            </a:avLst>
          </a:prstGeom>
          <a:solidFill>
            <a:srgbClr val="0A6E72"/>
          </a:solidFill>
          <a:ln w="8890">
            <a:solidFill>
              <a:srgbClr val="128C8E"/>
            </a:solidFill>
            <a:prstDash val="solid"/>
          </a:ln>
          <a:effectLst>
            <a:outerShdw sx="100000" sy="100000" kx="0" ky="0" algn="bl" rotWithShape="0" blurRad="50800" dist="25400" dir="2700000">
              <a:srgbClr val="000000">
                <a:alpha val="7000"/>
              </a:srgbClr>
            </a:outerShdw>
          </a:effectLst>
        </p:spPr>
      </p:sp>
      <p:sp>
        <p:nvSpPr>
          <p:cNvPr id="7" name="Text 5"/>
          <p:cNvSpPr/>
          <p:nvPr/>
        </p:nvSpPr>
        <p:spPr>
          <a:xfrm>
            <a:off x="310896" y="1133856"/>
            <a:ext cx="384048" cy="256032"/>
          </a:xfrm>
          <a:prstGeom prst="rect">
            <a:avLst/>
          </a:prstGeom>
          <a:noFill/>
          <a:ln/>
        </p:spPr>
        <p:txBody>
          <a:bodyPr wrap="square" lIns="0" tIns="0" rIns="0" bIns="0" rtlCol="0" anchor="ctr"/>
          <a:lstStyle/>
          <a:p>
            <a:pPr indent="0" marL="0">
              <a:buNone/>
            </a:pPr>
            <a:r>
              <a:rPr lang="en-US" sz="900" b="1" dirty="0">
                <a:solidFill>
                  <a:srgbClr val="D4EEF0"/>
                </a:solidFill>
                <a:latin typeface="Calibri" pitchFamily="34" charset="0"/>
                <a:ea typeface="Calibri" pitchFamily="34" charset="-122"/>
                <a:cs typeface="Calibri" pitchFamily="34" charset="-120"/>
              </a:rPr>
              <a:t>L1</a:t>
            </a:r>
            <a:endParaRPr lang="en-US" sz="900" dirty="0"/>
          </a:p>
        </p:txBody>
      </p:sp>
      <p:sp>
        <p:nvSpPr>
          <p:cNvPr id="8" name="Text 6"/>
          <p:cNvSpPr/>
          <p:nvPr/>
        </p:nvSpPr>
        <p:spPr>
          <a:xfrm>
            <a:off x="329184" y="1371600"/>
            <a:ext cx="142646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Safety</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9" name="Text 7"/>
          <p:cNvSpPr/>
          <p:nvPr/>
        </p:nvSpPr>
        <p:spPr>
          <a:xfrm>
            <a:off x="329184" y="1664208"/>
            <a:ext cx="1426464" cy="347472"/>
          </a:xfrm>
          <a:prstGeom prst="rect">
            <a:avLst/>
          </a:prstGeom>
          <a:noFill/>
          <a:ln/>
        </p:spPr>
        <p:txBody>
          <a:bodyPr wrap="square" lIns="0" tIns="0" rIns="0" bIns="0" rtlCol="0" anchor="ctr"/>
          <a:lstStyle/>
          <a:p>
            <a:pPr indent="0" marL="0">
              <a:buNone/>
            </a:pPr>
            <a:r>
              <a:rPr lang="en-US" sz="850" dirty="0">
                <a:solidFill>
                  <a:srgbClr val="D4EEF0"/>
                </a:solidFill>
                <a:latin typeface="Calibri" pitchFamily="34" charset="0"/>
                <a:ea typeface="Calibri" pitchFamily="34" charset="-122"/>
                <a:cs typeface="Calibri" pitchFamily="34" charset="-120"/>
              </a:rPr>
              <a:t>Crisis keywords</a:t>
            </a:r>
            <a:endParaRPr lang="en-US" sz="850" dirty="0"/>
          </a:p>
          <a:p>
            <a:pPr indent="0" marL="0">
              <a:buNone/>
            </a:pPr>
            <a:r>
              <a:rPr lang="en-US" sz="850" dirty="0">
                <a:solidFill>
                  <a:srgbClr val="D4EEF0"/>
                </a:solidFill>
                <a:latin typeface="Calibri" pitchFamily="34" charset="0"/>
                <a:ea typeface="Calibri" pitchFamily="34" charset="-122"/>
                <a:cs typeface="Calibri" pitchFamily="34" charset="-120"/>
              </a:rPr>
              <a:t>+ Pidgin patterns</a:t>
            </a:r>
            <a:endParaRPr lang="en-US" sz="850" dirty="0"/>
          </a:p>
        </p:txBody>
      </p:sp>
      <p:sp>
        <p:nvSpPr>
          <p:cNvPr id="10" name="Shape 8"/>
          <p:cNvSpPr/>
          <p:nvPr/>
        </p:nvSpPr>
        <p:spPr>
          <a:xfrm>
            <a:off x="1705356" y="1463040"/>
            <a:ext cx="201168" cy="274320"/>
          </a:xfrm>
          <a:prstGeom prst="rightArrow">
            <a:avLst/>
          </a:prstGeom>
          <a:solidFill>
            <a:srgbClr val="128C8E"/>
          </a:solidFill>
          <a:ln w="12700">
            <a:solidFill>
              <a:srgbClr val="128C8E"/>
            </a:solidFill>
            <a:prstDash val="solid"/>
          </a:ln>
        </p:spPr>
      </p:sp>
      <p:sp>
        <p:nvSpPr>
          <p:cNvPr id="11" name="Shape 9"/>
          <p:cNvSpPr/>
          <p:nvPr/>
        </p:nvSpPr>
        <p:spPr>
          <a:xfrm>
            <a:off x="1920240" y="1097280"/>
            <a:ext cx="1536192" cy="960120"/>
          </a:xfrm>
          <a:prstGeom prst="roundRect">
            <a:avLst>
              <a:gd name="adj" fmla="val 9524"/>
            </a:avLst>
          </a:prstGeom>
          <a:solidFill>
            <a:srgbClr val="FFFFFF"/>
          </a:solidFill>
          <a:ln w="8890">
            <a:solidFill>
              <a:srgbClr val="D8E8EC"/>
            </a:solidFill>
            <a:prstDash val="solid"/>
          </a:ln>
          <a:effectLst>
            <a:outerShdw sx="100000" sy="100000" kx="0" ky="0" algn="bl" rotWithShape="0" blurRad="50800" dist="25400" dir="2700000">
              <a:srgbClr val="000000">
                <a:alpha val="7000"/>
              </a:srgbClr>
            </a:outerShdw>
          </a:effectLst>
        </p:spPr>
      </p:sp>
      <p:sp>
        <p:nvSpPr>
          <p:cNvPr id="12" name="Text 10"/>
          <p:cNvSpPr/>
          <p:nvPr/>
        </p:nvSpPr>
        <p:spPr>
          <a:xfrm>
            <a:off x="1956816" y="1133856"/>
            <a:ext cx="384048" cy="256032"/>
          </a:xfrm>
          <a:prstGeom prst="rect">
            <a:avLst/>
          </a:prstGeom>
          <a:noFill/>
          <a:ln/>
        </p:spPr>
        <p:txBody>
          <a:bodyPr wrap="square" lIns="0" tIns="0" rIns="0" bIns="0" rtlCol="0" anchor="ctr"/>
          <a:lstStyle/>
          <a:p>
            <a:pPr indent="0" marL="0">
              <a:buNone/>
            </a:pPr>
            <a:r>
              <a:rPr lang="en-US" sz="900" b="1" dirty="0">
                <a:solidFill>
                  <a:srgbClr val="C9993A"/>
                </a:solidFill>
                <a:latin typeface="Calibri" pitchFamily="34" charset="0"/>
                <a:ea typeface="Calibri" pitchFamily="34" charset="-122"/>
                <a:cs typeface="Calibri" pitchFamily="34" charset="-120"/>
              </a:rPr>
              <a:t>L2</a:t>
            </a:r>
            <a:endParaRPr lang="en-US" sz="900" dirty="0"/>
          </a:p>
        </p:txBody>
      </p:sp>
      <p:sp>
        <p:nvSpPr>
          <p:cNvPr id="13" name="Text 11"/>
          <p:cNvSpPr/>
          <p:nvPr/>
        </p:nvSpPr>
        <p:spPr>
          <a:xfrm>
            <a:off x="1975104" y="1371600"/>
            <a:ext cx="1426464" cy="27432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Emotion</a:t>
            </a:r>
            <a:endParaRPr lang="en-US" sz="1100" dirty="0"/>
          </a:p>
          <a:p>
            <a:pPr indent="0" marL="0">
              <a:buNone/>
            </a:pPr>
            <a:r>
              <a:rPr lang="en-US" sz="1100" b="1" dirty="0">
                <a:solidFill>
                  <a:srgbClr val="1A2E3B"/>
                </a:solidFill>
                <a:latin typeface="Calibri" pitchFamily="34" charset="0"/>
                <a:ea typeface="Calibri" pitchFamily="34" charset="-122"/>
                <a:cs typeface="Calibri" pitchFamily="34" charset="-120"/>
              </a:rPr>
              <a:t>Detection</a:t>
            </a:r>
            <a:endParaRPr lang="en-US" sz="1100" dirty="0"/>
          </a:p>
        </p:txBody>
      </p:sp>
      <p:sp>
        <p:nvSpPr>
          <p:cNvPr id="14" name="Text 12"/>
          <p:cNvSpPr/>
          <p:nvPr/>
        </p:nvSpPr>
        <p:spPr>
          <a:xfrm>
            <a:off x="1975104" y="1664208"/>
            <a:ext cx="1426464" cy="347472"/>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HF Transformer</a:t>
            </a:r>
            <a:endParaRPr lang="en-US" sz="850" dirty="0"/>
          </a:p>
          <a:p>
            <a:pPr indent="0" marL="0">
              <a:buNone/>
            </a:pPr>
            <a:r>
              <a:rPr lang="en-US" sz="850" dirty="0">
                <a:solidFill>
                  <a:srgbClr val="4A6274"/>
                </a:solidFill>
                <a:latin typeface="Calibri" pitchFamily="34" charset="0"/>
                <a:ea typeface="Calibri" pitchFamily="34" charset="-122"/>
                <a:cs typeface="Calibri" pitchFamily="34" charset="-120"/>
              </a:rPr>
              <a:t>+ keyword fallback</a:t>
            </a:r>
            <a:endParaRPr lang="en-US" sz="850" dirty="0"/>
          </a:p>
        </p:txBody>
      </p:sp>
      <p:sp>
        <p:nvSpPr>
          <p:cNvPr id="15" name="Shape 13"/>
          <p:cNvSpPr/>
          <p:nvPr/>
        </p:nvSpPr>
        <p:spPr>
          <a:xfrm>
            <a:off x="3351276" y="1463040"/>
            <a:ext cx="201168" cy="274320"/>
          </a:xfrm>
          <a:prstGeom prst="rightArrow">
            <a:avLst/>
          </a:prstGeom>
          <a:solidFill>
            <a:srgbClr val="128C8E"/>
          </a:solidFill>
          <a:ln w="12700">
            <a:solidFill>
              <a:srgbClr val="128C8E"/>
            </a:solidFill>
            <a:prstDash val="solid"/>
          </a:ln>
        </p:spPr>
      </p:sp>
      <p:sp>
        <p:nvSpPr>
          <p:cNvPr id="16" name="Shape 14"/>
          <p:cNvSpPr/>
          <p:nvPr/>
        </p:nvSpPr>
        <p:spPr>
          <a:xfrm>
            <a:off x="3566160" y="1097280"/>
            <a:ext cx="1536192" cy="960120"/>
          </a:xfrm>
          <a:prstGeom prst="roundRect">
            <a:avLst>
              <a:gd name="adj" fmla="val 9524"/>
            </a:avLst>
          </a:prstGeom>
          <a:solidFill>
            <a:srgbClr val="FFFFFF"/>
          </a:solidFill>
          <a:ln w="8890">
            <a:solidFill>
              <a:srgbClr val="D8E8EC"/>
            </a:solidFill>
            <a:prstDash val="solid"/>
          </a:ln>
          <a:effectLst>
            <a:outerShdw sx="100000" sy="100000" kx="0" ky="0" algn="bl" rotWithShape="0" blurRad="50800" dist="25400" dir="2700000">
              <a:srgbClr val="000000">
                <a:alpha val="7000"/>
              </a:srgbClr>
            </a:outerShdw>
          </a:effectLst>
        </p:spPr>
      </p:sp>
      <p:sp>
        <p:nvSpPr>
          <p:cNvPr id="17" name="Text 15"/>
          <p:cNvSpPr/>
          <p:nvPr/>
        </p:nvSpPr>
        <p:spPr>
          <a:xfrm>
            <a:off x="3602736" y="1133856"/>
            <a:ext cx="384048" cy="256032"/>
          </a:xfrm>
          <a:prstGeom prst="rect">
            <a:avLst/>
          </a:prstGeom>
          <a:noFill/>
          <a:ln/>
        </p:spPr>
        <p:txBody>
          <a:bodyPr wrap="square" lIns="0" tIns="0" rIns="0" bIns="0" rtlCol="0" anchor="ctr"/>
          <a:lstStyle/>
          <a:p>
            <a:pPr indent="0" marL="0">
              <a:buNone/>
            </a:pPr>
            <a:r>
              <a:rPr lang="en-US" sz="900" b="1" dirty="0">
                <a:solidFill>
                  <a:srgbClr val="C9993A"/>
                </a:solidFill>
                <a:latin typeface="Calibri" pitchFamily="34" charset="0"/>
                <a:ea typeface="Calibri" pitchFamily="34" charset="-122"/>
                <a:cs typeface="Calibri" pitchFamily="34" charset="-120"/>
              </a:rPr>
              <a:t>L3</a:t>
            </a:r>
            <a:endParaRPr lang="en-US" sz="900" dirty="0"/>
          </a:p>
        </p:txBody>
      </p:sp>
      <p:sp>
        <p:nvSpPr>
          <p:cNvPr id="18" name="Text 16"/>
          <p:cNvSpPr/>
          <p:nvPr/>
        </p:nvSpPr>
        <p:spPr>
          <a:xfrm>
            <a:off x="3621024" y="1371600"/>
            <a:ext cx="1426464" cy="27432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Memory</a:t>
            </a:r>
            <a:endParaRPr lang="en-US" sz="1100" dirty="0"/>
          </a:p>
          <a:p>
            <a:pPr indent="0" marL="0">
              <a:buNone/>
            </a:pPr>
            <a:r>
              <a:rPr lang="en-US" sz="1100" b="1" dirty="0">
                <a:solidFill>
                  <a:srgbClr val="1A2E3B"/>
                </a:solidFill>
                <a:latin typeface="Calibri" pitchFamily="34" charset="0"/>
                <a:ea typeface="Calibri" pitchFamily="34" charset="-122"/>
                <a:cs typeface="Calibri" pitchFamily="34" charset="-120"/>
              </a:rPr>
              <a:t>Update</a:t>
            </a:r>
            <a:endParaRPr lang="en-US" sz="1100" dirty="0"/>
          </a:p>
        </p:txBody>
      </p:sp>
      <p:sp>
        <p:nvSpPr>
          <p:cNvPr id="19" name="Text 17"/>
          <p:cNvSpPr/>
          <p:nvPr/>
        </p:nvSpPr>
        <p:spPr>
          <a:xfrm>
            <a:off x="3621024" y="1664208"/>
            <a:ext cx="1426464" cy="347472"/>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20-turn in-memory</a:t>
            </a:r>
            <a:endParaRPr lang="en-US" sz="850" dirty="0"/>
          </a:p>
          <a:p>
            <a:pPr indent="0" marL="0">
              <a:buNone/>
            </a:pPr>
            <a:r>
              <a:rPr lang="en-US" sz="850" dirty="0">
                <a:solidFill>
                  <a:srgbClr val="4A6274"/>
                </a:solidFill>
                <a:latin typeface="Calibri" pitchFamily="34" charset="0"/>
                <a:ea typeface="Calibri" pitchFamily="34" charset="-122"/>
                <a:cs typeface="Calibri" pitchFamily="34" charset="-120"/>
              </a:rPr>
              <a:t>session store</a:t>
            </a:r>
            <a:endParaRPr lang="en-US" sz="850" dirty="0"/>
          </a:p>
        </p:txBody>
      </p:sp>
      <p:sp>
        <p:nvSpPr>
          <p:cNvPr id="20" name="Shape 18"/>
          <p:cNvSpPr/>
          <p:nvPr/>
        </p:nvSpPr>
        <p:spPr>
          <a:xfrm>
            <a:off x="4997196" y="1463040"/>
            <a:ext cx="201168" cy="274320"/>
          </a:xfrm>
          <a:prstGeom prst="rightArrow">
            <a:avLst/>
          </a:prstGeom>
          <a:solidFill>
            <a:srgbClr val="128C8E"/>
          </a:solidFill>
          <a:ln w="12700">
            <a:solidFill>
              <a:srgbClr val="128C8E"/>
            </a:solidFill>
            <a:prstDash val="solid"/>
          </a:ln>
        </p:spPr>
      </p:sp>
      <p:sp>
        <p:nvSpPr>
          <p:cNvPr id="21" name="Shape 19"/>
          <p:cNvSpPr/>
          <p:nvPr/>
        </p:nvSpPr>
        <p:spPr>
          <a:xfrm>
            <a:off x="5212080" y="1097280"/>
            <a:ext cx="1536192" cy="960120"/>
          </a:xfrm>
          <a:prstGeom prst="roundRect">
            <a:avLst>
              <a:gd name="adj" fmla="val 9524"/>
            </a:avLst>
          </a:prstGeom>
          <a:solidFill>
            <a:srgbClr val="FFFFFF"/>
          </a:solidFill>
          <a:ln w="8890">
            <a:solidFill>
              <a:srgbClr val="D8E8EC"/>
            </a:solidFill>
            <a:prstDash val="solid"/>
          </a:ln>
          <a:effectLst>
            <a:outerShdw sx="100000" sy="100000" kx="0" ky="0" algn="bl" rotWithShape="0" blurRad="50800" dist="25400" dir="2700000">
              <a:srgbClr val="000000">
                <a:alpha val="7000"/>
              </a:srgbClr>
            </a:outerShdw>
          </a:effectLst>
        </p:spPr>
      </p:sp>
      <p:sp>
        <p:nvSpPr>
          <p:cNvPr id="22" name="Text 20"/>
          <p:cNvSpPr/>
          <p:nvPr/>
        </p:nvSpPr>
        <p:spPr>
          <a:xfrm>
            <a:off x="5248656" y="1133856"/>
            <a:ext cx="384048" cy="256032"/>
          </a:xfrm>
          <a:prstGeom prst="rect">
            <a:avLst/>
          </a:prstGeom>
          <a:noFill/>
          <a:ln/>
        </p:spPr>
        <p:txBody>
          <a:bodyPr wrap="square" lIns="0" tIns="0" rIns="0" bIns="0" rtlCol="0" anchor="ctr"/>
          <a:lstStyle/>
          <a:p>
            <a:pPr indent="0" marL="0">
              <a:buNone/>
            </a:pPr>
            <a:r>
              <a:rPr lang="en-US" sz="900" b="1" dirty="0">
                <a:solidFill>
                  <a:srgbClr val="C9993A"/>
                </a:solidFill>
                <a:latin typeface="Calibri" pitchFamily="34" charset="0"/>
                <a:ea typeface="Calibri" pitchFamily="34" charset="-122"/>
                <a:cs typeface="Calibri" pitchFamily="34" charset="-120"/>
              </a:rPr>
              <a:t>L4</a:t>
            </a:r>
            <a:endParaRPr lang="en-US" sz="900" dirty="0"/>
          </a:p>
        </p:txBody>
      </p:sp>
      <p:sp>
        <p:nvSpPr>
          <p:cNvPr id="23" name="Text 21"/>
          <p:cNvSpPr/>
          <p:nvPr/>
        </p:nvSpPr>
        <p:spPr>
          <a:xfrm>
            <a:off x="5266944" y="1371600"/>
            <a:ext cx="1426464" cy="27432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Trend</a:t>
            </a:r>
            <a:endParaRPr lang="en-US" sz="1100" dirty="0"/>
          </a:p>
          <a:p>
            <a:pPr indent="0" marL="0">
              <a:buNone/>
            </a:pPr>
            <a:r>
              <a:rPr lang="en-US" sz="1100" b="1" dirty="0">
                <a:solidFill>
                  <a:srgbClr val="1A2E3B"/>
                </a:solidFill>
                <a:latin typeface="Calibri" pitchFamily="34" charset="0"/>
                <a:ea typeface="Calibri" pitchFamily="34" charset="-122"/>
                <a:cs typeface="Calibri" pitchFamily="34" charset="-120"/>
              </a:rPr>
              <a:t>Analysis</a:t>
            </a:r>
            <a:endParaRPr lang="en-US" sz="1100" dirty="0"/>
          </a:p>
        </p:txBody>
      </p:sp>
      <p:sp>
        <p:nvSpPr>
          <p:cNvPr id="24" name="Text 22"/>
          <p:cNvSpPr/>
          <p:nvPr/>
        </p:nvSpPr>
        <p:spPr>
          <a:xfrm>
            <a:off x="5266944" y="1664208"/>
            <a:ext cx="1426464" cy="347472"/>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Severity-weighted</a:t>
            </a:r>
            <a:endParaRPr lang="en-US" sz="850" dirty="0"/>
          </a:p>
          <a:p>
            <a:pPr indent="0" marL="0">
              <a:buNone/>
            </a:pPr>
            <a:r>
              <a:rPr lang="en-US" sz="850" dirty="0">
                <a:solidFill>
                  <a:srgbClr val="4A6274"/>
                </a:solidFill>
                <a:latin typeface="Calibri" pitchFamily="34" charset="0"/>
                <a:ea typeface="Calibri" pitchFamily="34" charset="-122"/>
                <a:cs typeface="Calibri" pitchFamily="34" charset="-120"/>
              </a:rPr>
              <a:t>→ 7 trend types</a:t>
            </a:r>
            <a:endParaRPr lang="en-US" sz="850" dirty="0"/>
          </a:p>
        </p:txBody>
      </p:sp>
      <p:sp>
        <p:nvSpPr>
          <p:cNvPr id="25" name="Shape 23"/>
          <p:cNvSpPr/>
          <p:nvPr/>
        </p:nvSpPr>
        <p:spPr>
          <a:xfrm>
            <a:off x="6643116" y="1463040"/>
            <a:ext cx="201168" cy="274320"/>
          </a:xfrm>
          <a:prstGeom prst="rightArrow">
            <a:avLst/>
          </a:prstGeom>
          <a:solidFill>
            <a:srgbClr val="128C8E"/>
          </a:solidFill>
          <a:ln w="12700">
            <a:solidFill>
              <a:srgbClr val="128C8E"/>
            </a:solidFill>
            <a:prstDash val="solid"/>
          </a:ln>
        </p:spPr>
      </p:sp>
      <p:sp>
        <p:nvSpPr>
          <p:cNvPr id="26" name="Shape 24"/>
          <p:cNvSpPr/>
          <p:nvPr/>
        </p:nvSpPr>
        <p:spPr>
          <a:xfrm>
            <a:off x="6858000" y="1097280"/>
            <a:ext cx="1536192" cy="960120"/>
          </a:xfrm>
          <a:prstGeom prst="roundRect">
            <a:avLst>
              <a:gd name="adj" fmla="val 9524"/>
            </a:avLst>
          </a:prstGeom>
          <a:solidFill>
            <a:srgbClr val="FFFFFF"/>
          </a:solidFill>
          <a:ln w="8890">
            <a:solidFill>
              <a:srgbClr val="D8E8EC"/>
            </a:solidFill>
            <a:prstDash val="solid"/>
          </a:ln>
          <a:effectLst>
            <a:outerShdw sx="100000" sy="100000" kx="0" ky="0" algn="bl" rotWithShape="0" blurRad="50800" dist="25400" dir="2700000">
              <a:srgbClr val="000000">
                <a:alpha val="7000"/>
              </a:srgbClr>
            </a:outerShdw>
          </a:effectLst>
        </p:spPr>
      </p:sp>
      <p:sp>
        <p:nvSpPr>
          <p:cNvPr id="27" name="Text 25"/>
          <p:cNvSpPr/>
          <p:nvPr/>
        </p:nvSpPr>
        <p:spPr>
          <a:xfrm>
            <a:off x="6894576" y="1133856"/>
            <a:ext cx="384048" cy="256032"/>
          </a:xfrm>
          <a:prstGeom prst="rect">
            <a:avLst/>
          </a:prstGeom>
          <a:noFill/>
          <a:ln/>
        </p:spPr>
        <p:txBody>
          <a:bodyPr wrap="square" lIns="0" tIns="0" rIns="0" bIns="0" rtlCol="0" anchor="ctr"/>
          <a:lstStyle/>
          <a:p>
            <a:pPr indent="0" marL="0">
              <a:buNone/>
            </a:pPr>
            <a:r>
              <a:rPr lang="en-US" sz="900" b="1" dirty="0">
                <a:solidFill>
                  <a:srgbClr val="C9993A"/>
                </a:solidFill>
                <a:latin typeface="Calibri" pitchFamily="34" charset="0"/>
                <a:ea typeface="Calibri" pitchFamily="34" charset="-122"/>
                <a:cs typeface="Calibri" pitchFamily="34" charset="-120"/>
              </a:rPr>
              <a:t>L5</a:t>
            </a:r>
            <a:endParaRPr lang="en-US" sz="900" dirty="0"/>
          </a:p>
        </p:txBody>
      </p:sp>
      <p:sp>
        <p:nvSpPr>
          <p:cNvPr id="28" name="Text 26"/>
          <p:cNvSpPr/>
          <p:nvPr/>
        </p:nvSpPr>
        <p:spPr>
          <a:xfrm>
            <a:off x="6912864" y="1371600"/>
            <a:ext cx="1426464" cy="27432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Strategy</a:t>
            </a:r>
            <a:endParaRPr lang="en-US" sz="1100" dirty="0"/>
          </a:p>
          <a:p>
            <a:pPr indent="0" marL="0">
              <a:buNone/>
            </a:pPr>
            <a:r>
              <a:rPr lang="en-US" sz="1100" b="1" dirty="0">
                <a:solidFill>
                  <a:srgbClr val="1A2E3B"/>
                </a:solidFill>
                <a:latin typeface="Calibri" pitchFamily="34" charset="0"/>
                <a:ea typeface="Calibri" pitchFamily="34" charset="-122"/>
                <a:cs typeface="Calibri" pitchFamily="34" charset="-120"/>
              </a:rPr>
              <a:t>Selection</a:t>
            </a:r>
            <a:endParaRPr lang="en-US" sz="1100" dirty="0"/>
          </a:p>
        </p:txBody>
      </p:sp>
      <p:sp>
        <p:nvSpPr>
          <p:cNvPr id="29" name="Text 27"/>
          <p:cNvSpPr/>
          <p:nvPr/>
        </p:nvSpPr>
        <p:spPr>
          <a:xfrm>
            <a:off x="6912864" y="1664208"/>
            <a:ext cx="1426464" cy="347472"/>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12-condition</a:t>
            </a:r>
            <a:endParaRPr lang="en-US" sz="850" dirty="0"/>
          </a:p>
          <a:p>
            <a:pPr indent="0" marL="0">
              <a:buNone/>
            </a:pPr>
            <a:r>
              <a:rPr lang="en-US" sz="850" dirty="0">
                <a:solidFill>
                  <a:srgbClr val="4A6274"/>
                </a:solidFill>
                <a:latin typeface="Calibri" pitchFamily="34" charset="0"/>
                <a:ea typeface="Calibri" pitchFamily="34" charset="-122"/>
                <a:cs typeface="Calibri" pitchFamily="34" charset="-120"/>
              </a:rPr>
              <a:t>→ 9 strategies</a:t>
            </a:r>
            <a:endParaRPr lang="en-US" sz="850" dirty="0"/>
          </a:p>
        </p:txBody>
      </p:sp>
      <p:sp>
        <p:nvSpPr>
          <p:cNvPr id="30" name="Shape 28"/>
          <p:cNvSpPr/>
          <p:nvPr/>
        </p:nvSpPr>
        <p:spPr>
          <a:xfrm>
            <a:off x="8289036" y="1463040"/>
            <a:ext cx="201168" cy="274320"/>
          </a:xfrm>
          <a:prstGeom prst="rightArrow">
            <a:avLst/>
          </a:prstGeom>
          <a:solidFill>
            <a:srgbClr val="128C8E"/>
          </a:solidFill>
          <a:ln w="12700">
            <a:solidFill>
              <a:srgbClr val="128C8E"/>
            </a:solidFill>
            <a:prstDash val="solid"/>
          </a:ln>
        </p:spPr>
      </p:sp>
      <p:sp>
        <p:nvSpPr>
          <p:cNvPr id="31" name="Shape 29"/>
          <p:cNvSpPr/>
          <p:nvPr/>
        </p:nvSpPr>
        <p:spPr>
          <a:xfrm>
            <a:off x="8503920" y="1097280"/>
            <a:ext cx="1536192" cy="960120"/>
          </a:xfrm>
          <a:prstGeom prst="roundRect">
            <a:avLst>
              <a:gd name="adj" fmla="val 9524"/>
            </a:avLst>
          </a:prstGeom>
          <a:solidFill>
            <a:srgbClr val="0A6E72"/>
          </a:solidFill>
          <a:ln w="8890">
            <a:solidFill>
              <a:srgbClr val="128C8E"/>
            </a:solidFill>
            <a:prstDash val="solid"/>
          </a:ln>
          <a:effectLst>
            <a:outerShdw sx="100000" sy="100000" kx="0" ky="0" algn="bl" rotWithShape="0" blurRad="50800" dist="25400" dir="2700000">
              <a:srgbClr val="000000">
                <a:alpha val="7000"/>
              </a:srgbClr>
            </a:outerShdw>
          </a:effectLst>
        </p:spPr>
      </p:sp>
      <p:sp>
        <p:nvSpPr>
          <p:cNvPr id="32" name="Text 30"/>
          <p:cNvSpPr/>
          <p:nvPr/>
        </p:nvSpPr>
        <p:spPr>
          <a:xfrm>
            <a:off x="8540496" y="1133856"/>
            <a:ext cx="384048" cy="256032"/>
          </a:xfrm>
          <a:prstGeom prst="rect">
            <a:avLst/>
          </a:prstGeom>
          <a:noFill/>
          <a:ln/>
        </p:spPr>
        <p:txBody>
          <a:bodyPr wrap="square" lIns="0" tIns="0" rIns="0" bIns="0" rtlCol="0" anchor="ctr"/>
          <a:lstStyle/>
          <a:p>
            <a:pPr indent="0" marL="0">
              <a:buNone/>
            </a:pPr>
            <a:r>
              <a:rPr lang="en-US" sz="900" b="1" dirty="0">
                <a:solidFill>
                  <a:srgbClr val="D4EEF0"/>
                </a:solidFill>
                <a:latin typeface="Calibri" pitchFamily="34" charset="0"/>
                <a:ea typeface="Calibri" pitchFamily="34" charset="-122"/>
                <a:cs typeface="Calibri" pitchFamily="34" charset="-120"/>
              </a:rPr>
              <a:t>L6</a:t>
            </a:r>
            <a:endParaRPr lang="en-US" sz="900" dirty="0"/>
          </a:p>
        </p:txBody>
      </p:sp>
      <p:sp>
        <p:nvSpPr>
          <p:cNvPr id="33" name="Text 31"/>
          <p:cNvSpPr/>
          <p:nvPr/>
        </p:nvSpPr>
        <p:spPr>
          <a:xfrm>
            <a:off x="8558784" y="1371600"/>
            <a:ext cx="142646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Generation</a:t>
            </a:r>
            <a:endParaRPr lang="en-US" sz="1100" dirty="0"/>
          </a:p>
        </p:txBody>
      </p:sp>
      <p:sp>
        <p:nvSpPr>
          <p:cNvPr id="34" name="Text 32"/>
          <p:cNvSpPr/>
          <p:nvPr/>
        </p:nvSpPr>
        <p:spPr>
          <a:xfrm>
            <a:off x="8558784" y="1664208"/>
            <a:ext cx="1426464" cy="347472"/>
          </a:xfrm>
          <a:prstGeom prst="rect">
            <a:avLst/>
          </a:prstGeom>
          <a:noFill/>
          <a:ln/>
        </p:spPr>
        <p:txBody>
          <a:bodyPr wrap="square" lIns="0" tIns="0" rIns="0" bIns="0" rtlCol="0" anchor="ctr"/>
          <a:lstStyle/>
          <a:p>
            <a:pPr indent="0" marL="0">
              <a:buNone/>
            </a:pPr>
            <a:r>
              <a:rPr lang="en-US" sz="850" dirty="0">
                <a:solidFill>
                  <a:srgbClr val="D4EEF0"/>
                </a:solidFill>
                <a:latin typeface="Calibri" pitchFamily="34" charset="0"/>
                <a:ea typeface="Calibri" pitchFamily="34" charset="-122"/>
                <a:cs typeface="Calibri" pitchFamily="34" charset="-120"/>
              </a:rPr>
              <a:t>Groq LLM +</a:t>
            </a:r>
            <a:endParaRPr lang="en-US" sz="850" dirty="0"/>
          </a:p>
          <a:p>
            <a:pPr indent="0" marL="0">
              <a:buNone/>
            </a:pPr>
            <a:r>
              <a:rPr lang="en-US" sz="850" dirty="0">
                <a:solidFill>
                  <a:srgbClr val="D4EEF0"/>
                </a:solidFill>
                <a:latin typeface="Calibri" pitchFamily="34" charset="0"/>
                <a:ea typeface="Calibri" pitchFamily="34" charset="-122"/>
                <a:cs typeface="Calibri" pitchFamily="34" charset="-120"/>
              </a:rPr>
              <a:t>template fallback</a:t>
            </a:r>
            <a:endParaRPr lang="en-US" sz="850" dirty="0"/>
          </a:p>
        </p:txBody>
      </p:sp>
      <p:sp>
        <p:nvSpPr>
          <p:cNvPr id="35" name="Text 33"/>
          <p:cNvSpPr/>
          <p:nvPr/>
        </p:nvSpPr>
        <p:spPr>
          <a:xfrm>
            <a:off x="274320" y="804672"/>
            <a:ext cx="1417320" cy="246888"/>
          </a:xfrm>
          <a:prstGeom prst="rect">
            <a:avLst/>
          </a:prstGeom>
          <a:noFill/>
          <a:ln/>
        </p:spPr>
        <p:txBody>
          <a:bodyPr wrap="square" lIns="0" tIns="0" rIns="0" bIns="0" rtlCol="0" anchor="ctr"/>
          <a:lstStyle/>
          <a:p>
            <a:pPr algn="ctr" indent="0" marL="0">
              <a:buNone/>
            </a:pPr>
            <a:r>
              <a:rPr lang="en-US" sz="1000" dirty="0">
                <a:solidFill>
                  <a:srgbClr val="7FA3B5"/>
                </a:solidFill>
                <a:latin typeface="Calibri" pitchFamily="34" charset="0"/>
                <a:ea typeface="Calibri" pitchFamily="34" charset="-122"/>
                <a:cs typeface="Calibri" pitchFamily="34" charset="-120"/>
              </a:rPr>
              <a:t>User Message</a:t>
            </a:r>
            <a:endParaRPr lang="en-US" sz="1000" dirty="0"/>
          </a:p>
        </p:txBody>
      </p:sp>
      <p:sp>
        <p:nvSpPr>
          <p:cNvPr id="36" name="Text 34"/>
          <p:cNvSpPr/>
          <p:nvPr/>
        </p:nvSpPr>
        <p:spPr>
          <a:xfrm>
            <a:off x="8503920" y="804672"/>
            <a:ext cx="1417320" cy="246888"/>
          </a:xfrm>
          <a:prstGeom prst="rect">
            <a:avLst/>
          </a:prstGeom>
          <a:noFill/>
          <a:ln/>
        </p:spPr>
        <p:txBody>
          <a:bodyPr wrap="square" lIns="0" tIns="0" rIns="0" bIns="0" rtlCol="0" anchor="ctr"/>
          <a:lstStyle/>
          <a:p>
            <a:pPr algn="ctr" indent="0" marL="0">
              <a:buNone/>
            </a:pPr>
            <a:r>
              <a:rPr lang="en-US" sz="1000" dirty="0">
                <a:solidFill>
                  <a:srgbClr val="7FA3B5"/>
                </a:solidFill>
                <a:latin typeface="Calibri" pitchFamily="34" charset="0"/>
                <a:ea typeface="Calibri" pitchFamily="34" charset="-122"/>
                <a:cs typeface="Calibri" pitchFamily="34" charset="-120"/>
              </a:rPr>
              <a:t>Response</a:t>
            </a:r>
            <a:endParaRPr lang="en-US" sz="1000" dirty="0"/>
          </a:p>
        </p:txBody>
      </p:sp>
      <p:sp>
        <p:nvSpPr>
          <p:cNvPr id="37" name="Shape 35"/>
          <p:cNvSpPr/>
          <p:nvPr/>
        </p:nvSpPr>
        <p:spPr>
          <a:xfrm>
            <a:off x="274320" y="2286000"/>
            <a:ext cx="1417320" cy="502920"/>
          </a:xfrm>
          <a:prstGeom prst="roundRect">
            <a:avLst>
              <a:gd name="adj" fmla="val 18182"/>
            </a:avLst>
          </a:prstGeom>
          <a:solidFill>
            <a:srgbClr val="FDE8E8"/>
          </a:solidFill>
          <a:ln w="12700">
            <a:solidFill>
              <a:srgbClr val="ECA0A0"/>
            </a:solidFill>
            <a:prstDash val="solid"/>
          </a:ln>
        </p:spPr>
      </p:sp>
      <p:sp>
        <p:nvSpPr>
          <p:cNvPr id="38" name="Text 36"/>
          <p:cNvSpPr/>
          <p:nvPr/>
        </p:nvSpPr>
        <p:spPr>
          <a:xfrm>
            <a:off x="274320" y="2286000"/>
            <a:ext cx="1417320" cy="502920"/>
          </a:xfrm>
          <a:prstGeom prst="rect">
            <a:avLst/>
          </a:prstGeom>
          <a:noFill/>
          <a:ln/>
        </p:spPr>
        <p:txBody>
          <a:bodyPr wrap="square" lIns="0" tIns="0" rIns="0" bIns="0" rtlCol="0" anchor="ctr"/>
          <a:lstStyle/>
          <a:p>
            <a:pPr algn="ctr" indent="0" marL="0">
              <a:buNone/>
            </a:pPr>
            <a:r>
              <a:rPr lang="en-US" sz="850" dirty="0">
                <a:solidFill>
                  <a:srgbClr val="B83232"/>
                </a:solidFill>
                <a:latin typeface="Calibri" pitchFamily="34" charset="0"/>
                <a:ea typeface="Calibri" pitchFamily="34" charset="-122"/>
                <a:cs typeface="Calibri" pitchFamily="34" charset="-120"/>
              </a:rPr>
              <a:t>⚡ Crisis:</a:t>
            </a:r>
            <a:endParaRPr lang="en-US" sz="850" dirty="0"/>
          </a:p>
          <a:p>
            <a:pPr algn="ctr" indent="0" marL="0">
              <a:buNone/>
            </a:pPr>
            <a:r>
              <a:rPr lang="en-US" sz="850" dirty="0">
                <a:solidFill>
                  <a:srgbClr val="B83232"/>
                </a:solidFill>
                <a:latin typeface="Calibri" pitchFamily="34" charset="0"/>
                <a:ea typeface="Calibri" pitchFamily="34" charset="-122"/>
                <a:cs typeface="Calibri" pitchFamily="34" charset="-120"/>
              </a:rPr>
              <a:t>bypasses L2–L6</a:t>
            </a:r>
            <a:endParaRPr lang="en-US" sz="850" dirty="0"/>
          </a:p>
        </p:txBody>
      </p:sp>
      <p:sp>
        <p:nvSpPr>
          <p:cNvPr id="39" name="Shape 37"/>
          <p:cNvSpPr/>
          <p:nvPr/>
        </p:nvSpPr>
        <p:spPr>
          <a:xfrm>
            <a:off x="320040" y="2999232"/>
            <a:ext cx="2029968" cy="1783080"/>
          </a:xfrm>
          <a:prstGeom prst="roundRect">
            <a:avLst>
              <a:gd name="adj" fmla="val 6154"/>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40" name="Text 38"/>
          <p:cNvSpPr/>
          <p:nvPr/>
        </p:nvSpPr>
        <p:spPr>
          <a:xfrm>
            <a:off x="438912" y="3072384"/>
            <a:ext cx="1792224" cy="274320"/>
          </a:xfrm>
          <a:prstGeom prst="rect">
            <a:avLst/>
          </a:prstGeom>
          <a:noFill/>
          <a:ln/>
        </p:spPr>
        <p:txBody>
          <a:bodyPr wrap="square" lIns="0" tIns="0" rIns="0" bIns="0" rtlCol="0" anchor="ctr"/>
          <a:lstStyle/>
          <a:p>
            <a:pPr indent="0" marL="0">
              <a:buNone/>
            </a:pPr>
            <a:r>
              <a:rPr lang="en-US" sz="1050" b="1" dirty="0">
                <a:solidFill>
                  <a:srgbClr val="0A6E72"/>
                </a:solidFill>
                <a:latin typeface="Calibri" pitchFamily="34" charset="0"/>
                <a:ea typeface="Calibri" pitchFamily="34" charset="-122"/>
                <a:cs typeface="Calibri" pitchFamily="34" charset="-120"/>
              </a:rPr>
              <a:t>In-memory only</a:t>
            </a:r>
            <a:endParaRPr lang="en-US" sz="1050" dirty="0"/>
          </a:p>
        </p:txBody>
      </p:sp>
      <p:sp>
        <p:nvSpPr>
          <p:cNvPr id="41" name="Text 39"/>
          <p:cNvSpPr/>
          <p:nvPr/>
        </p:nvSpPr>
        <p:spPr>
          <a:xfrm>
            <a:off x="438912" y="3383280"/>
            <a:ext cx="1792224" cy="82296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No disk writes, no PII retained. Ethical data minimisation.</a:t>
            </a:r>
            <a:endParaRPr lang="en-US" sz="950" dirty="0"/>
          </a:p>
        </p:txBody>
      </p:sp>
      <p:sp>
        <p:nvSpPr>
          <p:cNvPr id="42" name="Shape 40"/>
          <p:cNvSpPr/>
          <p:nvPr/>
        </p:nvSpPr>
        <p:spPr>
          <a:xfrm>
            <a:off x="2532888" y="2999232"/>
            <a:ext cx="2029968" cy="1783080"/>
          </a:xfrm>
          <a:prstGeom prst="roundRect">
            <a:avLst>
              <a:gd name="adj" fmla="val 6154"/>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43" name="Text 41"/>
          <p:cNvSpPr/>
          <p:nvPr/>
        </p:nvSpPr>
        <p:spPr>
          <a:xfrm>
            <a:off x="2651760" y="3072384"/>
            <a:ext cx="1792224" cy="274320"/>
          </a:xfrm>
          <a:prstGeom prst="rect">
            <a:avLst/>
          </a:prstGeom>
          <a:noFill/>
          <a:ln/>
        </p:spPr>
        <p:txBody>
          <a:bodyPr wrap="square" lIns="0" tIns="0" rIns="0" bIns="0" rtlCol="0" anchor="ctr"/>
          <a:lstStyle/>
          <a:p>
            <a:pPr indent="0" marL="0">
              <a:buNone/>
            </a:pPr>
            <a:r>
              <a:rPr lang="en-US" sz="1050" b="1" dirty="0">
                <a:solidFill>
                  <a:srgbClr val="0A6E72"/>
                </a:solidFill>
                <a:latin typeface="Calibri" pitchFamily="34" charset="0"/>
                <a:ea typeface="Calibri" pitchFamily="34" charset="-122"/>
                <a:cs typeface="Calibri" pitchFamily="34" charset="-120"/>
              </a:rPr>
              <a:t>DSR Methodology</a:t>
            </a:r>
            <a:endParaRPr lang="en-US" sz="1050" dirty="0"/>
          </a:p>
        </p:txBody>
      </p:sp>
      <p:sp>
        <p:nvSpPr>
          <p:cNvPr id="44" name="Text 42"/>
          <p:cNvSpPr/>
          <p:nvPr/>
        </p:nvSpPr>
        <p:spPr>
          <a:xfrm>
            <a:off x="2651760" y="3383280"/>
            <a:ext cx="1792224" cy="82296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Design–Evaluate–Refine cycle. 6 iterations.</a:t>
            </a:r>
            <a:endParaRPr lang="en-US" sz="950" dirty="0"/>
          </a:p>
        </p:txBody>
      </p:sp>
      <p:sp>
        <p:nvSpPr>
          <p:cNvPr id="45" name="Shape 43"/>
          <p:cNvSpPr/>
          <p:nvPr/>
        </p:nvSpPr>
        <p:spPr>
          <a:xfrm>
            <a:off x="4745736" y="2999232"/>
            <a:ext cx="2029968" cy="1783080"/>
          </a:xfrm>
          <a:prstGeom prst="roundRect">
            <a:avLst>
              <a:gd name="adj" fmla="val 6154"/>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46" name="Text 44"/>
          <p:cNvSpPr/>
          <p:nvPr/>
        </p:nvSpPr>
        <p:spPr>
          <a:xfrm>
            <a:off x="4864608" y="3072384"/>
            <a:ext cx="1792224" cy="274320"/>
          </a:xfrm>
          <a:prstGeom prst="rect">
            <a:avLst/>
          </a:prstGeom>
          <a:noFill/>
          <a:ln/>
        </p:spPr>
        <p:txBody>
          <a:bodyPr wrap="square" lIns="0" tIns="0" rIns="0" bIns="0" rtlCol="0" anchor="ctr"/>
          <a:lstStyle/>
          <a:p>
            <a:pPr indent="0" marL="0">
              <a:buNone/>
            </a:pPr>
            <a:r>
              <a:rPr lang="en-US" sz="1050" b="1" dirty="0">
                <a:solidFill>
                  <a:srgbClr val="0A6E72"/>
                </a:solidFill>
                <a:latin typeface="Calibri" pitchFamily="34" charset="0"/>
                <a:ea typeface="Calibri" pitchFamily="34" charset="-122"/>
                <a:cs typeface="Calibri" pitchFamily="34" charset="-120"/>
              </a:rPr>
              <a:t>Baseline Mode</a:t>
            </a:r>
            <a:endParaRPr lang="en-US" sz="1050" dirty="0"/>
          </a:p>
        </p:txBody>
      </p:sp>
      <p:sp>
        <p:nvSpPr>
          <p:cNvPr id="47" name="Text 45"/>
          <p:cNvSpPr/>
          <p:nvPr/>
        </p:nvSpPr>
        <p:spPr>
          <a:xfrm>
            <a:off x="4864608" y="3383280"/>
            <a:ext cx="1792224" cy="82296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use_aeif=False disables L4+L5. Enables controlled A/B comparison.</a:t>
            </a:r>
            <a:endParaRPr lang="en-US" sz="950" dirty="0"/>
          </a:p>
        </p:txBody>
      </p:sp>
      <p:sp>
        <p:nvSpPr>
          <p:cNvPr id="48" name="Shape 46"/>
          <p:cNvSpPr/>
          <p:nvPr/>
        </p:nvSpPr>
        <p:spPr>
          <a:xfrm>
            <a:off x="6958584" y="2999232"/>
            <a:ext cx="2029968" cy="1783080"/>
          </a:xfrm>
          <a:prstGeom prst="roundRect">
            <a:avLst>
              <a:gd name="adj" fmla="val 6154"/>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49" name="Text 47"/>
          <p:cNvSpPr/>
          <p:nvPr/>
        </p:nvSpPr>
        <p:spPr>
          <a:xfrm>
            <a:off x="7077456" y="3072384"/>
            <a:ext cx="1792224" cy="274320"/>
          </a:xfrm>
          <a:prstGeom prst="rect">
            <a:avLst/>
          </a:prstGeom>
          <a:noFill/>
          <a:ln/>
        </p:spPr>
        <p:txBody>
          <a:bodyPr wrap="square" lIns="0" tIns="0" rIns="0" bIns="0" rtlCol="0" anchor="ctr"/>
          <a:lstStyle/>
          <a:p>
            <a:pPr indent="0" marL="0">
              <a:buNone/>
            </a:pPr>
            <a:r>
              <a:rPr lang="en-US" sz="1050" b="1" dirty="0">
                <a:solidFill>
                  <a:srgbClr val="0A6E72"/>
                </a:solidFill>
                <a:latin typeface="Calibri" pitchFamily="34" charset="0"/>
                <a:ea typeface="Calibri" pitchFamily="34" charset="-122"/>
                <a:cs typeface="Calibri" pitchFamily="34" charset="-120"/>
              </a:rPr>
              <a:t>Culturally adapted</a:t>
            </a:r>
            <a:endParaRPr lang="en-US" sz="1050" dirty="0"/>
          </a:p>
        </p:txBody>
      </p:sp>
      <p:sp>
        <p:nvSpPr>
          <p:cNvPr id="50" name="Text 48"/>
          <p:cNvSpPr/>
          <p:nvPr/>
        </p:nvSpPr>
        <p:spPr>
          <a:xfrm>
            <a:off x="7077456" y="3383280"/>
            <a:ext cx="1792224" cy="82296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Nigerian Pidgin keywords + local crisis resources (MANI, LASEMA, NEMA).</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METHODOLOGY: EMOTION TAXONOMY</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6 Mutually Exclusive Clusters + Crisis Layer</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8 / 19</a:t>
            </a:r>
            <a:endParaRPr lang="en-US" sz="900" dirty="0"/>
          </a:p>
        </p:txBody>
      </p:sp>
      <p:sp>
        <p:nvSpPr>
          <p:cNvPr id="6" name="Shape 4"/>
          <p:cNvSpPr/>
          <p:nvPr/>
        </p:nvSpPr>
        <p:spPr>
          <a:xfrm>
            <a:off x="320040" y="1115568"/>
            <a:ext cx="2697480" cy="1664208"/>
          </a:xfrm>
          <a:prstGeom prst="roundRect">
            <a:avLst>
              <a:gd name="adj" fmla="val 8242"/>
            </a:avLst>
          </a:prstGeom>
          <a:solidFill>
            <a:srgbClr val="D6F0E0"/>
          </a:solidFill>
          <a:ln w="15240">
            <a:solidFill>
              <a:srgbClr val="5BAD7A"/>
            </a:solidFill>
            <a:prstDash val="solid"/>
          </a:ln>
        </p:spPr>
      </p:sp>
      <p:sp>
        <p:nvSpPr>
          <p:cNvPr id="7" name="Shape 5"/>
          <p:cNvSpPr/>
          <p:nvPr/>
        </p:nvSpPr>
        <p:spPr>
          <a:xfrm>
            <a:off x="2468880" y="1207008"/>
            <a:ext cx="438912" cy="256032"/>
          </a:xfrm>
          <a:prstGeom prst="roundRect">
            <a:avLst>
              <a:gd name="adj" fmla="val 35714"/>
            </a:avLst>
          </a:prstGeom>
          <a:solidFill>
            <a:srgbClr val="5BAD7A"/>
          </a:solidFill>
          <a:ln w="12700">
            <a:solidFill>
              <a:srgbClr val="5BAD7A"/>
            </a:solidFill>
            <a:prstDash val="solid"/>
          </a:ln>
        </p:spPr>
      </p:sp>
      <p:sp>
        <p:nvSpPr>
          <p:cNvPr id="8" name="Text 6"/>
          <p:cNvSpPr/>
          <p:nvPr/>
        </p:nvSpPr>
        <p:spPr>
          <a:xfrm>
            <a:off x="2468880" y="1207008"/>
            <a:ext cx="4389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a:t>
            </a:r>
            <a:endParaRPr lang="en-US" sz="900" dirty="0"/>
          </a:p>
        </p:txBody>
      </p:sp>
      <p:sp>
        <p:nvSpPr>
          <p:cNvPr id="9" name="Text 7"/>
          <p:cNvSpPr/>
          <p:nvPr/>
        </p:nvSpPr>
        <p:spPr>
          <a:xfrm>
            <a:off x="429768" y="1188720"/>
            <a:ext cx="548640" cy="502920"/>
          </a:xfrm>
          <a:prstGeom prst="rect">
            <a:avLst/>
          </a:prstGeom>
          <a:noFill/>
          <a:ln/>
        </p:spPr>
        <p:txBody>
          <a:bodyPr wrap="square" lIns="0" tIns="0" rIns="0" bIns="0"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429768" y="1709928"/>
            <a:ext cx="2468880" cy="274320"/>
          </a:xfrm>
          <a:prstGeom prst="rect">
            <a:avLst/>
          </a:prstGeom>
          <a:noFill/>
          <a:ln/>
        </p:spPr>
        <p:txBody>
          <a:bodyPr wrap="square" lIns="0" tIns="0" rIns="0" bIns="0" rtlCol="0" anchor="ctr"/>
          <a:lstStyle/>
          <a:p>
            <a:pPr indent="0" marL="0">
              <a:buNone/>
            </a:pPr>
            <a:r>
              <a:rPr lang="en-US" sz="1200" b="1" dirty="0">
                <a:solidFill>
                  <a:srgbClr val="3A7A52"/>
                </a:solidFill>
                <a:latin typeface="Calibri" pitchFamily="34" charset="0"/>
                <a:ea typeface="Calibri" pitchFamily="34" charset="-122"/>
                <a:cs typeface="Calibri" pitchFamily="34" charset="-120"/>
              </a:rPr>
              <a:t>POSITIVE</a:t>
            </a:r>
            <a:endParaRPr lang="en-US" sz="1200" dirty="0"/>
          </a:p>
        </p:txBody>
      </p:sp>
      <p:sp>
        <p:nvSpPr>
          <p:cNvPr id="11" name="Text 9"/>
          <p:cNvSpPr/>
          <p:nvPr/>
        </p:nvSpPr>
        <p:spPr>
          <a:xfrm>
            <a:off x="429768" y="2011680"/>
            <a:ext cx="2468880" cy="640080"/>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joy, love, gratitude, optimism, relief</a:t>
            </a:r>
            <a:endParaRPr lang="en-US" sz="950" dirty="0"/>
          </a:p>
        </p:txBody>
      </p:sp>
      <p:sp>
        <p:nvSpPr>
          <p:cNvPr id="12" name="Shape 10"/>
          <p:cNvSpPr/>
          <p:nvPr/>
        </p:nvSpPr>
        <p:spPr>
          <a:xfrm>
            <a:off x="3172968" y="1115568"/>
            <a:ext cx="2697480" cy="1664208"/>
          </a:xfrm>
          <a:prstGeom prst="roundRect">
            <a:avLst>
              <a:gd name="adj" fmla="val 8242"/>
            </a:avLst>
          </a:prstGeom>
          <a:solidFill>
            <a:srgbClr val="E8EDF0"/>
          </a:solidFill>
          <a:ln w="15240">
            <a:solidFill>
              <a:srgbClr val="8AAFBE"/>
            </a:solidFill>
            <a:prstDash val="solid"/>
          </a:ln>
        </p:spPr>
      </p:sp>
      <p:sp>
        <p:nvSpPr>
          <p:cNvPr id="13" name="Shape 11"/>
          <p:cNvSpPr/>
          <p:nvPr/>
        </p:nvSpPr>
        <p:spPr>
          <a:xfrm>
            <a:off x="5321808" y="1207008"/>
            <a:ext cx="438912" cy="256032"/>
          </a:xfrm>
          <a:prstGeom prst="roundRect">
            <a:avLst>
              <a:gd name="adj" fmla="val 35714"/>
            </a:avLst>
          </a:prstGeom>
          <a:solidFill>
            <a:srgbClr val="8AAFBE"/>
          </a:solidFill>
          <a:ln w="12700">
            <a:solidFill>
              <a:srgbClr val="8AAFBE"/>
            </a:solidFill>
            <a:prstDash val="solid"/>
          </a:ln>
        </p:spPr>
      </p:sp>
      <p:sp>
        <p:nvSpPr>
          <p:cNvPr id="14" name="Text 12"/>
          <p:cNvSpPr/>
          <p:nvPr/>
        </p:nvSpPr>
        <p:spPr>
          <a:xfrm>
            <a:off x="5321808" y="1207008"/>
            <a:ext cx="4389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15" name="Text 13"/>
          <p:cNvSpPr/>
          <p:nvPr/>
        </p:nvSpPr>
        <p:spPr>
          <a:xfrm>
            <a:off x="3282696" y="1188720"/>
            <a:ext cx="548640" cy="502920"/>
          </a:xfrm>
          <a:prstGeom prst="rect">
            <a:avLst/>
          </a:prstGeom>
          <a:noFill/>
          <a:ln/>
        </p:spPr>
        <p:txBody>
          <a:bodyPr wrap="square" lIns="0" tIns="0" rIns="0" bIns="0"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3282696" y="1709928"/>
            <a:ext cx="2468880" cy="274320"/>
          </a:xfrm>
          <a:prstGeom prst="rect">
            <a:avLst/>
          </a:prstGeom>
          <a:noFill/>
          <a:ln/>
        </p:spPr>
        <p:txBody>
          <a:bodyPr wrap="square" lIns="0" tIns="0" rIns="0" bIns="0" rtlCol="0" anchor="ctr"/>
          <a:lstStyle/>
          <a:p>
            <a:pPr indent="0" marL="0">
              <a:buNone/>
            </a:pPr>
            <a:r>
              <a:rPr lang="en-US" sz="1200" b="1" dirty="0">
                <a:solidFill>
                  <a:srgbClr val="3E5F70"/>
                </a:solidFill>
                <a:latin typeface="Calibri" pitchFamily="34" charset="0"/>
                <a:ea typeface="Calibri" pitchFamily="34" charset="-122"/>
                <a:cs typeface="Calibri" pitchFamily="34" charset="-120"/>
              </a:rPr>
              <a:t>NEUTRAL</a:t>
            </a:r>
            <a:endParaRPr lang="en-US" sz="1200" dirty="0"/>
          </a:p>
        </p:txBody>
      </p:sp>
      <p:sp>
        <p:nvSpPr>
          <p:cNvPr id="17" name="Text 15"/>
          <p:cNvSpPr/>
          <p:nvPr/>
        </p:nvSpPr>
        <p:spPr>
          <a:xfrm>
            <a:off x="3282696" y="2011680"/>
            <a:ext cx="2468880" cy="640080"/>
          </a:xfrm>
          <a:prstGeom prst="rect">
            <a:avLst/>
          </a:prstGeom>
          <a:noFill/>
          <a:ln/>
        </p:spPr>
        <p:txBody>
          <a:bodyPr wrap="square" lIns="0" tIns="0" rIns="0" bIns="0" rtlCol="0" anchor="ctr"/>
          <a:lstStyle/>
          <a:p>
            <a:pPr indent="0" marL="0">
              <a:buNone/>
            </a:pPr>
            <a:r>
              <a:rPr lang="en-US" sz="950" dirty="0">
                <a:solidFill>
                  <a:srgbClr val="3E5F70"/>
                </a:solidFill>
                <a:latin typeface="Calibri" pitchFamily="34" charset="0"/>
                <a:ea typeface="Calibri" pitchFamily="34" charset="-122"/>
                <a:cs typeface="Calibri" pitchFamily="34" charset="-120"/>
              </a:rPr>
              <a:t>neutral statements, factual content</a:t>
            </a:r>
            <a:endParaRPr lang="en-US" sz="950" dirty="0"/>
          </a:p>
        </p:txBody>
      </p:sp>
      <p:sp>
        <p:nvSpPr>
          <p:cNvPr id="18" name="Shape 16"/>
          <p:cNvSpPr/>
          <p:nvPr/>
        </p:nvSpPr>
        <p:spPr>
          <a:xfrm>
            <a:off x="6025896" y="1115568"/>
            <a:ext cx="2697480" cy="1664208"/>
          </a:xfrm>
          <a:prstGeom prst="roundRect">
            <a:avLst>
              <a:gd name="adj" fmla="val 8242"/>
            </a:avLst>
          </a:prstGeom>
          <a:solidFill>
            <a:srgbClr val="EDE8F5"/>
          </a:solidFill>
          <a:ln w="15240">
            <a:solidFill>
              <a:srgbClr val="9B8AC4"/>
            </a:solidFill>
            <a:prstDash val="solid"/>
          </a:ln>
        </p:spPr>
      </p:sp>
      <p:sp>
        <p:nvSpPr>
          <p:cNvPr id="19" name="Shape 17"/>
          <p:cNvSpPr/>
          <p:nvPr/>
        </p:nvSpPr>
        <p:spPr>
          <a:xfrm>
            <a:off x="8174736" y="1207008"/>
            <a:ext cx="438912" cy="256032"/>
          </a:xfrm>
          <a:prstGeom prst="roundRect">
            <a:avLst>
              <a:gd name="adj" fmla="val 35714"/>
            </a:avLst>
          </a:prstGeom>
          <a:solidFill>
            <a:srgbClr val="9B8AC4"/>
          </a:solidFill>
          <a:ln w="12700">
            <a:solidFill>
              <a:srgbClr val="9B8AC4"/>
            </a:solidFill>
            <a:prstDash val="solid"/>
          </a:ln>
        </p:spPr>
      </p:sp>
      <p:sp>
        <p:nvSpPr>
          <p:cNvPr id="20" name="Text 18"/>
          <p:cNvSpPr/>
          <p:nvPr/>
        </p:nvSpPr>
        <p:spPr>
          <a:xfrm>
            <a:off x="8174736" y="1207008"/>
            <a:ext cx="4389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1" name="Text 19"/>
          <p:cNvSpPr/>
          <p:nvPr/>
        </p:nvSpPr>
        <p:spPr>
          <a:xfrm>
            <a:off x="6135624" y="1188720"/>
            <a:ext cx="548640" cy="502920"/>
          </a:xfrm>
          <a:prstGeom prst="rect">
            <a:avLst/>
          </a:prstGeom>
          <a:noFill/>
          <a:ln/>
        </p:spPr>
        <p:txBody>
          <a:bodyPr wrap="square" lIns="0" tIns="0" rIns="0" bIns="0"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6135624" y="1709928"/>
            <a:ext cx="2468880" cy="274320"/>
          </a:xfrm>
          <a:prstGeom prst="rect">
            <a:avLst/>
          </a:prstGeom>
          <a:noFill/>
          <a:ln/>
        </p:spPr>
        <p:txBody>
          <a:bodyPr wrap="square" lIns="0" tIns="0" rIns="0" bIns="0" rtlCol="0" anchor="ctr"/>
          <a:lstStyle/>
          <a:p>
            <a:pPr indent="0" marL="0">
              <a:buNone/>
            </a:pPr>
            <a:r>
              <a:rPr lang="en-US" sz="1200" b="1" dirty="0">
                <a:solidFill>
                  <a:srgbClr val="5A4A7A"/>
                </a:solidFill>
                <a:latin typeface="Calibri" pitchFamily="34" charset="0"/>
                <a:ea typeface="Calibri" pitchFamily="34" charset="-122"/>
                <a:cs typeface="Calibri" pitchFamily="34" charset="-120"/>
              </a:rPr>
              <a:t>AMBIGUOUS</a:t>
            </a:r>
            <a:endParaRPr lang="en-US" sz="1200" dirty="0"/>
          </a:p>
        </p:txBody>
      </p:sp>
      <p:sp>
        <p:nvSpPr>
          <p:cNvPr id="23" name="Text 21"/>
          <p:cNvSpPr/>
          <p:nvPr/>
        </p:nvSpPr>
        <p:spPr>
          <a:xfrm>
            <a:off x="6135624" y="2011680"/>
            <a:ext cx="2468880" cy="640080"/>
          </a:xfrm>
          <a:prstGeom prst="rect">
            <a:avLst/>
          </a:prstGeom>
          <a:noFill/>
          <a:ln/>
        </p:spPr>
        <p:txBody>
          <a:bodyPr wrap="square" lIns="0" tIns="0" rIns="0" bIns="0" rtlCol="0" anchor="ctr"/>
          <a:lstStyle/>
          <a:p>
            <a:pPr indent="0" marL="0">
              <a:buNone/>
            </a:pPr>
            <a:r>
              <a:rPr lang="en-US" sz="950" dirty="0">
                <a:solidFill>
                  <a:srgbClr val="5A4A7A"/>
                </a:solidFill>
                <a:latin typeface="Calibri" pitchFamily="34" charset="0"/>
                <a:ea typeface="Calibri" pitchFamily="34" charset="-122"/>
                <a:cs typeface="Calibri" pitchFamily="34" charset="-120"/>
              </a:rPr>
              <a:t>contradiction, confusion, hedging ("but…")</a:t>
            </a:r>
            <a:endParaRPr lang="en-US" sz="950" dirty="0"/>
          </a:p>
        </p:txBody>
      </p:sp>
      <p:sp>
        <p:nvSpPr>
          <p:cNvPr id="24" name="Shape 22"/>
          <p:cNvSpPr/>
          <p:nvPr/>
        </p:nvSpPr>
        <p:spPr>
          <a:xfrm>
            <a:off x="320040" y="2926080"/>
            <a:ext cx="2697480" cy="1664208"/>
          </a:xfrm>
          <a:prstGeom prst="roundRect">
            <a:avLst>
              <a:gd name="adj" fmla="val 8242"/>
            </a:avLst>
          </a:prstGeom>
          <a:solidFill>
            <a:srgbClr val="FEF3DC"/>
          </a:solidFill>
          <a:ln w="15240">
            <a:solidFill>
              <a:srgbClr val="C9993A"/>
            </a:solidFill>
            <a:prstDash val="solid"/>
          </a:ln>
        </p:spPr>
      </p:sp>
      <p:sp>
        <p:nvSpPr>
          <p:cNvPr id="25" name="Shape 23"/>
          <p:cNvSpPr/>
          <p:nvPr/>
        </p:nvSpPr>
        <p:spPr>
          <a:xfrm>
            <a:off x="2468880" y="3017520"/>
            <a:ext cx="438912" cy="256032"/>
          </a:xfrm>
          <a:prstGeom prst="roundRect">
            <a:avLst>
              <a:gd name="adj" fmla="val 35714"/>
            </a:avLst>
          </a:prstGeom>
          <a:solidFill>
            <a:srgbClr val="C9993A"/>
          </a:solidFill>
          <a:ln w="12700">
            <a:solidFill>
              <a:srgbClr val="C9993A"/>
            </a:solidFill>
            <a:prstDash val="solid"/>
          </a:ln>
        </p:spPr>
      </p:sp>
      <p:sp>
        <p:nvSpPr>
          <p:cNvPr id="26" name="Text 24"/>
          <p:cNvSpPr/>
          <p:nvPr/>
        </p:nvSpPr>
        <p:spPr>
          <a:xfrm>
            <a:off x="2468880" y="3017520"/>
            <a:ext cx="4389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27" name="Text 25"/>
          <p:cNvSpPr/>
          <p:nvPr/>
        </p:nvSpPr>
        <p:spPr>
          <a:xfrm>
            <a:off x="429768" y="2999232"/>
            <a:ext cx="548640" cy="502920"/>
          </a:xfrm>
          <a:prstGeom prst="rect">
            <a:avLst/>
          </a:prstGeom>
          <a:noFill/>
          <a:ln/>
        </p:spPr>
        <p:txBody>
          <a:bodyPr wrap="square" lIns="0" tIns="0" rIns="0" bIns="0"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429768" y="3520440"/>
            <a:ext cx="2468880" cy="274320"/>
          </a:xfrm>
          <a:prstGeom prst="rect">
            <a:avLst/>
          </a:prstGeom>
          <a:noFill/>
          <a:ln/>
        </p:spPr>
        <p:txBody>
          <a:bodyPr wrap="square" lIns="0" tIns="0" rIns="0" bIns="0" rtlCol="0" anchor="ctr"/>
          <a:lstStyle/>
          <a:p>
            <a:pPr indent="0" marL="0">
              <a:buNone/>
            </a:pPr>
            <a:r>
              <a:rPr lang="en-US" sz="1200" b="1" dirty="0">
                <a:solidFill>
                  <a:srgbClr val="7A5A10"/>
                </a:solidFill>
                <a:latin typeface="Calibri" pitchFamily="34" charset="0"/>
                <a:ea typeface="Calibri" pitchFamily="34" charset="-122"/>
                <a:cs typeface="Calibri" pitchFamily="34" charset="-120"/>
              </a:rPr>
              <a:t>ANXIETY</a:t>
            </a:r>
            <a:endParaRPr lang="en-US" sz="1200" dirty="0"/>
          </a:p>
        </p:txBody>
      </p:sp>
      <p:sp>
        <p:nvSpPr>
          <p:cNvPr id="29" name="Text 27"/>
          <p:cNvSpPr/>
          <p:nvPr/>
        </p:nvSpPr>
        <p:spPr>
          <a:xfrm>
            <a:off x="429768" y="3822192"/>
            <a:ext cx="2468880" cy="640080"/>
          </a:xfrm>
          <a:prstGeom prst="rect">
            <a:avLst/>
          </a:prstGeom>
          <a:noFill/>
          <a:ln/>
        </p:spPr>
        <p:txBody>
          <a:bodyPr wrap="square" lIns="0" tIns="0" rIns="0" bIns="0" rtlCol="0" anchor="ctr"/>
          <a:lstStyle/>
          <a:p>
            <a:pPr indent="0" marL="0">
              <a:buNone/>
            </a:pPr>
            <a:r>
              <a:rPr lang="en-US" sz="950" dirty="0">
                <a:solidFill>
                  <a:srgbClr val="7A5A10"/>
                </a:solidFill>
                <a:latin typeface="Calibri" pitchFamily="34" charset="0"/>
                <a:ea typeface="Calibri" pitchFamily="34" charset="-122"/>
                <a:cs typeface="Calibri" pitchFamily="34" charset="-120"/>
              </a:rPr>
              <a:t>fear, nervousness, worry, dread</a:t>
            </a:r>
            <a:endParaRPr lang="en-US" sz="950" dirty="0"/>
          </a:p>
        </p:txBody>
      </p:sp>
      <p:sp>
        <p:nvSpPr>
          <p:cNvPr id="30" name="Shape 28"/>
          <p:cNvSpPr/>
          <p:nvPr/>
        </p:nvSpPr>
        <p:spPr>
          <a:xfrm>
            <a:off x="3172968" y="2926080"/>
            <a:ext cx="2697480" cy="1664208"/>
          </a:xfrm>
          <a:prstGeom prst="roundRect">
            <a:avLst>
              <a:gd name="adj" fmla="val 8242"/>
            </a:avLst>
          </a:prstGeom>
          <a:solidFill>
            <a:srgbClr val="FDECEA"/>
          </a:solidFill>
          <a:ln w="15240">
            <a:solidFill>
              <a:srgbClr val="D45A3A"/>
            </a:solidFill>
            <a:prstDash val="solid"/>
          </a:ln>
        </p:spPr>
      </p:sp>
      <p:sp>
        <p:nvSpPr>
          <p:cNvPr id="31" name="Shape 29"/>
          <p:cNvSpPr/>
          <p:nvPr/>
        </p:nvSpPr>
        <p:spPr>
          <a:xfrm>
            <a:off x="5321808" y="3017520"/>
            <a:ext cx="438912" cy="256032"/>
          </a:xfrm>
          <a:prstGeom prst="roundRect">
            <a:avLst>
              <a:gd name="adj" fmla="val 35714"/>
            </a:avLst>
          </a:prstGeom>
          <a:solidFill>
            <a:srgbClr val="D45A3A"/>
          </a:solidFill>
          <a:ln w="12700">
            <a:solidFill>
              <a:srgbClr val="D45A3A"/>
            </a:solidFill>
            <a:prstDash val="solid"/>
          </a:ln>
        </p:spPr>
      </p:sp>
      <p:sp>
        <p:nvSpPr>
          <p:cNvPr id="32" name="Text 30"/>
          <p:cNvSpPr/>
          <p:nvPr/>
        </p:nvSpPr>
        <p:spPr>
          <a:xfrm>
            <a:off x="5321808" y="3017520"/>
            <a:ext cx="4389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0.7</a:t>
            </a:r>
            <a:endParaRPr lang="en-US" sz="900" dirty="0"/>
          </a:p>
        </p:txBody>
      </p:sp>
      <p:sp>
        <p:nvSpPr>
          <p:cNvPr id="33" name="Text 31"/>
          <p:cNvSpPr/>
          <p:nvPr/>
        </p:nvSpPr>
        <p:spPr>
          <a:xfrm>
            <a:off x="3282696" y="2999232"/>
            <a:ext cx="548640" cy="502920"/>
          </a:xfrm>
          <a:prstGeom prst="rect">
            <a:avLst/>
          </a:prstGeom>
          <a:noFill/>
          <a:ln/>
        </p:spPr>
        <p:txBody>
          <a:bodyPr wrap="square" lIns="0" tIns="0" rIns="0" bIns="0"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4" name="Text 32"/>
          <p:cNvSpPr/>
          <p:nvPr/>
        </p:nvSpPr>
        <p:spPr>
          <a:xfrm>
            <a:off x="3282696" y="3520440"/>
            <a:ext cx="2468880" cy="274320"/>
          </a:xfrm>
          <a:prstGeom prst="rect">
            <a:avLst/>
          </a:prstGeom>
          <a:noFill/>
          <a:ln/>
        </p:spPr>
        <p:txBody>
          <a:bodyPr wrap="square" lIns="0" tIns="0" rIns="0" bIns="0" rtlCol="0" anchor="ctr"/>
          <a:lstStyle/>
          <a:p>
            <a:pPr indent="0" marL="0">
              <a:buNone/>
            </a:pPr>
            <a:r>
              <a:rPr lang="en-US" sz="1200" b="1" dirty="0">
                <a:solidFill>
                  <a:srgbClr val="8A2A10"/>
                </a:solidFill>
                <a:latin typeface="Calibri" pitchFamily="34" charset="0"/>
                <a:ea typeface="Calibri" pitchFamily="34" charset="-122"/>
                <a:cs typeface="Calibri" pitchFamily="34" charset="-120"/>
              </a:rPr>
              <a:t>ANGER</a:t>
            </a:r>
            <a:endParaRPr lang="en-US" sz="1200" dirty="0"/>
          </a:p>
        </p:txBody>
      </p:sp>
      <p:sp>
        <p:nvSpPr>
          <p:cNvPr id="35" name="Text 33"/>
          <p:cNvSpPr/>
          <p:nvPr/>
        </p:nvSpPr>
        <p:spPr>
          <a:xfrm>
            <a:off x="3282696" y="3822192"/>
            <a:ext cx="2468880" cy="640080"/>
          </a:xfrm>
          <a:prstGeom prst="rect">
            <a:avLst/>
          </a:prstGeom>
          <a:noFill/>
          <a:ln/>
        </p:spPr>
        <p:txBody>
          <a:bodyPr wrap="square" lIns="0" tIns="0" rIns="0" bIns="0" rtlCol="0" anchor="ctr"/>
          <a:lstStyle/>
          <a:p>
            <a:pPr indent="0" marL="0">
              <a:buNone/>
            </a:pPr>
            <a:r>
              <a:rPr lang="en-US" sz="950" dirty="0">
                <a:solidFill>
                  <a:srgbClr val="8A2A10"/>
                </a:solidFill>
                <a:latin typeface="Calibri" pitchFamily="34" charset="0"/>
                <a:ea typeface="Calibri" pitchFamily="34" charset="-122"/>
                <a:cs typeface="Calibri" pitchFamily="34" charset="-120"/>
              </a:rPr>
              <a:t>anger, annoyance, disgust, frustration</a:t>
            </a:r>
            <a:endParaRPr lang="en-US" sz="950" dirty="0"/>
          </a:p>
        </p:txBody>
      </p:sp>
      <p:sp>
        <p:nvSpPr>
          <p:cNvPr id="36" name="Shape 34"/>
          <p:cNvSpPr/>
          <p:nvPr/>
        </p:nvSpPr>
        <p:spPr>
          <a:xfrm>
            <a:off x="6025896" y="2926080"/>
            <a:ext cx="2697480" cy="1664208"/>
          </a:xfrm>
          <a:prstGeom prst="roundRect">
            <a:avLst>
              <a:gd name="adj" fmla="val 8242"/>
            </a:avLst>
          </a:prstGeom>
          <a:solidFill>
            <a:srgbClr val="E0ECF8"/>
          </a:solidFill>
          <a:ln w="15240">
            <a:solidFill>
              <a:srgbClr val="4682B4"/>
            </a:solidFill>
            <a:prstDash val="solid"/>
          </a:ln>
        </p:spPr>
      </p:sp>
      <p:sp>
        <p:nvSpPr>
          <p:cNvPr id="37" name="Shape 35"/>
          <p:cNvSpPr/>
          <p:nvPr/>
        </p:nvSpPr>
        <p:spPr>
          <a:xfrm>
            <a:off x="8174736" y="3017520"/>
            <a:ext cx="438912" cy="256032"/>
          </a:xfrm>
          <a:prstGeom prst="roundRect">
            <a:avLst>
              <a:gd name="adj" fmla="val 35714"/>
            </a:avLst>
          </a:prstGeom>
          <a:solidFill>
            <a:srgbClr val="4682B4"/>
          </a:solidFill>
          <a:ln w="12700">
            <a:solidFill>
              <a:srgbClr val="4682B4"/>
            </a:solidFill>
            <a:prstDash val="solid"/>
          </a:ln>
        </p:spPr>
      </p:sp>
      <p:sp>
        <p:nvSpPr>
          <p:cNvPr id="38" name="Text 36"/>
          <p:cNvSpPr/>
          <p:nvPr/>
        </p:nvSpPr>
        <p:spPr>
          <a:xfrm>
            <a:off x="8174736" y="3017520"/>
            <a:ext cx="4389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0.8</a:t>
            </a:r>
            <a:endParaRPr lang="en-US" sz="900" dirty="0"/>
          </a:p>
        </p:txBody>
      </p:sp>
      <p:sp>
        <p:nvSpPr>
          <p:cNvPr id="39" name="Text 37"/>
          <p:cNvSpPr/>
          <p:nvPr/>
        </p:nvSpPr>
        <p:spPr>
          <a:xfrm>
            <a:off x="6135624" y="2999232"/>
            <a:ext cx="548640" cy="502920"/>
          </a:xfrm>
          <a:prstGeom prst="rect">
            <a:avLst/>
          </a:prstGeom>
          <a:noFill/>
          <a:ln/>
        </p:spPr>
        <p:txBody>
          <a:bodyPr wrap="square" lIns="0" tIns="0" rIns="0" bIns="0"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40" name="Text 38"/>
          <p:cNvSpPr/>
          <p:nvPr/>
        </p:nvSpPr>
        <p:spPr>
          <a:xfrm>
            <a:off x="6135624" y="3520440"/>
            <a:ext cx="2468880" cy="274320"/>
          </a:xfrm>
          <a:prstGeom prst="rect">
            <a:avLst/>
          </a:prstGeom>
          <a:noFill/>
          <a:ln/>
        </p:spPr>
        <p:txBody>
          <a:bodyPr wrap="square" lIns="0" tIns="0" rIns="0" bIns="0" rtlCol="0" anchor="ctr"/>
          <a:lstStyle/>
          <a:p>
            <a:pPr indent="0" marL="0">
              <a:buNone/>
            </a:pPr>
            <a:r>
              <a:rPr lang="en-US" sz="1200" b="1" dirty="0">
                <a:solidFill>
                  <a:srgbClr val="1A3A6A"/>
                </a:solidFill>
                <a:latin typeface="Calibri" pitchFamily="34" charset="0"/>
                <a:ea typeface="Calibri" pitchFamily="34" charset="-122"/>
                <a:cs typeface="Calibri" pitchFamily="34" charset="-120"/>
              </a:rPr>
              <a:t>SADNESS</a:t>
            </a:r>
            <a:endParaRPr lang="en-US" sz="1200" dirty="0"/>
          </a:p>
        </p:txBody>
      </p:sp>
      <p:sp>
        <p:nvSpPr>
          <p:cNvPr id="41" name="Text 39"/>
          <p:cNvSpPr/>
          <p:nvPr/>
        </p:nvSpPr>
        <p:spPr>
          <a:xfrm>
            <a:off x="6135624" y="3822192"/>
            <a:ext cx="2468880" cy="640080"/>
          </a:xfrm>
          <a:prstGeom prst="rect">
            <a:avLst/>
          </a:prstGeom>
          <a:noFill/>
          <a:ln/>
        </p:spPr>
        <p:txBody>
          <a:bodyPr wrap="square" lIns="0" tIns="0" rIns="0" bIns="0" rtlCol="0" anchor="ctr"/>
          <a:lstStyle/>
          <a:p>
            <a:pPr indent="0" marL="0">
              <a:buNone/>
            </a:pPr>
            <a:r>
              <a:rPr lang="en-US" sz="950" dirty="0">
                <a:solidFill>
                  <a:srgbClr val="1A3A6A"/>
                </a:solidFill>
                <a:latin typeface="Calibri" pitchFamily="34" charset="0"/>
                <a:ea typeface="Calibri" pitchFamily="34" charset="-122"/>
                <a:cs typeface="Calibri" pitchFamily="34" charset="-120"/>
              </a:rPr>
              <a:t>sadness, grief, disappointment, hopelessness</a:t>
            </a:r>
            <a:endParaRPr lang="en-US" sz="950" dirty="0"/>
          </a:p>
        </p:txBody>
      </p:sp>
      <p:sp>
        <p:nvSpPr>
          <p:cNvPr id="42" name="Shape 40"/>
          <p:cNvSpPr/>
          <p:nvPr/>
        </p:nvSpPr>
        <p:spPr>
          <a:xfrm>
            <a:off x="320040" y="4572000"/>
            <a:ext cx="8503920" cy="384048"/>
          </a:xfrm>
          <a:prstGeom prst="roundRect">
            <a:avLst>
              <a:gd name="adj" fmla="val 28571"/>
            </a:avLst>
          </a:prstGeom>
          <a:solidFill>
            <a:srgbClr val="FDE8E8"/>
          </a:solidFill>
          <a:ln w="15240">
            <a:solidFill>
              <a:srgbClr val="B83232"/>
            </a:solidFill>
            <a:prstDash val="solid"/>
          </a:ln>
        </p:spPr>
      </p:sp>
      <p:sp>
        <p:nvSpPr>
          <p:cNvPr id="43" name="Text 41"/>
          <p:cNvSpPr/>
          <p:nvPr/>
        </p:nvSpPr>
        <p:spPr>
          <a:xfrm>
            <a:off x="475488" y="4581144"/>
            <a:ext cx="8229600" cy="347472"/>
          </a:xfrm>
          <a:prstGeom prst="rect">
            <a:avLst/>
          </a:prstGeom>
          <a:noFill/>
          <a:ln/>
        </p:spPr>
        <p:txBody>
          <a:bodyPr wrap="square" lIns="0" tIns="0" rIns="0" bIns="0" rtlCol="0" anchor="ctr"/>
          <a:lstStyle/>
          <a:p>
            <a:pPr indent="0" marL="0">
              <a:buNone/>
            </a:pPr>
            <a:r>
              <a:rPr lang="en-US" sz="1050" b="1" dirty="0">
                <a:solidFill>
                  <a:srgbClr val="B83232"/>
                </a:solidFill>
                <a:latin typeface="Calibri" pitchFamily="34" charset="0"/>
                <a:ea typeface="Calibri" pitchFamily="34" charset="-122"/>
                <a:cs typeface="Calibri" pitchFamily="34" charset="-120"/>
              </a:rPr>
              <a:t>⚡  CRISIS (1.0) — Detected by safety layer BEFORE emotion classification. Bypasses entire pipeline. Returns Nigeria crisis resources immediately.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METHODOLOGY: TREND ANALYSIS</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Layer 4 — Severity-Weighted Emotional Trajectory</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9 / 19</a:t>
            </a:r>
            <a:endParaRPr lang="en-US" sz="900" dirty="0"/>
          </a:p>
        </p:txBody>
      </p:sp>
      <p:sp>
        <p:nvSpPr>
          <p:cNvPr id="6" name="Shape 4"/>
          <p:cNvSpPr/>
          <p:nvPr/>
        </p:nvSpPr>
        <p:spPr>
          <a:xfrm>
            <a:off x="320040" y="1115568"/>
            <a:ext cx="4114800" cy="3749040"/>
          </a:xfrm>
          <a:prstGeom prst="roundRect">
            <a:avLst>
              <a:gd name="adj" fmla="val 2927"/>
            </a:avLst>
          </a:prstGeom>
          <a:solidFill>
            <a:srgbClr val="0D2B3E"/>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7" name="Text 5"/>
          <p:cNvSpPr/>
          <p:nvPr/>
        </p:nvSpPr>
        <p:spPr>
          <a:xfrm>
            <a:off x="475488" y="1188720"/>
            <a:ext cx="3794760" cy="274320"/>
          </a:xfrm>
          <a:prstGeom prst="rect">
            <a:avLst/>
          </a:prstGeom>
          <a:noFill/>
          <a:ln/>
        </p:spPr>
        <p:txBody>
          <a:bodyPr wrap="square" lIns="0" tIns="0" rIns="0" bIns="0" rtlCol="0" anchor="ctr"/>
          <a:lstStyle/>
          <a:p>
            <a:pPr indent="0" marL="0">
              <a:buNone/>
            </a:pPr>
            <a:r>
              <a:rPr lang="en-US" sz="1000" b="1" dirty="0">
                <a:solidFill>
                  <a:srgbClr val="C9993A"/>
                </a:solidFill>
                <a:latin typeface="Calibri" pitchFamily="34" charset="0"/>
                <a:ea typeface="Calibri" pitchFamily="34" charset="-122"/>
                <a:cs typeface="Calibri" pitchFamily="34" charset="-120"/>
              </a:rPr>
              <a:t>HOW IT WORKS</a:t>
            </a:r>
            <a:endParaRPr lang="en-US" sz="1000" dirty="0"/>
          </a:p>
        </p:txBody>
      </p:sp>
      <p:sp>
        <p:nvSpPr>
          <p:cNvPr id="8" name="Text 6"/>
          <p:cNvSpPr/>
          <p:nvPr/>
        </p:nvSpPr>
        <p:spPr>
          <a:xfrm>
            <a:off x="475488" y="1572768"/>
            <a:ext cx="3794760" cy="228600"/>
          </a:xfrm>
          <a:prstGeom prst="rect">
            <a:avLst/>
          </a:prstGeom>
          <a:noFill/>
          <a:ln/>
        </p:spPr>
        <p:txBody>
          <a:bodyPr wrap="square" lIns="0" tIns="0" rIns="0" bIns="0" rtlCol="0" anchor="ctr"/>
          <a:lstStyle/>
          <a:p>
            <a:pPr indent="0" marL="0">
              <a:buNone/>
            </a:pPr>
            <a:r>
              <a:rPr lang="en-US" sz="1000" b="1" dirty="0">
                <a:solidFill>
                  <a:srgbClr val="A8D8DA"/>
                </a:solidFill>
                <a:latin typeface="Calibri" pitchFamily="34" charset="0"/>
                <a:ea typeface="Calibri" pitchFamily="34" charset="-122"/>
                <a:cs typeface="Calibri" pitchFamily="34" charset="-120"/>
              </a:rPr>
              <a:t>1. Severity scores</a:t>
            </a:r>
            <a:endParaRPr lang="en-US" sz="1000" dirty="0"/>
          </a:p>
        </p:txBody>
      </p:sp>
      <p:sp>
        <p:nvSpPr>
          <p:cNvPr id="9" name="Text 7"/>
          <p:cNvSpPr/>
          <p:nvPr/>
        </p:nvSpPr>
        <p:spPr>
          <a:xfrm>
            <a:off x="475488" y="1819656"/>
            <a:ext cx="3794760" cy="347472"/>
          </a:xfrm>
          <a:prstGeom prst="rect">
            <a:avLst/>
          </a:prstGeom>
          <a:noFill/>
          <a:ln/>
        </p:spPr>
        <p:txBody>
          <a:bodyPr wrap="square" lIns="0" tIns="0" rIns="0" bIns="0" rtlCol="0" anchor="ctr"/>
          <a:lstStyle/>
          <a:p>
            <a:pPr indent="0" marL="0">
              <a:buNone/>
            </a:pPr>
            <a:r>
              <a:rPr lang="en-US" sz="950" dirty="0">
                <a:solidFill>
                  <a:srgbClr val="90B8C8"/>
                </a:solidFill>
                <a:latin typeface="Calibri" pitchFamily="34" charset="0"/>
                <a:ea typeface="Calibri" pitchFamily="34" charset="-122"/>
                <a:cs typeface="Calibri" pitchFamily="34" charset="-120"/>
              </a:rPr>
              <a:t>POSITIVE=−1  NEUTRAL=0  AMBIGUOUS=1</a:t>
            </a:r>
            <a:endParaRPr lang="en-US" sz="950" dirty="0"/>
          </a:p>
          <a:p>
            <a:pPr indent="0" marL="0">
              <a:buNone/>
            </a:pPr>
            <a:r>
              <a:rPr lang="en-US" sz="950" dirty="0">
                <a:solidFill>
                  <a:srgbClr val="90B8C8"/>
                </a:solidFill>
                <a:latin typeface="Calibri" pitchFamily="34" charset="0"/>
                <a:ea typeface="Calibri" pitchFamily="34" charset="-122"/>
                <a:cs typeface="Calibri" pitchFamily="34" charset="-120"/>
              </a:rPr>
              <a:t>ANXIETY=2  ANGER=2  SADNESS=3</a:t>
            </a:r>
            <a:endParaRPr lang="en-US" sz="950" dirty="0"/>
          </a:p>
        </p:txBody>
      </p:sp>
      <p:sp>
        <p:nvSpPr>
          <p:cNvPr id="10" name="Text 8"/>
          <p:cNvSpPr/>
          <p:nvPr/>
        </p:nvSpPr>
        <p:spPr>
          <a:xfrm>
            <a:off x="475488" y="2231136"/>
            <a:ext cx="3794760" cy="228600"/>
          </a:xfrm>
          <a:prstGeom prst="rect">
            <a:avLst/>
          </a:prstGeom>
          <a:noFill/>
          <a:ln/>
        </p:spPr>
        <p:txBody>
          <a:bodyPr wrap="square" lIns="0" tIns="0" rIns="0" bIns="0" rtlCol="0" anchor="ctr"/>
          <a:lstStyle/>
          <a:p>
            <a:pPr indent="0" marL="0">
              <a:buNone/>
            </a:pPr>
            <a:r>
              <a:rPr lang="en-US" sz="1000" b="1" dirty="0">
                <a:solidFill>
                  <a:srgbClr val="A8D8DA"/>
                </a:solidFill>
                <a:latin typeface="Calibri" pitchFamily="34" charset="0"/>
                <a:ea typeface="Calibri" pitchFamily="34" charset="-122"/>
                <a:cs typeface="Calibri" pitchFamily="34" charset="-120"/>
              </a:rPr>
              <a:t>2. Sliding window</a:t>
            </a:r>
            <a:endParaRPr lang="en-US" sz="1000" dirty="0"/>
          </a:p>
        </p:txBody>
      </p:sp>
      <p:sp>
        <p:nvSpPr>
          <p:cNvPr id="11" name="Text 9"/>
          <p:cNvSpPr/>
          <p:nvPr/>
        </p:nvSpPr>
        <p:spPr>
          <a:xfrm>
            <a:off x="475488" y="2478024"/>
            <a:ext cx="3794760" cy="347472"/>
          </a:xfrm>
          <a:prstGeom prst="rect">
            <a:avLst/>
          </a:prstGeom>
          <a:noFill/>
          <a:ln/>
        </p:spPr>
        <p:txBody>
          <a:bodyPr wrap="square" lIns="0" tIns="0" rIns="0" bIns="0" rtlCol="0" anchor="ctr"/>
          <a:lstStyle/>
          <a:p>
            <a:pPr indent="0" marL="0">
              <a:buNone/>
            </a:pPr>
            <a:r>
              <a:rPr lang="en-US" sz="950" dirty="0">
                <a:solidFill>
                  <a:srgbClr val="90B8C8"/>
                </a:solidFill>
                <a:latin typeface="Calibri" pitchFamily="34" charset="0"/>
                <a:ea typeface="Calibri" pitchFamily="34" charset="-122"/>
                <a:cs typeface="Calibri" pitchFamily="34" charset="-120"/>
              </a:rPr>
              <a:t>Last 10 user-turn emotions (min 3 required)</a:t>
            </a:r>
            <a:endParaRPr lang="en-US" sz="950" dirty="0"/>
          </a:p>
        </p:txBody>
      </p:sp>
      <p:sp>
        <p:nvSpPr>
          <p:cNvPr id="12" name="Text 10"/>
          <p:cNvSpPr/>
          <p:nvPr/>
        </p:nvSpPr>
        <p:spPr>
          <a:xfrm>
            <a:off x="475488" y="2889504"/>
            <a:ext cx="3794760" cy="228600"/>
          </a:xfrm>
          <a:prstGeom prst="rect">
            <a:avLst/>
          </a:prstGeom>
          <a:noFill/>
          <a:ln/>
        </p:spPr>
        <p:txBody>
          <a:bodyPr wrap="square" lIns="0" tIns="0" rIns="0" bIns="0" rtlCol="0" anchor="ctr"/>
          <a:lstStyle/>
          <a:p>
            <a:pPr indent="0" marL="0">
              <a:buNone/>
            </a:pPr>
            <a:r>
              <a:rPr lang="en-US" sz="1000" b="1" dirty="0">
                <a:solidFill>
                  <a:srgbClr val="A8D8DA"/>
                </a:solidFill>
                <a:latin typeface="Calibri" pitchFamily="34" charset="0"/>
                <a:ea typeface="Calibri" pitchFamily="34" charset="-122"/>
                <a:cs typeface="Calibri" pitchFamily="34" charset="-120"/>
              </a:rPr>
              <a:t>3. Weighted mean</a:t>
            </a:r>
            <a:endParaRPr lang="en-US" sz="1000" dirty="0"/>
          </a:p>
        </p:txBody>
      </p:sp>
      <p:sp>
        <p:nvSpPr>
          <p:cNvPr id="13" name="Text 11"/>
          <p:cNvSpPr/>
          <p:nvPr/>
        </p:nvSpPr>
        <p:spPr>
          <a:xfrm>
            <a:off x="475488" y="3136392"/>
            <a:ext cx="3794760" cy="347472"/>
          </a:xfrm>
          <a:prstGeom prst="rect">
            <a:avLst/>
          </a:prstGeom>
          <a:noFill/>
          <a:ln/>
        </p:spPr>
        <p:txBody>
          <a:bodyPr wrap="square" lIns="0" tIns="0" rIns="0" bIns="0" rtlCol="0" anchor="ctr"/>
          <a:lstStyle/>
          <a:p>
            <a:pPr indent="0" marL="0">
              <a:buNone/>
            </a:pPr>
            <a:r>
              <a:rPr lang="en-US" sz="950" dirty="0">
                <a:solidFill>
                  <a:srgbClr val="90B8C8"/>
                </a:solidFill>
                <a:latin typeface="Calibri" pitchFamily="34" charset="0"/>
                <a:ea typeface="Calibri" pitchFamily="34" charset="-122"/>
                <a:cs typeface="Calibri" pitchFamily="34" charset="-120"/>
              </a:rPr>
              <a:t>Mean of severity scores across window</a:t>
            </a:r>
            <a:endParaRPr lang="en-US" sz="950" dirty="0"/>
          </a:p>
        </p:txBody>
      </p:sp>
      <p:sp>
        <p:nvSpPr>
          <p:cNvPr id="14" name="Text 12"/>
          <p:cNvSpPr/>
          <p:nvPr/>
        </p:nvSpPr>
        <p:spPr>
          <a:xfrm>
            <a:off x="475488" y="3547872"/>
            <a:ext cx="3794760" cy="228600"/>
          </a:xfrm>
          <a:prstGeom prst="rect">
            <a:avLst/>
          </a:prstGeom>
          <a:noFill/>
          <a:ln/>
        </p:spPr>
        <p:txBody>
          <a:bodyPr wrap="square" lIns="0" tIns="0" rIns="0" bIns="0" rtlCol="0" anchor="ctr"/>
          <a:lstStyle/>
          <a:p>
            <a:pPr indent="0" marL="0">
              <a:buNone/>
            </a:pPr>
            <a:r>
              <a:rPr lang="en-US" sz="1000" b="1" dirty="0">
                <a:solidFill>
                  <a:srgbClr val="A8D8DA"/>
                </a:solidFill>
                <a:latin typeface="Calibri" pitchFamily="34" charset="0"/>
                <a:ea typeface="Calibri" pitchFamily="34" charset="-122"/>
                <a:cs typeface="Calibri" pitchFamily="34" charset="-120"/>
              </a:rPr>
              <a:t>4. Direction</a:t>
            </a:r>
            <a:endParaRPr lang="en-US" sz="1000" dirty="0"/>
          </a:p>
        </p:txBody>
      </p:sp>
      <p:sp>
        <p:nvSpPr>
          <p:cNvPr id="15" name="Text 13"/>
          <p:cNvSpPr/>
          <p:nvPr/>
        </p:nvSpPr>
        <p:spPr>
          <a:xfrm>
            <a:off x="475488" y="3794760"/>
            <a:ext cx="3794760" cy="347472"/>
          </a:xfrm>
          <a:prstGeom prst="rect">
            <a:avLst/>
          </a:prstGeom>
          <a:noFill/>
          <a:ln/>
        </p:spPr>
        <p:txBody>
          <a:bodyPr wrap="square" lIns="0" tIns="0" rIns="0" bIns="0" rtlCol="0" anchor="ctr"/>
          <a:lstStyle/>
          <a:p>
            <a:pPr indent="0" marL="0">
              <a:buNone/>
            </a:pPr>
            <a:r>
              <a:rPr lang="en-US" sz="950" dirty="0">
                <a:solidFill>
                  <a:srgbClr val="90B8C8"/>
                </a:solidFill>
                <a:latin typeface="Calibri" pitchFamily="34" charset="0"/>
                <a:ea typeface="Calibri" pitchFamily="34" charset="-122"/>
                <a:cs typeface="Calibri" pitchFamily="34" charset="-120"/>
              </a:rPr>
              <a:t>Compare first-half avg vs second-half avg</a:t>
            </a:r>
            <a:endParaRPr lang="en-US" sz="950" dirty="0"/>
          </a:p>
        </p:txBody>
      </p:sp>
      <p:sp>
        <p:nvSpPr>
          <p:cNvPr id="16" name="Text 14"/>
          <p:cNvSpPr/>
          <p:nvPr/>
        </p:nvSpPr>
        <p:spPr>
          <a:xfrm>
            <a:off x="475488" y="4206240"/>
            <a:ext cx="3794760" cy="228600"/>
          </a:xfrm>
          <a:prstGeom prst="rect">
            <a:avLst/>
          </a:prstGeom>
          <a:noFill/>
          <a:ln/>
        </p:spPr>
        <p:txBody>
          <a:bodyPr wrap="square" lIns="0" tIns="0" rIns="0" bIns="0" rtlCol="0" anchor="ctr"/>
          <a:lstStyle/>
          <a:p>
            <a:pPr indent="0" marL="0">
              <a:buNone/>
            </a:pPr>
            <a:r>
              <a:rPr lang="en-US" sz="1000" b="1" dirty="0">
                <a:solidFill>
                  <a:srgbClr val="A8D8DA"/>
                </a:solidFill>
                <a:latin typeface="Calibri" pitchFamily="34" charset="0"/>
                <a:ea typeface="Calibri" pitchFamily="34" charset="-122"/>
                <a:cs typeface="Calibri" pitchFamily="34" charset="-120"/>
              </a:rPr>
              <a:t>5. Priority order</a:t>
            </a:r>
            <a:endParaRPr lang="en-US" sz="1000" dirty="0"/>
          </a:p>
        </p:txBody>
      </p:sp>
      <p:sp>
        <p:nvSpPr>
          <p:cNvPr id="17" name="Text 15"/>
          <p:cNvSpPr/>
          <p:nvPr/>
        </p:nvSpPr>
        <p:spPr>
          <a:xfrm>
            <a:off x="475488" y="4453128"/>
            <a:ext cx="3794760" cy="347472"/>
          </a:xfrm>
          <a:prstGeom prst="rect">
            <a:avLst/>
          </a:prstGeom>
          <a:noFill/>
          <a:ln/>
        </p:spPr>
        <p:txBody>
          <a:bodyPr wrap="square" lIns="0" tIns="0" rIns="0" bIns="0" rtlCol="0" anchor="ctr"/>
          <a:lstStyle/>
          <a:p>
            <a:pPr indent="0" marL="0">
              <a:buNone/>
            </a:pPr>
            <a:r>
              <a:rPr lang="en-US" sz="950" dirty="0">
                <a:solidFill>
                  <a:srgbClr val="90B8C8"/>
                </a:solidFill>
                <a:latin typeface="Calibri" pitchFamily="34" charset="0"/>
                <a:ea typeface="Calibri" pitchFamily="34" charset="-122"/>
                <a:cs typeface="Calibri" pitchFamily="34" charset="-120"/>
              </a:rPr>
              <a:t>ELEVATED_ANGER → ESCALATING → IMPROVING</a:t>
            </a:r>
            <a:endParaRPr lang="en-US" sz="950" dirty="0"/>
          </a:p>
          <a:p>
            <a:pPr indent="0" marL="0">
              <a:buNone/>
            </a:pPr>
            <a:r>
              <a:rPr lang="en-US" sz="950" dirty="0">
                <a:solidFill>
                  <a:srgbClr val="90B8C8"/>
                </a:solidFill>
                <a:latin typeface="Calibri" pitchFamily="34" charset="0"/>
                <a:ea typeface="Calibri" pitchFamily="34" charset="-122"/>
                <a:cs typeface="Calibri" pitchFamily="34" charset="-120"/>
              </a:rPr>
              <a:t>→ FLUCTUATING → PERSISTENT → STABLE_POSITIVE</a:t>
            </a:r>
            <a:endParaRPr lang="en-US" sz="950" dirty="0"/>
          </a:p>
        </p:txBody>
      </p:sp>
      <p:sp>
        <p:nvSpPr>
          <p:cNvPr id="18" name="Shape 16"/>
          <p:cNvSpPr/>
          <p:nvPr/>
        </p:nvSpPr>
        <p:spPr>
          <a:xfrm>
            <a:off x="4617720" y="1115568"/>
            <a:ext cx="2029968" cy="786384"/>
          </a:xfrm>
          <a:prstGeom prst="roundRect">
            <a:avLst>
              <a:gd name="adj" fmla="val 11628"/>
            </a:avLst>
          </a:prstGeom>
          <a:solidFill>
            <a:srgbClr val="FDE8E8"/>
          </a:solidFill>
          <a:ln w="8890">
            <a:solidFill>
              <a:srgbClr val="B83232"/>
            </a:solidFill>
            <a:prstDash val="solid"/>
          </a:ln>
        </p:spPr>
      </p:sp>
      <p:sp>
        <p:nvSpPr>
          <p:cNvPr id="19" name="Text 17"/>
          <p:cNvSpPr/>
          <p:nvPr/>
        </p:nvSpPr>
        <p:spPr>
          <a:xfrm>
            <a:off x="4727448" y="1170432"/>
            <a:ext cx="1810512" cy="274320"/>
          </a:xfrm>
          <a:prstGeom prst="rect">
            <a:avLst/>
          </a:prstGeom>
          <a:noFill/>
          <a:ln/>
        </p:spPr>
        <p:txBody>
          <a:bodyPr wrap="square" lIns="0" tIns="0" rIns="0" bIns="0" rtlCol="0" anchor="ctr"/>
          <a:lstStyle/>
          <a:p>
            <a:pPr indent="0" marL="0">
              <a:buNone/>
            </a:pPr>
            <a:r>
              <a:rPr lang="en-US" sz="950" b="1" dirty="0">
                <a:solidFill>
                  <a:srgbClr val="B83232"/>
                </a:solidFill>
                <a:latin typeface="Calibri" pitchFamily="34" charset="0"/>
                <a:ea typeface="Calibri" pitchFamily="34" charset="-122"/>
                <a:cs typeface="Calibri" pitchFamily="34" charset="-120"/>
              </a:rPr>
              <a:t>ELEVATED_ANGER</a:t>
            </a:r>
            <a:endParaRPr lang="en-US" sz="950" dirty="0"/>
          </a:p>
        </p:txBody>
      </p:sp>
      <p:sp>
        <p:nvSpPr>
          <p:cNvPr id="20" name="Text 18"/>
          <p:cNvSpPr/>
          <p:nvPr/>
        </p:nvSpPr>
        <p:spPr>
          <a:xfrm>
            <a:off x="4727448" y="1481328"/>
            <a:ext cx="1810512" cy="347472"/>
          </a:xfrm>
          <a:prstGeom prst="rect">
            <a:avLst/>
          </a:prstGeom>
          <a:noFill/>
          <a:ln/>
        </p:spPr>
        <p:txBody>
          <a:bodyPr wrap="square" lIns="0" tIns="0" rIns="0" bIns="0" rtlCol="0" anchor="ctr"/>
          <a:lstStyle/>
          <a:p>
            <a:pPr indent="0" marL="0">
              <a:buNone/>
            </a:pPr>
            <a:r>
              <a:rPr lang="en-US" sz="900" dirty="0">
                <a:solidFill>
                  <a:srgbClr val="4A6274"/>
                </a:solidFill>
                <a:latin typeface="Calibri" pitchFamily="34" charset="0"/>
                <a:ea typeface="Calibri" pitchFamily="34" charset="-122"/>
                <a:cs typeface="Calibri" pitchFamily="34" charset="-120"/>
              </a:rPr>
              <a:t>2+ consecutive ANGER</a:t>
            </a:r>
            <a:endParaRPr lang="en-US" sz="900" dirty="0"/>
          </a:p>
        </p:txBody>
      </p:sp>
      <p:sp>
        <p:nvSpPr>
          <p:cNvPr id="21" name="Shape 19"/>
          <p:cNvSpPr/>
          <p:nvPr/>
        </p:nvSpPr>
        <p:spPr>
          <a:xfrm>
            <a:off x="6830568" y="1115568"/>
            <a:ext cx="2029968" cy="786384"/>
          </a:xfrm>
          <a:prstGeom prst="roundRect">
            <a:avLst>
              <a:gd name="adj" fmla="val 11628"/>
            </a:avLst>
          </a:prstGeom>
          <a:solidFill>
            <a:srgbClr val="FDE8D8"/>
          </a:solidFill>
          <a:ln w="8890">
            <a:solidFill>
              <a:srgbClr val="B45A20"/>
            </a:solidFill>
            <a:prstDash val="solid"/>
          </a:ln>
        </p:spPr>
      </p:sp>
      <p:sp>
        <p:nvSpPr>
          <p:cNvPr id="22" name="Text 20"/>
          <p:cNvSpPr/>
          <p:nvPr/>
        </p:nvSpPr>
        <p:spPr>
          <a:xfrm>
            <a:off x="6940296" y="1170432"/>
            <a:ext cx="1810512" cy="274320"/>
          </a:xfrm>
          <a:prstGeom prst="rect">
            <a:avLst/>
          </a:prstGeom>
          <a:noFill/>
          <a:ln/>
        </p:spPr>
        <p:txBody>
          <a:bodyPr wrap="square" lIns="0" tIns="0" rIns="0" bIns="0" rtlCol="0" anchor="ctr"/>
          <a:lstStyle/>
          <a:p>
            <a:pPr indent="0" marL="0">
              <a:buNone/>
            </a:pPr>
            <a:r>
              <a:rPr lang="en-US" sz="950" b="1" dirty="0">
                <a:solidFill>
                  <a:srgbClr val="B45A20"/>
                </a:solidFill>
                <a:latin typeface="Calibri" pitchFamily="34" charset="0"/>
                <a:ea typeface="Calibri" pitchFamily="34" charset="-122"/>
                <a:cs typeface="Calibri" pitchFamily="34" charset="-120"/>
              </a:rPr>
              <a:t>ESCALATING_DISTRESS</a:t>
            </a:r>
            <a:endParaRPr lang="en-US" sz="950" dirty="0"/>
          </a:p>
        </p:txBody>
      </p:sp>
      <p:sp>
        <p:nvSpPr>
          <p:cNvPr id="23" name="Text 21"/>
          <p:cNvSpPr/>
          <p:nvPr/>
        </p:nvSpPr>
        <p:spPr>
          <a:xfrm>
            <a:off x="6940296" y="1481328"/>
            <a:ext cx="1810512" cy="347472"/>
          </a:xfrm>
          <a:prstGeom prst="rect">
            <a:avLst/>
          </a:prstGeom>
          <a:noFill/>
          <a:ln/>
        </p:spPr>
        <p:txBody>
          <a:bodyPr wrap="square" lIns="0" tIns="0" rIns="0" bIns="0" rtlCol="0" anchor="ctr"/>
          <a:lstStyle/>
          <a:p>
            <a:pPr indent="0" marL="0">
              <a:buNone/>
            </a:pPr>
            <a:r>
              <a:rPr lang="en-US" sz="900" dirty="0">
                <a:solidFill>
                  <a:srgbClr val="4A6274"/>
                </a:solidFill>
                <a:latin typeface="Calibri" pitchFamily="34" charset="0"/>
                <a:ea typeface="Calibri" pitchFamily="34" charset="-122"/>
                <a:cs typeface="Calibri" pitchFamily="34" charset="-120"/>
              </a:rPr>
              <a:t>Every score strictly increasing</a:t>
            </a:r>
            <a:endParaRPr lang="en-US" sz="900" dirty="0"/>
          </a:p>
        </p:txBody>
      </p:sp>
      <p:sp>
        <p:nvSpPr>
          <p:cNvPr id="24" name="Shape 22"/>
          <p:cNvSpPr/>
          <p:nvPr/>
        </p:nvSpPr>
        <p:spPr>
          <a:xfrm>
            <a:off x="4617720" y="2002536"/>
            <a:ext cx="2029968" cy="786384"/>
          </a:xfrm>
          <a:prstGeom prst="roundRect">
            <a:avLst>
              <a:gd name="adj" fmla="val 11628"/>
            </a:avLst>
          </a:prstGeom>
          <a:solidFill>
            <a:srgbClr val="D6EEEF"/>
          </a:solidFill>
          <a:ln w="8890">
            <a:solidFill>
              <a:srgbClr val="0A6E72"/>
            </a:solidFill>
            <a:prstDash val="solid"/>
          </a:ln>
        </p:spPr>
      </p:sp>
      <p:sp>
        <p:nvSpPr>
          <p:cNvPr id="25" name="Text 23"/>
          <p:cNvSpPr/>
          <p:nvPr/>
        </p:nvSpPr>
        <p:spPr>
          <a:xfrm>
            <a:off x="4727448" y="2057400"/>
            <a:ext cx="1810512" cy="274320"/>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PERSISTENT_DISTRESS</a:t>
            </a:r>
            <a:endParaRPr lang="en-US" sz="950" dirty="0"/>
          </a:p>
        </p:txBody>
      </p:sp>
      <p:sp>
        <p:nvSpPr>
          <p:cNvPr id="26" name="Text 24"/>
          <p:cNvSpPr/>
          <p:nvPr/>
        </p:nvSpPr>
        <p:spPr>
          <a:xfrm>
            <a:off x="4727448" y="2368296"/>
            <a:ext cx="1810512" cy="347472"/>
          </a:xfrm>
          <a:prstGeom prst="rect">
            <a:avLst/>
          </a:prstGeom>
          <a:noFill/>
          <a:ln/>
        </p:spPr>
        <p:txBody>
          <a:bodyPr wrap="square" lIns="0" tIns="0" rIns="0" bIns="0" rtlCol="0" anchor="ctr"/>
          <a:lstStyle/>
          <a:p>
            <a:pPr indent="0" marL="0">
              <a:buNone/>
            </a:pPr>
            <a:r>
              <a:rPr lang="en-US" sz="900" dirty="0">
                <a:solidFill>
                  <a:srgbClr val="4A6274"/>
                </a:solidFill>
                <a:latin typeface="Calibri" pitchFamily="34" charset="0"/>
                <a:ea typeface="Calibri" pitchFamily="34" charset="-122"/>
                <a:cs typeface="Calibri" pitchFamily="34" charset="-120"/>
              </a:rPr>
              <a:t>Mean severity &gt; 0.55</a:t>
            </a:r>
            <a:endParaRPr lang="en-US" sz="900" dirty="0"/>
          </a:p>
        </p:txBody>
      </p:sp>
      <p:sp>
        <p:nvSpPr>
          <p:cNvPr id="27" name="Shape 25"/>
          <p:cNvSpPr/>
          <p:nvPr/>
        </p:nvSpPr>
        <p:spPr>
          <a:xfrm>
            <a:off x="6830568" y="2002536"/>
            <a:ext cx="2029968" cy="786384"/>
          </a:xfrm>
          <a:prstGeom prst="roundRect">
            <a:avLst>
              <a:gd name="adj" fmla="val 11628"/>
            </a:avLst>
          </a:prstGeom>
          <a:solidFill>
            <a:srgbClr val="D6F0E0"/>
          </a:solidFill>
          <a:ln w="8890">
            <a:solidFill>
              <a:srgbClr val="3A7A52"/>
            </a:solidFill>
            <a:prstDash val="solid"/>
          </a:ln>
        </p:spPr>
      </p:sp>
      <p:sp>
        <p:nvSpPr>
          <p:cNvPr id="28" name="Text 26"/>
          <p:cNvSpPr/>
          <p:nvPr/>
        </p:nvSpPr>
        <p:spPr>
          <a:xfrm>
            <a:off x="6940296" y="2057400"/>
            <a:ext cx="1810512" cy="274320"/>
          </a:xfrm>
          <a:prstGeom prst="rect">
            <a:avLst/>
          </a:prstGeom>
          <a:noFill/>
          <a:ln/>
        </p:spPr>
        <p:txBody>
          <a:bodyPr wrap="square" lIns="0" tIns="0" rIns="0" bIns="0" rtlCol="0" anchor="ctr"/>
          <a:lstStyle/>
          <a:p>
            <a:pPr indent="0" marL="0">
              <a:buNone/>
            </a:pPr>
            <a:r>
              <a:rPr lang="en-US" sz="950" b="1" dirty="0">
                <a:solidFill>
                  <a:srgbClr val="3A7A52"/>
                </a:solidFill>
                <a:latin typeface="Calibri" pitchFamily="34" charset="0"/>
                <a:ea typeface="Calibri" pitchFamily="34" charset="-122"/>
                <a:cs typeface="Calibri" pitchFamily="34" charset="-120"/>
              </a:rPr>
              <a:t>IMPROVING</a:t>
            </a:r>
            <a:endParaRPr lang="en-US" sz="950" dirty="0"/>
          </a:p>
        </p:txBody>
      </p:sp>
      <p:sp>
        <p:nvSpPr>
          <p:cNvPr id="29" name="Text 27"/>
          <p:cNvSpPr/>
          <p:nvPr/>
        </p:nvSpPr>
        <p:spPr>
          <a:xfrm>
            <a:off x="6940296" y="2368296"/>
            <a:ext cx="1810512" cy="347472"/>
          </a:xfrm>
          <a:prstGeom prst="rect">
            <a:avLst/>
          </a:prstGeom>
          <a:noFill/>
          <a:ln/>
        </p:spPr>
        <p:txBody>
          <a:bodyPr wrap="square" lIns="0" tIns="0" rIns="0" bIns="0" rtlCol="0" anchor="ctr"/>
          <a:lstStyle/>
          <a:p>
            <a:pPr indent="0" marL="0">
              <a:buNone/>
            </a:pPr>
            <a:r>
              <a:rPr lang="en-US" sz="900" dirty="0">
                <a:solidFill>
                  <a:srgbClr val="4A6274"/>
                </a:solidFill>
                <a:latin typeface="Calibri" pitchFamily="34" charset="0"/>
                <a:ea typeface="Calibri" pitchFamily="34" charset="-122"/>
                <a:cs typeface="Calibri" pitchFamily="34" charset="-120"/>
              </a:rPr>
              <a:t>Every score strictly decreasing + prior −</a:t>
            </a:r>
            <a:endParaRPr lang="en-US" sz="900" dirty="0"/>
          </a:p>
        </p:txBody>
      </p:sp>
      <p:sp>
        <p:nvSpPr>
          <p:cNvPr id="30" name="Shape 28"/>
          <p:cNvSpPr/>
          <p:nvPr/>
        </p:nvSpPr>
        <p:spPr>
          <a:xfrm>
            <a:off x="4617720" y="2889504"/>
            <a:ext cx="2029968" cy="786384"/>
          </a:xfrm>
          <a:prstGeom prst="roundRect">
            <a:avLst>
              <a:gd name="adj" fmla="val 11628"/>
            </a:avLst>
          </a:prstGeom>
          <a:solidFill>
            <a:srgbClr val="D6F0E0"/>
          </a:solidFill>
          <a:ln w="8890">
            <a:solidFill>
              <a:srgbClr val="3A7A52"/>
            </a:solidFill>
            <a:prstDash val="solid"/>
          </a:ln>
        </p:spPr>
      </p:sp>
      <p:sp>
        <p:nvSpPr>
          <p:cNvPr id="31" name="Text 29"/>
          <p:cNvSpPr/>
          <p:nvPr/>
        </p:nvSpPr>
        <p:spPr>
          <a:xfrm>
            <a:off x="4727448" y="2944368"/>
            <a:ext cx="1810512" cy="274320"/>
          </a:xfrm>
          <a:prstGeom prst="rect">
            <a:avLst/>
          </a:prstGeom>
          <a:noFill/>
          <a:ln/>
        </p:spPr>
        <p:txBody>
          <a:bodyPr wrap="square" lIns="0" tIns="0" rIns="0" bIns="0" rtlCol="0" anchor="ctr"/>
          <a:lstStyle/>
          <a:p>
            <a:pPr indent="0" marL="0">
              <a:buNone/>
            </a:pPr>
            <a:r>
              <a:rPr lang="en-US" sz="950" b="1" dirty="0">
                <a:solidFill>
                  <a:srgbClr val="3A7A52"/>
                </a:solidFill>
                <a:latin typeface="Calibri" pitchFamily="34" charset="0"/>
                <a:ea typeface="Calibri" pitchFamily="34" charset="-122"/>
                <a:cs typeface="Calibri" pitchFamily="34" charset="-120"/>
              </a:rPr>
              <a:t>STABLE_POSITIVE</a:t>
            </a:r>
            <a:endParaRPr lang="en-US" sz="950" dirty="0"/>
          </a:p>
        </p:txBody>
      </p:sp>
      <p:sp>
        <p:nvSpPr>
          <p:cNvPr id="32" name="Text 30"/>
          <p:cNvSpPr/>
          <p:nvPr/>
        </p:nvSpPr>
        <p:spPr>
          <a:xfrm>
            <a:off x="4727448" y="3255264"/>
            <a:ext cx="1810512" cy="347472"/>
          </a:xfrm>
          <a:prstGeom prst="rect">
            <a:avLst/>
          </a:prstGeom>
          <a:noFill/>
          <a:ln/>
        </p:spPr>
        <p:txBody>
          <a:bodyPr wrap="square" lIns="0" tIns="0" rIns="0" bIns="0" rtlCol="0" anchor="ctr"/>
          <a:lstStyle/>
          <a:p>
            <a:pPr indent="0" marL="0">
              <a:buNone/>
            </a:pPr>
            <a:r>
              <a:rPr lang="en-US" sz="900" dirty="0">
                <a:solidFill>
                  <a:srgbClr val="4A6274"/>
                </a:solidFill>
                <a:latin typeface="Calibri" pitchFamily="34" charset="0"/>
                <a:ea typeface="Calibri" pitchFamily="34" charset="-122"/>
                <a:cs typeface="Calibri" pitchFamily="34" charset="-120"/>
              </a:rPr>
              <a:t>Mean ≤ 0.2 + POSITIVE in last 3</a:t>
            </a:r>
            <a:endParaRPr lang="en-US" sz="900" dirty="0"/>
          </a:p>
        </p:txBody>
      </p:sp>
      <p:sp>
        <p:nvSpPr>
          <p:cNvPr id="33" name="Shape 31"/>
          <p:cNvSpPr/>
          <p:nvPr/>
        </p:nvSpPr>
        <p:spPr>
          <a:xfrm>
            <a:off x="6830568" y="2889504"/>
            <a:ext cx="2029968" cy="786384"/>
          </a:xfrm>
          <a:prstGeom prst="roundRect">
            <a:avLst>
              <a:gd name="adj" fmla="val 11628"/>
            </a:avLst>
          </a:prstGeom>
          <a:solidFill>
            <a:srgbClr val="FDF3E0"/>
          </a:solidFill>
          <a:ln w="8890">
            <a:solidFill>
              <a:srgbClr val="C9993A"/>
            </a:solidFill>
            <a:prstDash val="solid"/>
          </a:ln>
        </p:spPr>
      </p:sp>
      <p:sp>
        <p:nvSpPr>
          <p:cNvPr id="34" name="Text 32"/>
          <p:cNvSpPr/>
          <p:nvPr/>
        </p:nvSpPr>
        <p:spPr>
          <a:xfrm>
            <a:off x="6940296" y="2944368"/>
            <a:ext cx="1810512" cy="274320"/>
          </a:xfrm>
          <a:prstGeom prst="rect">
            <a:avLst/>
          </a:prstGeom>
          <a:noFill/>
          <a:ln/>
        </p:spPr>
        <p:txBody>
          <a:bodyPr wrap="square" lIns="0" tIns="0" rIns="0" bIns="0" rtlCol="0" anchor="ctr"/>
          <a:lstStyle/>
          <a:p>
            <a:pPr indent="0" marL="0">
              <a:buNone/>
            </a:pPr>
            <a:r>
              <a:rPr lang="en-US" sz="950" b="1" dirty="0">
                <a:solidFill>
                  <a:srgbClr val="C9993A"/>
                </a:solidFill>
                <a:latin typeface="Calibri" pitchFamily="34" charset="0"/>
                <a:ea typeface="Calibri" pitchFamily="34" charset="-122"/>
                <a:cs typeface="Calibri" pitchFamily="34" charset="-120"/>
              </a:rPr>
              <a:t>FLUCTUATING</a:t>
            </a:r>
            <a:endParaRPr lang="en-US" sz="950" dirty="0"/>
          </a:p>
        </p:txBody>
      </p:sp>
      <p:sp>
        <p:nvSpPr>
          <p:cNvPr id="35" name="Text 33"/>
          <p:cNvSpPr/>
          <p:nvPr/>
        </p:nvSpPr>
        <p:spPr>
          <a:xfrm>
            <a:off x="6940296" y="3255264"/>
            <a:ext cx="1810512" cy="347472"/>
          </a:xfrm>
          <a:prstGeom prst="rect">
            <a:avLst/>
          </a:prstGeom>
          <a:noFill/>
          <a:ln/>
        </p:spPr>
        <p:txBody>
          <a:bodyPr wrap="square" lIns="0" tIns="0" rIns="0" bIns="0" rtlCol="0" anchor="ctr"/>
          <a:lstStyle/>
          <a:p>
            <a:pPr indent="0" marL="0">
              <a:buNone/>
            </a:pPr>
            <a:r>
              <a:rPr lang="en-US" sz="900" dirty="0">
                <a:solidFill>
                  <a:srgbClr val="4A6274"/>
                </a:solidFill>
                <a:latin typeface="Calibri" pitchFamily="34" charset="0"/>
                <a:ea typeface="Calibri" pitchFamily="34" charset="-122"/>
                <a:cs typeface="Calibri" pitchFamily="34" charset="-120"/>
              </a:rPr>
              <a:t>1+ direction reversals detected</a:t>
            </a:r>
            <a:endParaRPr lang="en-US" sz="900" dirty="0"/>
          </a:p>
        </p:txBody>
      </p:sp>
      <p:sp>
        <p:nvSpPr>
          <p:cNvPr id="36" name="Shape 34"/>
          <p:cNvSpPr/>
          <p:nvPr/>
        </p:nvSpPr>
        <p:spPr>
          <a:xfrm>
            <a:off x="4617720" y="3776472"/>
            <a:ext cx="4315968" cy="694944"/>
          </a:xfrm>
          <a:prstGeom prst="roundRect">
            <a:avLst>
              <a:gd name="adj" fmla="val 13158"/>
            </a:avLst>
          </a:prstGeom>
          <a:solidFill>
            <a:srgbClr val="F7F9FA"/>
          </a:solidFill>
          <a:ln w="8890">
            <a:solidFill>
              <a:srgbClr val="7FA3B5"/>
            </a:solidFill>
            <a:prstDash val="solid"/>
          </a:ln>
        </p:spPr>
      </p:sp>
      <p:sp>
        <p:nvSpPr>
          <p:cNvPr id="37" name="Text 35"/>
          <p:cNvSpPr/>
          <p:nvPr/>
        </p:nvSpPr>
        <p:spPr>
          <a:xfrm>
            <a:off x="4754880" y="3831336"/>
            <a:ext cx="4023360" cy="237744"/>
          </a:xfrm>
          <a:prstGeom prst="rect">
            <a:avLst/>
          </a:prstGeom>
          <a:noFill/>
          <a:ln/>
        </p:spPr>
        <p:txBody>
          <a:bodyPr wrap="square" lIns="0" tIns="0" rIns="0" bIns="0" rtlCol="0" anchor="ctr"/>
          <a:lstStyle/>
          <a:p>
            <a:pPr indent="0" marL="0">
              <a:buNone/>
            </a:pPr>
            <a:r>
              <a:rPr lang="en-US" sz="1000" b="1" dirty="0">
                <a:solidFill>
                  <a:srgbClr val="7FA3B5"/>
                </a:solidFill>
                <a:latin typeface="Calibri" pitchFamily="34" charset="0"/>
                <a:ea typeface="Calibri" pitchFamily="34" charset="-122"/>
                <a:cs typeface="Calibri" pitchFamily="34" charset="-120"/>
              </a:rPr>
              <a:t>INSUFFICIENT_DATA</a:t>
            </a:r>
            <a:endParaRPr lang="en-US" sz="1000" dirty="0"/>
          </a:p>
        </p:txBody>
      </p:sp>
      <p:sp>
        <p:nvSpPr>
          <p:cNvPr id="38" name="Text 36"/>
          <p:cNvSpPr/>
          <p:nvPr/>
        </p:nvSpPr>
        <p:spPr>
          <a:xfrm>
            <a:off x="4754880" y="4096512"/>
            <a:ext cx="4023360" cy="274320"/>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&lt; 3 turns in history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METHODOLOGY: STRATEGY SELECTION</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Layer 5 — 12-Condition Lookup → 9 CBT-Aligned Strategies</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10 / 19</a:t>
            </a:r>
            <a:endParaRPr lang="en-US" sz="900" dirty="0"/>
          </a:p>
        </p:txBody>
      </p:sp>
      <p:sp>
        <p:nvSpPr>
          <p:cNvPr id="6" name="Shape 4"/>
          <p:cNvSpPr/>
          <p:nvPr/>
        </p:nvSpPr>
        <p:spPr>
          <a:xfrm>
            <a:off x="320040" y="1078992"/>
            <a:ext cx="4069080" cy="365760"/>
          </a:xfrm>
          <a:prstGeom prst="roundRect">
            <a:avLst>
              <a:gd name="adj" fmla="val 20000"/>
            </a:avLst>
          </a:prstGeom>
          <a:solidFill>
            <a:srgbClr val="0A6E72"/>
          </a:solidFill>
          <a:ln w="12700">
            <a:solidFill>
              <a:srgbClr val="0A6E72"/>
            </a:solidFill>
            <a:prstDash val="solid"/>
          </a:ln>
        </p:spPr>
      </p:sp>
      <p:sp>
        <p:nvSpPr>
          <p:cNvPr id="7" name="Text 5"/>
          <p:cNvSpPr/>
          <p:nvPr/>
        </p:nvSpPr>
        <p:spPr>
          <a:xfrm>
            <a:off x="320040" y="1078992"/>
            <a:ext cx="40690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TREND → STRATEGY</a:t>
            </a:r>
            <a:endParaRPr lang="en-US" sz="1100" dirty="0"/>
          </a:p>
        </p:txBody>
      </p:sp>
      <p:sp>
        <p:nvSpPr>
          <p:cNvPr id="8" name="Shape 6"/>
          <p:cNvSpPr/>
          <p:nvPr/>
        </p:nvSpPr>
        <p:spPr>
          <a:xfrm>
            <a:off x="4754880" y="1078992"/>
            <a:ext cx="4069080" cy="365760"/>
          </a:xfrm>
          <a:prstGeom prst="roundRect">
            <a:avLst>
              <a:gd name="adj" fmla="val 20000"/>
            </a:avLst>
          </a:prstGeom>
          <a:solidFill>
            <a:srgbClr val="C9993A"/>
          </a:solidFill>
          <a:ln w="12700">
            <a:solidFill>
              <a:srgbClr val="C9993A"/>
            </a:solidFill>
            <a:prstDash val="solid"/>
          </a:ln>
        </p:spPr>
      </p:sp>
      <p:sp>
        <p:nvSpPr>
          <p:cNvPr id="9" name="Text 7"/>
          <p:cNvSpPr/>
          <p:nvPr/>
        </p:nvSpPr>
        <p:spPr>
          <a:xfrm>
            <a:off x="4754880" y="1078992"/>
            <a:ext cx="40690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INSUFFICIENT_DATA + EMOTION → STRATEGY</a:t>
            </a:r>
            <a:endParaRPr lang="en-US" sz="1100" dirty="0"/>
          </a:p>
        </p:txBody>
      </p:sp>
      <p:sp>
        <p:nvSpPr>
          <p:cNvPr id="10" name="Shape 8"/>
          <p:cNvSpPr/>
          <p:nvPr/>
        </p:nvSpPr>
        <p:spPr>
          <a:xfrm>
            <a:off x="320040" y="1572768"/>
            <a:ext cx="4069080" cy="475488"/>
          </a:xfrm>
          <a:prstGeom prst="roundRect">
            <a:avLst>
              <a:gd name="adj" fmla="val 15385"/>
            </a:avLst>
          </a:prstGeom>
          <a:solidFill>
            <a:srgbClr val="D6EEEF"/>
          </a:solidFill>
          <a:ln w="12700">
            <a:solidFill>
              <a:srgbClr val="CBDDE2"/>
            </a:solidFill>
            <a:prstDash val="solid"/>
          </a:ln>
        </p:spPr>
      </p:sp>
      <p:sp>
        <p:nvSpPr>
          <p:cNvPr id="11" name="Text 9"/>
          <p:cNvSpPr/>
          <p:nvPr/>
        </p:nvSpPr>
        <p:spPr>
          <a:xfrm>
            <a:off x="457200" y="1664208"/>
            <a:ext cx="1920240" cy="274320"/>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PERSISTENT_DISTRESS</a:t>
            </a:r>
            <a:endParaRPr lang="en-US" sz="950" dirty="0"/>
          </a:p>
        </p:txBody>
      </p:sp>
      <p:sp>
        <p:nvSpPr>
          <p:cNvPr id="12" name="Text 10"/>
          <p:cNvSpPr/>
          <p:nvPr/>
        </p:nvSpPr>
        <p:spPr>
          <a:xfrm>
            <a:off x="2423160" y="1664208"/>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2724912" y="1664208"/>
            <a:ext cx="1554480"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VALIDATION_AND_REFLECTION</a:t>
            </a:r>
            <a:endParaRPr lang="en-US" sz="950" dirty="0"/>
          </a:p>
        </p:txBody>
      </p:sp>
      <p:sp>
        <p:nvSpPr>
          <p:cNvPr id="14" name="Shape 12"/>
          <p:cNvSpPr/>
          <p:nvPr/>
        </p:nvSpPr>
        <p:spPr>
          <a:xfrm>
            <a:off x="320040" y="2112264"/>
            <a:ext cx="4069080" cy="475488"/>
          </a:xfrm>
          <a:prstGeom prst="roundRect">
            <a:avLst>
              <a:gd name="adj" fmla="val 15385"/>
            </a:avLst>
          </a:prstGeom>
          <a:solidFill>
            <a:srgbClr val="FFFFFF"/>
          </a:solidFill>
          <a:ln w="12700">
            <a:solidFill>
              <a:srgbClr val="CBDDE2"/>
            </a:solidFill>
            <a:prstDash val="solid"/>
          </a:ln>
        </p:spPr>
      </p:sp>
      <p:sp>
        <p:nvSpPr>
          <p:cNvPr id="15" name="Text 13"/>
          <p:cNvSpPr/>
          <p:nvPr/>
        </p:nvSpPr>
        <p:spPr>
          <a:xfrm>
            <a:off x="457200" y="2203704"/>
            <a:ext cx="1920240" cy="274320"/>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ESCALATING_DISTRESS</a:t>
            </a:r>
            <a:endParaRPr lang="en-US" sz="950" dirty="0"/>
          </a:p>
        </p:txBody>
      </p:sp>
      <p:sp>
        <p:nvSpPr>
          <p:cNvPr id="16" name="Text 14"/>
          <p:cNvSpPr/>
          <p:nvPr/>
        </p:nvSpPr>
        <p:spPr>
          <a:xfrm>
            <a:off x="2423160" y="2203704"/>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2724912" y="2203704"/>
            <a:ext cx="1554480"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GROUNDING</a:t>
            </a:r>
            <a:endParaRPr lang="en-US" sz="950" dirty="0"/>
          </a:p>
        </p:txBody>
      </p:sp>
      <p:sp>
        <p:nvSpPr>
          <p:cNvPr id="18" name="Shape 16"/>
          <p:cNvSpPr/>
          <p:nvPr/>
        </p:nvSpPr>
        <p:spPr>
          <a:xfrm>
            <a:off x="320040" y="2651760"/>
            <a:ext cx="4069080" cy="475488"/>
          </a:xfrm>
          <a:prstGeom prst="roundRect">
            <a:avLst>
              <a:gd name="adj" fmla="val 15385"/>
            </a:avLst>
          </a:prstGeom>
          <a:solidFill>
            <a:srgbClr val="D6EEEF"/>
          </a:solidFill>
          <a:ln w="12700">
            <a:solidFill>
              <a:srgbClr val="CBDDE2"/>
            </a:solidFill>
            <a:prstDash val="solid"/>
          </a:ln>
        </p:spPr>
      </p:sp>
      <p:sp>
        <p:nvSpPr>
          <p:cNvPr id="19" name="Text 17"/>
          <p:cNvSpPr/>
          <p:nvPr/>
        </p:nvSpPr>
        <p:spPr>
          <a:xfrm>
            <a:off x="457200" y="2743200"/>
            <a:ext cx="1920240" cy="274320"/>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ELEVATED_ANGER</a:t>
            </a:r>
            <a:endParaRPr lang="en-US" sz="950" dirty="0"/>
          </a:p>
        </p:txBody>
      </p:sp>
      <p:sp>
        <p:nvSpPr>
          <p:cNvPr id="20" name="Text 18"/>
          <p:cNvSpPr/>
          <p:nvPr/>
        </p:nvSpPr>
        <p:spPr>
          <a:xfrm>
            <a:off x="2423160" y="2743200"/>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2724912" y="2743200"/>
            <a:ext cx="1554480"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CALM_REFLECTION</a:t>
            </a:r>
            <a:endParaRPr lang="en-US" sz="950" dirty="0"/>
          </a:p>
        </p:txBody>
      </p:sp>
      <p:sp>
        <p:nvSpPr>
          <p:cNvPr id="22" name="Shape 20"/>
          <p:cNvSpPr/>
          <p:nvPr/>
        </p:nvSpPr>
        <p:spPr>
          <a:xfrm>
            <a:off x="320040" y="3191256"/>
            <a:ext cx="4069080" cy="475488"/>
          </a:xfrm>
          <a:prstGeom prst="roundRect">
            <a:avLst>
              <a:gd name="adj" fmla="val 15385"/>
            </a:avLst>
          </a:prstGeom>
          <a:solidFill>
            <a:srgbClr val="FFFFFF"/>
          </a:solidFill>
          <a:ln w="12700">
            <a:solidFill>
              <a:srgbClr val="CBDDE2"/>
            </a:solidFill>
            <a:prstDash val="solid"/>
          </a:ln>
        </p:spPr>
      </p:sp>
      <p:sp>
        <p:nvSpPr>
          <p:cNvPr id="23" name="Text 21"/>
          <p:cNvSpPr/>
          <p:nvPr/>
        </p:nvSpPr>
        <p:spPr>
          <a:xfrm>
            <a:off x="457200" y="3282696"/>
            <a:ext cx="1920240" cy="274320"/>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IMPROVING</a:t>
            </a:r>
            <a:endParaRPr lang="en-US" sz="950" dirty="0"/>
          </a:p>
        </p:txBody>
      </p:sp>
      <p:sp>
        <p:nvSpPr>
          <p:cNvPr id="24" name="Text 22"/>
          <p:cNvSpPr/>
          <p:nvPr/>
        </p:nvSpPr>
        <p:spPr>
          <a:xfrm>
            <a:off x="2423160" y="3282696"/>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2724912" y="3282696"/>
            <a:ext cx="1554480"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ENCOURAGEMENT</a:t>
            </a:r>
            <a:endParaRPr lang="en-US" sz="950" dirty="0"/>
          </a:p>
        </p:txBody>
      </p:sp>
      <p:sp>
        <p:nvSpPr>
          <p:cNvPr id="26" name="Shape 24"/>
          <p:cNvSpPr/>
          <p:nvPr/>
        </p:nvSpPr>
        <p:spPr>
          <a:xfrm>
            <a:off x="320040" y="3730752"/>
            <a:ext cx="4069080" cy="475488"/>
          </a:xfrm>
          <a:prstGeom prst="roundRect">
            <a:avLst>
              <a:gd name="adj" fmla="val 15385"/>
            </a:avLst>
          </a:prstGeom>
          <a:solidFill>
            <a:srgbClr val="D6EEEF"/>
          </a:solidFill>
          <a:ln w="12700">
            <a:solidFill>
              <a:srgbClr val="CBDDE2"/>
            </a:solidFill>
            <a:prstDash val="solid"/>
          </a:ln>
        </p:spPr>
      </p:sp>
      <p:sp>
        <p:nvSpPr>
          <p:cNvPr id="27" name="Text 25"/>
          <p:cNvSpPr/>
          <p:nvPr/>
        </p:nvSpPr>
        <p:spPr>
          <a:xfrm>
            <a:off x="457200" y="3822192"/>
            <a:ext cx="1920240" cy="274320"/>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STABLE_POSITIVE</a:t>
            </a:r>
            <a:endParaRPr lang="en-US" sz="950" dirty="0"/>
          </a:p>
        </p:txBody>
      </p:sp>
      <p:sp>
        <p:nvSpPr>
          <p:cNvPr id="28" name="Text 26"/>
          <p:cNvSpPr/>
          <p:nvPr/>
        </p:nvSpPr>
        <p:spPr>
          <a:xfrm>
            <a:off x="2423160" y="3822192"/>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2724912" y="3822192"/>
            <a:ext cx="1554480"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POSITIVE_REINFORCEMENT</a:t>
            </a:r>
            <a:endParaRPr lang="en-US" sz="950" dirty="0"/>
          </a:p>
        </p:txBody>
      </p:sp>
      <p:sp>
        <p:nvSpPr>
          <p:cNvPr id="30" name="Shape 28"/>
          <p:cNvSpPr/>
          <p:nvPr/>
        </p:nvSpPr>
        <p:spPr>
          <a:xfrm>
            <a:off x="320040" y="4270248"/>
            <a:ext cx="4069080" cy="475488"/>
          </a:xfrm>
          <a:prstGeom prst="roundRect">
            <a:avLst>
              <a:gd name="adj" fmla="val 15385"/>
            </a:avLst>
          </a:prstGeom>
          <a:solidFill>
            <a:srgbClr val="FFFFFF"/>
          </a:solidFill>
          <a:ln w="12700">
            <a:solidFill>
              <a:srgbClr val="CBDDE2"/>
            </a:solidFill>
            <a:prstDash val="solid"/>
          </a:ln>
        </p:spPr>
      </p:sp>
      <p:sp>
        <p:nvSpPr>
          <p:cNvPr id="31" name="Text 29"/>
          <p:cNvSpPr/>
          <p:nvPr/>
        </p:nvSpPr>
        <p:spPr>
          <a:xfrm>
            <a:off x="457200" y="4361688"/>
            <a:ext cx="1920240" cy="274320"/>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FLUCTUATING</a:t>
            </a:r>
            <a:endParaRPr lang="en-US" sz="950" dirty="0"/>
          </a:p>
        </p:txBody>
      </p:sp>
      <p:sp>
        <p:nvSpPr>
          <p:cNvPr id="32" name="Text 30"/>
          <p:cNvSpPr/>
          <p:nvPr/>
        </p:nvSpPr>
        <p:spPr>
          <a:xfrm>
            <a:off x="2423160" y="4361688"/>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33" name="Text 31"/>
          <p:cNvSpPr/>
          <p:nvPr/>
        </p:nvSpPr>
        <p:spPr>
          <a:xfrm>
            <a:off x="2724912" y="4361688"/>
            <a:ext cx="1554480"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EXPLORATORY_INQUIRY</a:t>
            </a:r>
            <a:endParaRPr lang="en-US" sz="950" dirty="0"/>
          </a:p>
        </p:txBody>
      </p:sp>
      <p:sp>
        <p:nvSpPr>
          <p:cNvPr id="34" name="Shape 32"/>
          <p:cNvSpPr/>
          <p:nvPr/>
        </p:nvSpPr>
        <p:spPr>
          <a:xfrm>
            <a:off x="4754880" y="1572768"/>
            <a:ext cx="4069080" cy="475488"/>
          </a:xfrm>
          <a:prstGeom prst="roundRect">
            <a:avLst>
              <a:gd name="adj" fmla="val 15385"/>
            </a:avLst>
          </a:prstGeom>
          <a:solidFill>
            <a:srgbClr val="FDF3E0"/>
          </a:solidFill>
          <a:ln w="12700">
            <a:solidFill>
              <a:srgbClr val="DAC898"/>
            </a:solidFill>
            <a:prstDash val="solid"/>
          </a:ln>
        </p:spPr>
      </p:sp>
      <p:sp>
        <p:nvSpPr>
          <p:cNvPr id="35" name="Text 33"/>
          <p:cNvSpPr/>
          <p:nvPr/>
        </p:nvSpPr>
        <p:spPr>
          <a:xfrm>
            <a:off x="4892040" y="1664208"/>
            <a:ext cx="1645920" cy="274320"/>
          </a:xfrm>
          <a:prstGeom prst="rect">
            <a:avLst/>
          </a:prstGeom>
          <a:noFill/>
          <a:ln/>
        </p:spPr>
        <p:txBody>
          <a:bodyPr wrap="square" lIns="0" tIns="0" rIns="0" bIns="0" rtlCol="0" anchor="ctr"/>
          <a:lstStyle/>
          <a:p>
            <a:pPr indent="0" marL="0">
              <a:buNone/>
            </a:pPr>
            <a:r>
              <a:rPr lang="en-US" sz="950" b="1" dirty="0">
                <a:solidFill>
                  <a:srgbClr val="C9993A"/>
                </a:solidFill>
                <a:latin typeface="Calibri" pitchFamily="34" charset="0"/>
                <a:ea typeface="Calibri" pitchFamily="34" charset="-122"/>
                <a:cs typeface="Calibri" pitchFamily="34" charset="-120"/>
              </a:rPr>
              <a:t>SADNESS</a:t>
            </a:r>
            <a:endParaRPr lang="en-US" sz="950" dirty="0"/>
          </a:p>
        </p:txBody>
      </p:sp>
      <p:sp>
        <p:nvSpPr>
          <p:cNvPr id="36" name="Text 34"/>
          <p:cNvSpPr/>
          <p:nvPr/>
        </p:nvSpPr>
        <p:spPr>
          <a:xfrm>
            <a:off x="6583680" y="1664208"/>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37" name="Text 35"/>
          <p:cNvSpPr/>
          <p:nvPr/>
        </p:nvSpPr>
        <p:spPr>
          <a:xfrm>
            <a:off x="6903720" y="1664208"/>
            <a:ext cx="1810512"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VALIDATION</a:t>
            </a:r>
            <a:endParaRPr lang="en-US" sz="950" dirty="0"/>
          </a:p>
        </p:txBody>
      </p:sp>
      <p:sp>
        <p:nvSpPr>
          <p:cNvPr id="38" name="Shape 36"/>
          <p:cNvSpPr/>
          <p:nvPr/>
        </p:nvSpPr>
        <p:spPr>
          <a:xfrm>
            <a:off x="4754880" y="2112264"/>
            <a:ext cx="4069080" cy="475488"/>
          </a:xfrm>
          <a:prstGeom prst="roundRect">
            <a:avLst>
              <a:gd name="adj" fmla="val 15385"/>
            </a:avLst>
          </a:prstGeom>
          <a:solidFill>
            <a:srgbClr val="FFFFFF"/>
          </a:solidFill>
          <a:ln w="12700">
            <a:solidFill>
              <a:srgbClr val="DAC898"/>
            </a:solidFill>
            <a:prstDash val="solid"/>
          </a:ln>
        </p:spPr>
      </p:sp>
      <p:sp>
        <p:nvSpPr>
          <p:cNvPr id="39" name="Text 37"/>
          <p:cNvSpPr/>
          <p:nvPr/>
        </p:nvSpPr>
        <p:spPr>
          <a:xfrm>
            <a:off x="4892040" y="2203704"/>
            <a:ext cx="1645920" cy="274320"/>
          </a:xfrm>
          <a:prstGeom prst="rect">
            <a:avLst/>
          </a:prstGeom>
          <a:noFill/>
          <a:ln/>
        </p:spPr>
        <p:txBody>
          <a:bodyPr wrap="square" lIns="0" tIns="0" rIns="0" bIns="0" rtlCol="0" anchor="ctr"/>
          <a:lstStyle/>
          <a:p>
            <a:pPr indent="0" marL="0">
              <a:buNone/>
            </a:pPr>
            <a:r>
              <a:rPr lang="en-US" sz="950" b="1" dirty="0">
                <a:solidFill>
                  <a:srgbClr val="C9993A"/>
                </a:solidFill>
                <a:latin typeface="Calibri" pitchFamily="34" charset="0"/>
                <a:ea typeface="Calibri" pitchFamily="34" charset="-122"/>
                <a:cs typeface="Calibri" pitchFamily="34" charset="-120"/>
              </a:rPr>
              <a:t>ANXIETY</a:t>
            </a:r>
            <a:endParaRPr lang="en-US" sz="950" dirty="0"/>
          </a:p>
        </p:txBody>
      </p:sp>
      <p:sp>
        <p:nvSpPr>
          <p:cNvPr id="40" name="Text 38"/>
          <p:cNvSpPr/>
          <p:nvPr/>
        </p:nvSpPr>
        <p:spPr>
          <a:xfrm>
            <a:off x="6583680" y="2203704"/>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41" name="Text 39"/>
          <p:cNvSpPr/>
          <p:nvPr/>
        </p:nvSpPr>
        <p:spPr>
          <a:xfrm>
            <a:off x="6903720" y="2203704"/>
            <a:ext cx="1810512"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GROUNDING</a:t>
            </a:r>
            <a:endParaRPr lang="en-US" sz="950" dirty="0"/>
          </a:p>
        </p:txBody>
      </p:sp>
      <p:sp>
        <p:nvSpPr>
          <p:cNvPr id="42" name="Shape 40"/>
          <p:cNvSpPr/>
          <p:nvPr/>
        </p:nvSpPr>
        <p:spPr>
          <a:xfrm>
            <a:off x="4754880" y="2651760"/>
            <a:ext cx="4069080" cy="475488"/>
          </a:xfrm>
          <a:prstGeom prst="roundRect">
            <a:avLst>
              <a:gd name="adj" fmla="val 15385"/>
            </a:avLst>
          </a:prstGeom>
          <a:solidFill>
            <a:srgbClr val="FDF3E0"/>
          </a:solidFill>
          <a:ln w="12700">
            <a:solidFill>
              <a:srgbClr val="DAC898"/>
            </a:solidFill>
            <a:prstDash val="solid"/>
          </a:ln>
        </p:spPr>
      </p:sp>
      <p:sp>
        <p:nvSpPr>
          <p:cNvPr id="43" name="Text 41"/>
          <p:cNvSpPr/>
          <p:nvPr/>
        </p:nvSpPr>
        <p:spPr>
          <a:xfrm>
            <a:off x="4892040" y="2743200"/>
            <a:ext cx="1645920" cy="274320"/>
          </a:xfrm>
          <a:prstGeom prst="rect">
            <a:avLst/>
          </a:prstGeom>
          <a:noFill/>
          <a:ln/>
        </p:spPr>
        <p:txBody>
          <a:bodyPr wrap="square" lIns="0" tIns="0" rIns="0" bIns="0" rtlCol="0" anchor="ctr"/>
          <a:lstStyle/>
          <a:p>
            <a:pPr indent="0" marL="0">
              <a:buNone/>
            </a:pPr>
            <a:r>
              <a:rPr lang="en-US" sz="950" b="1" dirty="0">
                <a:solidFill>
                  <a:srgbClr val="C9993A"/>
                </a:solidFill>
                <a:latin typeface="Calibri" pitchFamily="34" charset="0"/>
                <a:ea typeface="Calibri" pitchFamily="34" charset="-122"/>
                <a:cs typeface="Calibri" pitchFamily="34" charset="-120"/>
              </a:rPr>
              <a:t>POSITIVE</a:t>
            </a:r>
            <a:endParaRPr lang="en-US" sz="950" dirty="0"/>
          </a:p>
        </p:txBody>
      </p:sp>
      <p:sp>
        <p:nvSpPr>
          <p:cNvPr id="44" name="Text 42"/>
          <p:cNvSpPr/>
          <p:nvPr/>
        </p:nvSpPr>
        <p:spPr>
          <a:xfrm>
            <a:off x="6583680" y="2743200"/>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45" name="Text 43"/>
          <p:cNvSpPr/>
          <p:nvPr/>
        </p:nvSpPr>
        <p:spPr>
          <a:xfrm>
            <a:off x="6903720" y="2743200"/>
            <a:ext cx="1810512"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POSITIVE_REINFORCEMENT</a:t>
            </a:r>
            <a:endParaRPr lang="en-US" sz="950" dirty="0"/>
          </a:p>
        </p:txBody>
      </p:sp>
      <p:sp>
        <p:nvSpPr>
          <p:cNvPr id="46" name="Shape 44"/>
          <p:cNvSpPr/>
          <p:nvPr/>
        </p:nvSpPr>
        <p:spPr>
          <a:xfrm>
            <a:off x="4754880" y="3191256"/>
            <a:ext cx="4069080" cy="475488"/>
          </a:xfrm>
          <a:prstGeom prst="roundRect">
            <a:avLst>
              <a:gd name="adj" fmla="val 15385"/>
            </a:avLst>
          </a:prstGeom>
          <a:solidFill>
            <a:srgbClr val="FFFFFF"/>
          </a:solidFill>
          <a:ln w="12700">
            <a:solidFill>
              <a:srgbClr val="DAC898"/>
            </a:solidFill>
            <a:prstDash val="solid"/>
          </a:ln>
        </p:spPr>
      </p:sp>
      <p:sp>
        <p:nvSpPr>
          <p:cNvPr id="47" name="Text 45"/>
          <p:cNvSpPr/>
          <p:nvPr/>
        </p:nvSpPr>
        <p:spPr>
          <a:xfrm>
            <a:off x="4892040" y="3282696"/>
            <a:ext cx="1645920" cy="274320"/>
          </a:xfrm>
          <a:prstGeom prst="rect">
            <a:avLst/>
          </a:prstGeom>
          <a:noFill/>
          <a:ln/>
        </p:spPr>
        <p:txBody>
          <a:bodyPr wrap="square" lIns="0" tIns="0" rIns="0" bIns="0" rtlCol="0" anchor="ctr"/>
          <a:lstStyle/>
          <a:p>
            <a:pPr indent="0" marL="0">
              <a:buNone/>
            </a:pPr>
            <a:r>
              <a:rPr lang="en-US" sz="950" b="1" dirty="0">
                <a:solidFill>
                  <a:srgbClr val="C9993A"/>
                </a:solidFill>
                <a:latin typeface="Calibri" pitchFamily="34" charset="0"/>
                <a:ea typeface="Calibri" pitchFamily="34" charset="-122"/>
                <a:cs typeface="Calibri" pitchFamily="34" charset="-120"/>
              </a:rPr>
              <a:t>NEUTRAL</a:t>
            </a:r>
            <a:endParaRPr lang="en-US" sz="950" dirty="0"/>
          </a:p>
        </p:txBody>
      </p:sp>
      <p:sp>
        <p:nvSpPr>
          <p:cNvPr id="48" name="Text 46"/>
          <p:cNvSpPr/>
          <p:nvPr/>
        </p:nvSpPr>
        <p:spPr>
          <a:xfrm>
            <a:off x="6583680" y="3282696"/>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49" name="Text 47"/>
          <p:cNvSpPr/>
          <p:nvPr/>
        </p:nvSpPr>
        <p:spPr>
          <a:xfrm>
            <a:off x="6903720" y="3282696"/>
            <a:ext cx="1810512"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OPEN_CHECKIN</a:t>
            </a:r>
            <a:endParaRPr lang="en-US" sz="950" dirty="0"/>
          </a:p>
        </p:txBody>
      </p:sp>
      <p:sp>
        <p:nvSpPr>
          <p:cNvPr id="50" name="Shape 48"/>
          <p:cNvSpPr/>
          <p:nvPr/>
        </p:nvSpPr>
        <p:spPr>
          <a:xfrm>
            <a:off x="4754880" y="3730752"/>
            <a:ext cx="4069080" cy="475488"/>
          </a:xfrm>
          <a:prstGeom prst="roundRect">
            <a:avLst>
              <a:gd name="adj" fmla="val 15385"/>
            </a:avLst>
          </a:prstGeom>
          <a:solidFill>
            <a:srgbClr val="FDF3E0"/>
          </a:solidFill>
          <a:ln w="12700">
            <a:solidFill>
              <a:srgbClr val="DAC898"/>
            </a:solidFill>
            <a:prstDash val="solid"/>
          </a:ln>
        </p:spPr>
      </p:sp>
      <p:sp>
        <p:nvSpPr>
          <p:cNvPr id="51" name="Text 49"/>
          <p:cNvSpPr/>
          <p:nvPr/>
        </p:nvSpPr>
        <p:spPr>
          <a:xfrm>
            <a:off x="4892040" y="3822192"/>
            <a:ext cx="1645920" cy="274320"/>
          </a:xfrm>
          <a:prstGeom prst="rect">
            <a:avLst/>
          </a:prstGeom>
          <a:noFill/>
          <a:ln/>
        </p:spPr>
        <p:txBody>
          <a:bodyPr wrap="square" lIns="0" tIns="0" rIns="0" bIns="0" rtlCol="0" anchor="ctr"/>
          <a:lstStyle/>
          <a:p>
            <a:pPr indent="0" marL="0">
              <a:buNone/>
            </a:pPr>
            <a:r>
              <a:rPr lang="en-US" sz="950" b="1" dirty="0">
                <a:solidFill>
                  <a:srgbClr val="C9993A"/>
                </a:solidFill>
                <a:latin typeface="Calibri" pitchFamily="34" charset="0"/>
                <a:ea typeface="Calibri" pitchFamily="34" charset="-122"/>
                <a:cs typeface="Calibri" pitchFamily="34" charset="-120"/>
              </a:rPr>
              <a:t>AMBIGUOUS</a:t>
            </a:r>
            <a:endParaRPr lang="en-US" sz="950" dirty="0"/>
          </a:p>
        </p:txBody>
      </p:sp>
      <p:sp>
        <p:nvSpPr>
          <p:cNvPr id="52" name="Text 50"/>
          <p:cNvSpPr/>
          <p:nvPr/>
        </p:nvSpPr>
        <p:spPr>
          <a:xfrm>
            <a:off x="6583680" y="3822192"/>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53" name="Text 51"/>
          <p:cNvSpPr/>
          <p:nvPr/>
        </p:nvSpPr>
        <p:spPr>
          <a:xfrm>
            <a:off x="6903720" y="3822192"/>
            <a:ext cx="1810512"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CLARIFICATION_REQUEST</a:t>
            </a:r>
            <a:endParaRPr lang="en-US" sz="950" dirty="0"/>
          </a:p>
        </p:txBody>
      </p:sp>
      <p:sp>
        <p:nvSpPr>
          <p:cNvPr id="54" name="Shape 52"/>
          <p:cNvSpPr/>
          <p:nvPr/>
        </p:nvSpPr>
        <p:spPr>
          <a:xfrm>
            <a:off x="4754880" y="4270248"/>
            <a:ext cx="4069080" cy="475488"/>
          </a:xfrm>
          <a:prstGeom prst="roundRect">
            <a:avLst>
              <a:gd name="adj" fmla="val 15385"/>
            </a:avLst>
          </a:prstGeom>
          <a:solidFill>
            <a:srgbClr val="FFFFFF"/>
          </a:solidFill>
          <a:ln w="12700">
            <a:solidFill>
              <a:srgbClr val="DAC898"/>
            </a:solidFill>
            <a:prstDash val="solid"/>
          </a:ln>
        </p:spPr>
      </p:sp>
      <p:sp>
        <p:nvSpPr>
          <p:cNvPr id="55" name="Text 53"/>
          <p:cNvSpPr/>
          <p:nvPr/>
        </p:nvSpPr>
        <p:spPr>
          <a:xfrm>
            <a:off x="4892040" y="4361688"/>
            <a:ext cx="1645920" cy="274320"/>
          </a:xfrm>
          <a:prstGeom prst="rect">
            <a:avLst/>
          </a:prstGeom>
          <a:noFill/>
          <a:ln/>
        </p:spPr>
        <p:txBody>
          <a:bodyPr wrap="square" lIns="0" tIns="0" rIns="0" bIns="0" rtlCol="0" anchor="ctr"/>
          <a:lstStyle/>
          <a:p>
            <a:pPr indent="0" marL="0">
              <a:buNone/>
            </a:pPr>
            <a:r>
              <a:rPr lang="en-US" sz="950" b="1" dirty="0">
                <a:solidFill>
                  <a:srgbClr val="C9993A"/>
                </a:solidFill>
                <a:latin typeface="Calibri" pitchFamily="34" charset="0"/>
                <a:ea typeface="Calibri" pitchFamily="34" charset="-122"/>
                <a:cs typeface="Calibri" pitchFamily="34" charset="-120"/>
              </a:rPr>
              <a:t>ANGER</a:t>
            </a:r>
            <a:endParaRPr lang="en-US" sz="950" dirty="0"/>
          </a:p>
        </p:txBody>
      </p:sp>
      <p:sp>
        <p:nvSpPr>
          <p:cNvPr id="56" name="Text 54"/>
          <p:cNvSpPr/>
          <p:nvPr/>
        </p:nvSpPr>
        <p:spPr>
          <a:xfrm>
            <a:off x="6583680" y="4361688"/>
            <a:ext cx="274320" cy="274320"/>
          </a:xfrm>
          <a:prstGeom prst="rect">
            <a:avLst/>
          </a:prstGeom>
          <a:noFill/>
          <a:ln/>
        </p:spPr>
        <p:txBody>
          <a:bodyPr wrap="square" lIns="0" tIns="0" rIns="0" bIns="0" rtlCol="0" anchor="ctr"/>
          <a:lstStyle/>
          <a:p>
            <a:pPr algn="ctr" indent="0" marL="0">
              <a:buNone/>
            </a:pPr>
            <a:r>
              <a:rPr lang="en-US" sz="1100" dirty="0">
                <a:solidFill>
                  <a:srgbClr val="7FA3B5"/>
                </a:solidFill>
                <a:latin typeface="Calibri" pitchFamily="34" charset="0"/>
                <a:ea typeface="Calibri" pitchFamily="34" charset="-122"/>
                <a:cs typeface="Calibri" pitchFamily="34" charset="-120"/>
              </a:rPr>
              <a:t>→</a:t>
            </a:r>
            <a:endParaRPr lang="en-US" sz="1100" dirty="0"/>
          </a:p>
        </p:txBody>
      </p:sp>
      <p:sp>
        <p:nvSpPr>
          <p:cNvPr id="57" name="Text 55"/>
          <p:cNvSpPr/>
          <p:nvPr/>
        </p:nvSpPr>
        <p:spPr>
          <a:xfrm>
            <a:off x="6903720" y="4361688"/>
            <a:ext cx="1810512" cy="274320"/>
          </a:xfrm>
          <a:prstGeom prst="rect">
            <a:avLst/>
          </a:prstGeom>
          <a:noFill/>
          <a:ln/>
        </p:spPr>
        <p:txBody>
          <a:bodyPr wrap="square" lIns="0" tIns="0" rIns="0" bIns="0" rtlCol="0" anchor="ctr"/>
          <a:lstStyle/>
          <a:p>
            <a:pPr indent="0" marL="0">
              <a:buNone/>
            </a:pPr>
            <a:r>
              <a:rPr lang="en-US" sz="950" dirty="0">
                <a:solidFill>
                  <a:srgbClr val="0D2B3E"/>
                </a:solidFill>
                <a:latin typeface="Calibri" pitchFamily="34" charset="0"/>
                <a:ea typeface="Calibri" pitchFamily="34" charset="-122"/>
                <a:cs typeface="Calibri" pitchFamily="34" charset="-120"/>
              </a:rPr>
              <a:t>CALM_REFLECTION</a:t>
            </a:r>
            <a:endParaRPr lang="en-US" sz="950" dirty="0"/>
          </a:p>
        </p:txBody>
      </p:sp>
      <p:sp>
        <p:nvSpPr>
          <p:cNvPr id="58" name="Shape 56"/>
          <p:cNvSpPr/>
          <p:nvPr/>
        </p:nvSpPr>
        <p:spPr>
          <a:xfrm>
            <a:off x="320040" y="4828032"/>
            <a:ext cx="8503920" cy="219456"/>
          </a:xfrm>
          <a:prstGeom prst="roundRect">
            <a:avLst>
              <a:gd name="adj" fmla="val 50000"/>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59" name="Text 57"/>
          <p:cNvSpPr/>
          <p:nvPr/>
        </p:nvSpPr>
        <p:spPr>
          <a:xfrm>
            <a:off x="457200" y="4828032"/>
            <a:ext cx="8229600" cy="219456"/>
          </a:xfrm>
          <a:prstGeom prst="rect">
            <a:avLst/>
          </a:prstGeom>
          <a:noFill/>
          <a:ln/>
        </p:spPr>
        <p:txBody>
          <a:bodyPr wrap="square" lIns="0" tIns="0" rIns="0" bIns="0" rtlCol="0" anchor="ctr"/>
          <a:lstStyle/>
          <a:p>
            <a:pPr indent="0" marL="0">
              <a:buNone/>
            </a:pPr>
            <a:r>
              <a:rPr lang="en-US" sz="950" dirty="0">
                <a:solidFill>
                  <a:srgbClr val="0A6E72"/>
                </a:solidFill>
                <a:latin typeface="Calibri" pitchFamily="34" charset="0"/>
                <a:ea typeface="Calibri" pitchFamily="34" charset="-122"/>
                <a:cs typeface="Calibri" pitchFamily="34" charset="-120"/>
              </a:rPr>
              <a:t>LLM system prompt contains: emotion cluster · trend label · strategy label · strategy-specific instruction · conversation history (last 10 turns) · 6 hard rules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IMPLEMENTATION HIGHLIGHTS</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FastAPI Backend · React Frontend · Full-Stack Prototype</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11 / 19</a:t>
            </a:r>
            <a:endParaRPr lang="en-US" sz="900" dirty="0"/>
          </a:p>
        </p:txBody>
      </p:sp>
      <p:sp>
        <p:nvSpPr>
          <p:cNvPr id="6" name="Shape 4"/>
          <p:cNvSpPr/>
          <p:nvPr/>
        </p:nvSpPr>
        <p:spPr>
          <a:xfrm>
            <a:off x="320040" y="1115568"/>
            <a:ext cx="2697480" cy="1645920"/>
          </a:xfrm>
          <a:prstGeom prst="roundRect">
            <a:avLst>
              <a:gd name="adj" fmla="val 6667"/>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7" name="Shape 5"/>
          <p:cNvSpPr/>
          <p:nvPr/>
        </p:nvSpPr>
        <p:spPr>
          <a:xfrm>
            <a:off x="429768" y="1225296"/>
            <a:ext cx="2468880" cy="365760"/>
          </a:xfrm>
          <a:prstGeom prst="roundRect">
            <a:avLst>
              <a:gd name="adj" fmla="val 20000"/>
            </a:avLst>
          </a:prstGeom>
          <a:solidFill>
            <a:srgbClr val="0A6E72"/>
          </a:solidFill>
          <a:ln w="12700">
            <a:solidFill>
              <a:srgbClr val="0A6E72"/>
            </a:solidFill>
            <a:prstDash val="solid"/>
          </a:ln>
        </p:spPr>
      </p:sp>
      <p:sp>
        <p:nvSpPr>
          <p:cNvPr id="8" name="Text 6"/>
          <p:cNvSpPr/>
          <p:nvPr/>
        </p:nvSpPr>
        <p:spPr>
          <a:xfrm>
            <a:off x="429768" y="1225296"/>
            <a:ext cx="2468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9" name="Text 7"/>
          <p:cNvSpPr/>
          <p:nvPr/>
        </p:nvSpPr>
        <p:spPr>
          <a:xfrm>
            <a:off x="484632" y="1682496"/>
            <a:ext cx="2359152" cy="96012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FastAPI (Python 3.14)</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7 REST endpoints</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CORS → localhost:5173</a:t>
            </a:r>
            <a:endParaRPr lang="en-US" sz="1050" dirty="0"/>
          </a:p>
        </p:txBody>
      </p:sp>
      <p:sp>
        <p:nvSpPr>
          <p:cNvPr id="10" name="Shape 8"/>
          <p:cNvSpPr/>
          <p:nvPr/>
        </p:nvSpPr>
        <p:spPr>
          <a:xfrm>
            <a:off x="3200400" y="1115568"/>
            <a:ext cx="2697480" cy="1645920"/>
          </a:xfrm>
          <a:prstGeom prst="roundRect">
            <a:avLst>
              <a:gd name="adj" fmla="val 6667"/>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1" name="Shape 9"/>
          <p:cNvSpPr/>
          <p:nvPr/>
        </p:nvSpPr>
        <p:spPr>
          <a:xfrm>
            <a:off x="3310128" y="1225296"/>
            <a:ext cx="2468880" cy="365760"/>
          </a:xfrm>
          <a:prstGeom prst="roundRect">
            <a:avLst>
              <a:gd name="adj" fmla="val 20000"/>
            </a:avLst>
          </a:prstGeom>
          <a:solidFill>
            <a:srgbClr val="0A6E72"/>
          </a:solidFill>
          <a:ln w="12700">
            <a:solidFill>
              <a:srgbClr val="0A6E72"/>
            </a:solidFill>
            <a:prstDash val="solid"/>
          </a:ln>
        </p:spPr>
      </p:sp>
      <p:sp>
        <p:nvSpPr>
          <p:cNvPr id="12" name="Text 10"/>
          <p:cNvSpPr/>
          <p:nvPr/>
        </p:nvSpPr>
        <p:spPr>
          <a:xfrm>
            <a:off x="3310128" y="1225296"/>
            <a:ext cx="2468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Emotion</a:t>
            </a:r>
            <a:endParaRPr lang="en-US" sz="1100" dirty="0"/>
          </a:p>
        </p:txBody>
      </p:sp>
      <p:sp>
        <p:nvSpPr>
          <p:cNvPr id="13" name="Text 11"/>
          <p:cNvSpPr/>
          <p:nvPr/>
        </p:nvSpPr>
        <p:spPr>
          <a:xfrm>
            <a:off x="3364992" y="1682496"/>
            <a:ext cx="2359152" cy="96012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j-hartmann distilroberta</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 keyword fallback</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Nigerian Pidgin vocab</a:t>
            </a:r>
            <a:endParaRPr lang="en-US" sz="1050" dirty="0"/>
          </a:p>
        </p:txBody>
      </p:sp>
      <p:sp>
        <p:nvSpPr>
          <p:cNvPr id="14" name="Shape 12"/>
          <p:cNvSpPr/>
          <p:nvPr/>
        </p:nvSpPr>
        <p:spPr>
          <a:xfrm>
            <a:off x="6080760" y="1115568"/>
            <a:ext cx="2697480" cy="1645920"/>
          </a:xfrm>
          <a:prstGeom prst="roundRect">
            <a:avLst>
              <a:gd name="adj" fmla="val 6667"/>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5" name="Shape 13"/>
          <p:cNvSpPr/>
          <p:nvPr/>
        </p:nvSpPr>
        <p:spPr>
          <a:xfrm>
            <a:off x="6190488" y="1225296"/>
            <a:ext cx="2468880" cy="365760"/>
          </a:xfrm>
          <a:prstGeom prst="roundRect">
            <a:avLst>
              <a:gd name="adj" fmla="val 20000"/>
            </a:avLst>
          </a:prstGeom>
          <a:solidFill>
            <a:srgbClr val="0A6E72"/>
          </a:solidFill>
          <a:ln w="12700">
            <a:solidFill>
              <a:srgbClr val="0A6E72"/>
            </a:solidFill>
            <a:prstDash val="solid"/>
          </a:ln>
        </p:spPr>
      </p:sp>
      <p:sp>
        <p:nvSpPr>
          <p:cNvPr id="16" name="Text 14"/>
          <p:cNvSpPr/>
          <p:nvPr/>
        </p:nvSpPr>
        <p:spPr>
          <a:xfrm>
            <a:off x="6190488" y="1225296"/>
            <a:ext cx="2468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LLM</a:t>
            </a:r>
            <a:endParaRPr lang="en-US" sz="1100" dirty="0"/>
          </a:p>
        </p:txBody>
      </p:sp>
      <p:sp>
        <p:nvSpPr>
          <p:cNvPr id="17" name="Text 15"/>
          <p:cNvSpPr/>
          <p:nvPr/>
        </p:nvSpPr>
        <p:spPr>
          <a:xfrm>
            <a:off x="6245352" y="1682496"/>
            <a:ext cx="2359152" cy="96012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Groq llama-3.3-70b</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Exponential backoff (3×)</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Template fallback</a:t>
            </a:r>
            <a:endParaRPr lang="en-US" sz="1050" dirty="0"/>
          </a:p>
        </p:txBody>
      </p:sp>
      <p:sp>
        <p:nvSpPr>
          <p:cNvPr id="18" name="Shape 16"/>
          <p:cNvSpPr/>
          <p:nvPr/>
        </p:nvSpPr>
        <p:spPr>
          <a:xfrm>
            <a:off x="320040" y="2944368"/>
            <a:ext cx="2697480" cy="1645920"/>
          </a:xfrm>
          <a:prstGeom prst="roundRect">
            <a:avLst>
              <a:gd name="adj" fmla="val 6667"/>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9" name="Shape 17"/>
          <p:cNvSpPr/>
          <p:nvPr/>
        </p:nvSpPr>
        <p:spPr>
          <a:xfrm>
            <a:off x="429768" y="3054096"/>
            <a:ext cx="2468880" cy="365760"/>
          </a:xfrm>
          <a:prstGeom prst="roundRect">
            <a:avLst>
              <a:gd name="adj" fmla="val 20000"/>
            </a:avLst>
          </a:prstGeom>
          <a:solidFill>
            <a:srgbClr val="0A6E72"/>
          </a:solidFill>
          <a:ln w="12700">
            <a:solidFill>
              <a:srgbClr val="0A6E72"/>
            </a:solidFill>
            <a:prstDash val="solid"/>
          </a:ln>
        </p:spPr>
      </p:sp>
      <p:sp>
        <p:nvSpPr>
          <p:cNvPr id="20" name="Text 18"/>
          <p:cNvSpPr/>
          <p:nvPr/>
        </p:nvSpPr>
        <p:spPr>
          <a:xfrm>
            <a:off x="429768" y="3054096"/>
            <a:ext cx="2468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21" name="Text 19"/>
          <p:cNvSpPr/>
          <p:nvPr/>
        </p:nvSpPr>
        <p:spPr>
          <a:xfrm>
            <a:off x="484632" y="3511296"/>
            <a:ext cx="2359152" cy="96012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React + Vite 5</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6 components</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Emotion pulse + timeline</a:t>
            </a:r>
            <a:endParaRPr lang="en-US" sz="1050" dirty="0"/>
          </a:p>
        </p:txBody>
      </p:sp>
      <p:sp>
        <p:nvSpPr>
          <p:cNvPr id="22" name="Shape 20"/>
          <p:cNvSpPr/>
          <p:nvPr/>
        </p:nvSpPr>
        <p:spPr>
          <a:xfrm>
            <a:off x="3200400" y="2944368"/>
            <a:ext cx="2697480" cy="1645920"/>
          </a:xfrm>
          <a:prstGeom prst="roundRect">
            <a:avLst>
              <a:gd name="adj" fmla="val 6667"/>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3" name="Shape 21"/>
          <p:cNvSpPr/>
          <p:nvPr/>
        </p:nvSpPr>
        <p:spPr>
          <a:xfrm>
            <a:off x="3310128" y="3054096"/>
            <a:ext cx="2468880" cy="365760"/>
          </a:xfrm>
          <a:prstGeom prst="roundRect">
            <a:avLst>
              <a:gd name="adj" fmla="val 20000"/>
            </a:avLst>
          </a:prstGeom>
          <a:solidFill>
            <a:srgbClr val="0A6E72"/>
          </a:solidFill>
          <a:ln w="12700">
            <a:solidFill>
              <a:srgbClr val="0A6E72"/>
            </a:solidFill>
            <a:prstDash val="solid"/>
          </a:ln>
        </p:spPr>
      </p:sp>
      <p:sp>
        <p:nvSpPr>
          <p:cNvPr id="24" name="Text 22"/>
          <p:cNvSpPr/>
          <p:nvPr/>
        </p:nvSpPr>
        <p:spPr>
          <a:xfrm>
            <a:off x="3310128" y="3054096"/>
            <a:ext cx="2468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Safety</a:t>
            </a:r>
            <a:endParaRPr lang="en-US" sz="1100" dirty="0"/>
          </a:p>
        </p:txBody>
      </p:sp>
      <p:sp>
        <p:nvSpPr>
          <p:cNvPr id="25" name="Text 23"/>
          <p:cNvSpPr/>
          <p:nvPr/>
        </p:nvSpPr>
        <p:spPr>
          <a:xfrm>
            <a:off x="3364992" y="3511296"/>
            <a:ext cx="2359152" cy="96012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35+ crisis patterns</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Pidgin expressions</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Nigeria-specific resources</a:t>
            </a:r>
            <a:endParaRPr lang="en-US" sz="1050" dirty="0"/>
          </a:p>
        </p:txBody>
      </p:sp>
      <p:sp>
        <p:nvSpPr>
          <p:cNvPr id="26" name="Shape 24"/>
          <p:cNvSpPr/>
          <p:nvPr/>
        </p:nvSpPr>
        <p:spPr>
          <a:xfrm>
            <a:off x="6080760" y="2944368"/>
            <a:ext cx="2697480" cy="1645920"/>
          </a:xfrm>
          <a:prstGeom prst="roundRect">
            <a:avLst>
              <a:gd name="adj" fmla="val 6667"/>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7" name="Shape 25"/>
          <p:cNvSpPr/>
          <p:nvPr/>
        </p:nvSpPr>
        <p:spPr>
          <a:xfrm>
            <a:off x="6190488" y="3054096"/>
            <a:ext cx="2468880" cy="365760"/>
          </a:xfrm>
          <a:prstGeom prst="roundRect">
            <a:avLst>
              <a:gd name="adj" fmla="val 20000"/>
            </a:avLst>
          </a:prstGeom>
          <a:solidFill>
            <a:srgbClr val="0A6E72"/>
          </a:solidFill>
          <a:ln w="12700">
            <a:solidFill>
              <a:srgbClr val="0A6E72"/>
            </a:solidFill>
            <a:prstDash val="solid"/>
          </a:ln>
        </p:spPr>
      </p:sp>
      <p:sp>
        <p:nvSpPr>
          <p:cNvPr id="28" name="Text 26"/>
          <p:cNvSpPr/>
          <p:nvPr/>
        </p:nvSpPr>
        <p:spPr>
          <a:xfrm>
            <a:off x="6190488" y="3054096"/>
            <a:ext cx="2468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A/B Mode</a:t>
            </a:r>
            <a:endParaRPr lang="en-US" sz="1100" dirty="0"/>
          </a:p>
        </p:txBody>
      </p:sp>
      <p:sp>
        <p:nvSpPr>
          <p:cNvPr id="29" name="Text 27"/>
          <p:cNvSpPr/>
          <p:nvPr/>
        </p:nvSpPr>
        <p:spPr>
          <a:xfrm>
            <a:off x="6245352" y="3511296"/>
            <a:ext cx="2359152" cy="960120"/>
          </a:xfrm>
          <a:prstGeom prst="rect">
            <a:avLst/>
          </a:prstGeom>
          <a:noFill/>
          <a:ln/>
        </p:spPr>
        <p:txBody>
          <a:bodyPr wrap="square" lIns="0" tIns="0" rIns="0" bIns="0" rtlCol="0" anchor="ctr"/>
          <a:lstStyle/>
          <a:p>
            <a:pPr indent="0" marL="0">
              <a:buNone/>
            </a:pPr>
            <a:r>
              <a:rPr lang="en-US" sz="1050" dirty="0">
                <a:solidFill>
                  <a:srgbClr val="4A6274"/>
                </a:solidFill>
                <a:latin typeface="Calibri" pitchFamily="34" charset="0"/>
                <a:ea typeface="Calibri" pitchFamily="34" charset="-122"/>
                <a:cs typeface="Calibri" pitchFamily="34" charset="-120"/>
              </a:rPr>
              <a:t>use_aeif=False</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Disables L4+L5</a:t>
            </a:r>
            <a:endParaRPr lang="en-US" sz="1050" dirty="0"/>
          </a:p>
          <a:p>
            <a:pPr indent="0" marL="0">
              <a:buNone/>
            </a:pPr>
            <a:r>
              <a:rPr lang="en-US" sz="1050" dirty="0">
                <a:solidFill>
                  <a:srgbClr val="4A6274"/>
                </a:solidFill>
                <a:latin typeface="Calibri" pitchFamily="34" charset="0"/>
                <a:ea typeface="Calibri" pitchFamily="34" charset="-122"/>
                <a:cs typeface="Calibri" pitchFamily="34" charset="-120"/>
              </a:rPr>
              <a:t>Controlled comparison</a:t>
            </a:r>
            <a:endParaRPr lang="en-US" sz="1050" dirty="0"/>
          </a:p>
        </p:txBody>
      </p:sp>
      <p:sp>
        <p:nvSpPr>
          <p:cNvPr id="30" name="Shape 28"/>
          <p:cNvSpPr/>
          <p:nvPr/>
        </p:nvSpPr>
        <p:spPr>
          <a:xfrm>
            <a:off x="320040" y="4800600"/>
            <a:ext cx="8503920" cy="274320"/>
          </a:xfrm>
          <a:prstGeom prst="roundRect">
            <a:avLst>
              <a:gd name="adj" fmla="val 40000"/>
            </a:avLst>
          </a:prstGeom>
          <a:solidFill>
            <a:srgbClr val="FDE8E8"/>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31" name="Text 29"/>
          <p:cNvSpPr/>
          <p:nvPr/>
        </p:nvSpPr>
        <p:spPr>
          <a:xfrm>
            <a:off x="457200" y="4809744"/>
            <a:ext cx="8229600" cy="256032"/>
          </a:xfrm>
          <a:prstGeom prst="rect">
            <a:avLst/>
          </a:prstGeom>
          <a:noFill/>
          <a:ln/>
        </p:spPr>
        <p:txBody>
          <a:bodyPr wrap="square" lIns="0" tIns="0" rIns="0" bIns="0" rtlCol="0" anchor="ctr"/>
          <a:lstStyle/>
          <a:p>
            <a:pPr algn="ctr" indent="0" marL="0">
              <a:buNone/>
            </a:pPr>
            <a:r>
              <a:rPr lang="en-US" sz="1050" b="1" dirty="0">
                <a:solidFill>
                  <a:srgbClr val="B83232"/>
                </a:solidFill>
                <a:latin typeface="Calibri" pitchFamily="34" charset="0"/>
                <a:ea typeface="Calibri" pitchFamily="34" charset="-122"/>
                <a:cs typeface="Calibri" pitchFamily="34" charset="-120"/>
              </a:rPr>
              <a:t>Crisis Resources (all safety responses):  MANI: 08091116264  ·  LASEMA: 08000432584  ·  NEMA: 112</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 EMOTION CLASSIFICATION</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Automated evaluation on 58-case test set</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12 / 19</a:t>
            </a:r>
            <a:endParaRPr lang="en-US" sz="900" dirty="0"/>
          </a:p>
        </p:txBody>
      </p:sp>
      <p:sp>
        <p:nvSpPr>
          <p:cNvPr id="6" name="Text 4"/>
          <p:cNvSpPr/>
          <p:nvPr/>
        </p:nvSpPr>
        <p:spPr>
          <a:xfrm>
            <a:off x="320040" y="1143000"/>
            <a:ext cx="1828800" cy="685800"/>
          </a:xfrm>
          <a:prstGeom prst="rect">
            <a:avLst/>
          </a:prstGeom>
          <a:noFill/>
          <a:ln/>
        </p:spPr>
        <p:txBody>
          <a:bodyPr wrap="square" lIns="0" tIns="0" rIns="0" bIns="0" rtlCol="0" anchor="ctr"/>
          <a:lstStyle/>
          <a:p>
            <a:pPr algn="ctr" indent="0" marL="0">
              <a:buNone/>
            </a:pPr>
            <a:r>
              <a:rPr lang="en-US" sz="4200" b="1" dirty="0">
                <a:solidFill>
                  <a:srgbClr val="0A6E72"/>
                </a:solidFill>
                <a:latin typeface="Calibri" pitchFamily="34" charset="0"/>
                <a:ea typeface="Calibri" pitchFamily="34" charset="-122"/>
                <a:cs typeface="Calibri" pitchFamily="34" charset="-120"/>
              </a:rPr>
              <a:t>77.08%</a:t>
            </a:r>
            <a:endParaRPr lang="en-US" sz="4200" dirty="0"/>
          </a:p>
        </p:txBody>
      </p:sp>
      <p:sp>
        <p:nvSpPr>
          <p:cNvPr id="7" name="Text 5"/>
          <p:cNvSpPr/>
          <p:nvPr/>
        </p:nvSpPr>
        <p:spPr>
          <a:xfrm>
            <a:off x="320040" y="1801368"/>
            <a:ext cx="1828800" cy="292608"/>
          </a:xfrm>
          <a:prstGeom prst="rect">
            <a:avLst/>
          </a:prstGeom>
          <a:noFill/>
          <a:ln/>
        </p:spPr>
        <p:txBody>
          <a:bodyPr wrap="square" lIns="0" tIns="0" rIns="0" bIns="0" rtlCol="0" anchor="ctr"/>
          <a:lstStyle/>
          <a:p>
            <a:pPr algn="ctr" indent="0" marL="0">
              <a:buNone/>
            </a:pPr>
            <a:r>
              <a:rPr lang="en-US" sz="1100" dirty="0">
                <a:solidFill>
                  <a:srgbClr val="4A6274"/>
                </a:solidFill>
                <a:latin typeface="Calibri" pitchFamily="34" charset="0"/>
                <a:ea typeface="Calibri" pitchFamily="34" charset="-122"/>
                <a:cs typeface="Calibri" pitchFamily="34" charset="-120"/>
              </a:rPr>
              <a:t>Emotion Accuracy (37/48)</a:t>
            </a:r>
            <a:endParaRPr lang="en-US" sz="1100" dirty="0"/>
          </a:p>
        </p:txBody>
      </p:sp>
      <p:sp>
        <p:nvSpPr>
          <p:cNvPr id="8" name="Text 6"/>
          <p:cNvSpPr/>
          <p:nvPr/>
        </p:nvSpPr>
        <p:spPr>
          <a:xfrm>
            <a:off x="2331720" y="1143000"/>
            <a:ext cx="1828800" cy="685800"/>
          </a:xfrm>
          <a:prstGeom prst="rect">
            <a:avLst/>
          </a:prstGeom>
          <a:noFill/>
          <a:ln/>
        </p:spPr>
        <p:txBody>
          <a:bodyPr wrap="square" lIns="0" tIns="0" rIns="0" bIns="0" rtlCol="0" anchor="ctr"/>
          <a:lstStyle/>
          <a:p>
            <a:pPr algn="ctr" indent="0" marL="0">
              <a:buNone/>
            </a:pPr>
            <a:r>
              <a:rPr lang="en-US" sz="4200" b="1" dirty="0">
                <a:solidFill>
                  <a:srgbClr val="B83232"/>
                </a:solidFill>
                <a:latin typeface="Calibri" pitchFamily="34" charset="0"/>
                <a:ea typeface="Calibri" pitchFamily="34" charset="-122"/>
                <a:cs typeface="Calibri" pitchFamily="34" charset="-120"/>
              </a:rPr>
              <a:t>100%</a:t>
            </a:r>
            <a:endParaRPr lang="en-US" sz="4200" dirty="0"/>
          </a:p>
        </p:txBody>
      </p:sp>
      <p:sp>
        <p:nvSpPr>
          <p:cNvPr id="9" name="Text 7"/>
          <p:cNvSpPr/>
          <p:nvPr/>
        </p:nvSpPr>
        <p:spPr>
          <a:xfrm>
            <a:off x="2331720" y="1801368"/>
            <a:ext cx="1828800" cy="292608"/>
          </a:xfrm>
          <a:prstGeom prst="rect">
            <a:avLst/>
          </a:prstGeom>
          <a:noFill/>
          <a:ln/>
        </p:spPr>
        <p:txBody>
          <a:bodyPr wrap="square" lIns="0" tIns="0" rIns="0" bIns="0" rtlCol="0" anchor="ctr"/>
          <a:lstStyle/>
          <a:p>
            <a:pPr algn="ctr" indent="0" marL="0">
              <a:buNone/>
            </a:pPr>
            <a:r>
              <a:rPr lang="en-US" sz="1100" dirty="0">
                <a:solidFill>
                  <a:srgbClr val="4A6274"/>
                </a:solidFill>
                <a:latin typeface="Calibri" pitchFamily="34" charset="0"/>
                <a:ea typeface="Calibri" pitchFamily="34" charset="-122"/>
                <a:cs typeface="Calibri" pitchFamily="34" charset="-120"/>
              </a:rPr>
              <a:t>Crisis Accuracy (10/10)</a:t>
            </a:r>
            <a:endParaRPr lang="en-US" sz="1100" dirty="0"/>
          </a:p>
        </p:txBody>
      </p:sp>
      <p:sp>
        <p:nvSpPr>
          <p:cNvPr id="10" name="Text 8"/>
          <p:cNvSpPr/>
          <p:nvPr/>
        </p:nvSpPr>
        <p:spPr>
          <a:xfrm>
            <a:off x="4343400" y="1143000"/>
            <a:ext cx="1828800" cy="685800"/>
          </a:xfrm>
          <a:prstGeom prst="rect">
            <a:avLst/>
          </a:prstGeom>
          <a:noFill/>
          <a:ln/>
        </p:spPr>
        <p:txBody>
          <a:bodyPr wrap="square" lIns="0" tIns="0" rIns="0" bIns="0" rtlCol="0" anchor="ctr"/>
          <a:lstStyle/>
          <a:p>
            <a:pPr algn="ctr" indent="0" marL="0">
              <a:buNone/>
            </a:pPr>
            <a:r>
              <a:rPr lang="en-US" sz="4200" b="1" dirty="0">
                <a:solidFill>
                  <a:srgbClr val="3A7A52"/>
                </a:solidFill>
                <a:latin typeface="Calibri" pitchFamily="34" charset="0"/>
                <a:ea typeface="Calibri" pitchFamily="34" charset="-122"/>
                <a:cs typeface="Calibri" pitchFamily="34" charset="-120"/>
              </a:rPr>
              <a:t>100%</a:t>
            </a:r>
            <a:endParaRPr lang="en-US" sz="4200" dirty="0"/>
          </a:p>
        </p:txBody>
      </p:sp>
      <p:sp>
        <p:nvSpPr>
          <p:cNvPr id="11" name="Text 9"/>
          <p:cNvSpPr/>
          <p:nvPr/>
        </p:nvSpPr>
        <p:spPr>
          <a:xfrm>
            <a:off x="4343400" y="1801368"/>
            <a:ext cx="1828800" cy="292608"/>
          </a:xfrm>
          <a:prstGeom prst="rect">
            <a:avLst/>
          </a:prstGeom>
          <a:noFill/>
          <a:ln/>
        </p:spPr>
        <p:txBody>
          <a:bodyPr wrap="square" lIns="0" tIns="0" rIns="0" bIns="0" rtlCol="0" anchor="ctr"/>
          <a:lstStyle/>
          <a:p>
            <a:pPr algn="ctr" indent="0" marL="0">
              <a:buNone/>
            </a:pPr>
            <a:r>
              <a:rPr lang="en-US" sz="1100" dirty="0">
                <a:solidFill>
                  <a:srgbClr val="4A6274"/>
                </a:solidFill>
                <a:latin typeface="Calibri" pitchFamily="34" charset="0"/>
                <a:ea typeface="Calibri" pitchFamily="34" charset="-122"/>
                <a:cs typeface="Calibri" pitchFamily="34" charset="-120"/>
              </a:rPr>
              <a:t>Trend Accuracy (7/7)</a:t>
            </a:r>
            <a:endParaRPr lang="en-US" sz="1100" dirty="0"/>
          </a:p>
        </p:txBody>
      </p:sp>
      <p:sp>
        <p:nvSpPr>
          <p:cNvPr id="12" name="Text 10"/>
          <p:cNvSpPr/>
          <p:nvPr/>
        </p:nvSpPr>
        <p:spPr>
          <a:xfrm>
            <a:off x="6355080" y="1143000"/>
            <a:ext cx="1828800" cy="685800"/>
          </a:xfrm>
          <a:prstGeom prst="rect">
            <a:avLst/>
          </a:prstGeom>
          <a:noFill/>
          <a:ln/>
        </p:spPr>
        <p:txBody>
          <a:bodyPr wrap="square" lIns="0" tIns="0" rIns="0" bIns="0" rtlCol="0" anchor="ctr"/>
          <a:lstStyle/>
          <a:p>
            <a:pPr algn="ctr" indent="0" marL="0">
              <a:buNone/>
            </a:pPr>
            <a:r>
              <a:rPr lang="en-US" sz="4200" b="1" dirty="0">
                <a:solidFill>
                  <a:srgbClr val="C9993A"/>
                </a:solidFill>
                <a:latin typeface="Calibri" pitchFamily="34" charset="0"/>
                <a:ea typeface="Calibri" pitchFamily="34" charset="-122"/>
                <a:cs typeface="Calibri" pitchFamily="34" charset="-120"/>
              </a:rPr>
              <a:t>31/31</a:t>
            </a:r>
            <a:endParaRPr lang="en-US" sz="4200" dirty="0"/>
          </a:p>
        </p:txBody>
      </p:sp>
      <p:sp>
        <p:nvSpPr>
          <p:cNvPr id="13" name="Text 11"/>
          <p:cNvSpPr/>
          <p:nvPr/>
        </p:nvSpPr>
        <p:spPr>
          <a:xfrm>
            <a:off x="6355080" y="1801368"/>
            <a:ext cx="1828800" cy="292608"/>
          </a:xfrm>
          <a:prstGeom prst="rect">
            <a:avLst/>
          </a:prstGeom>
          <a:noFill/>
          <a:ln/>
        </p:spPr>
        <p:txBody>
          <a:bodyPr wrap="square" lIns="0" tIns="0" rIns="0" bIns="0" rtlCol="0" anchor="ctr"/>
          <a:lstStyle/>
          <a:p>
            <a:pPr algn="ctr" indent="0" marL="0">
              <a:buNone/>
            </a:pPr>
            <a:r>
              <a:rPr lang="en-US" sz="1100" dirty="0">
                <a:solidFill>
                  <a:srgbClr val="4A6274"/>
                </a:solidFill>
                <a:latin typeface="Calibri" pitchFamily="34" charset="0"/>
                <a:ea typeface="Calibri" pitchFamily="34" charset="-122"/>
                <a:cs typeface="Calibri" pitchFamily="34" charset="-120"/>
              </a:rPr>
              <a:t>Unit Tests Pass</a:t>
            </a:r>
            <a:endParaRPr lang="en-US" sz="1100" dirty="0"/>
          </a:p>
        </p:txBody>
      </p:sp>
      <p:sp>
        <p:nvSpPr>
          <p:cNvPr id="14" name="Shape 12"/>
          <p:cNvSpPr/>
          <p:nvPr/>
        </p:nvSpPr>
        <p:spPr>
          <a:xfrm>
            <a:off x="320040" y="2240280"/>
            <a:ext cx="8503920" cy="2514600"/>
          </a:xfrm>
          <a:prstGeom prst="roundRect">
            <a:avLst>
              <a:gd name="adj" fmla="val 4364"/>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5" name="Shape 13"/>
          <p:cNvSpPr/>
          <p:nvPr/>
        </p:nvSpPr>
        <p:spPr>
          <a:xfrm>
            <a:off x="320040" y="2240280"/>
            <a:ext cx="8503920" cy="347472"/>
          </a:xfrm>
          <a:prstGeom prst="roundRect">
            <a:avLst>
              <a:gd name="adj" fmla="val 26316"/>
            </a:avLst>
          </a:prstGeom>
          <a:solidFill>
            <a:srgbClr val="0A6E72"/>
          </a:solidFill>
          <a:ln w="12700">
            <a:solidFill>
              <a:srgbClr val="0A6E72"/>
            </a:solidFill>
            <a:prstDash val="solid"/>
          </a:ln>
        </p:spPr>
      </p:sp>
      <p:sp>
        <p:nvSpPr>
          <p:cNvPr id="16" name="Text 14"/>
          <p:cNvSpPr/>
          <p:nvPr/>
        </p:nvSpPr>
        <p:spPr>
          <a:xfrm>
            <a:off x="457200" y="2267712"/>
            <a:ext cx="155448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Cluster</a:t>
            </a:r>
            <a:endParaRPr lang="en-US" sz="950" dirty="0"/>
          </a:p>
        </p:txBody>
      </p:sp>
      <p:sp>
        <p:nvSpPr>
          <p:cNvPr id="17" name="Text 15"/>
          <p:cNvSpPr/>
          <p:nvPr/>
        </p:nvSpPr>
        <p:spPr>
          <a:xfrm>
            <a:off x="2011680" y="2267712"/>
            <a:ext cx="91440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Support (n)</a:t>
            </a:r>
            <a:endParaRPr lang="en-US" sz="950" dirty="0"/>
          </a:p>
        </p:txBody>
      </p:sp>
      <p:sp>
        <p:nvSpPr>
          <p:cNvPr id="18" name="Text 16"/>
          <p:cNvSpPr/>
          <p:nvPr/>
        </p:nvSpPr>
        <p:spPr>
          <a:xfrm>
            <a:off x="2926080" y="2267712"/>
            <a:ext cx="91440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p>
        </p:txBody>
      </p:sp>
      <p:sp>
        <p:nvSpPr>
          <p:cNvPr id="19" name="Text 17"/>
          <p:cNvSpPr/>
          <p:nvPr/>
        </p:nvSpPr>
        <p:spPr>
          <a:xfrm>
            <a:off x="3840480" y="2267712"/>
            <a:ext cx="86868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Recall</a:t>
            </a:r>
            <a:endParaRPr lang="en-US" sz="950" dirty="0"/>
          </a:p>
        </p:txBody>
      </p:sp>
      <p:sp>
        <p:nvSpPr>
          <p:cNvPr id="20" name="Text 18"/>
          <p:cNvSpPr/>
          <p:nvPr/>
        </p:nvSpPr>
        <p:spPr>
          <a:xfrm>
            <a:off x="4709160" y="2267712"/>
            <a:ext cx="77724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F1</a:t>
            </a:r>
            <a:endParaRPr lang="en-US" sz="950" dirty="0"/>
          </a:p>
        </p:txBody>
      </p:sp>
      <p:sp>
        <p:nvSpPr>
          <p:cNvPr id="21" name="Text 19"/>
          <p:cNvSpPr/>
          <p:nvPr/>
        </p:nvSpPr>
        <p:spPr>
          <a:xfrm>
            <a:off x="5486400" y="2267712"/>
            <a:ext cx="338328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Notes</a:t>
            </a:r>
            <a:endParaRPr lang="en-US" sz="950" dirty="0"/>
          </a:p>
        </p:txBody>
      </p:sp>
      <p:sp>
        <p:nvSpPr>
          <p:cNvPr id="22" name="Shape 20"/>
          <p:cNvSpPr/>
          <p:nvPr/>
        </p:nvSpPr>
        <p:spPr>
          <a:xfrm>
            <a:off x="320040" y="2633472"/>
            <a:ext cx="8503920" cy="338328"/>
          </a:xfrm>
          <a:prstGeom prst="rect">
            <a:avLst/>
          </a:prstGeom>
          <a:solidFill>
            <a:srgbClr val="FFFFFF"/>
          </a:solidFill>
          <a:ln w="12700">
            <a:solidFill>
              <a:srgbClr val="E8EEF2"/>
            </a:solidFill>
            <a:prstDash val="solid"/>
          </a:ln>
        </p:spPr>
      </p:sp>
      <p:sp>
        <p:nvSpPr>
          <p:cNvPr id="23" name="Text 21"/>
          <p:cNvSpPr/>
          <p:nvPr/>
        </p:nvSpPr>
        <p:spPr>
          <a:xfrm>
            <a:off x="457200" y="2679192"/>
            <a:ext cx="1554480" cy="246888"/>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POSITIVE</a:t>
            </a:r>
            <a:endParaRPr lang="en-US" sz="950" dirty="0"/>
          </a:p>
        </p:txBody>
      </p:sp>
      <p:sp>
        <p:nvSpPr>
          <p:cNvPr id="24" name="Text 22"/>
          <p:cNvSpPr/>
          <p:nvPr/>
        </p:nvSpPr>
        <p:spPr>
          <a:xfrm>
            <a:off x="2011680" y="2679192"/>
            <a:ext cx="91440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9</a:t>
            </a:r>
            <a:endParaRPr lang="en-US" sz="950" dirty="0"/>
          </a:p>
        </p:txBody>
      </p:sp>
      <p:sp>
        <p:nvSpPr>
          <p:cNvPr id="25" name="Text 23"/>
          <p:cNvSpPr/>
          <p:nvPr/>
        </p:nvSpPr>
        <p:spPr>
          <a:xfrm>
            <a:off x="2926080" y="2679192"/>
            <a:ext cx="91440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1.000</a:t>
            </a:r>
            <a:endParaRPr lang="en-US" sz="950" dirty="0"/>
          </a:p>
        </p:txBody>
      </p:sp>
      <p:sp>
        <p:nvSpPr>
          <p:cNvPr id="26" name="Text 24"/>
          <p:cNvSpPr/>
          <p:nvPr/>
        </p:nvSpPr>
        <p:spPr>
          <a:xfrm>
            <a:off x="3840480" y="2679192"/>
            <a:ext cx="86868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0.889</a:t>
            </a:r>
            <a:endParaRPr lang="en-US" sz="950" dirty="0"/>
          </a:p>
        </p:txBody>
      </p:sp>
      <p:sp>
        <p:nvSpPr>
          <p:cNvPr id="27" name="Text 25"/>
          <p:cNvSpPr/>
          <p:nvPr/>
        </p:nvSpPr>
        <p:spPr>
          <a:xfrm>
            <a:off x="4709160" y="2679192"/>
            <a:ext cx="77724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0.941</a:t>
            </a:r>
            <a:endParaRPr lang="en-US" sz="950" dirty="0"/>
          </a:p>
        </p:txBody>
      </p:sp>
      <p:sp>
        <p:nvSpPr>
          <p:cNvPr id="28" name="Text 26"/>
          <p:cNvSpPr/>
          <p:nvPr/>
        </p:nvSpPr>
        <p:spPr>
          <a:xfrm>
            <a:off x="5486400" y="2679192"/>
            <a:ext cx="338328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Strong; explicit positive expressions</a:t>
            </a:r>
            <a:endParaRPr lang="en-US" sz="950" dirty="0"/>
          </a:p>
        </p:txBody>
      </p:sp>
      <p:sp>
        <p:nvSpPr>
          <p:cNvPr id="29" name="Shape 27"/>
          <p:cNvSpPr/>
          <p:nvPr/>
        </p:nvSpPr>
        <p:spPr>
          <a:xfrm>
            <a:off x="320040" y="2971800"/>
            <a:ext cx="8503920" cy="338328"/>
          </a:xfrm>
          <a:prstGeom prst="rect">
            <a:avLst/>
          </a:prstGeom>
          <a:solidFill>
            <a:srgbClr val="F9FAFB"/>
          </a:solidFill>
          <a:ln w="12700">
            <a:solidFill>
              <a:srgbClr val="E8EEF2"/>
            </a:solidFill>
            <a:prstDash val="solid"/>
          </a:ln>
        </p:spPr>
      </p:sp>
      <p:sp>
        <p:nvSpPr>
          <p:cNvPr id="30" name="Text 28"/>
          <p:cNvSpPr/>
          <p:nvPr/>
        </p:nvSpPr>
        <p:spPr>
          <a:xfrm>
            <a:off x="457200" y="3017520"/>
            <a:ext cx="1554480" cy="246888"/>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SADNESS</a:t>
            </a:r>
            <a:endParaRPr lang="en-US" sz="950" dirty="0"/>
          </a:p>
        </p:txBody>
      </p:sp>
      <p:sp>
        <p:nvSpPr>
          <p:cNvPr id="31" name="Text 29"/>
          <p:cNvSpPr/>
          <p:nvPr/>
        </p:nvSpPr>
        <p:spPr>
          <a:xfrm>
            <a:off x="2011680" y="3017520"/>
            <a:ext cx="91440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10</a:t>
            </a:r>
            <a:endParaRPr lang="en-US" sz="950" dirty="0"/>
          </a:p>
        </p:txBody>
      </p:sp>
      <p:sp>
        <p:nvSpPr>
          <p:cNvPr id="32" name="Text 30"/>
          <p:cNvSpPr/>
          <p:nvPr/>
        </p:nvSpPr>
        <p:spPr>
          <a:xfrm>
            <a:off x="2926080" y="3017520"/>
            <a:ext cx="91440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1.000</a:t>
            </a:r>
            <a:endParaRPr lang="en-US" sz="950" dirty="0"/>
          </a:p>
        </p:txBody>
      </p:sp>
      <p:sp>
        <p:nvSpPr>
          <p:cNvPr id="33" name="Text 31"/>
          <p:cNvSpPr/>
          <p:nvPr/>
        </p:nvSpPr>
        <p:spPr>
          <a:xfrm>
            <a:off x="3840480" y="3017520"/>
            <a:ext cx="86868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0.800</a:t>
            </a:r>
            <a:endParaRPr lang="en-US" sz="950" dirty="0"/>
          </a:p>
        </p:txBody>
      </p:sp>
      <p:sp>
        <p:nvSpPr>
          <p:cNvPr id="34" name="Text 32"/>
          <p:cNvSpPr/>
          <p:nvPr/>
        </p:nvSpPr>
        <p:spPr>
          <a:xfrm>
            <a:off x="4709160" y="3017520"/>
            <a:ext cx="77724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0.889</a:t>
            </a:r>
            <a:endParaRPr lang="en-US" sz="950" dirty="0"/>
          </a:p>
        </p:txBody>
      </p:sp>
      <p:sp>
        <p:nvSpPr>
          <p:cNvPr id="35" name="Text 33"/>
          <p:cNvSpPr/>
          <p:nvPr/>
        </p:nvSpPr>
        <p:spPr>
          <a:xfrm>
            <a:off x="5486400" y="3017520"/>
            <a:ext cx="338328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Some anxiety/sadness overlap</a:t>
            </a:r>
            <a:endParaRPr lang="en-US" sz="950" dirty="0"/>
          </a:p>
        </p:txBody>
      </p:sp>
      <p:sp>
        <p:nvSpPr>
          <p:cNvPr id="36" name="Shape 34"/>
          <p:cNvSpPr/>
          <p:nvPr/>
        </p:nvSpPr>
        <p:spPr>
          <a:xfrm>
            <a:off x="320040" y="3310128"/>
            <a:ext cx="8503920" cy="338328"/>
          </a:xfrm>
          <a:prstGeom prst="rect">
            <a:avLst/>
          </a:prstGeom>
          <a:solidFill>
            <a:srgbClr val="FFFFFF"/>
          </a:solidFill>
          <a:ln w="12700">
            <a:solidFill>
              <a:srgbClr val="E8EEF2"/>
            </a:solidFill>
            <a:prstDash val="solid"/>
          </a:ln>
        </p:spPr>
      </p:sp>
      <p:sp>
        <p:nvSpPr>
          <p:cNvPr id="37" name="Text 35"/>
          <p:cNvSpPr/>
          <p:nvPr/>
        </p:nvSpPr>
        <p:spPr>
          <a:xfrm>
            <a:off x="457200" y="3355848"/>
            <a:ext cx="1554480" cy="246888"/>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ANGER</a:t>
            </a:r>
            <a:endParaRPr lang="en-US" sz="950" dirty="0"/>
          </a:p>
        </p:txBody>
      </p:sp>
      <p:sp>
        <p:nvSpPr>
          <p:cNvPr id="38" name="Text 36"/>
          <p:cNvSpPr/>
          <p:nvPr/>
        </p:nvSpPr>
        <p:spPr>
          <a:xfrm>
            <a:off x="2011680" y="3355848"/>
            <a:ext cx="91440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4</a:t>
            </a:r>
            <a:endParaRPr lang="en-US" sz="950" dirty="0"/>
          </a:p>
        </p:txBody>
      </p:sp>
      <p:sp>
        <p:nvSpPr>
          <p:cNvPr id="39" name="Text 37"/>
          <p:cNvSpPr/>
          <p:nvPr/>
        </p:nvSpPr>
        <p:spPr>
          <a:xfrm>
            <a:off x="2926080" y="3355848"/>
            <a:ext cx="91440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0.800</a:t>
            </a:r>
            <a:endParaRPr lang="en-US" sz="950" dirty="0"/>
          </a:p>
        </p:txBody>
      </p:sp>
      <p:sp>
        <p:nvSpPr>
          <p:cNvPr id="40" name="Text 38"/>
          <p:cNvSpPr/>
          <p:nvPr/>
        </p:nvSpPr>
        <p:spPr>
          <a:xfrm>
            <a:off x="3840480" y="3355848"/>
            <a:ext cx="86868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1.000</a:t>
            </a:r>
            <a:endParaRPr lang="en-US" sz="950" dirty="0"/>
          </a:p>
        </p:txBody>
      </p:sp>
      <p:sp>
        <p:nvSpPr>
          <p:cNvPr id="41" name="Text 39"/>
          <p:cNvSpPr/>
          <p:nvPr/>
        </p:nvSpPr>
        <p:spPr>
          <a:xfrm>
            <a:off x="4709160" y="3355848"/>
            <a:ext cx="77724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0.889</a:t>
            </a:r>
            <a:endParaRPr lang="en-US" sz="950" dirty="0"/>
          </a:p>
        </p:txBody>
      </p:sp>
      <p:sp>
        <p:nvSpPr>
          <p:cNvPr id="42" name="Text 40"/>
          <p:cNvSpPr/>
          <p:nvPr/>
        </p:nvSpPr>
        <p:spPr>
          <a:xfrm>
            <a:off x="5486400" y="3355848"/>
            <a:ext cx="338328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Consistent on direct anger</a:t>
            </a:r>
            <a:endParaRPr lang="en-US" sz="950" dirty="0"/>
          </a:p>
        </p:txBody>
      </p:sp>
      <p:sp>
        <p:nvSpPr>
          <p:cNvPr id="43" name="Shape 41"/>
          <p:cNvSpPr/>
          <p:nvPr/>
        </p:nvSpPr>
        <p:spPr>
          <a:xfrm>
            <a:off x="320040" y="3648456"/>
            <a:ext cx="8503920" cy="338328"/>
          </a:xfrm>
          <a:prstGeom prst="rect">
            <a:avLst/>
          </a:prstGeom>
          <a:solidFill>
            <a:srgbClr val="F9FAFB"/>
          </a:solidFill>
          <a:ln w="12700">
            <a:solidFill>
              <a:srgbClr val="E8EEF2"/>
            </a:solidFill>
            <a:prstDash val="solid"/>
          </a:ln>
        </p:spPr>
      </p:sp>
      <p:sp>
        <p:nvSpPr>
          <p:cNvPr id="44" name="Text 42"/>
          <p:cNvSpPr/>
          <p:nvPr/>
        </p:nvSpPr>
        <p:spPr>
          <a:xfrm>
            <a:off x="457200" y="3694176"/>
            <a:ext cx="1554480" cy="246888"/>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ANXIETY</a:t>
            </a:r>
            <a:endParaRPr lang="en-US" sz="950" dirty="0"/>
          </a:p>
        </p:txBody>
      </p:sp>
      <p:sp>
        <p:nvSpPr>
          <p:cNvPr id="45" name="Text 43"/>
          <p:cNvSpPr/>
          <p:nvPr/>
        </p:nvSpPr>
        <p:spPr>
          <a:xfrm>
            <a:off x="2011680" y="3694176"/>
            <a:ext cx="91440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5</a:t>
            </a:r>
            <a:endParaRPr lang="en-US" sz="950" dirty="0"/>
          </a:p>
        </p:txBody>
      </p:sp>
      <p:sp>
        <p:nvSpPr>
          <p:cNvPr id="46" name="Text 44"/>
          <p:cNvSpPr/>
          <p:nvPr/>
        </p:nvSpPr>
        <p:spPr>
          <a:xfrm>
            <a:off x="2926080" y="3694176"/>
            <a:ext cx="91440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0.800</a:t>
            </a:r>
            <a:endParaRPr lang="en-US" sz="950" dirty="0"/>
          </a:p>
        </p:txBody>
      </p:sp>
      <p:sp>
        <p:nvSpPr>
          <p:cNvPr id="47" name="Text 45"/>
          <p:cNvSpPr/>
          <p:nvPr/>
        </p:nvSpPr>
        <p:spPr>
          <a:xfrm>
            <a:off x="3840480" y="3694176"/>
            <a:ext cx="86868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0.800</a:t>
            </a:r>
            <a:endParaRPr lang="en-US" sz="950" dirty="0"/>
          </a:p>
        </p:txBody>
      </p:sp>
      <p:sp>
        <p:nvSpPr>
          <p:cNvPr id="48" name="Text 46"/>
          <p:cNvSpPr/>
          <p:nvPr/>
        </p:nvSpPr>
        <p:spPr>
          <a:xfrm>
            <a:off x="4709160" y="3694176"/>
            <a:ext cx="77724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0.800</a:t>
            </a:r>
            <a:endParaRPr lang="en-US" sz="950" dirty="0"/>
          </a:p>
        </p:txBody>
      </p:sp>
      <p:sp>
        <p:nvSpPr>
          <p:cNvPr id="49" name="Text 47"/>
          <p:cNvSpPr/>
          <p:nvPr/>
        </p:nvSpPr>
        <p:spPr>
          <a:xfrm>
            <a:off x="5486400" y="3694176"/>
            <a:ext cx="338328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Overlap with sadness on hopelessness</a:t>
            </a:r>
            <a:endParaRPr lang="en-US" sz="950" dirty="0"/>
          </a:p>
        </p:txBody>
      </p:sp>
      <p:sp>
        <p:nvSpPr>
          <p:cNvPr id="50" name="Shape 48"/>
          <p:cNvSpPr/>
          <p:nvPr/>
        </p:nvSpPr>
        <p:spPr>
          <a:xfrm>
            <a:off x="320040" y="3986784"/>
            <a:ext cx="8503920" cy="338328"/>
          </a:xfrm>
          <a:prstGeom prst="rect">
            <a:avLst/>
          </a:prstGeom>
          <a:solidFill>
            <a:srgbClr val="FFFFFF"/>
          </a:solidFill>
          <a:ln w="12700">
            <a:solidFill>
              <a:srgbClr val="E8EEF2"/>
            </a:solidFill>
            <a:prstDash val="solid"/>
          </a:ln>
        </p:spPr>
      </p:sp>
      <p:sp>
        <p:nvSpPr>
          <p:cNvPr id="51" name="Text 49"/>
          <p:cNvSpPr/>
          <p:nvPr/>
        </p:nvSpPr>
        <p:spPr>
          <a:xfrm>
            <a:off x="457200" y="4032504"/>
            <a:ext cx="1554480" cy="246888"/>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NEUTRAL</a:t>
            </a:r>
            <a:endParaRPr lang="en-US" sz="950" dirty="0"/>
          </a:p>
        </p:txBody>
      </p:sp>
      <p:sp>
        <p:nvSpPr>
          <p:cNvPr id="52" name="Text 50"/>
          <p:cNvSpPr/>
          <p:nvPr/>
        </p:nvSpPr>
        <p:spPr>
          <a:xfrm>
            <a:off x="2011680" y="4032504"/>
            <a:ext cx="91440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10</a:t>
            </a:r>
            <a:endParaRPr lang="en-US" sz="950" dirty="0"/>
          </a:p>
        </p:txBody>
      </p:sp>
      <p:sp>
        <p:nvSpPr>
          <p:cNvPr id="53" name="Text 51"/>
          <p:cNvSpPr/>
          <p:nvPr/>
        </p:nvSpPr>
        <p:spPr>
          <a:xfrm>
            <a:off x="2926080" y="4032504"/>
            <a:ext cx="914400" cy="246888"/>
          </a:xfrm>
          <a:prstGeom prst="rect">
            <a:avLst/>
          </a:prstGeom>
          <a:noFill/>
          <a:ln/>
        </p:spPr>
        <p:txBody>
          <a:bodyPr wrap="square" lIns="0" tIns="0" rIns="0" bIns="0" rtlCol="0" anchor="ctr"/>
          <a:lstStyle/>
          <a:p>
            <a:pPr indent="0" marL="0">
              <a:buNone/>
            </a:pPr>
            <a:r>
              <a:rPr lang="en-US" sz="950" dirty="0">
                <a:solidFill>
                  <a:srgbClr val="B83232"/>
                </a:solidFill>
                <a:latin typeface="Calibri" pitchFamily="34" charset="0"/>
                <a:ea typeface="Calibri" pitchFamily="34" charset="-122"/>
                <a:cs typeface="Calibri" pitchFamily="34" charset="-120"/>
              </a:rPr>
              <a:t>0.500</a:t>
            </a:r>
            <a:endParaRPr lang="en-US" sz="950" dirty="0"/>
          </a:p>
        </p:txBody>
      </p:sp>
      <p:sp>
        <p:nvSpPr>
          <p:cNvPr id="54" name="Text 52"/>
          <p:cNvSpPr/>
          <p:nvPr/>
        </p:nvSpPr>
        <p:spPr>
          <a:xfrm>
            <a:off x="3840480" y="4032504"/>
            <a:ext cx="86868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0.900</a:t>
            </a:r>
            <a:endParaRPr lang="en-US" sz="950" dirty="0"/>
          </a:p>
        </p:txBody>
      </p:sp>
      <p:sp>
        <p:nvSpPr>
          <p:cNvPr id="55" name="Text 53"/>
          <p:cNvSpPr/>
          <p:nvPr/>
        </p:nvSpPr>
        <p:spPr>
          <a:xfrm>
            <a:off x="4709160" y="4032504"/>
            <a:ext cx="777240" cy="246888"/>
          </a:xfrm>
          <a:prstGeom prst="rect">
            <a:avLst/>
          </a:prstGeom>
          <a:noFill/>
          <a:ln/>
        </p:spPr>
        <p:txBody>
          <a:bodyPr wrap="square" lIns="0" tIns="0" rIns="0" bIns="0" rtlCol="0" anchor="ctr"/>
          <a:lstStyle/>
          <a:p>
            <a:pPr indent="0" marL="0">
              <a:buNone/>
            </a:pPr>
            <a:r>
              <a:rPr lang="en-US" sz="950" dirty="0">
                <a:solidFill>
                  <a:srgbClr val="B83232"/>
                </a:solidFill>
                <a:latin typeface="Calibri" pitchFamily="34" charset="0"/>
                <a:ea typeface="Calibri" pitchFamily="34" charset="-122"/>
                <a:cs typeface="Calibri" pitchFamily="34" charset="-120"/>
              </a:rPr>
              <a:t>0.643</a:t>
            </a:r>
            <a:endParaRPr lang="en-US" sz="950" dirty="0"/>
          </a:p>
        </p:txBody>
      </p:sp>
      <p:sp>
        <p:nvSpPr>
          <p:cNvPr id="56" name="Text 54"/>
          <p:cNvSpPr/>
          <p:nvPr/>
        </p:nvSpPr>
        <p:spPr>
          <a:xfrm>
            <a:off x="5486400" y="4032504"/>
            <a:ext cx="338328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High recall; precision limited by overlap</a:t>
            </a:r>
            <a:endParaRPr lang="en-US" sz="950" dirty="0"/>
          </a:p>
        </p:txBody>
      </p:sp>
      <p:sp>
        <p:nvSpPr>
          <p:cNvPr id="57" name="Shape 55"/>
          <p:cNvSpPr/>
          <p:nvPr/>
        </p:nvSpPr>
        <p:spPr>
          <a:xfrm>
            <a:off x="320040" y="4325112"/>
            <a:ext cx="8503920" cy="338328"/>
          </a:xfrm>
          <a:prstGeom prst="rect">
            <a:avLst/>
          </a:prstGeom>
          <a:solidFill>
            <a:srgbClr val="F9FAFB"/>
          </a:solidFill>
          <a:ln w="12700">
            <a:solidFill>
              <a:srgbClr val="E8EEF2"/>
            </a:solidFill>
            <a:prstDash val="solid"/>
          </a:ln>
        </p:spPr>
      </p:sp>
      <p:sp>
        <p:nvSpPr>
          <p:cNvPr id="58" name="Text 56"/>
          <p:cNvSpPr/>
          <p:nvPr/>
        </p:nvSpPr>
        <p:spPr>
          <a:xfrm>
            <a:off x="457200" y="4370832"/>
            <a:ext cx="1554480" cy="246888"/>
          </a:xfrm>
          <a:prstGeom prst="rect">
            <a:avLst/>
          </a:prstGeom>
          <a:noFill/>
          <a:ln/>
        </p:spPr>
        <p:txBody>
          <a:bodyPr wrap="square" lIns="0" tIns="0" rIns="0" bIns="0" rtlCol="0" anchor="ctr"/>
          <a:lstStyle/>
          <a:p>
            <a:pPr indent="0" marL="0">
              <a:buNone/>
            </a:pPr>
            <a:r>
              <a:rPr lang="en-US" sz="950" b="1" dirty="0">
                <a:solidFill>
                  <a:srgbClr val="0A6E72"/>
                </a:solidFill>
                <a:latin typeface="Calibri" pitchFamily="34" charset="0"/>
                <a:ea typeface="Calibri" pitchFamily="34" charset="-122"/>
                <a:cs typeface="Calibri" pitchFamily="34" charset="-120"/>
              </a:rPr>
              <a:t>AMBIGUOUS</a:t>
            </a:r>
            <a:endParaRPr lang="en-US" sz="950" dirty="0"/>
          </a:p>
        </p:txBody>
      </p:sp>
      <p:sp>
        <p:nvSpPr>
          <p:cNvPr id="59" name="Text 57"/>
          <p:cNvSpPr/>
          <p:nvPr/>
        </p:nvSpPr>
        <p:spPr>
          <a:xfrm>
            <a:off x="2011680" y="4370832"/>
            <a:ext cx="91440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10</a:t>
            </a:r>
            <a:endParaRPr lang="en-US" sz="950" dirty="0"/>
          </a:p>
        </p:txBody>
      </p:sp>
      <p:sp>
        <p:nvSpPr>
          <p:cNvPr id="60" name="Text 58"/>
          <p:cNvSpPr/>
          <p:nvPr/>
        </p:nvSpPr>
        <p:spPr>
          <a:xfrm>
            <a:off x="2926080" y="4370832"/>
            <a:ext cx="914400" cy="246888"/>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1.000</a:t>
            </a:r>
            <a:endParaRPr lang="en-US" sz="950" dirty="0"/>
          </a:p>
        </p:txBody>
      </p:sp>
      <p:sp>
        <p:nvSpPr>
          <p:cNvPr id="61" name="Text 59"/>
          <p:cNvSpPr/>
          <p:nvPr/>
        </p:nvSpPr>
        <p:spPr>
          <a:xfrm>
            <a:off x="3840480" y="4370832"/>
            <a:ext cx="868680" cy="246888"/>
          </a:xfrm>
          <a:prstGeom prst="rect">
            <a:avLst/>
          </a:prstGeom>
          <a:noFill/>
          <a:ln/>
        </p:spPr>
        <p:txBody>
          <a:bodyPr wrap="square" lIns="0" tIns="0" rIns="0" bIns="0" rtlCol="0" anchor="ctr"/>
          <a:lstStyle/>
          <a:p>
            <a:pPr indent="0" marL="0">
              <a:buNone/>
            </a:pPr>
            <a:r>
              <a:rPr lang="en-US" sz="950" dirty="0">
                <a:solidFill>
                  <a:srgbClr val="B83232"/>
                </a:solidFill>
                <a:latin typeface="Calibri" pitchFamily="34" charset="0"/>
                <a:ea typeface="Calibri" pitchFamily="34" charset="-122"/>
                <a:cs typeface="Calibri" pitchFamily="34" charset="-120"/>
              </a:rPr>
              <a:t>0.400</a:t>
            </a:r>
            <a:endParaRPr lang="en-US" sz="950" dirty="0"/>
          </a:p>
        </p:txBody>
      </p:sp>
      <p:sp>
        <p:nvSpPr>
          <p:cNvPr id="62" name="Text 60"/>
          <p:cNvSpPr/>
          <p:nvPr/>
        </p:nvSpPr>
        <p:spPr>
          <a:xfrm>
            <a:off x="4709160" y="4370832"/>
            <a:ext cx="777240" cy="246888"/>
          </a:xfrm>
          <a:prstGeom prst="rect">
            <a:avLst/>
          </a:prstGeom>
          <a:noFill/>
          <a:ln/>
        </p:spPr>
        <p:txBody>
          <a:bodyPr wrap="square" lIns="0" tIns="0" rIns="0" bIns="0" rtlCol="0" anchor="ctr"/>
          <a:lstStyle/>
          <a:p>
            <a:pPr indent="0" marL="0">
              <a:buNone/>
            </a:pPr>
            <a:r>
              <a:rPr lang="en-US" sz="950" dirty="0">
                <a:solidFill>
                  <a:srgbClr val="B83232"/>
                </a:solidFill>
                <a:latin typeface="Calibri" pitchFamily="34" charset="0"/>
                <a:ea typeface="Calibri" pitchFamily="34" charset="-122"/>
                <a:cs typeface="Calibri" pitchFamily="34" charset="-120"/>
              </a:rPr>
              <a:t>0.571</a:t>
            </a:r>
            <a:endParaRPr lang="en-US" sz="950" dirty="0"/>
          </a:p>
        </p:txBody>
      </p:sp>
      <p:sp>
        <p:nvSpPr>
          <p:cNvPr id="63" name="Text 61"/>
          <p:cNvSpPr/>
          <p:nvPr/>
        </p:nvSpPr>
        <p:spPr>
          <a:xfrm>
            <a:off x="5486400" y="4370832"/>
            <a:ext cx="3383280" cy="246888"/>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Hardest cluster; contradictory signals</a:t>
            </a:r>
            <a:endParaRPr lang="en-US" sz="950" dirty="0"/>
          </a:p>
        </p:txBody>
      </p:sp>
      <p:sp>
        <p:nvSpPr>
          <p:cNvPr id="64" name="Text 62"/>
          <p:cNvSpPr/>
          <p:nvPr/>
        </p:nvSpPr>
        <p:spPr>
          <a:xfrm>
            <a:off x="320040" y="4818888"/>
            <a:ext cx="8503920" cy="256032"/>
          </a:xfrm>
          <a:prstGeom prst="rect">
            <a:avLst/>
          </a:prstGeom>
          <a:noFill/>
          <a:ln/>
        </p:spPr>
        <p:txBody>
          <a:bodyPr wrap="square" lIns="0" tIns="0" rIns="0" bIns="0" rtlCol="0" anchor="ctr"/>
          <a:lstStyle/>
          <a:p>
            <a:pPr indent="0" marL="0">
              <a:buNone/>
            </a:pPr>
            <a:r>
              <a:rPr lang="en-US" sz="900" i="1" dirty="0">
                <a:solidFill>
                  <a:srgbClr val="7FA3B5"/>
                </a:solidFill>
                <a:latin typeface="Calibri" pitchFamily="34" charset="0"/>
                <a:ea typeface="Calibri" pitchFamily="34" charset="-122"/>
                <a:cs typeface="Calibri" pitchFamily="34" charset="-120"/>
              </a:rPr>
              <a:t>* Test set includes Nigerian Pidgin, ambiguous multi-clause sentences, and context-contradicting messages — harder than standard benchmarks.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 AEIF vs BASELINE COMPARISON</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3 scripted scenarios run through both pipelines simultaneously</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13 / 19</a:t>
            </a:r>
            <a:endParaRPr lang="en-US" sz="900" dirty="0"/>
          </a:p>
        </p:txBody>
      </p:sp>
      <p:sp>
        <p:nvSpPr>
          <p:cNvPr id="6" name="Shape 4"/>
          <p:cNvSpPr/>
          <p:nvPr/>
        </p:nvSpPr>
        <p:spPr>
          <a:xfrm>
            <a:off x="320040" y="1115568"/>
            <a:ext cx="8503920" cy="658368"/>
          </a:xfrm>
          <a:prstGeom prst="roundRect">
            <a:avLst>
              <a:gd name="adj" fmla="val 16667"/>
            </a:avLst>
          </a:prstGeom>
          <a:solidFill>
            <a:srgbClr val="0D2B3E"/>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7" name="Text 5"/>
          <p:cNvSpPr/>
          <p:nvPr/>
        </p:nvSpPr>
        <p:spPr>
          <a:xfrm>
            <a:off x="475488" y="1170432"/>
            <a:ext cx="1691640" cy="237744"/>
          </a:xfrm>
          <a:prstGeom prst="rect">
            <a:avLst/>
          </a:prstGeom>
          <a:noFill/>
          <a:ln/>
        </p:spPr>
        <p:txBody>
          <a:bodyPr wrap="square" lIns="0" tIns="0" rIns="0" bIns="0" rtlCol="0" anchor="ctr"/>
          <a:lstStyle/>
          <a:p>
            <a:pPr indent="0" marL="0">
              <a:buNone/>
            </a:pPr>
            <a:r>
              <a:rPr lang="en-US" sz="1000" b="1" dirty="0">
                <a:solidFill>
                  <a:srgbClr val="C9993A"/>
                </a:solidFill>
                <a:latin typeface="Calibri" pitchFamily="34" charset="0"/>
                <a:ea typeface="Calibri" pitchFamily="34" charset="-122"/>
                <a:cs typeface="Calibri" pitchFamily="34" charset="-120"/>
              </a:rPr>
              <a:t>Baseline pipeline:</a:t>
            </a:r>
            <a:endParaRPr lang="en-US" sz="1000" dirty="0"/>
          </a:p>
        </p:txBody>
      </p:sp>
      <p:sp>
        <p:nvSpPr>
          <p:cNvPr id="8" name="Text 6"/>
          <p:cNvSpPr/>
          <p:nvPr/>
        </p:nvSpPr>
        <p:spPr>
          <a:xfrm>
            <a:off x="2212848" y="1170432"/>
            <a:ext cx="6400800" cy="502920"/>
          </a:xfrm>
          <a:prstGeom prst="rect">
            <a:avLst/>
          </a:prstGeom>
          <a:noFill/>
          <a:ln/>
        </p:spPr>
        <p:txBody>
          <a:bodyPr wrap="square" lIns="0" tIns="0" rIns="0" bIns="0" rtlCol="0" anchor="ctr"/>
          <a:lstStyle/>
          <a:p>
            <a:pPr indent="0" marL="0">
              <a:buNone/>
            </a:pPr>
            <a:r>
              <a:rPr lang="en-US" sz="1000" dirty="0">
                <a:solidFill>
                  <a:srgbClr val="A8C8D8"/>
                </a:solidFill>
                <a:latin typeface="Calibri" pitchFamily="34" charset="0"/>
                <a:ea typeface="Calibri" pitchFamily="34" charset="-122"/>
                <a:cs typeface="Calibri" pitchFamily="34" charset="-120"/>
              </a:rPr>
              <a:t>Identical to AEIF except Layers 4 (trend) and 5 (strategy) are disabled. LLM receives only emotion cluster + history. No trend. No strategy instructions. Only difference is use_aeif=False.</a:t>
            </a:r>
            <a:endParaRPr lang="en-US" sz="1000" dirty="0"/>
          </a:p>
        </p:txBody>
      </p:sp>
      <p:sp>
        <p:nvSpPr>
          <p:cNvPr id="9" name="Shape 7"/>
          <p:cNvSpPr/>
          <p:nvPr/>
        </p:nvSpPr>
        <p:spPr>
          <a:xfrm>
            <a:off x="320040" y="1938528"/>
            <a:ext cx="8503920" cy="859536"/>
          </a:xfrm>
          <a:prstGeom prst="roundRect">
            <a:avLst>
              <a:gd name="adj" fmla="val 1276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0" name="Shape 8"/>
          <p:cNvSpPr/>
          <p:nvPr/>
        </p:nvSpPr>
        <p:spPr>
          <a:xfrm>
            <a:off x="320040" y="1938528"/>
            <a:ext cx="2011680" cy="859536"/>
          </a:xfrm>
          <a:prstGeom prst="roundRect">
            <a:avLst>
              <a:gd name="adj" fmla="val 10638"/>
            </a:avLst>
          </a:prstGeom>
          <a:solidFill>
            <a:srgbClr val="D6EEEF"/>
          </a:solidFill>
          <a:ln w="12700">
            <a:solidFill>
              <a:srgbClr val="B8D8DC"/>
            </a:solidFill>
            <a:prstDash val="solid"/>
          </a:ln>
        </p:spPr>
      </p:sp>
      <p:sp>
        <p:nvSpPr>
          <p:cNvPr id="11" name="Text 9"/>
          <p:cNvSpPr/>
          <p:nvPr/>
        </p:nvSpPr>
        <p:spPr>
          <a:xfrm>
            <a:off x="438912" y="2029968"/>
            <a:ext cx="1783080" cy="320040"/>
          </a:xfrm>
          <a:prstGeom prst="rect">
            <a:avLst/>
          </a:prstGeom>
          <a:noFill/>
          <a:ln/>
        </p:spPr>
        <p:txBody>
          <a:bodyPr wrap="square" lIns="0" tIns="0" rIns="0" bIns="0" rtlCol="0" anchor="ctr"/>
          <a:lstStyle/>
          <a:p>
            <a:pPr indent="0" marL="0">
              <a:buNone/>
            </a:pPr>
            <a:r>
              <a:rPr lang="en-US" sz="1050" b="1" dirty="0">
                <a:solidFill>
                  <a:srgbClr val="0A6E72"/>
                </a:solidFill>
                <a:latin typeface="Calibri" pitchFamily="34" charset="0"/>
                <a:ea typeface="Calibri" pitchFamily="34" charset="-122"/>
                <a:cs typeface="Calibri" pitchFamily="34" charset="-120"/>
              </a:rPr>
              <a:t>Sadness Sequence</a:t>
            </a:r>
            <a:endParaRPr lang="en-US" sz="1050" dirty="0"/>
          </a:p>
        </p:txBody>
      </p:sp>
      <p:sp>
        <p:nvSpPr>
          <p:cNvPr id="12" name="Text 10"/>
          <p:cNvSpPr/>
          <p:nvPr/>
        </p:nvSpPr>
        <p:spPr>
          <a:xfrm>
            <a:off x="438912" y="2395728"/>
            <a:ext cx="1783080" cy="320040"/>
          </a:xfrm>
          <a:prstGeom prst="rect">
            <a:avLst/>
          </a:prstGeom>
          <a:noFill/>
          <a:ln/>
        </p:spPr>
        <p:txBody>
          <a:bodyPr wrap="square" lIns="0" tIns="0" rIns="0" bIns="0" rtlCol="0" anchor="ctr"/>
          <a:lstStyle/>
          <a:p>
            <a:pPr indent="0" marL="0">
              <a:buNone/>
            </a:pPr>
            <a:r>
              <a:rPr lang="en-US" sz="850" i="1" dirty="0">
                <a:solidFill>
                  <a:srgbClr val="4A6274"/>
                </a:solidFill>
                <a:latin typeface="Calibri" pitchFamily="34" charset="0"/>
                <a:ea typeface="Calibri" pitchFamily="34" charset="-122"/>
                <a:cs typeface="Calibri" pitchFamily="34" charset="-120"/>
              </a:rPr>
              <a:t>"I failed my exam…" → "I've been really down…" → "Nothing interests me"</a:t>
            </a:r>
            <a:endParaRPr lang="en-US" sz="850" dirty="0"/>
          </a:p>
        </p:txBody>
      </p:sp>
      <p:sp>
        <p:nvSpPr>
          <p:cNvPr id="13" name="Text 11"/>
          <p:cNvSpPr/>
          <p:nvPr/>
        </p:nvSpPr>
        <p:spPr>
          <a:xfrm>
            <a:off x="2423160" y="2167128"/>
            <a:ext cx="6263640" cy="411480"/>
          </a:xfrm>
          <a:prstGeom prst="rect">
            <a:avLst/>
          </a:prstGeom>
          <a:noFill/>
          <a:ln/>
        </p:spPr>
        <p:txBody>
          <a:bodyPr wrap="square" lIns="0" tIns="0" rIns="0" bIns="0" rtlCol="0" anchor="ctr"/>
          <a:lstStyle/>
          <a:p>
            <a:pPr indent="0" marL="0">
              <a:buNone/>
            </a:pPr>
            <a:r>
              <a:rPr lang="en-US" sz="1050" b="1" dirty="0">
                <a:solidFill>
                  <a:srgbClr val="0D2B3E"/>
                </a:solidFill>
                <a:latin typeface="Calibri" pitchFamily="34" charset="0"/>
                <a:ea typeface="Calibri" pitchFamily="34" charset="-122"/>
                <a:cs typeface="Calibri" pitchFamily="34" charset="-120"/>
              </a:rPr>
              <a:t>🔑 Turn 3: PERSISTENT_DISTRESS → VALIDATION_AND_REFLECTION escalation</a:t>
            </a:r>
            <a:endParaRPr lang="en-US" sz="1050" dirty="0"/>
          </a:p>
        </p:txBody>
      </p:sp>
      <p:sp>
        <p:nvSpPr>
          <p:cNvPr id="14" name="Shape 12"/>
          <p:cNvSpPr/>
          <p:nvPr/>
        </p:nvSpPr>
        <p:spPr>
          <a:xfrm>
            <a:off x="320040" y="2907792"/>
            <a:ext cx="8503920" cy="859536"/>
          </a:xfrm>
          <a:prstGeom prst="roundRect">
            <a:avLst>
              <a:gd name="adj" fmla="val 1276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5" name="Shape 13"/>
          <p:cNvSpPr/>
          <p:nvPr/>
        </p:nvSpPr>
        <p:spPr>
          <a:xfrm>
            <a:off x="320040" y="2907792"/>
            <a:ext cx="2011680" cy="859536"/>
          </a:xfrm>
          <a:prstGeom prst="roundRect">
            <a:avLst>
              <a:gd name="adj" fmla="val 10638"/>
            </a:avLst>
          </a:prstGeom>
          <a:solidFill>
            <a:srgbClr val="D6EEEF"/>
          </a:solidFill>
          <a:ln w="12700">
            <a:solidFill>
              <a:srgbClr val="B8D8DC"/>
            </a:solidFill>
            <a:prstDash val="solid"/>
          </a:ln>
        </p:spPr>
      </p:sp>
      <p:sp>
        <p:nvSpPr>
          <p:cNvPr id="16" name="Text 14"/>
          <p:cNvSpPr/>
          <p:nvPr/>
        </p:nvSpPr>
        <p:spPr>
          <a:xfrm>
            <a:off x="438912" y="2999232"/>
            <a:ext cx="1783080" cy="320040"/>
          </a:xfrm>
          <a:prstGeom prst="rect">
            <a:avLst/>
          </a:prstGeom>
          <a:noFill/>
          <a:ln/>
        </p:spPr>
        <p:txBody>
          <a:bodyPr wrap="square" lIns="0" tIns="0" rIns="0" bIns="0" rtlCol="0" anchor="ctr"/>
          <a:lstStyle/>
          <a:p>
            <a:pPr indent="0" marL="0">
              <a:buNone/>
            </a:pPr>
            <a:r>
              <a:rPr lang="en-US" sz="1050" b="1" dirty="0">
                <a:solidFill>
                  <a:srgbClr val="0A6E72"/>
                </a:solidFill>
                <a:latin typeface="Calibri" pitchFamily="34" charset="0"/>
                <a:ea typeface="Calibri" pitchFamily="34" charset="-122"/>
                <a:cs typeface="Calibri" pitchFamily="34" charset="-120"/>
              </a:rPr>
              <a:t>Anxiety Sequence</a:t>
            </a:r>
            <a:endParaRPr lang="en-US" sz="1050" dirty="0"/>
          </a:p>
        </p:txBody>
      </p:sp>
      <p:sp>
        <p:nvSpPr>
          <p:cNvPr id="17" name="Text 15"/>
          <p:cNvSpPr/>
          <p:nvPr/>
        </p:nvSpPr>
        <p:spPr>
          <a:xfrm>
            <a:off x="438912" y="3364992"/>
            <a:ext cx="1783080" cy="320040"/>
          </a:xfrm>
          <a:prstGeom prst="rect">
            <a:avLst/>
          </a:prstGeom>
          <a:noFill/>
          <a:ln/>
        </p:spPr>
        <p:txBody>
          <a:bodyPr wrap="square" lIns="0" tIns="0" rIns="0" bIns="0" rtlCol="0" anchor="ctr"/>
          <a:lstStyle/>
          <a:p>
            <a:pPr indent="0" marL="0">
              <a:buNone/>
            </a:pPr>
            <a:r>
              <a:rPr lang="en-US" sz="850" i="1" dirty="0">
                <a:solidFill>
                  <a:srgbClr val="4A6274"/>
                </a:solidFill>
                <a:latin typeface="Calibri" pitchFamily="34" charset="0"/>
                <a:ea typeface="Calibri" pitchFamily="34" charset="-122"/>
                <a:cs typeface="Calibri" pitchFamily="34" charset="-120"/>
              </a:rPr>
              <a:t>"Anxious about exam" → "What if I disappoint?" → "Can't stop worrying"</a:t>
            </a:r>
            <a:endParaRPr lang="en-US" sz="850" dirty="0"/>
          </a:p>
        </p:txBody>
      </p:sp>
      <p:sp>
        <p:nvSpPr>
          <p:cNvPr id="18" name="Text 16"/>
          <p:cNvSpPr/>
          <p:nvPr/>
        </p:nvSpPr>
        <p:spPr>
          <a:xfrm>
            <a:off x="2423160" y="3136392"/>
            <a:ext cx="6263640" cy="411480"/>
          </a:xfrm>
          <a:prstGeom prst="rect">
            <a:avLst/>
          </a:prstGeom>
          <a:noFill/>
          <a:ln/>
        </p:spPr>
        <p:txBody>
          <a:bodyPr wrap="square" lIns="0" tIns="0" rIns="0" bIns="0" rtlCol="0" anchor="ctr"/>
          <a:lstStyle/>
          <a:p>
            <a:pPr indent="0" marL="0">
              <a:buNone/>
            </a:pPr>
            <a:r>
              <a:rPr lang="en-US" sz="1050" b="1" dirty="0">
                <a:solidFill>
                  <a:srgbClr val="0D2B3E"/>
                </a:solidFill>
                <a:latin typeface="Calibri" pitchFamily="34" charset="0"/>
                <a:ea typeface="Calibri" pitchFamily="34" charset="-122"/>
                <a:cs typeface="Calibri" pitchFamily="34" charset="-120"/>
              </a:rPr>
              <a:t>🔑 Turn 1: GROUNDING strategy offers breathing technique; baseline stays generic</a:t>
            </a:r>
            <a:endParaRPr lang="en-US" sz="1050" dirty="0"/>
          </a:p>
        </p:txBody>
      </p:sp>
      <p:sp>
        <p:nvSpPr>
          <p:cNvPr id="19" name="Shape 17"/>
          <p:cNvSpPr/>
          <p:nvPr/>
        </p:nvSpPr>
        <p:spPr>
          <a:xfrm>
            <a:off x="320040" y="3877056"/>
            <a:ext cx="8503920" cy="859536"/>
          </a:xfrm>
          <a:prstGeom prst="roundRect">
            <a:avLst>
              <a:gd name="adj" fmla="val 12766"/>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0" name="Shape 18"/>
          <p:cNvSpPr/>
          <p:nvPr/>
        </p:nvSpPr>
        <p:spPr>
          <a:xfrm>
            <a:off x="320040" y="3877056"/>
            <a:ext cx="2011680" cy="859536"/>
          </a:xfrm>
          <a:prstGeom prst="roundRect">
            <a:avLst>
              <a:gd name="adj" fmla="val 10638"/>
            </a:avLst>
          </a:prstGeom>
          <a:solidFill>
            <a:srgbClr val="D6EEEF"/>
          </a:solidFill>
          <a:ln w="12700">
            <a:solidFill>
              <a:srgbClr val="B8D8DC"/>
            </a:solidFill>
            <a:prstDash val="solid"/>
          </a:ln>
        </p:spPr>
      </p:sp>
      <p:sp>
        <p:nvSpPr>
          <p:cNvPr id="21" name="Text 19"/>
          <p:cNvSpPr/>
          <p:nvPr/>
        </p:nvSpPr>
        <p:spPr>
          <a:xfrm>
            <a:off x="438912" y="3968496"/>
            <a:ext cx="1783080" cy="320040"/>
          </a:xfrm>
          <a:prstGeom prst="rect">
            <a:avLst/>
          </a:prstGeom>
          <a:noFill/>
          <a:ln/>
        </p:spPr>
        <p:txBody>
          <a:bodyPr wrap="square" lIns="0" tIns="0" rIns="0" bIns="0" rtlCol="0" anchor="ctr"/>
          <a:lstStyle/>
          <a:p>
            <a:pPr indent="0" marL="0">
              <a:buNone/>
            </a:pPr>
            <a:r>
              <a:rPr lang="en-US" sz="1050" b="1" dirty="0">
                <a:solidFill>
                  <a:srgbClr val="0A6E72"/>
                </a:solidFill>
                <a:latin typeface="Calibri" pitchFamily="34" charset="0"/>
                <a:ea typeface="Calibri" pitchFamily="34" charset="-122"/>
                <a:cs typeface="Calibri" pitchFamily="34" charset="-120"/>
              </a:rPr>
              <a:t>Mixed-Emotion Sequence</a:t>
            </a:r>
            <a:endParaRPr lang="en-US" sz="1050" dirty="0"/>
          </a:p>
        </p:txBody>
      </p:sp>
      <p:sp>
        <p:nvSpPr>
          <p:cNvPr id="22" name="Text 20"/>
          <p:cNvSpPr/>
          <p:nvPr/>
        </p:nvSpPr>
        <p:spPr>
          <a:xfrm>
            <a:off x="438912" y="4334256"/>
            <a:ext cx="1783080" cy="320040"/>
          </a:xfrm>
          <a:prstGeom prst="rect">
            <a:avLst/>
          </a:prstGeom>
          <a:noFill/>
          <a:ln/>
        </p:spPr>
        <p:txBody>
          <a:bodyPr wrap="square" lIns="0" tIns="0" rIns="0" bIns="0" rtlCol="0" anchor="ctr"/>
          <a:lstStyle/>
          <a:p>
            <a:pPr indent="0" marL="0">
              <a:buNone/>
            </a:pPr>
            <a:r>
              <a:rPr lang="en-US" sz="850" i="1" dirty="0">
                <a:solidFill>
                  <a:srgbClr val="4A6274"/>
                </a:solidFill>
                <a:latin typeface="Calibri" pitchFamily="34" charset="0"/>
                <a:ea typeface="Calibri" pitchFamily="34" charset="-122"/>
                <a:cs typeface="Calibri" pitchFamily="34" charset="-120"/>
              </a:rPr>
              <a:t>"Got the job but terrified" → "Everyone says I should be happy" → "Feeling like myself"</a:t>
            </a:r>
            <a:endParaRPr lang="en-US" sz="850" dirty="0"/>
          </a:p>
        </p:txBody>
      </p:sp>
      <p:sp>
        <p:nvSpPr>
          <p:cNvPr id="23" name="Text 21"/>
          <p:cNvSpPr/>
          <p:nvPr/>
        </p:nvSpPr>
        <p:spPr>
          <a:xfrm>
            <a:off x="2423160" y="4105656"/>
            <a:ext cx="6263640" cy="411480"/>
          </a:xfrm>
          <a:prstGeom prst="rect">
            <a:avLst/>
          </a:prstGeom>
          <a:noFill/>
          <a:ln/>
        </p:spPr>
        <p:txBody>
          <a:bodyPr wrap="square" lIns="0" tIns="0" rIns="0" bIns="0" rtlCol="0" anchor="ctr"/>
          <a:lstStyle/>
          <a:p>
            <a:pPr indent="0" marL="0">
              <a:buNone/>
            </a:pPr>
            <a:r>
              <a:rPr lang="en-US" sz="1050" b="1" dirty="0">
                <a:solidFill>
                  <a:srgbClr val="0D2B3E"/>
                </a:solidFill>
                <a:latin typeface="Calibri" pitchFamily="34" charset="0"/>
                <a:ea typeface="Calibri" pitchFamily="34" charset="-122"/>
                <a:cs typeface="Calibri" pitchFamily="34" charset="-120"/>
              </a:rPr>
              <a:t>🔑 Turn 2: SAME POSITIVE emotion, opposite responses (most compelling finding)</a:t>
            </a:r>
            <a:endParaRPr lang="en-US" sz="1050" dirty="0"/>
          </a:p>
        </p:txBody>
      </p:sp>
      <p:sp>
        <p:nvSpPr>
          <p:cNvPr id="24" name="Shape 22"/>
          <p:cNvSpPr/>
          <p:nvPr/>
        </p:nvSpPr>
        <p:spPr>
          <a:xfrm>
            <a:off x="320040" y="4800600"/>
            <a:ext cx="8503920" cy="274320"/>
          </a:xfrm>
          <a:prstGeom prst="roundRect">
            <a:avLst>
              <a:gd name="adj" fmla="val 40000"/>
            </a:avLst>
          </a:prstGeom>
          <a:solidFill>
            <a:srgbClr val="0A6E72"/>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5" name="Text 23"/>
          <p:cNvSpPr/>
          <p:nvPr/>
        </p:nvSpPr>
        <p:spPr>
          <a:xfrm>
            <a:off x="475488" y="4809744"/>
            <a:ext cx="822960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Pattern across all scenarios: AEIF responses are strategy-specific, context-escalating, and empathetically calibrated. Baseline responses are plausible but misaligned with the conversational moment.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FINDING: MIXED-EMOTION TURN 2</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Same emotion, same input — diametrically opposite responses</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14 / 19</a:t>
            </a:r>
            <a:endParaRPr lang="en-US" sz="900" dirty="0"/>
          </a:p>
        </p:txBody>
      </p:sp>
      <p:sp>
        <p:nvSpPr>
          <p:cNvPr id="6" name="Shape 4"/>
          <p:cNvSpPr/>
          <p:nvPr/>
        </p:nvSpPr>
        <p:spPr>
          <a:xfrm>
            <a:off x="320040" y="1115568"/>
            <a:ext cx="8503920" cy="566928"/>
          </a:xfrm>
          <a:prstGeom prst="roundRect">
            <a:avLst>
              <a:gd name="adj" fmla="val 19355"/>
            </a:avLst>
          </a:prstGeom>
          <a:solidFill>
            <a:srgbClr val="0D2B3E"/>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7" name="Text 5"/>
          <p:cNvSpPr/>
          <p:nvPr/>
        </p:nvSpPr>
        <p:spPr>
          <a:xfrm>
            <a:off x="475488" y="1188720"/>
            <a:ext cx="8229600" cy="347472"/>
          </a:xfrm>
          <a:prstGeom prst="rect">
            <a:avLst/>
          </a:prstGeom>
          <a:noFill/>
          <a:ln/>
        </p:spPr>
        <p:txBody>
          <a:bodyPr wrap="square" lIns="0" tIns="0" rIns="0" bIns="0" rtlCol="0" anchor="ctr"/>
          <a:lstStyle/>
          <a:p>
            <a:pPr indent="0" marL="0">
              <a:buNone/>
            </a:pPr>
            <a:r>
              <a:rPr lang="en-US" sz="1300" b="1" dirty="0">
                <a:solidFill>
                  <a:srgbClr val="C9993A"/>
                </a:solidFill>
                <a:latin typeface="Calibri" pitchFamily="34" charset="0"/>
                <a:ea typeface="Calibri" pitchFamily="34" charset="-122"/>
                <a:cs typeface="Calibri" pitchFamily="34" charset="-120"/>
              </a:rPr>
              <a:t>User message (Turn 2):  "Everyone says I should be happy."</a:t>
            </a:r>
            <a:endParaRPr lang="en-US" sz="1300" dirty="0"/>
          </a:p>
        </p:txBody>
      </p:sp>
      <p:sp>
        <p:nvSpPr>
          <p:cNvPr id="8" name="Text 6"/>
          <p:cNvSpPr/>
          <p:nvPr/>
        </p:nvSpPr>
        <p:spPr>
          <a:xfrm>
            <a:off x="475488" y="1527048"/>
            <a:ext cx="8229600" cy="237744"/>
          </a:xfrm>
          <a:prstGeom prst="rect">
            <a:avLst/>
          </a:prstGeom>
          <a:noFill/>
          <a:ln/>
        </p:spPr>
        <p:txBody>
          <a:bodyPr wrap="square" lIns="0" tIns="0" rIns="0" bIns="0" rtlCol="0" anchor="ctr"/>
          <a:lstStyle/>
          <a:p>
            <a:pPr indent="0" marL="0">
              <a:buNone/>
            </a:pPr>
            <a:r>
              <a:rPr lang="en-US" sz="1050" dirty="0">
                <a:solidFill>
                  <a:srgbClr val="A8C8D8"/>
                </a:solidFill>
                <a:latin typeface="Calibri" pitchFamily="34" charset="0"/>
                <a:ea typeface="Calibri" pitchFamily="34" charset="-122"/>
                <a:cs typeface="Calibri" pitchFamily="34" charset="-120"/>
              </a:rPr>
              <a:t>Both pipelines classify this as:  POSITIVE  (same emotion, same input)</a:t>
            </a:r>
            <a:endParaRPr lang="en-US" sz="1050" dirty="0"/>
          </a:p>
        </p:txBody>
      </p:sp>
      <p:sp>
        <p:nvSpPr>
          <p:cNvPr id="9" name="Shape 7"/>
          <p:cNvSpPr/>
          <p:nvPr/>
        </p:nvSpPr>
        <p:spPr>
          <a:xfrm>
            <a:off x="320040" y="1920240"/>
            <a:ext cx="4160520" cy="2468880"/>
          </a:xfrm>
          <a:prstGeom prst="roundRect">
            <a:avLst>
              <a:gd name="adj" fmla="val 4444"/>
            </a:avLst>
          </a:prstGeom>
          <a:solidFill>
            <a:srgbClr val="EAFAF1"/>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0" name="Shape 8"/>
          <p:cNvSpPr/>
          <p:nvPr/>
        </p:nvSpPr>
        <p:spPr>
          <a:xfrm>
            <a:off x="320040" y="1920240"/>
            <a:ext cx="4160520" cy="384048"/>
          </a:xfrm>
          <a:prstGeom prst="roundRect">
            <a:avLst>
              <a:gd name="adj" fmla="val 23810"/>
            </a:avLst>
          </a:prstGeom>
          <a:solidFill>
            <a:srgbClr val="3A7A52"/>
          </a:solidFill>
          <a:ln w="12700">
            <a:solidFill>
              <a:srgbClr val="3A7A52"/>
            </a:solidFill>
            <a:prstDash val="solid"/>
          </a:ln>
        </p:spPr>
      </p:sp>
      <p:sp>
        <p:nvSpPr>
          <p:cNvPr id="11" name="Text 9"/>
          <p:cNvSpPr/>
          <p:nvPr/>
        </p:nvSpPr>
        <p:spPr>
          <a:xfrm>
            <a:off x="438912" y="1920240"/>
            <a:ext cx="393192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AEIF  ·  POSITIVE_REINFORCEMENT strategy</a:t>
            </a:r>
            <a:endParaRPr lang="en-US" sz="1050" dirty="0"/>
          </a:p>
        </p:txBody>
      </p:sp>
      <p:sp>
        <p:nvSpPr>
          <p:cNvPr id="12" name="Text 10"/>
          <p:cNvSpPr/>
          <p:nvPr/>
        </p:nvSpPr>
        <p:spPr>
          <a:xfrm>
            <a:off x="475488" y="2377440"/>
            <a:ext cx="3858768" cy="1645920"/>
          </a:xfrm>
          <a:prstGeom prst="rect">
            <a:avLst/>
          </a:prstGeom>
          <a:noFill/>
          <a:ln/>
        </p:spPr>
        <p:txBody>
          <a:bodyPr wrap="square" lIns="0" tIns="0" rIns="0" bIns="0" rtlCol="0" anchor="ctr"/>
          <a:lstStyle/>
          <a:p>
            <a:pPr indent="0" marL="0">
              <a:buNone/>
            </a:pPr>
            <a:r>
              <a:rPr lang="en-US" sz="1150" i="1" dirty="0">
                <a:solidFill>
                  <a:srgbClr val="1A3A2A"/>
                </a:solidFill>
                <a:latin typeface="Calibri" pitchFamily="34" charset="0"/>
                <a:ea typeface="Calibri" pitchFamily="34" charset="-122"/>
                <a:cs typeface="Calibri" pitchFamily="34" charset="-120"/>
              </a:rPr>
              <a:t>"It's great that you're surrounded by supportive people who want the best for you. Their encouragement can be really uplifting and meaningful. I'm so glad to hear that things are looking up for you, even if it's just a little bit. What's been helping you feel more positive lately?"</a:t>
            </a:r>
            <a:endParaRPr lang="en-US" sz="1150" dirty="0"/>
          </a:p>
        </p:txBody>
      </p:sp>
      <p:sp>
        <p:nvSpPr>
          <p:cNvPr id="13" name="Text 11"/>
          <p:cNvSpPr/>
          <p:nvPr/>
        </p:nvSpPr>
        <p:spPr>
          <a:xfrm>
            <a:off x="438912" y="4233672"/>
            <a:ext cx="3886200" cy="256032"/>
          </a:xfrm>
          <a:prstGeom prst="rect">
            <a:avLst/>
          </a:prstGeom>
          <a:noFill/>
          <a:ln/>
        </p:spPr>
        <p:txBody>
          <a:bodyPr wrap="square" lIns="0" tIns="0" rIns="0" bIns="0" rtlCol="0" anchor="ctr"/>
          <a:lstStyle/>
          <a:p>
            <a:pPr indent="0" marL="0">
              <a:buNone/>
            </a:pPr>
            <a:r>
              <a:rPr lang="en-US" sz="950" b="1" dirty="0">
                <a:solidFill>
                  <a:srgbClr val="3A7A52"/>
                </a:solidFill>
                <a:latin typeface="Calibri" pitchFamily="34" charset="0"/>
                <a:ea typeface="Calibri" pitchFamily="34" charset="-122"/>
                <a:cs typeface="Calibri" pitchFamily="34" charset="-120"/>
              </a:rPr>
              <a:t>✔ Affirming · Celebrates positive signal · Strategy-guided</a:t>
            </a:r>
            <a:endParaRPr lang="en-US" sz="950" dirty="0"/>
          </a:p>
        </p:txBody>
      </p:sp>
      <p:sp>
        <p:nvSpPr>
          <p:cNvPr id="14" name="Shape 12"/>
          <p:cNvSpPr/>
          <p:nvPr/>
        </p:nvSpPr>
        <p:spPr>
          <a:xfrm>
            <a:off x="4663440" y="1920240"/>
            <a:ext cx="4160520" cy="2468880"/>
          </a:xfrm>
          <a:prstGeom prst="roundRect">
            <a:avLst>
              <a:gd name="adj" fmla="val 4444"/>
            </a:avLst>
          </a:prstGeom>
          <a:solidFill>
            <a:srgbClr val="FDE8E8"/>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5" name="Shape 13"/>
          <p:cNvSpPr/>
          <p:nvPr/>
        </p:nvSpPr>
        <p:spPr>
          <a:xfrm>
            <a:off x="4663440" y="1920240"/>
            <a:ext cx="4160520" cy="384048"/>
          </a:xfrm>
          <a:prstGeom prst="roundRect">
            <a:avLst>
              <a:gd name="adj" fmla="val 23810"/>
            </a:avLst>
          </a:prstGeom>
          <a:solidFill>
            <a:srgbClr val="B83232"/>
          </a:solidFill>
          <a:ln w="12700">
            <a:solidFill>
              <a:srgbClr val="B83232"/>
            </a:solidFill>
            <a:prstDash val="solid"/>
          </a:ln>
        </p:spPr>
      </p:sp>
      <p:sp>
        <p:nvSpPr>
          <p:cNvPr id="16" name="Text 14"/>
          <p:cNvSpPr/>
          <p:nvPr/>
        </p:nvSpPr>
        <p:spPr>
          <a:xfrm>
            <a:off x="4800600" y="1920240"/>
            <a:ext cx="393192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BASELINE  ·  no strategy (STANDARD)</a:t>
            </a:r>
            <a:endParaRPr lang="en-US" sz="1050" dirty="0"/>
          </a:p>
        </p:txBody>
      </p:sp>
      <p:sp>
        <p:nvSpPr>
          <p:cNvPr id="17" name="Text 15"/>
          <p:cNvSpPr/>
          <p:nvPr/>
        </p:nvSpPr>
        <p:spPr>
          <a:xfrm>
            <a:off x="4800600" y="2377440"/>
            <a:ext cx="3858768" cy="1645920"/>
          </a:xfrm>
          <a:prstGeom prst="rect">
            <a:avLst/>
          </a:prstGeom>
          <a:noFill/>
          <a:ln/>
        </p:spPr>
        <p:txBody>
          <a:bodyPr wrap="square" lIns="0" tIns="0" rIns="0" bIns="0" rtlCol="0" anchor="ctr"/>
          <a:lstStyle/>
          <a:p>
            <a:pPr indent="0" marL="0">
              <a:buNone/>
            </a:pPr>
            <a:r>
              <a:rPr lang="en-US" sz="1150" i="1" dirty="0">
                <a:solidFill>
                  <a:srgbClr val="5A1A1A"/>
                </a:solidFill>
                <a:latin typeface="Calibri" pitchFamily="34" charset="0"/>
                <a:ea typeface="Calibri" pitchFamily="34" charset="-122"/>
                <a:cs typeface="Calibri" pitchFamily="34" charset="-120"/>
              </a:rPr>
              <a:t>"It can be really tough when others don't quite understand why you're feeling a certain way, even if it's not what they expect. Sometimes, the pressure to feel a certain emotion can actually make it harder to process our feelings. What's been making it difficult to align your feelings with what others expect?"</a:t>
            </a:r>
            <a:endParaRPr lang="en-US" sz="1150" dirty="0"/>
          </a:p>
        </p:txBody>
      </p:sp>
      <p:sp>
        <p:nvSpPr>
          <p:cNvPr id="18" name="Text 16"/>
          <p:cNvSpPr/>
          <p:nvPr/>
        </p:nvSpPr>
        <p:spPr>
          <a:xfrm>
            <a:off x="4773168" y="4233672"/>
            <a:ext cx="3886200" cy="256032"/>
          </a:xfrm>
          <a:prstGeom prst="rect">
            <a:avLst/>
          </a:prstGeom>
          <a:noFill/>
          <a:ln/>
        </p:spPr>
        <p:txBody>
          <a:bodyPr wrap="square" lIns="0" tIns="0" rIns="0" bIns="0" rtlCol="0" anchor="ctr"/>
          <a:lstStyle/>
          <a:p>
            <a:pPr indent="0" marL="0">
              <a:buNone/>
            </a:pPr>
            <a:r>
              <a:rPr lang="en-US" sz="950" b="1" dirty="0">
                <a:solidFill>
                  <a:srgbClr val="B83232"/>
                </a:solidFill>
                <a:latin typeface="Calibri" pitchFamily="34" charset="0"/>
                <a:ea typeface="Calibri" pitchFamily="34" charset="-122"/>
                <a:cs typeface="Calibri" pitchFamily="34" charset="-120"/>
              </a:rPr>
              <a:t>✘ Explores incongruence despite POSITIVE emotion</a:t>
            </a:r>
            <a:endParaRPr lang="en-US" sz="950" dirty="0"/>
          </a:p>
        </p:txBody>
      </p:sp>
      <p:sp>
        <p:nvSpPr>
          <p:cNvPr id="19" name="Shape 17"/>
          <p:cNvSpPr/>
          <p:nvPr/>
        </p:nvSpPr>
        <p:spPr>
          <a:xfrm>
            <a:off x="320040" y="4617720"/>
            <a:ext cx="8503920" cy="411480"/>
          </a:xfrm>
          <a:prstGeom prst="roundRect">
            <a:avLst>
              <a:gd name="adj" fmla="val 26667"/>
            </a:avLst>
          </a:prstGeom>
          <a:solidFill>
            <a:srgbClr val="0A6E72"/>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0" name="Text 18"/>
          <p:cNvSpPr/>
          <p:nvPr/>
        </p:nvSpPr>
        <p:spPr>
          <a:xfrm>
            <a:off x="475488" y="4636008"/>
            <a:ext cx="822960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This is the most compelling evidence: strategy-aware response generation produces qualitatively superior empathetic alignment — even when emotion classification is identical.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DEMO CONVERSATION (7-TURN)</a:t>
            </a:r>
            <a:endParaRPr lang="en-US" sz="2200" dirty="0"/>
          </a:p>
        </p:txBody>
      </p:sp>
      <p:sp>
        <p:nvSpPr>
          <p:cNvPr id="4" name="Text 2"/>
          <p:cNvSpPr/>
          <p:nvPr/>
        </p:nvSpPr>
        <p:spPr>
          <a:xfrm>
            <a:off x="411480" y="594360"/>
            <a:ext cx="8321040" cy="292608"/>
          </a:xfrm>
          <a:prstGeom prst="rect">
            <a:avLst/>
          </a:prstGeom>
          <a:noFill/>
          <a:ln/>
        </p:spPr>
        <p:txBody>
          <a:bodyPr wrap="square" lIns="0" tIns="0" rIns="0" bIns="0" rtlCol="0" anchor="ctr"/>
          <a:lstStyle/>
          <a:p>
            <a:pPr indent="0" marL="0">
              <a:buNone/>
            </a:pPr>
            <a:r>
              <a:rPr lang="en-US" sz="1200" dirty="0">
                <a:solidFill>
                  <a:srgbClr val="D4EEF0"/>
                </a:solidFill>
                <a:latin typeface="Calibri" pitchFamily="34" charset="0"/>
                <a:ea typeface="Calibri" pitchFamily="34" charset="-122"/>
                <a:cs typeface="Calibri" pitchFamily="34" charset="-120"/>
              </a:rPr>
              <a:t>Realistic distress arc with AEIF strategy escalation</a:t>
            </a:r>
            <a:endParaRPr lang="en-US" sz="1200" dirty="0"/>
          </a:p>
        </p:txBody>
      </p:sp>
      <p:sp>
        <p:nvSpPr>
          <p:cNvPr id="5" name="Text 3"/>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15 / 19</a:t>
            </a:r>
            <a:endParaRPr lang="en-US" sz="900" dirty="0"/>
          </a:p>
        </p:txBody>
      </p:sp>
      <p:sp>
        <p:nvSpPr>
          <p:cNvPr id="6" name="Shape 4"/>
          <p:cNvSpPr/>
          <p:nvPr/>
        </p:nvSpPr>
        <p:spPr>
          <a:xfrm>
            <a:off x="320040" y="1097280"/>
            <a:ext cx="8503920" cy="502920"/>
          </a:xfrm>
          <a:prstGeom prst="rect">
            <a:avLst/>
          </a:prstGeom>
          <a:solidFill>
            <a:srgbClr val="FFFFFF"/>
          </a:solidFill>
          <a:ln w="12700">
            <a:solidFill>
              <a:srgbClr val="E2E8EC"/>
            </a:solidFill>
            <a:prstDash val="solid"/>
          </a:ln>
        </p:spPr>
      </p:sp>
      <p:sp>
        <p:nvSpPr>
          <p:cNvPr id="7" name="Shape 5"/>
          <p:cNvSpPr/>
          <p:nvPr/>
        </p:nvSpPr>
        <p:spPr>
          <a:xfrm>
            <a:off x="384048" y="1161288"/>
            <a:ext cx="365760" cy="365760"/>
          </a:xfrm>
          <a:prstGeom prst="ellipse">
            <a:avLst/>
          </a:prstGeom>
          <a:solidFill>
            <a:srgbClr val="0A6E72"/>
          </a:solidFill>
          <a:ln w="12700">
            <a:solidFill>
              <a:srgbClr val="000000">
                <a:alpha val="0"/>
              </a:srgbClr>
            </a:solidFill>
            <a:prstDash val="solid"/>
          </a:ln>
        </p:spPr>
      </p:sp>
      <p:sp>
        <p:nvSpPr>
          <p:cNvPr id="8" name="Text 6"/>
          <p:cNvSpPr/>
          <p:nvPr/>
        </p:nvSpPr>
        <p:spPr>
          <a:xfrm>
            <a:off x="384048" y="1161288"/>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T1</a:t>
            </a:r>
            <a:endParaRPr lang="en-US" sz="900" dirty="0"/>
          </a:p>
        </p:txBody>
      </p:sp>
      <p:sp>
        <p:nvSpPr>
          <p:cNvPr id="9" name="Text 7"/>
          <p:cNvSpPr/>
          <p:nvPr/>
        </p:nvSpPr>
        <p:spPr>
          <a:xfrm>
            <a:off x="841248" y="1170432"/>
            <a:ext cx="2651760" cy="347472"/>
          </a:xfrm>
          <a:prstGeom prst="rect">
            <a:avLst/>
          </a:prstGeom>
          <a:noFill/>
          <a:ln/>
        </p:spPr>
        <p:txBody>
          <a:bodyPr wrap="square" lIns="0" tIns="0" rIns="0" bIns="0" rtlCol="0" anchor="ctr"/>
          <a:lstStyle/>
          <a:p>
            <a:pPr indent="0" marL="0">
              <a:buNone/>
            </a:pPr>
            <a:r>
              <a:rPr lang="en-US" sz="950" dirty="0">
                <a:solidFill>
                  <a:srgbClr val="1A2E3B"/>
                </a:solidFill>
                <a:latin typeface="Calibri" pitchFamily="34" charset="0"/>
                <a:ea typeface="Calibri" pitchFamily="34" charset="-122"/>
                <a:cs typeface="Calibri" pitchFamily="34" charset="-120"/>
              </a:rPr>
              <a:t>I have been feeling really down lately.</a:t>
            </a:r>
            <a:endParaRPr lang="en-US" sz="950" dirty="0"/>
          </a:p>
        </p:txBody>
      </p:sp>
      <p:sp>
        <p:nvSpPr>
          <p:cNvPr id="10" name="Shape 8"/>
          <p:cNvSpPr/>
          <p:nvPr/>
        </p:nvSpPr>
        <p:spPr>
          <a:xfrm>
            <a:off x="3611880" y="1188720"/>
            <a:ext cx="1143000" cy="292608"/>
          </a:xfrm>
          <a:prstGeom prst="roundRect">
            <a:avLst>
              <a:gd name="adj" fmla="val 31250"/>
            </a:avLst>
          </a:prstGeom>
          <a:solidFill>
            <a:srgbClr val="D6F0FA"/>
          </a:solidFill>
          <a:ln w="12700">
            <a:solidFill>
              <a:srgbClr val="BBBBB0"/>
            </a:solidFill>
            <a:prstDash val="solid"/>
          </a:ln>
        </p:spPr>
      </p:sp>
      <p:sp>
        <p:nvSpPr>
          <p:cNvPr id="11" name="Text 9"/>
          <p:cNvSpPr/>
          <p:nvPr/>
        </p:nvSpPr>
        <p:spPr>
          <a:xfrm>
            <a:off x="3611880" y="1188720"/>
            <a:ext cx="1143000" cy="292608"/>
          </a:xfrm>
          <a:prstGeom prst="rect">
            <a:avLst/>
          </a:prstGeom>
          <a:noFill/>
          <a:ln/>
        </p:spPr>
        <p:txBody>
          <a:bodyPr wrap="square" lIns="0" tIns="0" rIns="0" bIns="0" rtlCol="0" anchor="ctr"/>
          <a:lstStyle/>
          <a:p>
            <a:pPr algn="ctr" indent="0" marL="0">
              <a:buNone/>
            </a:pPr>
            <a:r>
              <a:rPr lang="en-US" sz="850" b="1" dirty="0">
                <a:solidFill>
                  <a:srgbClr val="1A2E3B"/>
                </a:solidFill>
                <a:latin typeface="Calibri" pitchFamily="34" charset="0"/>
                <a:ea typeface="Calibri" pitchFamily="34" charset="-122"/>
                <a:cs typeface="Calibri" pitchFamily="34" charset="-120"/>
              </a:rPr>
              <a:t>SADNESS</a:t>
            </a:r>
            <a:endParaRPr lang="en-US" sz="850" dirty="0"/>
          </a:p>
        </p:txBody>
      </p:sp>
      <p:sp>
        <p:nvSpPr>
          <p:cNvPr id="12" name="Text 10"/>
          <p:cNvSpPr/>
          <p:nvPr/>
        </p:nvSpPr>
        <p:spPr>
          <a:xfrm>
            <a:off x="4846320" y="1207008"/>
            <a:ext cx="1920240" cy="274320"/>
          </a:xfrm>
          <a:prstGeom prst="rect">
            <a:avLst/>
          </a:prstGeom>
          <a:noFill/>
          <a:ln/>
        </p:spPr>
        <p:txBody>
          <a:bodyPr wrap="square" lIns="0" tIns="0" rIns="0" bIns="0" rtlCol="0" anchor="ctr"/>
          <a:lstStyle/>
          <a:p>
            <a:pPr indent="0" marL="0">
              <a:buNone/>
            </a:pPr>
            <a:r>
              <a:rPr lang="en-US" sz="850" i="1" dirty="0">
                <a:solidFill>
                  <a:srgbClr val="7FA3B5"/>
                </a:solidFill>
                <a:latin typeface="Calibri" pitchFamily="34" charset="0"/>
                <a:ea typeface="Calibri" pitchFamily="34" charset="-122"/>
                <a:cs typeface="Calibri" pitchFamily="34" charset="-120"/>
              </a:rPr>
              <a:t>INSUFFICIENT_DATA</a:t>
            </a:r>
            <a:endParaRPr lang="en-US" sz="850" dirty="0"/>
          </a:p>
        </p:txBody>
      </p:sp>
      <p:sp>
        <p:nvSpPr>
          <p:cNvPr id="13" name="Text 11"/>
          <p:cNvSpPr/>
          <p:nvPr/>
        </p:nvSpPr>
        <p:spPr>
          <a:xfrm>
            <a:off x="6858000" y="1207008"/>
            <a:ext cx="1828800" cy="274320"/>
          </a:xfrm>
          <a:prstGeom prst="rect">
            <a:avLst/>
          </a:prstGeom>
          <a:noFill/>
          <a:ln/>
        </p:spPr>
        <p:txBody>
          <a:bodyPr wrap="square" lIns="0" tIns="0" rIns="0" bIns="0" rtlCol="0" anchor="ctr"/>
          <a:lstStyle/>
          <a:p>
            <a:pPr indent="0" marL="0">
              <a:buNone/>
            </a:pPr>
            <a:r>
              <a:rPr lang="en-US" sz="850" dirty="0">
                <a:solidFill>
                  <a:srgbClr val="0A6E72"/>
                </a:solidFill>
                <a:latin typeface="Calibri" pitchFamily="34" charset="0"/>
                <a:ea typeface="Calibri" pitchFamily="34" charset="-122"/>
                <a:cs typeface="Calibri" pitchFamily="34" charset="-120"/>
              </a:rPr>
              <a:t>VALIDATION</a:t>
            </a:r>
            <a:endParaRPr lang="en-US" sz="850" dirty="0"/>
          </a:p>
        </p:txBody>
      </p:sp>
      <p:sp>
        <p:nvSpPr>
          <p:cNvPr id="14" name="Shape 12"/>
          <p:cNvSpPr/>
          <p:nvPr/>
        </p:nvSpPr>
        <p:spPr>
          <a:xfrm>
            <a:off x="320040" y="1655064"/>
            <a:ext cx="8503920" cy="502920"/>
          </a:xfrm>
          <a:prstGeom prst="rect">
            <a:avLst/>
          </a:prstGeom>
          <a:solidFill>
            <a:srgbClr val="FFFFFF"/>
          </a:solidFill>
          <a:ln w="12700">
            <a:solidFill>
              <a:srgbClr val="E2E8EC"/>
            </a:solidFill>
            <a:prstDash val="solid"/>
          </a:ln>
        </p:spPr>
      </p:sp>
      <p:sp>
        <p:nvSpPr>
          <p:cNvPr id="15" name="Shape 13"/>
          <p:cNvSpPr/>
          <p:nvPr/>
        </p:nvSpPr>
        <p:spPr>
          <a:xfrm>
            <a:off x="384048" y="1719072"/>
            <a:ext cx="365760" cy="365760"/>
          </a:xfrm>
          <a:prstGeom prst="ellipse">
            <a:avLst/>
          </a:prstGeom>
          <a:solidFill>
            <a:srgbClr val="0A6E72"/>
          </a:solidFill>
          <a:ln w="12700">
            <a:solidFill>
              <a:srgbClr val="000000">
                <a:alpha val="0"/>
              </a:srgbClr>
            </a:solidFill>
            <a:prstDash val="solid"/>
          </a:ln>
        </p:spPr>
      </p:sp>
      <p:sp>
        <p:nvSpPr>
          <p:cNvPr id="16" name="Text 14"/>
          <p:cNvSpPr/>
          <p:nvPr/>
        </p:nvSpPr>
        <p:spPr>
          <a:xfrm>
            <a:off x="384048" y="1719072"/>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T2</a:t>
            </a:r>
            <a:endParaRPr lang="en-US" sz="900" dirty="0"/>
          </a:p>
        </p:txBody>
      </p:sp>
      <p:sp>
        <p:nvSpPr>
          <p:cNvPr id="17" name="Text 15"/>
          <p:cNvSpPr/>
          <p:nvPr/>
        </p:nvSpPr>
        <p:spPr>
          <a:xfrm>
            <a:off x="841248" y="1728216"/>
            <a:ext cx="2651760" cy="347472"/>
          </a:xfrm>
          <a:prstGeom prst="rect">
            <a:avLst/>
          </a:prstGeom>
          <a:noFill/>
          <a:ln/>
        </p:spPr>
        <p:txBody>
          <a:bodyPr wrap="square" lIns="0" tIns="0" rIns="0" bIns="0" rtlCol="0" anchor="ctr"/>
          <a:lstStyle/>
          <a:p>
            <a:pPr indent="0" marL="0">
              <a:buNone/>
            </a:pPr>
            <a:r>
              <a:rPr lang="en-US" sz="950" dirty="0">
                <a:solidFill>
                  <a:srgbClr val="1A2E3B"/>
                </a:solidFill>
                <a:latin typeface="Calibri" pitchFamily="34" charset="0"/>
                <a:ea typeface="Calibri" pitchFamily="34" charset="-122"/>
                <a:cs typeface="Calibri" pitchFamily="34" charset="-120"/>
              </a:rPr>
              <a:t>I failed my final year project presentation.</a:t>
            </a:r>
            <a:endParaRPr lang="en-US" sz="950" dirty="0"/>
          </a:p>
        </p:txBody>
      </p:sp>
      <p:sp>
        <p:nvSpPr>
          <p:cNvPr id="18" name="Shape 16"/>
          <p:cNvSpPr/>
          <p:nvPr/>
        </p:nvSpPr>
        <p:spPr>
          <a:xfrm>
            <a:off x="3611880" y="1746504"/>
            <a:ext cx="1143000" cy="292608"/>
          </a:xfrm>
          <a:prstGeom prst="roundRect">
            <a:avLst>
              <a:gd name="adj" fmla="val 31250"/>
            </a:avLst>
          </a:prstGeom>
          <a:solidFill>
            <a:srgbClr val="D6F0FA"/>
          </a:solidFill>
          <a:ln w="12700">
            <a:solidFill>
              <a:srgbClr val="BBBBB0"/>
            </a:solidFill>
            <a:prstDash val="solid"/>
          </a:ln>
        </p:spPr>
      </p:sp>
      <p:sp>
        <p:nvSpPr>
          <p:cNvPr id="19" name="Text 17"/>
          <p:cNvSpPr/>
          <p:nvPr/>
        </p:nvSpPr>
        <p:spPr>
          <a:xfrm>
            <a:off x="3611880" y="1746504"/>
            <a:ext cx="1143000" cy="292608"/>
          </a:xfrm>
          <a:prstGeom prst="rect">
            <a:avLst/>
          </a:prstGeom>
          <a:noFill/>
          <a:ln/>
        </p:spPr>
        <p:txBody>
          <a:bodyPr wrap="square" lIns="0" tIns="0" rIns="0" bIns="0" rtlCol="0" anchor="ctr"/>
          <a:lstStyle/>
          <a:p>
            <a:pPr algn="ctr" indent="0" marL="0">
              <a:buNone/>
            </a:pPr>
            <a:r>
              <a:rPr lang="en-US" sz="850" b="1" dirty="0">
                <a:solidFill>
                  <a:srgbClr val="1A2E3B"/>
                </a:solidFill>
                <a:latin typeface="Calibri" pitchFamily="34" charset="0"/>
                <a:ea typeface="Calibri" pitchFamily="34" charset="-122"/>
                <a:cs typeface="Calibri" pitchFamily="34" charset="-120"/>
              </a:rPr>
              <a:t>SADNESS</a:t>
            </a:r>
            <a:endParaRPr lang="en-US" sz="850" dirty="0"/>
          </a:p>
        </p:txBody>
      </p:sp>
      <p:sp>
        <p:nvSpPr>
          <p:cNvPr id="20" name="Text 18"/>
          <p:cNvSpPr/>
          <p:nvPr/>
        </p:nvSpPr>
        <p:spPr>
          <a:xfrm>
            <a:off x="4846320" y="1764792"/>
            <a:ext cx="1920240" cy="274320"/>
          </a:xfrm>
          <a:prstGeom prst="rect">
            <a:avLst/>
          </a:prstGeom>
          <a:noFill/>
          <a:ln/>
        </p:spPr>
        <p:txBody>
          <a:bodyPr wrap="square" lIns="0" tIns="0" rIns="0" bIns="0" rtlCol="0" anchor="ctr"/>
          <a:lstStyle/>
          <a:p>
            <a:pPr indent="0" marL="0">
              <a:buNone/>
            </a:pPr>
            <a:r>
              <a:rPr lang="en-US" sz="850" i="1" dirty="0">
                <a:solidFill>
                  <a:srgbClr val="7FA3B5"/>
                </a:solidFill>
                <a:latin typeface="Calibri" pitchFamily="34" charset="0"/>
                <a:ea typeface="Calibri" pitchFamily="34" charset="-122"/>
                <a:cs typeface="Calibri" pitchFamily="34" charset="-120"/>
              </a:rPr>
              <a:t>INSUFFICIENT_DATA</a:t>
            </a:r>
            <a:endParaRPr lang="en-US" sz="850" dirty="0"/>
          </a:p>
        </p:txBody>
      </p:sp>
      <p:sp>
        <p:nvSpPr>
          <p:cNvPr id="21" name="Text 19"/>
          <p:cNvSpPr/>
          <p:nvPr/>
        </p:nvSpPr>
        <p:spPr>
          <a:xfrm>
            <a:off x="6858000" y="1764792"/>
            <a:ext cx="1828800" cy="274320"/>
          </a:xfrm>
          <a:prstGeom prst="rect">
            <a:avLst/>
          </a:prstGeom>
          <a:noFill/>
          <a:ln/>
        </p:spPr>
        <p:txBody>
          <a:bodyPr wrap="square" lIns="0" tIns="0" rIns="0" bIns="0" rtlCol="0" anchor="ctr"/>
          <a:lstStyle/>
          <a:p>
            <a:pPr indent="0" marL="0">
              <a:buNone/>
            </a:pPr>
            <a:r>
              <a:rPr lang="en-US" sz="850" dirty="0">
                <a:solidFill>
                  <a:srgbClr val="0A6E72"/>
                </a:solidFill>
                <a:latin typeface="Calibri" pitchFamily="34" charset="0"/>
                <a:ea typeface="Calibri" pitchFamily="34" charset="-122"/>
                <a:cs typeface="Calibri" pitchFamily="34" charset="-120"/>
              </a:rPr>
              <a:t>VALIDATION</a:t>
            </a:r>
            <a:endParaRPr lang="en-US" sz="850" dirty="0"/>
          </a:p>
        </p:txBody>
      </p:sp>
      <p:sp>
        <p:nvSpPr>
          <p:cNvPr id="22" name="Shape 20"/>
          <p:cNvSpPr/>
          <p:nvPr/>
        </p:nvSpPr>
        <p:spPr>
          <a:xfrm>
            <a:off x="320040" y="2212848"/>
            <a:ext cx="8503920" cy="502920"/>
          </a:xfrm>
          <a:prstGeom prst="rect">
            <a:avLst/>
          </a:prstGeom>
          <a:solidFill>
            <a:srgbClr val="FDF3E0"/>
          </a:solidFill>
          <a:ln w="12700">
            <a:solidFill>
              <a:srgbClr val="C9993A"/>
            </a:solidFill>
            <a:prstDash val="solid"/>
          </a:ln>
        </p:spPr>
      </p:sp>
      <p:sp>
        <p:nvSpPr>
          <p:cNvPr id="23" name="Shape 21"/>
          <p:cNvSpPr/>
          <p:nvPr/>
        </p:nvSpPr>
        <p:spPr>
          <a:xfrm>
            <a:off x="384048" y="2276856"/>
            <a:ext cx="365760" cy="365760"/>
          </a:xfrm>
          <a:prstGeom prst="ellipse">
            <a:avLst/>
          </a:prstGeom>
          <a:solidFill>
            <a:srgbClr val="C9993A"/>
          </a:solidFill>
          <a:ln w="12700">
            <a:solidFill>
              <a:srgbClr val="000000">
                <a:alpha val="0"/>
              </a:srgbClr>
            </a:solidFill>
            <a:prstDash val="solid"/>
          </a:ln>
        </p:spPr>
      </p:sp>
      <p:sp>
        <p:nvSpPr>
          <p:cNvPr id="24" name="Text 22"/>
          <p:cNvSpPr/>
          <p:nvPr/>
        </p:nvSpPr>
        <p:spPr>
          <a:xfrm>
            <a:off x="384048" y="2276856"/>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T3</a:t>
            </a:r>
            <a:endParaRPr lang="en-US" sz="900" dirty="0"/>
          </a:p>
        </p:txBody>
      </p:sp>
      <p:sp>
        <p:nvSpPr>
          <p:cNvPr id="25" name="Text 23"/>
          <p:cNvSpPr/>
          <p:nvPr/>
        </p:nvSpPr>
        <p:spPr>
          <a:xfrm>
            <a:off x="841248" y="2286000"/>
            <a:ext cx="2651760" cy="347472"/>
          </a:xfrm>
          <a:prstGeom prst="rect">
            <a:avLst/>
          </a:prstGeom>
          <a:noFill/>
          <a:ln/>
        </p:spPr>
        <p:txBody>
          <a:bodyPr wrap="square" lIns="0" tIns="0" rIns="0" bIns="0" rtlCol="0" anchor="ctr"/>
          <a:lstStyle/>
          <a:p>
            <a:pPr indent="0" marL="0">
              <a:buNone/>
            </a:pPr>
            <a:r>
              <a:rPr lang="en-US" sz="950" dirty="0">
                <a:solidFill>
                  <a:srgbClr val="1A2E3B"/>
                </a:solidFill>
                <a:latin typeface="Calibri" pitchFamily="34" charset="0"/>
                <a:ea typeface="Calibri" pitchFamily="34" charset="-122"/>
                <a:cs typeface="Calibri" pitchFamily="34" charset="-120"/>
              </a:rPr>
              <a:t>My supervisor was disappointed. I could see it.</a:t>
            </a:r>
            <a:endParaRPr lang="en-US" sz="950" dirty="0"/>
          </a:p>
        </p:txBody>
      </p:sp>
      <p:sp>
        <p:nvSpPr>
          <p:cNvPr id="26" name="Shape 24"/>
          <p:cNvSpPr/>
          <p:nvPr/>
        </p:nvSpPr>
        <p:spPr>
          <a:xfrm>
            <a:off x="3611880" y="2304288"/>
            <a:ext cx="1143000" cy="292608"/>
          </a:xfrm>
          <a:prstGeom prst="roundRect">
            <a:avLst>
              <a:gd name="adj" fmla="val 31250"/>
            </a:avLst>
          </a:prstGeom>
          <a:solidFill>
            <a:srgbClr val="FDECEA"/>
          </a:solidFill>
          <a:ln w="12700">
            <a:solidFill>
              <a:srgbClr val="BBBBB0"/>
            </a:solidFill>
            <a:prstDash val="solid"/>
          </a:ln>
        </p:spPr>
      </p:sp>
      <p:sp>
        <p:nvSpPr>
          <p:cNvPr id="27" name="Text 25"/>
          <p:cNvSpPr/>
          <p:nvPr/>
        </p:nvSpPr>
        <p:spPr>
          <a:xfrm>
            <a:off x="3611880" y="2304288"/>
            <a:ext cx="1143000" cy="292608"/>
          </a:xfrm>
          <a:prstGeom prst="rect">
            <a:avLst/>
          </a:prstGeom>
          <a:noFill/>
          <a:ln/>
        </p:spPr>
        <p:txBody>
          <a:bodyPr wrap="square" lIns="0" tIns="0" rIns="0" bIns="0" rtlCol="0" anchor="ctr"/>
          <a:lstStyle/>
          <a:p>
            <a:pPr algn="ctr" indent="0" marL="0">
              <a:buNone/>
            </a:pPr>
            <a:r>
              <a:rPr lang="en-US" sz="850" b="1" dirty="0">
                <a:solidFill>
                  <a:srgbClr val="1A2E3B"/>
                </a:solidFill>
                <a:latin typeface="Calibri" pitchFamily="34" charset="0"/>
                <a:ea typeface="Calibri" pitchFamily="34" charset="-122"/>
                <a:cs typeface="Calibri" pitchFamily="34" charset="-120"/>
              </a:rPr>
              <a:t>ANGER</a:t>
            </a:r>
            <a:endParaRPr lang="en-US" sz="850" dirty="0"/>
          </a:p>
        </p:txBody>
      </p:sp>
      <p:sp>
        <p:nvSpPr>
          <p:cNvPr id="28" name="Text 26"/>
          <p:cNvSpPr/>
          <p:nvPr/>
        </p:nvSpPr>
        <p:spPr>
          <a:xfrm>
            <a:off x="4846320" y="2322576"/>
            <a:ext cx="1920240" cy="274320"/>
          </a:xfrm>
          <a:prstGeom prst="rect">
            <a:avLst/>
          </a:prstGeom>
          <a:noFill/>
          <a:ln/>
        </p:spPr>
        <p:txBody>
          <a:bodyPr wrap="square" lIns="0" tIns="0" rIns="0" bIns="0" rtlCol="0" anchor="ctr"/>
          <a:lstStyle/>
          <a:p>
            <a:pPr indent="0" marL="0">
              <a:buNone/>
            </a:pPr>
            <a:r>
              <a:rPr lang="en-US" sz="850" b="1" i="1" dirty="0">
                <a:solidFill>
                  <a:srgbClr val="C9993A"/>
                </a:solidFill>
                <a:latin typeface="Calibri" pitchFamily="34" charset="0"/>
                <a:ea typeface="Calibri" pitchFamily="34" charset="-122"/>
                <a:cs typeface="Calibri" pitchFamily="34" charset="-120"/>
              </a:rPr>
              <a:t>PERSISTENT_DISTRESS</a:t>
            </a:r>
            <a:endParaRPr lang="en-US" sz="850" dirty="0"/>
          </a:p>
        </p:txBody>
      </p:sp>
      <p:sp>
        <p:nvSpPr>
          <p:cNvPr id="29" name="Text 27"/>
          <p:cNvSpPr/>
          <p:nvPr/>
        </p:nvSpPr>
        <p:spPr>
          <a:xfrm>
            <a:off x="6858000" y="2322576"/>
            <a:ext cx="1828800" cy="274320"/>
          </a:xfrm>
          <a:prstGeom prst="rect">
            <a:avLst/>
          </a:prstGeom>
          <a:noFill/>
          <a:ln/>
        </p:spPr>
        <p:txBody>
          <a:bodyPr wrap="square" lIns="0" tIns="0" rIns="0" bIns="0" rtlCol="0" anchor="ctr"/>
          <a:lstStyle/>
          <a:p>
            <a:pPr indent="0" marL="0">
              <a:buNone/>
            </a:pPr>
            <a:r>
              <a:rPr lang="en-US" sz="850" b="1" dirty="0">
                <a:solidFill>
                  <a:srgbClr val="C9993A"/>
                </a:solidFill>
                <a:latin typeface="Calibri" pitchFamily="34" charset="0"/>
                <a:ea typeface="Calibri" pitchFamily="34" charset="-122"/>
                <a:cs typeface="Calibri" pitchFamily="34" charset="-120"/>
              </a:rPr>
              <a:t>VALIDATION_AND_REFLECTION</a:t>
            </a:r>
            <a:endParaRPr lang="en-US" sz="850" dirty="0"/>
          </a:p>
        </p:txBody>
      </p:sp>
      <p:sp>
        <p:nvSpPr>
          <p:cNvPr id="30" name="Shape 28"/>
          <p:cNvSpPr/>
          <p:nvPr/>
        </p:nvSpPr>
        <p:spPr>
          <a:xfrm>
            <a:off x="320040" y="2770632"/>
            <a:ext cx="8503920" cy="502920"/>
          </a:xfrm>
          <a:prstGeom prst="rect">
            <a:avLst/>
          </a:prstGeom>
          <a:solidFill>
            <a:srgbClr val="FFFFFF"/>
          </a:solidFill>
          <a:ln w="12700">
            <a:solidFill>
              <a:srgbClr val="E2E8EC"/>
            </a:solidFill>
            <a:prstDash val="solid"/>
          </a:ln>
        </p:spPr>
      </p:sp>
      <p:sp>
        <p:nvSpPr>
          <p:cNvPr id="31" name="Shape 29"/>
          <p:cNvSpPr/>
          <p:nvPr/>
        </p:nvSpPr>
        <p:spPr>
          <a:xfrm>
            <a:off x="384048" y="2834640"/>
            <a:ext cx="365760" cy="365760"/>
          </a:xfrm>
          <a:prstGeom prst="ellipse">
            <a:avLst/>
          </a:prstGeom>
          <a:solidFill>
            <a:srgbClr val="0A6E72"/>
          </a:solidFill>
          <a:ln w="12700">
            <a:solidFill>
              <a:srgbClr val="000000">
                <a:alpha val="0"/>
              </a:srgbClr>
            </a:solidFill>
            <a:prstDash val="solid"/>
          </a:ln>
        </p:spPr>
      </p:sp>
      <p:sp>
        <p:nvSpPr>
          <p:cNvPr id="32" name="Text 30"/>
          <p:cNvSpPr/>
          <p:nvPr/>
        </p:nvSpPr>
        <p:spPr>
          <a:xfrm>
            <a:off x="384048" y="2834640"/>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T4</a:t>
            </a:r>
            <a:endParaRPr lang="en-US" sz="900" dirty="0"/>
          </a:p>
        </p:txBody>
      </p:sp>
      <p:sp>
        <p:nvSpPr>
          <p:cNvPr id="33" name="Text 31"/>
          <p:cNvSpPr/>
          <p:nvPr/>
        </p:nvSpPr>
        <p:spPr>
          <a:xfrm>
            <a:off x="841248" y="2843784"/>
            <a:ext cx="2651760" cy="347472"/>
          </a:xfrm>
          <a:prstGeom prst="rect">
            <a:avLst/>
          </a:prstGeom>
          <a:noFill/>
          <a:ln/>
        </p:spPr>
        <p:txBody>
          <a:bodyPr wrap="square" lIns="0" tIns="0" rIns="0" bIns="0" rtlCol="0" anchor="ctr"/>
          <a:lstStyle/>
          <a:p>
            <a:pPr indent="0" marL="0">
              <a:buNone/>
            </a:pPr>
            <a:r>
              <a:rPr lang="en-US" sz="950" dirty="0">
                <a:solidFill>
                  <a:srgbClr val="1A2E3B"/>
                </a:solidFill>
                <a:latin typeface="Calibri" pitchFamily="34" charset="0"/>
                <a:ea typeface="Calibri" pitchFamily="34" charset="-122"/>
                <a:cs typeface="Calibri" pitchFamily="34" charset="-120"/>
              </a:rPr>
              <a:t>I feel so worthless and tired of trying.</a:t>
            </a:r>
            <a:endParaRPr lang="en-US" sz="950" dirty="0"/>
          </a:p>
        </p:txBody>
      </p:sp>
      <p:sp>
        <p:nvSpPr>
          <p:cNvPr id="34" name="Shape 32"/>
          <p:cNvSpPr/>
          <p:nvPr/>
        </p:nvSpPr>
        <p:spPr>
          <a:xfrm>
            <a:off x="3611880" y="2862072"/>
            <a:ext cx="1143000" cy="292608"/>
          </a:xfrm>
          <a:prstGeom prst="roundRect">
            <a:avLst>
              <a:gd name="adj" fmla="val 31250"/>
            </a:avLst>
          </a:prstGeom>
          <a:solidFill>
            <a:srgbClr val="D6F0FA"/>
          </a:solidFill>
          <a:ln w="12700">
            <a:solidFill>
              <a:srgbClr val="BBBBB0"/>
            </a:solidFill>
            <a:prstDash val="solid"/>
          </a:ln>
        </p:spPr>
      </p:sp>
      <p:sp>
        <p:nvSpPr>
          <p:cNvPr id="35" name="Text 33"/>
          <p:cNvSpPr/>
          <p:nvPr/>
        </p:nvSpPr>
        <p:spPr>
          <a:xfrm>
            <a:off x="3611880" y="2862072"/>
            <a:ext cx="1143000" cy="292608"/>
          </a:xfrm>
          <a:prstGeom prst="rect">
            <a:avLst/>
          </a:prstGeom>
          <a:noFill/>
          <a:ln/>
        </p:spPr>
        <p:txBody>
          <a:bodyPr wrap="square" lIns="0" tIns="0" rIns="0" bIns="0" rtlCol="0" anchor="ctr"/>
          <a:lstStyle/>
          <a:p>
            <a:pPr algn="ctr" indent="0" marL="0">
              <a:buNone/>
            </a:pPr>
            <a:r>
              <a:rPr lang="en-US" sz="850" b="1" dirty="0">
                <a:solidFill>
                  <a:srgbClr val="1A2E3B"/>
                </a:solidFill>
                <a:latin typeface="Calibri" pitchFamily="34" charset="0"/>
                <a:ea typeface="Calibri" pitchFamily="34" charset="-122"/>
                <a:cs typeface="Calibri" pitchFamily="34" charset="-120"/>
              </a:rPr>
              <a:t>SADNESS</a:t>
            </a:r>
            <a:endParaRPr lang="en-US" sz="850" dirty="0"/>
          </a:p>
        </p:txBody>
      </p:sp>
      <p:sp>
        <p:nvSpPr>
          <p:cNvPr id="36" name="Text 34"/>
          <p:cNvSpPr/>
          <p:nvPr/>
        </p:nvSpPr>
        <p:spPr>
          <a:xfrm>
            <a:off x="4846320" y="2880360"/>
            <a:ext cx="1920240" cy="274320"/>
          </a:xfrm>
          <a:prstGeom prst="rect">
            <a:avLst/>
          </a:prstGeom>
          <a:noFill/>
          <a:ln/>
        </p:spPr>
        <p:txBody>
          <a:bodyPr wrap="square" lIns="0" tIns="0" rIns="0" bIns="0" rtlCol="0" anchor="ctr"/>
          <a:lstStyle/>
          <a:p>
            <a:pPr indent="0" marL="0">
              <a:buNone/>
            </a:pPr>
            <a:r>
              <a:rPr lang="en-US" sz="850" i="1" dirty="0">
                <a:solidFill>
                  <a:srgbClr val="7FA3B5"/>
                </a:solidFill>
                <a:latin typeface="Calibri" pitchFamily="34" charset="0"/>
                <a:ea typeface="Calibri" pitchFamily="34" charset="-122"/>
                <a:cs typeface="Calibri" pitchFamily="34" charset="-120"/>
              </a:rPr>
              <a:t>FLUCTUATING</a:t>
            </a:r>
            <a:endParaRPr lang="en-US" sz="850" dirty="0"/>
          </a:p>
        </p:txBody>
      </p:sp>
      <p:sp>
        <p:nvSpPr>
          <p:cNvPr id="37" name="Text 35"/>
          <p:cNvSpPr/>
          <p:nvPr/>
        </p:nvSpPr>
        <p:spPr>
          <a:xfrm>
            <a:off x="6858000" y="2880360"/>
            <a:ext cx="1828800" cy="274320"/>
          </a:xfrm>
          <a:prstGeom prst="rect">
            <a:avLst/>
          </a:prstGeom>
          <a:noFill/>
          <a:ln/>
        </p:spPr>
        <p:txBody>
          <a:bodyPr wrap="square" lIns="0" tIns="0" rIns="0" bIns="0" rtlCol="0" anchor="ctr"/>
          <a:lstStyle/>
          <a:p>
            <a:pPr indent="0" marL="0">
              <a:buNone/>
            </a:pPr>
            <a:r>
              <a:rPr lang="en-US" sz="850" dirty="0">
                <a:solidFill>
                  <a:srgbClr val="0A6E72"/>
                </a:solidFill>
                <a:latin typeface="Calibri" pitchFamily="34" charset="0"/>
                <a:ea typeface="Calibri" pitchFamily="34" charset="-122"/>
                <a:cs typeface="Calibri" pitchFamily="34" charset="-120"/>
              </a:rPr>
              <a:t>EXPLORATORY_INQUIRY</a:t>
            </a:r>
            <a:endParaRPr lang="en-US" sz="850" dirty="0"/>
          </a:p>
        </p:txBody>
      </p:sp>
      <p:sp>
        <p:nvSpPr>
          <p:cNvPr id="38" name="Shape 36"/>
          <p:cNvSpPr/>
          <p:nvPr/>
        </p:nvSpPr>
        <p:spPr>
          <a:xfrm>
            <a:off x="320040" y="3328416"/>
            <a:ext cx="8503920" cy="502920"/>
          </a:xfrm>
          <a:prstGeom prst="rect">
            <a:avLst/>
          </a:prstGeom>
          <a:solidFill>
            <a:srgbClr val="FFFFFF"/>
          </a:solidFill>
          <a:ln w="12700">
            <a:solidFill>
              <a:srgbClr val="E2E8EC"/>
            </a:solidFill>
            <a:prstDash val="solid"/>
          </a:ln>
        </p:spPr>
      </p:sp>
      <p:sp>
        <p:nvSpPr>
          <p:cNvPr id="39" name="Shape 37"/>
          <p:cNvSpPr/>
          <p:nvPr/>
        </p:nvSpPr>
        <p:spPr>
          <a:xfrm>
            <a:off x="384048" y="3392424"/>
            <a:ext cx="365760" cy="365760"/>
          </a:xfrm>
          <a:prstGeom prst="ellipse">
            <a:avLst/>
          </a:prstGeom>
          <a:solidFill>
            <a:srgbClr val="0A6E72"/>
          </a:solidFill>
          <a:ln w="12700">
            <a:solidFill>
              <a:srgbClr val="000000">
                <a:alpha val="0"/>
              </a:srgbClr>
            </a:solidFill>
            <a:prstDash val="solid"/>
          </a:ln>
        </p:spPr>
      </p:sp>
      <p:sp>
        <p:nvSpPr>
          <p:cNvPr id="40" name="Text 38"/>
          <p:cNvSpPr/>
          <p:nvPr/>
        </p:nvSpPr>
        <p:spPr>
          <a:xfrm>
            <a:off x="384048" y="339242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T5</a:t>
            </a:r>
            <a:endParaRPr lang="en-US" sz="900" dirty="0"/>
          </a:p>
        </p:txBody>
      </p:sp>
      <p:sp>
        <p:nvSpPr>
          <p:cNvPr id="41" name="Text 39"/>
          <p:cNvSpPr/>
          <p:nvPr/>
        </p:nvSpPr>
        <p:spPr>
          <a:xfrm>
            <a:off x="841248" y="3401568"/>
            <a:ext cx="2651760" cy="347472"/>
          </a:xfrm>
          <a:prstGeom prst="rect">
            <a:avLst/>
          </a:prstGeom>
          <a:noFill/>
          <a:ln/>
        </p:spPr>
        <p:txBody>
          <a:bodyPr wrap="square" lIns="0" tIns="0" rIns="0" bIns="0" rtlCol="0" anchor="ctr"/>
          <a:lstStyle/>
          <a:p>
            <a:pPr indent="0" marL="0">
              <a:buNone/>
            </a:pPr>
            <a:r>
              <a:rPr lang="en-US" sz="950" dirty="0">
                <a:solidFill>
                  <a:srgbClr val="1A2E3B"/>
                </a:solidFill>
                <a:latin typeface="Calibri" pitchFamily="34" charset="0"/>
                <a:ea typeface="Calibri" pitchFamily="34" charset="-122"/>
                <a:cs typeface="Calibri" pitchFamily="34" charset="-120"/>
              </a:rPr>
              <a:t>Maybe things can get better. I'm not sure.</a:t>
            </a:r>
            <a:endParaRPr lang="en-US" sz="950" dirty="0"/>
          </a:p>
        </p:txBody>
      </p:sp>
      <p:sp>
        <p:nvSpPr>
          <p:cNvPr id="42" name="Shape 40"/>
          <p:cNvSpPr/>
          <p:nvPr/>
        </p:nvSpPr>
        <p:spPr>
          <a:xfrm>
            <a:off x="3611880" y="3419856"/>
            <a:ext cx="1143000" cy="292608"/>
          </a:xfrm>
          <a:prstGeom prst="roundRect">
            <a:avLst>
              <a:gd name="adj" fmla="val 31250"/>
            </a:avLst>
          </a:prstGeom>
          <a:solidFill>
            <a:srgbClr val="E8EDF0"/>
          </a:solidFill>
          <a:ln w="12700">
            <a:solidFill>
              <a:srgbClr val="BBBBB0"/>
            </a:solidFill>
            <a:prstDash val="solid"/>
          </a:ln>
        </p:spPr>
      </p:sp>
      <p:sp>
        <p:nvSpPr>
          <p:cNvPr id="43" name="Text 41"/>
          <p:cNvSpPr/>
          <p:nvPr/>
        </p:nvSpPr>
        <p:spPr>
          <a:xfrm>
            <a:off x="3611880" y="3419856"/>
            <a:ext cx="1143000" cy="292608"/>
          </a:xfrm>
          <a:prstGeom prst="rect">
            <a:avLst/>
          </a:prstGeom>
          <a:noFill/>
          <a:ln/>
        </p:spPr>
        <p:txBody>
          <a:bodyPr wrap="square" lIns="0" tIns="0" rIns="0" bIns="0" rtlCol="0" anchor="ctr"/>
          <a:lstStyle/>
          <a:p>
            <a:pPr algn="ctr" indent="0" marL="0">
              <a:buNone/>
            </a:pPr>
            <a:r>
              <a:rPr lang="en-US" sz="850" b="1" dirty="0">
                <a:solidFill>
                  <a:srgbClr val="1A2E3B"/>
                </a:solidFill>
                <a:latin typeface="Calibri" pitchFamily="34" charset="0"/>
                <a:ea typeface="Calibri" pitchFamily="34" charset="-122"/>
                <a:cs typeface="Calibri" pitchFamily="34" charset="-120"/>
              </a:rPr>
              <a:t>NEUTRAL</a:t>
            </a:r>
            <a:endParaRPr lang="en-US" sz="850" dirty="0"/>
          </a:p>
        </p:txBody>
      </p:sp>
      <p:sp>
        <p:nvSpPr>
          <p:cNvPr id="44" name="Text 42"/>
          <p:cNvSpPr/>
          <p:nvPr/>
        </p:nvSpPr>
        <p:spPr>
          <a:xfrm>
            <a:off x="4846320" y="3438144"/>
            <a:ext cx="1920240" cy="274320"/>
          </a:xfrm>
          <a:prstGeom prst="rect">
            <a:avLst/>
          </a:prstGeom>
          <a:noFill/>
          <a:ln/>
        </p:spPr>
        <p:txBody>
          <a:bodyPr wrap="square" lIns="0" tIns="0" rIns="0" bIns="0" rtlCol="0" anchor="ctr"/>
          <a:lstStyle/>
          <a:p>
            <a:pPr indent="0" marL="0">
              <a:buNone/>
            </a:pPr>
            <a:r>
              <a:rPr lang="en-US" sz="850" i="1" dirty="0">
                <a:solidFill>
                  <a:srgbClr val="7FA3B5"/>
                </a:solidFill>
                <a:latin typeface="Calibri" pitchFamily="34" charset="0"/>
                <a:ea typeface="Calibri" pitchFamily="34" charset="-122"/>
                <a:cs typeface="Calibri" pitchFamily="34" charset="-120"/>
              </a:rPr>
              <a:t>FLUCTUATING</a:t>
            </a:r>
            <a:endParaRPr lang="en-US" sz="850" dirty="0"/>
          </a:p>
        </p:txBody>
      </p:sp>
      <p:sp>
        <p:nvSpPr>
          <p:cNvPr id="45" name="Text 43"/>
          <p:cNvSpPr/>
          <p:nvPr/>
        </p:nvSpPr>
        <p:spPr>
          <a:xfrm>
            <a:off x="6858000" y="3438144"/>
            <a:ext cx="1828800" cy="274320"/>
          </a:xfrm>
          <a:prstGeom prst="rect">
            <a:avLst/>
          </a:prstGeom>
          <a:noFill/>
          <a:ln/>
        </p:spPr>
        <p:txBody>
          <a:bodyPr wrap="square" lIns="0" tIns="0" rIns="0" bIns="0" rtlCol="0" anchor="ctr"/>
          <a:lstStyle/>
          <a:p>
            <a:pPr indent="0" marL="0">
              <a:buNone/>
            </a:pPr>
            <a:r>
              <a:rPr lang="en-US" sz="850" dirty="0">
                <a:solidFill>
                  <a:srgbClr val="0A6E72"/>
                </a:solidFill>
                <a:latin typeface="Calibri" pitchFamily="34" charset="0"/>
                <a:ea typeface="Calibri" pitchFamily="34" charset="-122"/>
                <a:cs typeface="Calibri" pitchFamily="34" charset="-120"/>
              </a:rPr>
              <a:t>EXPLORATORY_INQUIRY</a:t>
            </a:r>
            <a:endParaRPr lang="en-US" sz="850" dirty="0"/>
          </a:p>
        </p:txBody>
      </p:sp>
      <p:sp>
        <p:nvSpPr>
          <p:cNvPr id="46" name="Shape 44"/>
          <p:cNvSpPr/>
          <p:nvPr/>
        </p:nvSpPr>
        <p:spPr>
          <a:xfrm>
            <a:off x="320040" y="3886200"/>
            <a:ext cx="8503920" cy="502920"/>
          </a:xfrm>
          <a:prstGeom prst="rect">
            <a:avLst/>
          </a:prstGeom>
          <a:solidFill>
            <a:srgbClr val="FFFFFF"/>
          </a:solidFill>
          <a:ln w="12700">
            <a:solidFill>
              <a:srgbClr val="E2E8EC"/>
            </a:solidFill>
            <a:prstDash val="solid"/>
          </a:ln>
        </p:spPr>
      </p:sp>
      <p:sp>
        <p:nvSpPr>
          <p:cNvPr id="47" name="Shape 45"/>
          <p:cNvSpPr/>
          <p:nvPr/>
        </p:nvSpPr>
        <p:spPr>
          <a:xfrm>
            <a:off x="384048" y="3950208"/>
            <a:ext cx="365760" cy="365760"/>
          </a:xfrm>
          <a:prstGeom prst="ellipse">
            <a:avLst/>
          </a:prstGeom>
          <a:solidFill>
            <a:srgbClr val="0A6E72"/>
          </a:solidFill>
          <a:ln w="12700">
            <a:solidFill>
              <a:srgbClr val="000000">
                <a:alpha val="0"/>
              </a:srgbClr>
            </a:solidFill>
            <a:prstDash val="solid"/>
          </a:ln>
        </p:spPr>
      </p:sp>
      <p:sp>
        <p:nvSpPr>
          <p:cNvPr id="48" name="Text 46"/>
          <p:cNvSpPr/>
          <p:nvPr/>
        </p:nvSpPr>
        <p:spPr>
          <a:xfrm>
            <a:off x="384048" y="3950208"/>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T6</a:t>
            </a:r>
            <a:endParaRPr lang="en-US" sz="900" dirty="0"/>
          </a:p>
        </p:txBody>
      </p:sp>
      <p:sp>
        <p:nvSpPr>
          <p:cNvPr id="49" name="Text 47"/>
          <p:cNvSpPr/>
          <p:nvPr/>
        </p:nvSpPr>
        <p:spPr>
          <a:xfrm>
            <a:off x="841248" y="3959352"/>
            <a:ext cx="2651760" cy="347472"/>
          </a:xfrm>
          <a:prstGeom prst="rect">
            <a:avLst/>
          </a:prstGeom>
          <a:noFill/>
          <a:ln/>
        </p:spPr>
        <p:txBody>
          <a:bodyPr wrap="square" lIns="0" tIns="0" rIns="0" bIns="0" rtlCol="0" anchor="ctr"/>
          <a:lstStyle/>
          <a:p>
            <a:pPr indent="0" marL="0">
              <a:buNone/>
            </a:pPr>
            <a:r>
              <a:rPr lang="en-US" sz="950" dirty="0">
                <a:solidFill>
                  <a:srgbClr val="1A2E3B"/>
                </a:solidFill>
                <a:latin typeface="Calibri" pitchFamily="34" charset="0"/>
                <a:ea typeface="Calibri" pitchFamily="34" charset="-122"/>
                <a:cs typeface="Calibri" pitchFamily="34" charset="-120"/>
              </a:rPr>
              <a:t>My friend called and it helped a little.</a:t>
            </a:r>
            <a:endParaRPr lang="en-US" sz="950" dirty="0"/>
          </a:p>
        </p:txBody>
      </p:sp>
      <p:sp>
        <p:nvSpPr>
          <p:cNvPr id="50" name="Shape 48"/>
          <p:cNvSpPr/>
          <p:nvPr/>
        </p:nvSpPr>
        <p:spPr>
          <a:xfrm>
            <a:off x="3611880" y="3977640"/>
            <a:ext cx="1143000" cy="292608"/>
          </a:xfrm>
          <a:prstGeom prst="roundRect">
            <a:avLst>
              <a:gd name="adj" fmla="val 31250"/>
            </a:avLst>
          </a:prstGeom>
          <a:solidFill>
            <a:srgbClr val="E8EDF0"/>
          </a:solidFill>
          <a:ln w="12700">
            <a:solidFill>
              <a:srgbClr val="BBBBB0"/>
            </a:solidFill>
            <a:prstDash val="solid"/>
          </a:ln>
        </p:spPr>
      </p:sp>
      <p:sp>
        <p:nvSpPr>
          <p:cNvPr id="51" name="Text 49"/>
          <p:cNvSpPr/>
          <p:nvPr/>
        </p:nvSpPr>
        <p:spPr>
          <a:xfrm>
            <a:off x="3611880" y="3977640"/>
            <a:ext cx="1143000" cy="292608"/>
          </a:xfrm>
          <a:prstGeom prst="rect">
            <a:avLst/>
          </a:prstGeom>
          <a:noFill/>
          <a:ln/>
        </p:spPr>
        <p:txBody>
          <a:bodyPr wrap="square" lIns="0" tIns="0" rIns="0" bIns="0" rtlCol="0" anchor="ctr"/>
          <a:lstStyle/>
          <a:p>
            <a:pPr algn="ctr" indent="0" marL="0">
              <a:buNone/>
            </a:pPr>
            <a:r>
              <a:rPr lang="en-US" sz="850" b="1" dirty="0">
                <a:solidFill>
                  <a:srgbClr val="1A2E3B"/>
                </a:solidFill>
                <a:latin typeface="Calibri" pitchFamily="34" charset="0"/>
                <a:ea typeface="Calibri" pitchFamily="34" charset="-122"/>
                <a:cs typeface="Calibri" pitchFamily="34" charset="-120"/>
              </a:rPr>
              <a:t>NEUTRAL</a:t>
            </a:r>
            <a:endParaRPr lang="en-US" sz="850" dirty="0"/>
          </a:p>
        </p:txBody>
      </p:sp>
      <p:sp>
        <p:nvSpPr>
          <p:cNvPr id="52" name="Text 50"/>
          <p:cNvSpPr/>
          <p:nvPr/>
        </p:nvSpPr>
        <p:spPr>
          <a:xfrm>
            <a:off x="4846320" y="3995928"/>
            <a:ext cx="1920240" cy="274320"/>
          </a:xfrm>
          <a:prstGeom prst="rect">
            <a:avLst/>
          </a:prstGeom>
          <a:noFill/>
          <a:ln/>
        </p:spPr>
        <p:txBody>
          <a:bodyPr wrap="square" lIns="0" tIns="0" rIns="0" bIns="0" rtlCol="0" anchor="ctr"/>
          <a:lstStyle/>
          <a:p>
            <a:pPr indent="0" marL="0">
              <a:buNone/>
            </a:pPr>
            <a:r>
              <a:rPr lang="en-US" sz="850" i="1" dirty="0">
                <a:solidFill>
                  <a:srgbClr val="7FA3B5"/>
                </a:solidFill>
                <a:latin typeface="Calibri" pitchFamily="34" charset="0"/>
                <a:ea typeface="Calibri" pitchFamily="34" charset="-122"/>
                <a:cs typeface="Calibri" pitchFamily="34" charset="-120"/>
              </a:rPr>
              <a:t>FLUCTUATING</a:t>
            </a:r>
            <a:endParaRPr lang="en-US" sz="850" dirty="0"/>
          </a:p>
        </p:txBody>
      </p:sp>
      <p:sp>
        <p:nvSpPr>
          <p:cNvPr id="53" name="Text 51"/>
          <p:cNvSpPr/>
          <p:nvPr/>
        </p:nvSpPr>
        <p:spPr>
          <a:xfrm>
            <a:off x="6858000" y="3995928"/>
            <a:ext cx="1828800" cy="274320"/>
          </a:xfrm>
          <a:prstGeom prst="rect">
            <a:avLst/>
          </a:prstGeom>
          <a:noFill/>
          <a:ln/>
        </p:spPr>
        <p:txBody>
          <a:bodyPr wrap="square" lIns="0" tIns="0" rIns="0" bIns="0" rtlCol="0" anchor="ctr"/>
          <a:lstStyle/>
          <a:p>
            <a:pPr indent="0" marL="0">
              <a:buNone/>
            </a:pPr>
            <a:r>
              <a:rPr lang="en-US" sz="850" dirty="0">
                <a:solidFill>
                  <a:srgbClr val="0A6E72"/>
                </a:solidFill>
                <a:latin typeface="Calibri" pitchFamily="34" charset="0"/>
                <a:ea typeface="Calibri" pitchFamily="34" charset="-122"/>
                <a:cs typeface="Calibri" pitchFamily="34" charset="-120"/>
              </a:rPr>
              <a:t>EXPLORATORY_INQUIRY</a:t>
            </a:r>
            <a:endParaRPr lang="en-US" sz="850" dirty="0"/>
          </a:p>
        </p:txBody>
      </p:sp>
      <p:sp>
        <p:nvSpPr>
          <p:cNvPr id="54" name="Shape 52"/>
          <p:cNvSpPr/>
          <p:nvPr/>
        </p:nvSpPr>
        <p:spPr>
          <a:xfrm>
            <a:off x="320040" y="4443984"/>
            <a:ext cx="8503920" cy="502920"/>
          </a:xfrm>
          <a:prstGeom prst="rect">
            <a:avLst/>
          </a:prstGeom>
          <a:solidFill>
            <a:srgbClr val="FFFFFF"/>
          </a:solidFill>
          <a:ln w="12700">
            <a:solidFill>
              <a:srgbClr val="E2E8EC"/>
            </a:solidFill>
            <a:prstDash val="solid"/>
          </a:ln>
        </p:spPr>
      </p:sp>
      <p:sp>
        <p:nvSpPr>
          <p:cNvPr id="55" name="Shape 53"/>
          <p:cNvSpPr/>
          <p:nvPr/>
        </p:nvSpPr>
        <p:spPr>
          <a:xfrm>
            <a:off x="384048" y="4507992"/>
            <a:ext cx="365760" cy="365760"/>
          </a:xfrm>
          <a:prstGeom prst="ellipse">
            <a:avLst/>
          </a:prstGeom>
          <a:solidFill>
            <a:srgbClr val="0A6E72"/>
          </a:solidFill>
          <a:ln w="12700">
            <a:solidFill>
              <a:srgbClr val="000000">
                <a:alpha val="0"/>
              </a:srgbClr>
            </a:solidFill>
            <a:prstDash val="solid"/>
          </a:ln>
        </p:spPr>
      </p:sp>
      <p:sp>
        <p:nvSpPr>
          <p:cNvPr id="56" name="Text 54"/>
          <p:cNvSpPr/>
          <p:nvPr/>
        </p:nvSpPr>
        <p:spPr>
          <a:xfrm>
            <a:off x="384048" y="4507992"/>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T7</a:t>
            </a:r>
            <a:endParaRPr lang="en-US" sz="900" dirty="0"/>
          </a:p>
        </p:txBody>
      </p:sp>
      <p:sp>
        <p:nvSpPr>
          <p:cNvPr id="57" name="Text 55"/>
          <p:cNvSpPr/>
          <p:nvPr/>
        </p:nvSpPr>
        <p:spPr>
          <a:xfrm>
            <a:off x="841248" y="4517136"/>
            <a:ext cx="2651760" cy="347472"/>
          </a:xfrm>
          <a:prstGeom prst="rect">
            <a:avLst/>
          </a:prstGeom>
          <a:noFill/>
          <a:ln/>
        </p:spPr>
        <p:txBody>
          <a:bodyPr wrap="square" lIns="0" tIns="0" rIns="0" bIns="0" rtlCol="0" anchor="ctr"/>
          <a:lstStyle/>
          <a:p>
            <a:pPr indent="0" marL="0">
              <a:buNone/>
            </a:pPr>
            <a:r>
              <a:rPr lang="en-US" sz="950" dirty="0">
                <a:solidFill>
                  <a:srgbClr val="1A2E3B"/>
                </a:solidFill>
                <a:latin typeface="Calibri" pitchFamily="34" charset="0"/>
                <a:ea typeface="Calibri" pitchFamily="34" charset="-122"/>
                <a:cs typeface="Calibri" pitchFamily="34" charset="-120"/>
              </a:rPr>
              <a:t>I think I just needed to talk to someone.</a:t>
            </a:r>
            <a:endParaRPr lang="en-US" sz="950" dirty="0"/>
          </a:p>
        </p:txBody>
      </p:sp>
      <p:sp>
        <p:nvSpPr>
          <p:cNvPr id="58" name="Shape 56"/>
          <p:cNvSpPr/>
          <p:nvPr/>
        </p:nvSpPr>
        <p:spPr>
          <a:xfrm>
            <a:off x="3611880" y="4535424"/>
            <a:ext cx="1143000" cy="292608"/>
          </a:xfrm>
          <a:prstGeom prst="roundRect">
            <a:avLst>
              <a:gd name="adj" fmla="val 31250"/>
            </a:avLst>
          </a:prstGeom>
          <a:solidFill>
            <a:srgbClr val="E8EDF0"/>
          </a:solidFill>
          <a:ln w="12700">
            <a:solidFill>
              <a:srgbClr val="BBBBB0"/>
            </a:solidFill>
            <a:prstDash val="solid"/>
          </a:ln>
        </p:spPr>
      </p:sp>
      <p:sp>
        <p:nvSpPr>
          <p:cNvPr id="59" name="Text 57"/>
          <p:cNvSpPr/>
          <p:nvPr/>
        </p:nvSpPr>
        <p:spPr>
          <a:xfrm>
            <a:off x="3611880" y="4535424"/>
            <a:ext cx="1143000" cy="292608"/>
          </a:xfrm>
          <a:prstGeom prst="rect">
            <a:avLst/>
          </a:prstGeom>
          <a:noFill/>
          <a:ln/>
        </p:spPr>
        <p:txBody>
          <a:bodyPr wrap="square" lIns="0" tIns="0" rIns="0" bIns="0" rtlCol="0" anchor="ctr"/>
          <a:lstStyle/>
          <a:p>
            <a:pPr algn="ctr" indent="0" marL="0">
              <a:buNone/>
            </a:pPr>
            <a:r>
              <a:rPr lang="en-US" sz="850" b="1" dirty="0">
                <a:solidFill>
                  <a:srgbClr val="1A2E3B"/>
                </a:solidFill>
                <a:latin typeface="Calibri" pitchFamily="34" charset="0"/>
                <a:ea typeface="Calibri" pitchFamily="34" charset="-122"/>
                <a:cs typeface="Calibri" pitchFamily="34" charset="-120"/>
              </a:rPr>
              <a:t>NEUTRAL</a:t>
            </a:r>
            <a:endParaRPr lang="en-US" sz="850" dirty="0"/>
          </a:p>
        </p:txBody>
      </p:sp>
      <p:sp>
        <p:nvSpPr>
          <p:cNvPr id="60" name="Text 58"/>
          <p:cNvSpPr/>
          <p:nvPr/>
        </p:nvSpPr>
        <p:spPr>
          <a:xfrm>
            <a:off x="4846320" y="4553712"/>
            <a:ext cx="1920240" cy="274320"/>
          </a:xfrm>
          <a:prstGeom prst="rect">
            <a:avLst/>
          </a:prstGeom>
          <a:noFill/>
          <a:ln/>
        </p:spPr>
        <p:txBody>
          <a:bodyPr wrap="square" lIns="0" tIns="0" rIns="0" bIns="0" rtlCol="0" anchor="ctr"/>
          <a:lstStyle/>
          <a:p>
            <a:pPr indent="0" marL="0">
              <a:buNone/>
            </a:pPr>
            <a:r>
              <a:rPr lang="en-US" sz="850" i="1" dirty="0">
                <a:solidFill>
                  <a:srgbClr val="7FA3B5"/>
                </a:solidFill>
                <a:latin typeface="Calibri" pitchFamily="34" charset="0"/>
                <a:ea typeface="Calibri" pitchFamily="34" charset="-122"/>
                <a:cs typeface="Calibri" pitchFamily="34" charset="-120"/>
              </a:rPr>
              <a:t>FLUCTUATING</a:t>
            </a:r>
            <a:endParaRPr lang="en-US" sz="850" dirty="0"/>
          </a:p>
        </p:txBody>
      </p:sp>
      <p:sp>
        <p:nvSpPr>
          <p:cNvPr id="61" name="Text 59"/>
          <p:cNvSpPr/>
          <p:nvPr/>
        </p:nvSpPr>
        <p:spPr>
          <a:xfrm>
            <a:off x="6858000" y="4553712"/>
            <a:ext cx="1828800" cy="274320"/>
          </a:xfrm>
          <a:prstGeom prst="rect">
            <a:avLst/>
          </a:prstGeom>
          <a:noFill/>
          <a:ln/>
        </p:spPr>
        <p:txBody>
          <a:bodyPr wrap="square" lIns="0" tIns="0" rIns="0" bIns="0" rtlCol="0" anchor="ctr"/>
          <a:lstStyle/>
          <a:p>
            <a:pPr indent="0" marL="0">
              <a:buNone/>
            </a:pPr>
            <a:r>
              <a:rPr lang="en-US" sz="850" dirty="0">
                <a:solidFill>
                  <a:srgbClr val="0A6E72"/>
                </a:solidFill>
                <a:latin typeface="Calibri" pitchFamily="34" charset="0"/>
                <a:ea typeface="Calibri" pitchFamily="34" charset="-122"/>
                <a:cs typeface="Calibri" pitchFamily="34" charset="-120"/>
              </a:rPr>
              <a:t>EXPLORATORY_INQUIRY</a:t>
            </a:r>
            <a:endParaRPr lang="en-US" sz="850" dirty="0"/>
          </a:p>
        </p:txBody>
      </p:sp>
      <p:sp>
        <p:nvSpPr>
          <p:cNvPr id="62" name="Shape 60"/>
          <p:cNvSpPr/>
          <p:nvPr/>
        </p:nvSpPr>
        <p:spPr>
          <a:xfrm>
            <a:off x="320040" y="2770632"/>
            <a:ext cx="8503920" cy="22860"/>
          </a:xfrm>
          <a:prstGeom prst="rect">
            <a:avLst/>
          </a:prstGeom>
          <a:solidFill>
            <a:srgbClr val="C9993A"/>
          </a:solidFill>
          <a:ln w="12700">
            <a:solidFill>
              <a:srgbClr val="C9993A"/>
            </a:solidFill>
            <a:prstDash val="solid"/>
          </a:ln>
        </p:spPr>
      </p:sp>
      <p:sp>
        <p:nvSpPr>
          <p:cNvPr id="63" name="Text 61"/>
          <p:cNvSpPr/>
          <p:nvPr/>
        </p:nvSpPr>
        <p:spPr>
          <a:xfrm>
            <a:off x="320040" y="4800600"/>
            <a:ext cx="8503920" cy="256032"/>
          </a:xfrm>
          <a:prstGeom prst="rect">
            <a:avLst/>
          </a:prstGeom>
          <a:noFill/>
          <a:ln/>
        </p:spPr>
        <p:txBody>
          <a:bodyPr wrap="square" lIns="0" tIns="0" rIns="0" bIns="0" rtlCol="0" anchor="ctr"/>
          <a:lstStyle/>
          <a:p>
            <a:pPr indent="0" marL="0">
              <a:buNone/>
            </a:pPr>
            <a:r>
              <a:rPr lang="en-US" sz="1000" b="1" dirty="0">
                <a:solidFill>
                  <a:srgbClr val="C9993A"/>
                </a:solidFill>
                <a:latin typeface="Calibri" pitchFamily="34" charset="0"/>
                <a:ea typeface="Calibri" pitchFamily="34" charset="-122"/>
                <a:cs typeface="Calibri" pitchFamily="34" charset="-120"/>
              </a:rPr>
              <a:t>⬆ Strategy escalation at Turn 3: accumulated distress triggers VALIDATION → VALIDATION_AND_REFLECTION</a:t>
            </a:r>
            <a:endParaRPr lang="en-US" sz="1000" dirty="0"/>
          </a:p>
        </p:txBody>
      </p:sp>
      <p:sp>
        <p:nvSpPr>
          <p:cNvPr id="64" name="Text 62"/>
          <p:cNvSpPr/>
          <p:nvPr/>
        </p:nvSpPr>
        <p:spPr>
          <a:xfrm>
            <a:off x="320040" y="1005840"/>
            <a:ext cx="502920" cy="228600"/>
          </a:xfrm>
          <a:prstGeom prst="rect">
            <a:avLst/>
          </a:prstGeom>
          <a:noFill/>
          <a:ln/>
        </p:spPr>
        <p:txBody>
          <a:bodyPr wrap="square" lIns="0" tIns="0" rIns="0" bIns="0" rtlCol="0" anchor="ctr"/>
          <a:lstStyle/>
          <a:p>
            <a:pPr indent="0" marL="0">
              <a:buNone/>
            </a:pPr>
            <a:r>
              <a:rPr lang="en-US" sz="900" b="1" dirty="0">
                <a:solidFill>
                  <a:srgbClr val="7FA3B5"/>
                </a:solidFill>
                <a:latin typeface="Calibri" pitchFamily="34" charset="0"/>
                <a:ea typeface="Calibri" pitchFamily="34" charset="-122"/>
                <a:cs typeface="Calibri" pitchFamily="34" charset="-120"/>
              </a:rPr>
              <a:t>Turn</a:t>
            </a:r>
            <a:endParaRPr lang="en-US" sz="900" dirty="0"/>
          </a:p>
        </p:txBody>
      </p:sp>
      <p:sp>
        <p:nvSpPr>
          <p:cNvPr id="65" name="Text 63"/>
          <p:cNvSpPr/>
          <p:nvPr/>
        </p:nvSpPr>
        <p:spPr>
          <a:xfrm>
            <a:off x="822960" y="1005840"/>
            <a:ext cx="2743200" cy="228600"/>
          </a:xfrm>
          <a:prstGeom prst="rect">
            <a:avLst/>
          </a:prstGeom>
          <a:noFill/>
          <a:ln/>
        </p:spPr>
        <p:txBody>
          <a:bodyPr wrap="square" lIns="0" tIns="0" rIns="0" bIns="0" rtlCol="0" anchor="ctr"/>
          <a:lstStyle/>
          <a:p>
            <a:pPr indent="0" marL="0">
              <a:buNone/>
            </a:pPr>
            <a:r>
              <a:rPr lang="en-US" sz="900" b="1" dirty="0">
                <a:solidFill>
                  <a:srgbClr val="7FA3B5"/>
                </a:solidFill>
                <a:latin typeface="Calibri" pitchFamily="34" charset="0"/>
                <a:ea typeface="Calibri" pitchFamily="34" charset="-122"/>
                <a:cs typeface="Calibri" pitchFamily="34" charset="-120"/>
              </a:rPr>
              <a:t>User Message</a:t>
            </a:r>
            <a:endParaRPr lang="en-US" sz="900" dirty="0"/>
          </a:p>
        </p:txBody>
      </p:sp>
      <p:sp>
        <p:nvSpPr>
          <p:cNvPr id="66" name="Text 64"/>
          <p:cNvSpPr/>
          <p:nvPr/>
        </p:nvSpPr>
        <p:spPr>
          <a:xfrm>
            <a:off x="3566160" y="1005840"/>
            <a:ext cx="1188720" cy="228600"/>
          </a:xfrm>
          <a:prstGeom prst="rect">
            <a:avLst/>
          </a:prstGeom>
          <a:noFill/>
          <a:ln/>
        </p:spPr>
        <p:txBody>
          <a:bodyPr wrap="square" lIns="0" tIns="0" rIns="0" bIns="0" rtlCol="0" anchor="ctr"/>
          <a:lstStyle/>
          <a:p>
            <a:pPr indent="0" marL="0">
              <a:buNone/>
            </a:pPr>
            <a:r>
              <a:rPr lang="en-US" sz="900" b="1" dirty="0">
                <a:solidFill>
                  <a:srgbClr val="7FA3B5"/>
                </a:solidFill>
                <a:latin typeface="Calibri" pitchFamily="34" charset="0"/>
                <a:ea typeface="Calibri" pitchFamily="34" charset="-122"/>
                <a:cs typeface="Calibri" pitchFamily="34" charset="-120"/>
              </a:rPr>
              <a:t>Emotion</a:t>
            </a:r>
            <a:endParaRPr lang="en-US" sz="900" dirty="0"/>
          </a:p>
        </p:txBody>
      </p:sp>
      <p:sp>
        <p:nvSpPr>
          <p:cNvPr id="67" name="Text 65"/>
          <p:cNvSpPr/>
          <p:nvPr/>
        </p:nvSpPr>
        <p:spPr>
          <a:xfrm>
            <a:off x="4800600" y="1005840"/>
            <a:ext cx="2011680" cy="228600"/>
          </a:xfrm>
          <a:prstGeom prst="rect">
            <a:avLst/>
          </a:prstGeom>
          <a:noFill/>
          <a:ln/>
        </p:spPr>
        <p:txBody>
          <a:bodyPr wrap="square" lIns="0" tIns="0" rIns="0" bIns="0" rtlCol="0" anchor="ctr"/>
          <a:lstStyle/>
          <a:p>
            <a:pPr indent="0" marL="0">
              <a:buNone/>
            </a:pPr>
            <a:r>
              <a:rPr lang="en-US" sz="900" b="1" dirty="0">
                <a:solidFill>
                  <a:srgbClr val="7FA3B5"/>
                </a:solidFill>
                <a:latin typeface="Calibri" pitchFamily="34" charset="0"/>
                <a:ea typeface="Calibri" pitchFamily="34" charset="-122"/>
                <a:cs typeface="Calibri" pitchFamily="34" charset="-120"/>
              </a:rPr>
              <a:t>Trend</a:t>
            </a:r>
            <a:endParaRPr lang="en-US" sz="900" dirty="0"/>
          </a:p>
        </p:txBody>
      </p:sp>
      <p:sp>
        <p:nvSpPr>
          <p:cNvPr id="68" name="Text 66"/>
          <p:cNvSpPr/>
          <p:nvPr/>
        </p:nvSpPr>
        <p:spPr>
          <a:xfrm>
            <a:off x="6812280" y="1005840"/>
            <a:ext cx="1920240" cy="228600"/>
          </a:xfrm>
          <a:prstGeom prst="rect">
            <a:avLst/>
          </a:prstGeom>
          <a:noFill/>
          <a:ln/>
        </p:spPr>
        <p:txBody>
          <a:bodyPr wrap="square" lIns="0" tIns="0" rIns="0" bIns="0" rtlCol="0" anchor="ctr"/>
          <a:lstStyle/>
          <a:p>
            <a:pPr indent="0" marL="0">
              <a:buNone/>
            </a:pPr>
            <a:r>
              <a:rPr lang="en-US" sz="900" b="1" dirty="0">
                <a:solidFill>
                  <a:srgbClr val="7FA3B5"/>
                </a:solidFill>
                <a:latin typeface="Calibri" pitchFamily="34" charset="0"/>
                <a:ea typeface="Calibri" pitchFamily="34" charset="-122"/>
                <a:cs typeface="Calibri" pitchFamily="34" charset="-120"/>
              </a:rPr>
              <a:t>Strategy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IMPLEMENTATION CHALLENGES &amp; SOLUTIONS</a:t>
            </a:r>
            <a:endParaRPr lang="en-US" sz="2200" dirty="0"/>
          </a:p>
        </p:txBody>
      </p:sp>
      <p:sp>
        <p:nvSpPr>
          <p:cNvPr id="4" name="Text 2"/>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16 / 19</a:t>
            </a:r>
            <a:endParaRPr lang="en-US" sz="900" dirty="0"/>
          </a:p>
        </p:txBody>
      </p:sp>
      <p:sp>
        <p:nvSpPr>
          <p:cNvPr id="5" name="Shape 3"/>
          <p:cNvSpPr/>
          <p:nvPr/>
        </p:nvSpPr>
        <p:spPr>
          <a:xfrm>
            <a:off x="320040" y="1115568"/>
            <a:ext cx="850392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6" name="Shape 4"/>
          <p:cNvSpPr/>
          <p:nvPr/>
        </p:nvSpPr>
        <p:spPr>
          <a:xfrm>
            <a:off x="438912" y="1207008"/>
            <a:ext cx="1005840" cy="237744"/>
          </a:xfrm>
          <a:prstGeom prst="roundRect">
            <a:avLst>
              <a:gd name="adj" fmla="val 38462"/>
            </a:avLst>
          </a:prstGeom>
          <a:solidFill>
            <a:srgbClr val="D6EEEF"/>
          </a:solidFill>
          <a:ln w="12700">
            <a:solidFill>
              <a:srgbClr val="128C8E"/>
            </a:solidFill>
            <a:prstDash val="solid"/>
          </a:ln>
        </p:spPr>
      </p:sp>
      <p:sp>
        <p:nvSpPr>
          <p:cNvPr id="7" name="Text 5"/>
          <p:cNvSpPr/>
          <p:nvPr/>
        </p:nvSpPr>
        <p:spPr>
          <a:xfrm>
            <a:off x="438912" y="1207008"/>
            <a:ext cx="1005840" cy="237744"/>
          </a:xfrm>
          <a:prstGeom prst="rect">
            <a:avLst/>
          </a:prstGeom>
          <a:noFill/>
          <a:ln/>
        </p:spPr>
        <p:txBody>
          <a:bodyPr wrap="square" lIns="0" tIns="0" rIns="0" bIns="0" rtlCol="0" anchor="ctr"/>
          <a:lstStyle/>
          <a:p>
            <a:pPr algn="ctr" indent="0" marL="0">
              <a:buNone/>
            </a:pPr>
            <a:r>
              <a:rPr lang="en-US" sz="850" b="1" dirty="0">
                <a:solidFill>
                  <a:srgbClr val="0A6E72"/>
                </a:solidFill>
                <a:latin typeface="Calibri" pitchFamily="34" charset="0"/>
                <a:ea typeface="Calibri" pitchFamily="34" charset="-122"/>
                <a:cs typeface="Calibri" pitchFamily="34" charset="-120"/>
              </a:rPr>
              <a:t>Performance</a:t>
            </a:r>
            <a:endParaRPr lang="en-US" sz="850" dirty="0"/>
          </a:p>
        </p:txBody>
      </p:sp>
      <p:sp>
        <p:nvSpPr>
          <p:cNvPr id="8" name="Text 6"/>
          <p:cNvSpPr/>
          <p:nvPr/>
        </p:nvSpPr>
        <p:spPr>
          <a:xfrm>
            <a:off x="1554480" y="1170432"/>
            <a:ext cx="7086600" cy="228600"/>
          </a:xfrm>
          <a:prstGeom prst="rect">
            <a:avLst/>
          </a:prstGeom>
          <a:noFill/>
          <a:ln/>
        </p:spPr>
        <p:txBody>
          <a:bodyPr wrap="square" lIns="0" tIns="0" rIns="0" bIns="0" rtlCol="0" anchor="ctr"/>
          <a:lstStyle/>
          <a:p>
            <a:pPr indent="0" marL="0">
              <a:buNone/>
            </a:pPr>
            <a:r>
              <a:rPr lang="en-US" sz="1050" b="1" dirty="0">
                <a:solidFill>
                  <a:srgbClr val="1A2E3B"/>
                </a:solidFill>
                <a:latin typeface="Calibri" pitchFamily="34" charset="0"/>
                <a:ea typeface="Calibri" pitchFamily="34" charset="-122"/>
                <a:cs typeface="Calibri" pitchFamily="34" charset="-120"/>
              </a:rPr>
              <a:t>HuggingFace Model Startup Latency</a:t>
            </a:r>
            <a:endParaRPr lang="en-US" sz="1050" dirty="0"/>
          </a:p>
        </p:txBody>
      </p:sp>
      <p:sp>
        <p:nvSpPr>
          <p:cNvPr id="9" name="Text 7"/>
          <p:cNvSpPr/>
          <p:nvPr/>
        </p:nvSpPr>
        <p:spPr>
          <a:xfrm>
            <a:off x="1554480" y="1408176"/>
            <a:ext cx="3291840" cy="256032"/>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Problem: Transformer startup: 45–60 seconds due to Hub HTTP requests</a:t>
            </a:r>
            <a:endParaRPr lang="en-US" sz="950" dirty="0"/>
          </a:p>
        </p:txBody>
      </p:sp>
      <p:sp>
        <p:nvSpPr>
          <p:cNvPr id="10" name="Text 8"/>
          <p:cNvSpPr/>
          <p:nvPr/>
        </p:nvSpPr>
        <p:spPr>
          <a:xfrm>
            <a:off x="4937760" y="1408176"/>
            <a:ext cx="3749040" cy="256032"/>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 Fix: HF_HUB_OFFLINE=1 with local model cache → startup under 2 seconds</a:t>
            </a:r>
            <a:endParaRPr lang="en-US" sz="950" dirty="0"/>
          </a:p>
        </p:txBody>
      </p:sp>
      <p:sp>
        <p:nvSpPr>
          <p:cNvPr id="11" name="Shape 9"/>
          <p:cNvSpPr/>
          <p:nvPr/>
        </p:nvSpPr>
        <p:spPr>
          <a:xfrm>
            <a:off x="320040" y="1874520"/>
            <a:ext cx="850392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2" name="Shape 10"/>
          <p:cNvSpPr/>
          <p:nvPr/>
        </p:nvSpPr>
        <p:spPr>
          <a:xfrm>
            <a:off x="438912" y="1965960"/>
            <a:ext cx="1005840" cy="237744"/>
          </a:xfrm>
          <a:prstGeom prst="roundRect">
            <a:avLst>
              <a:gd name="adj" fmla="val 38462"/>
            </a:avLst>
          </a:prstGeom>
          <a:solidFill>
            <a:srgbClr val="D6EEEF"/>
          </a:solidFill>
          <a:ln w="12700">
            <a:solidFill>
              <a:srgbClr val="128C8E"/>
            </a:solidFill>
            <a:prstDash val="solid"/>
          </a:ln>
        </p:spPr>
      </p:sp>
      <p:sp>
        <p:nvSpPr>
          <p:cNvPr id="13" name="Text 11"/>
          <p:cNvSpPr/>
          <p:nvPr/>
        </p:nvSpPr>
        <p:spPr>
          <a:xfrm>
            <a:off x="438912" y="1965960"/>
            <a:ext cx="1005840" cy="237744"/>
          </a:xfrm>
          <a:prstGeom prst="rect">
            <a:avLst/>
          </a:prstGeom>
          <a:noFill/>
          <a:ln/>
        </p:spPr>
        <p:txBody>
          <a:bodyPr wrap="square" lIns="0" tIns="0" rIns="0" bIns="0" rtlCol="0" anchor="ctr"/>
          <a:lstStyle/>
          <a:p>
            <a:pPr algn="ctr" indent="0" marL="0">
              <a:buNone/>
            </a:pPr>
            <a:r>
              <a:rPr lang="en-US" sz="850" b="1" dirty="0">
                <a:solidFill>
                  <a:srgbClr val="0A6E72"/>
                </a:solidFill>
                <a:latin typeface="Calibri" pitchFamily="34" charset="0"/>
                <a:ea typeface="Calibri" pitchFamily="34" charset="-122"/>
                <a:cs typeface="Calibri" pitchFamily="34" charset="-120"/>
              </a:rPr>
              <a:t>Algorithm</a:t>
            </a:r>
            <a:endParaRPr lang="en-US" sz="850" dirty="0"/>
          </a:p>
        </p:txBody>
      </p:sp>
      <p:sp>
        <p:nvSpPr>
          <p:cNvPr id="14" name="Text 12"/>
          <p:cNvSpPr/>
          <p:nvPr/>
        </p:nvSpPr>
        <p:spPr>
          <a:xfrm>
            <a:off x="1554480" y="1929384"/>
            <a:ext cx="7086600" cy="228600"/>
          </a:xfrm>
          <a:prstGeom prst="rect">
            <a:avLst/>
          </a:prstGeom>
          <a:noFill/>
          <a:ln/>
        </p:spPr>
        <p:txBody>
          <a:bodyPr wrap="square" lIns="0" tIns="0" rIns="0" bIns="0" rtlCol="0" anchor="ctr"/>
          <a:lstStyle/>
          <a:p>
            <a:pPr indent="0" marL="0">
              <a:buNone/>
            </a:pPr>
            <a:r>
              <a:rPr lang="en-US" sz="1050" b="1" dirty="0">
                <a:solidFill>
                  <a:srgbClr val="1A2E3B"/>
                </a:solidFill>
                <a:latin typeface="Calibri" pitchFamily="34" charset="0"/>
                <a:ea typeface="Calibri" pitchFamily="34" charset="-122"/>
                <a:cs typeface="Calibri" pitchFamily="34" charset="-120"/>
              </a:rPr>
              <a:t>Trend Threshold Calibration</a:t>
            </a:r>
            <a:endParaRPr lang="en-US" sz="1050" dirty="0"/>
          </a:p>
        </p:txBody>
      </p:sp>
      <p:sp>
        <p:nvSpPr>
          <p:cNvPr id="15" name="Text 13"/>
          <p:cNvSpPr/>
          <p:nvPr/>
        </p:nvSpPr>
        <p:spPr>
          <a:xfrm>
            <a:off x="1554480" y="2167128"/>
            <a:ext cx="3291840" cy="256032"/>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Problem: Initial ESCALATING_DISTRESS too strict; [SADNESS,ANXIETY,SADNESS] wrongly classified</a:t>
            </a:r>
            <a:endParaRPr lang="en-US" sz="950" dirty="0"/>
          </a:p>
        </p:txBody>
      </p:sp>
      <p:sp>
        <p:nvSpPr>
          <p:cNvPr id="16" name="Text 14"/>
          <p:cNvSpPr/>
          <p:nvPr/>
        </p:nvSpPr>
        <p:spPr>
          <a:xfrm>
            <a:off x="4937760" y="2167128"/>
            <a:ext cx="3749040" cy="256032"/>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 Fix: Reordered priority chain: direction-change detection before severity threshold comparison</a:t>
            </a:r>
            <a:endParaRPr lang="en-US" sz="950" dirty="0"/>
          </a:p>
        </p:txBody>
      </p:sp>
      <p:sp>
        <p:nvSpPr>
          <p:cNvPr id="17" name="Shape 15"/>
          <p:cNvSpPr/>
          <p:nvPr/>
        </p:nvSpPr>
        <p:spPr>
          <a:xfrm>
            <a:off x="320040" y="2633472"/>
            <a:ext cx="850392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8" name="Shape 16"/>
          <p:cNvSpPr/>
          <p:nvPr/>
        </p:nvSpPr>
        <p:spPr>
          <a:xfrm>
            <a:off x="438912" y="2724912"/>
            <a:ext cx="1005840" cy="237744"/>
          </a:xfrm>
          <a:prstGeom prst="roundRect">
            <a:avLst>
              <a:gd name="adj" fmla="val 38462"/>
            </a:avLst>
          </a:prstGeom>
          <a:solidFill>
            <a:srgbClr val="D6EEEF"/>
          </a:solidFill>
          <a:ln w="12700">
            <a:solidFill>
              <a:srgbClr val="128C8E"/>
            </a:solidFill>
            <a:prstDash val="solid"/>
          </a:ln>
        </p:spPr>
      </p:sp>
      <p:sp>
        <p:nvSpPr>
          <p:cNvPr id="19" name="Text 17"/>
          <p:cNvSpPr/>
          <p:nvPr/>
        </p:nvSpPr>
        <p:spPr>
          <a:xfrm>
            <a:off x="438912" y="2724912"/>
            <a:ext cx="1005840" cy="237744"/>
          </a:xfrm>
          <a:prstGeom prst="rect">
            <a:avLst/>
          </a:prstGeom>
          <a:noFill/>
          <a:ln/>
        </p:spPr>
        <p:txBody>
          <a:bodyPr wrap="square" lIns="0" tIns="0" rIns="0" bIns="0" rtlCol="0" anchor="ctr"/>
          <a:lstStyle/>
          <a:p>
            <a:pPr algn="ctr" indent="0" marL="0">
              <a:buNone/>
            </a:pPr>
            <a:r>
              <a:rPr lang="en-US" sz="850" b="1" dirty="0">
                <a:solidFill>
                  <a:srgbClr val="0A6E72"/>
                </a:solidFill>
                <a:latin typeface="Calibri" pitchFamily="34" charset="0"/>
                <a:ea typeface="Calibri" pitchFamily="34" charset="-122"/>
                <a:cs typeface="Calibri" pitchFamily="34" charset="-120"/>
              </a:rPr>
              <a:t>Classification</a:t>
            </a:r>
            <a:endParaRPr lang="en-US" sz="850" dirty="0"/>
          </a:p>
        </p:txBody>
      </p:sp>
      <p:sp>
        <p:nvSpPr>
          <p:cNvPr id="20" name="Text 18"/>
          <p:cNvSpPr/>
          <p:nvPr/>
        </p:nvSpPr>
        <p:spPr>
          <a:xfrm>
            <a:off x="1554480" y="2688336"/>
            <a:ext cx="7086600" cy="228600"/>
          </a:xfrm>
          <a:prstGeom prst="rect">
            <a:avLst/>
          </a:prstGeom>
          <a:noFill/>
          <a:ln/>
        </p:spPr>
        <p:txBody>
          <a:bodyPr wrap="square" lIns="0" tIns="0" rIns="0" bIns="0" rtlCol="0" anchor="ctr"/>
          <a:lstStyle/>
          <a:p>
            <a:pPr indent="0" marL="0">
              <a:buNone/>
            </a:pPr>
            <a:r>
              <a:rPr lang="en-US" sz="1050" b="1" dirty="0">
                <a:solidFill>
                  <a:srgbClr val="1A2E3B"/>
                </a:solidFill>
                <a:latin typeface="Calibri" pitchFamily="34" charset="0"/>
                <a:ea typeface="Calibri" pitchFamily="34" charset="-122"/>
                <a:cs typeface="Calibri" pitchFamily="34" charset="-120"/>
              </a:rPr>
              <a:t>Ambiguity Detection Coverage</a:t>
            </a:r>
            <a:endParaRPr lang="en-US" sz="1050" dirty="0"/>
          </a:p>
        </p:txBody>
      </p:sp>
      <p:sp>
        <p:nvSpPr>
          <p:cNvPr id="21" name="Text 19"/>
          <p:cNvSpPr/>
          <p:nvPr/>
        </p:nvSpPr>
        <p:spPr>
          <a:xfrm>
            <a:off x="1554480" y="2926080"/>
            <a:ext cx="3291840" cy="256032"/>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Problem: "I got the job but I'm terrified" classified as ANXIETY; fear dominated embedding space</a:t>
            </a:r>
            <a:endParaRPr lang="en-US" sz="950" dirty="0"/>
          </a:p>
        </p:txBody>
      </p:sp>
      <p:sp>
        <p:nvSpPr>
          <p:cNvPr id="22" name="Text 20"/>
          <p:cNvSpPr/>
          <p:nvPr/>
        </p:nvSpPr>
        <p:spPr>
          <a:xfrm>
            <a:off x="4937760" y="2926080"/>
            <a:ext cx="3749040" cy="256032"/>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 Fix: Ambiguity pre-check: contrastive conjunctions + mixed keyword sets → force AMBIGUOUS</a:t>
            </a:r>
            <a:endParaRPr lang="en-US" sz="950" dirty="0"/>
          </a:p>
        </p:txBody>
      </p:sp>
      <p:sp>
        <p:nvSpPr>
          <p:cNvPr id="23" name="Shape 21"/>
          <p:cNvSpPr/>
          <p:nvPr/>
        </p:nvSpPr>
        <p:spPr>
          <a:xfrm>
            <a:off x="320040" y="3392424"/>
            <a:ext cx="850392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4" name="Shape 22"/>
          <p:cNvSpPr/>
          <p:nvPr/>
        </p:nvSpPr>
        <p:spPr>
          <a:xfrm>
            <a:off x="438912" y="3483864"/>
            <a:ext cx="1005840" cy="237744"/>
          </a:xfrm>
          <a:prstGeom prst="roundRect">
            <a:avLst>
              <a:gd name="adj" fmla="val 38462"/>
            </a:avLst>
          </a:prstGeom>
          <a:solidFill>
            <a:srgbClr val="D6EEEF"/>
          </a:solidFill>
          <a:ln w="12700">
            <a:solidFill>
              <a:srgbClr val="128C8E"/>
            </a:solidFill>
            <a:prstDash val="solid"/>
          </a:ln>
        </p:spPr>
      </p:sp>
      <p:sp>
        <p:nvSpPr>
          <p:cNvPr id="25" name="Text 23"/>
          <p:cNvSpPr/>
          <p:nvPr/>
        </p:nvSpPr>
        <p:spPr>
          <a:xfrm>
            <a:off x="438912" y="3483864"/>
            <a:ext cx="1005840" cy="237744"/>
          </a:xfrm>
          <a:prstGeom prst="rect">
            <a:avLst/>
          </a:prstGeom>
          <a:noFill/>
          <a:ln/>
        </p:spPr>
        <p:txBody>
          <a:bodyPr wrap="square" lIns="0" tIns="0" rIns="0" bIns="0" rtlCol="0" anchor="ctr"/>
          <a:lstStyle/>
          <a:p>
            <a:pPr algn="ctr" indent="0" marL="0">
              <a:buNone/>
            </a:pPr>
            <a:r>
              <a:rPr lang="en-US" sz="850" b="1" dirty="0">
                <a:solidFill>
                  <a:srgbClr val="0A6E72"/>
                </a:solidFill>
                <a:latin typeface="Calibri" pitchFamily="34" charset="0"/>
                <a:ea typeface="Calibri" pitchFamily="34" charset="-122"/>
                <a:cs typeface="Calibri" pitchFamily="34" charset="-120"/>
              </a:rPr>
              <a:t>Safety</a:t>
            </a:r>
            <a:endParaRPr lang="en-US" sz="850" dirty="0"/>
          </a:p>
        </p:txBody>
      </p:sp>
      <p:sp>
        <p:nvSpPr>
          <p:cNvPr id="26" name="Text 24"/>
          <p:cNvSpPr/>
          <p:nvPr/>
        </p:nvSpPr>
        <p:spPr>
          <a:xfrm>
            <a:off x="1554480" y="3447288"/>
            <a:ext cx="7086600" cy="228600"/>
          </a:xfrm>
          <a:prstGeom prst="rect">
            <a:avLst/>
          </a:prstGeom>
          <a:noFill/>
          <a:ln/>
        </p:spPr>
        <p:txBody>
          <a:bodyPr wrap="square" lIns="0" tIns="0" rIns="0" bIns="0" rtlCol="0" anchor="ctr"/>
          <a:lstStyle/>
          <a:p>
            <a:pPr indent="0" marL="0">
              <a:buNone/>
            </a:pPr>
            <a:r>
              <a:rPr lang="en-US" sz="1050" b="1" dirty="0">
                <a:solidFill>
                  <a:srgbClr val="1A2E3B"/>
                </a:solidFill>
                <a:latin typeface="Calibri" pitchFamily="34" charset="0"/>
                <a:ea typeface="Calibri" pitchFamily="34" charset="-122"/>
                <a:cs typeface="Calibri" pitchFamily="34" charset="-120"/>
              </a:rPr>
              <a:t>Crisis Pattern Coverage</a:t>
            </a:r>
            <a:endParaRPr lang="en-US" sz="1050" dirty="0"/>
          </a:p>
        </p:txBody>
      </p:sp>
      <p:sp>
        <p:nvSpPr>
          <p:cNvPr id="27" name="Text 25"/>
          <p:cNvSpPr/>
          <p:nvPr/>
        </p:nvSpPr>
        <p:spPr>
          <a:xfrm>
            <a:off x="1554480" y="3685032"/>
            <a:ext cx="3291840" cy="256032"/>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Problem: Indirect expressions ("what's the point", "nobody go miss me") evaded keyword matching</a:t>
            </a:r>
            <a:endParaRPr lang="en-US" sz="950" dirty="0"/>
          </a:p>
        </p:txBody>
      </p:sp>
      <p:sp>
        <p:nvSpPr>
          <p:cNvPr id="28" name="Text 26"/>
          <p:cNvSpPr/>
          <p:nvPr/>
        </p:nvSpPr>
        <p:spPr>
          <a:xfrm>
            <a:off x="4937760" y="3685032"/>
            <a:ext cx="3749040" cy="256032"/>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 Fix: Expanded to 35+ patterns including Nigerian Pidgin idioms of severe distress</a:t>
            </a:r>
            <a:endParaRPr lang="en-US" sz="950" dirty="0"/>
          </a:p>
        </p:txBody>
      </p:sp>
      <p:sp>
        <p:nvSpPr>
          <p:cNvPr id="29" name="Shape 27"/>
          <p:cNvSpPr/>
          <p:nvPr/>
        </p:nvSpPr>
        <p:spPr>
          <a:xfrm>
            <a:off x="320040" y="4151376"/>
            <a:ext cx="8503920" cy="694944"/>
          </a:xfrm>
          <a:prstGeom prst="roundRect">
            <a:avLst>
              <a:gd name="adj" fmla="val 15789"/>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30" name="Shape 28"/>
          <p:cNvSpPr/>
          <p:nvPr/>
        </p:nvSpPr>
        <p:spPr>
          <a:xfrm>
            <a:off x="438912" y="4242816"/>
            <a:ext cx="1005840" cy="237744"/>
          </a:xfrm>
          <a:prstGeom prst="roundRect">
            <a:avLst>
              <a:gd name="adj" fmla="val 38462"/>
            </a:avLst>
          </a:prstGeom>
          <a:solidFill>
            <a:srgbClr val="D6EEEF"/>
          </a:solidFill>
          <a:ln w="12700">
            <a:solidFill>
              <a:srgbClr val="128C8E"/>
            </a:solidFill>
            <a:prstDash val="solid"/>
          </a:ln>
        </p:spPr>
      </p:sp>
      <p:sp>
        <p:nvSpPr>
          <p:cNvPr id="31" name="Text 29"/>
          <p:cNvSpPr/>
          <p:nvPr/>
        </p:nvSpPr>
        <p:spPr>
          <a:xfrm>
            <a:off x="438912" y="4242816"/>
            <a:ext cx="1005840" cy="237744"/>
          </a:xfrm>
          <a:prstGeom prst="rect">
            <a:avLst/>
          </a:prstGeom>
          <a:noFill/>
          <a:ln/>
        </p:spPr>
        <p:txBody>
          <a:bodyPr wrap="square" lIns="0" tIns="0" rIns="0" bIns="0" rtlCol="0" anchor="ctr"/>
          <a:lstStyle/>
          <a:p>
            <a:pPr algn="ctr" indent="0" marL="0">
              <a:buNone/>
            </a:pPr>
            <a:r>
              <a:rPr lang="en-US" sz="850" b="1" dirty="0">
                <a:solidFill>
                  <a:srgbClr val="0A6E72"/>
                </a:solidFill>
                <a:latin typeface="Calibri" pitchFamily="34" charset="0"/>
                <a:ea typeface="Calibri" pitchFamily="34" charset="-122"/>
                <a:cs typeface="Calibri" pitchFamily="34" charset="-120"/>
              </a:rPr>
              <a:t>Architecture</a:t>
            </a:r>
            <a:endParaRPr lang="en-US" sz="850" dirty="0"/>
          </a:p>
        </p:txBody>
      </p:sp>
      <p:sp>
        <p:nvSpPr>
          <p:cNvPr id="32" name="Text 30"/>
          <p:cNvSpPr/>
          <p:nvPr/>
        </p:nvSpPr>
        <p:spPr>
          <a:xfrm>
            <a:off x="1554480" y="4206240"/>
            <a:ext cx="7086600" cy="228600"/>
          </a:xfrm>
          <a:prstGeom prst="rect">
            <a:avLst/>
          </a:prstGeom>
          <a:noFill/>
          <a:ln/>
        </p:spPr>
        <p:txBody>
          <a:bodyPr wrap="square" lIns="0" tIns="0" rIns="0" bIns="0" rtlCol="0" anchor="ctr"/>
          <a:lstStyle/>
          <a:p>
            <a:pPr indent="0" marL="0">
              <a:buNone/>
            </a:pPr>
            <a:r>
              <a:rPr lang="en-US" sz="1050" b="1" dirty="0">
                <a:solidFill>
                  <a:srgbClr val="1A2E3B"/>
                </a:solidFill>
                <a:latin typeface="Calibri" pitchFamily="34" charset="0"/>
                <a:ea typeface="Calibri" pitchFamily="34" charset="-122"/>
                <a:cs typeface="Calibri" pitchFamily="34" charset="-120"/>
              </a:rPr>
              <a:t>Baseline Mode Integration</a:t>
            </a:r>
            <a:endParaRPr lang="en-US" sz="1050" dirty="0"/>
          </a:p>
        </p:txBody>
      </p:sp>
      <p:sp>
        <p:nvSpPr>
          <p:cNvPr id="33" name="Text 31"/>
          <p:cNvSpPr/>
          <p:nvPr/>
        </p:nvSpPr>
        <p:spPr>
          <a:xfrm>
            <a:off x="1554480" y="4443984"/>
            <a:ext cx="3291840" cy="256032"/>
          </a:xfrm>
          <a:prstGeom prst="rect">
            <a:avLst/>
          </a:prstGeom>
          <a:noFill/>
          <a:ln/>
        </p:spPr>
        <p:txBody>
          <a:bodyPr wrap="square" lIns="0" tIns="0" rIns="0" bIns="0" rtlCol="0" anchor="ctr"/>
          <a:lstStyle/>
          <a:p>
            <a:pPr indent="0" marL="0">
              <a:buNone/>
            </a:pPr>
            <a:r>
              <a:rPr lang="en-US" sz="950" dirty="0">
                <a:solidFill>
                  <a:srgbClr val="4A6274"/>
                </a:solidFill>
                <a:latin typeface="Calibri" pitchFamily="34" charset="0"/>
                <a:ea typeface="Calibri" pitchFamily="34" charset="-122"/>
                <a:cs typeface="Calibri" pitchFamily="34" charset="-120"/>
              </a:rPr>
              <a:t>Problem: Needed A/B capability without touching primary pipeline path</a:t>
            </a:r>
            <a:endParaRPr lang="en-US" sz="950" dirty="0"/>
          </a:p>
        </p:txBody>
      </p:sp>
      <p:sp>
        <p:nvSpPr>
          <p:cNvPr id="34" name="Text 32"/>
          <p:cNvSpPr/>
          <p:nvPr/>
        </p:nvSpPr>
        <p:spPr>
          <a:xfrm>
            <a:off x="4937760" y="4443984"/>
            <a:ext cx="3749040" cy="256032"/>
          </a:xfrm>
          <a:prstGeom prst="rect">
            <a:avLst/>
          </a:prstGeom>
          <a:noFill/>
          <a:ln/>
        </p:spPr>
        <p:txBody>
          <a:bodyPr wrap="square" lIns="0" tIns="0" rIns="0" bIns="0" rtlCol="0" anchor="ctr"/>
          <a:lstStyle/>
          <a:p>
            <a:pPr indent="0" marL="0">
              <a:buNone/>
            </a:pPr>
            <a:r>
              <a:rPr lang="en-US" sz="950" dirty="0">
                <a:solidFill>
                  <a:srgbClr val="3A7A52"/>
                </a:solidFill>
                <a:latin typeface="Calibri" pitchFamily="34" charset="0"/>
                <a:ea typeface="Calibri" pitchFamily="34" charset="-122"/>
                <a:cs typeface="Calibri" pitchFamily="34" charset="-120"/>
              </a:rPr>
              <a:t>✔ Fix: use_aeif=False flag; conditional skip of L4+L5; additive change, zero regression risk</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4" name="Text 2"/>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17 / 19</a:t>
            </a:r>
            <a:endParaRPr lang="en-US" sz="900" dirty="0"/>
          </a:p>
        </p:txBody>
      </p:sp>
      <p:sp>
        <p:nvSpPr>
          <p:cNvPr id="5" name="Shape 3"/>
          <p:cNvSpPr/>
          <p:nvPr/>
        </p:nvSpPr>
        <p:spPr>
          <a:xfrm>
            <a:off x="320040" y="1115568"/>
            <a:ext cx="8503920" cy="713232"/>
          </a:xfrm>
          <a:prstGeom prst="roundRect">
            <a:avLst>
              <a:gd name="adj" fmla="val 15385"/>
            </a:avLst>
          </a:prstGeom>
          <a:solidFill>
            <a:srgbClr val="0D2B3E"/>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6" name="Text 4"/>
          <p:cNvSpPr/>
          <p:nvPr/>
        </p:nvSpPr>
        <p:spPr>
          <a:xfrm>
            <a:off x="475488" y="1188720"/>
            <a:ext cx="8229600" cy="566928"/>
          </a:xfrm>
          <a:prstGeom prst="rect">
            <a:avLst/>
          </a:prstGeom>
          <a:noFill/>
          <a:ln/>
        </p:spPr>
        <p:txBody>
          <a:bodyPr wrap="square" lIns="0" tIns="0" rIns="0" bIns="0" rtlCol="0" anchor="ctr"/>
          <a:lstStyle/>
          <a:p>
            <a:pPr indent="0" marL="0">
              <a:buNone/>
            </a:pPr>
            <a:r>
              <a:rPr lang="en-US" sz="1200" b="1" dirty="0">
                <a:solidFill>
                  <a:srgbClr val="C9993A"/>
                </a:solidFill>
                <a:latin typeface="Calibri" pitchFamily="34" charset="0"/>
                <a:ea typeface="Calibri" pitchFamily="34" charset="-122"/>
                <a:cs typeface="Calibri" pitchFamily="34" charset="-120"/>
              </a:rPr>
              <a:t>AIDA implements AEIF — the first formally specified, evaluated trajectory-aware strategy-selection pipeline for mental health chatbots adapted to a Nigerian young-adult population.</a:t>
            </a:r>
            <a:endParaRPr lang="en-US" sz="1200" dirty="0"/>
          </a:p>
        </p:txBody>
      </p:sp>
      <p:sp>
        <p:nvSpPr>
          <p:cNvPr id="7" name="Shape 5"/>
          <p:cNvSpPr/>
          <p:nvPr/>
        </p:nvSpPr>
        <p:spPr>
          <a:xfrm>
            <a:off x="320040" y="1965960"/>
            <a:ext cx="2011680" cy="1188720"/>
          </a:xfrm>
          <a:prstGeom prst="roundRect">
            <a:avLst>
              <a:gd name="adj" fmla="val 9231"/>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8" name="Text 6"/>
          <p:cNvSpPr/>
          <p:nvPr/>
        </p:nvSpPr>
        <p:spPr>
          <a:xfrm>
            <a:off x="320040" y="2029968"/>
            <a:ext cx="2011680" cy="502920"/>
          </a:xfrm>
          <a:prstGeom prst="rect">
            <a:avLst/>
          </a:prstGeom>
          <a:noFill/>
          <a:ln/>
        </p:spPr>
        <p:txBody>
          <a:bodyPr wrap="square" lIns="0" tIns="0" rIns="0" bIns="0" rtlCol="0" anchor="ctr"/>
          <a:lstStyle/>
          <a:p>
            <a:pPr algn="ctr" indent="0" marL="0">
              <a:buNone/>
            </a:pPr>
            <a:r>
              <a:rPr lang="en-US" sz="2800" b="1" dirty="0">
                <a:solidFill>
                  <a:srgbClr val="0A6E72"/>
                </a:solidFill>
                <a:latin typeface="Calibri" pitchFamily="34" charset="0"/>
                <a:ea typeface="Calibri" pitchFamily="34" charset="-122"/>
                <a:cs typeface="Calibri" pitchFamily="34" charset="-120"/>
              </a:rPr>
              <a:t>77.08%</a:t>
            </a:r>
            <a:endParaRPr lang="en-US" sz="2800" dirty="0"/>
          </a:p>
        </p:txBody>
      </p:sp>
      <p:sp>
        <p:nvSpPr>
          <p:cNvPr id="9" name="Text 7"/>
          <p:cNvSpPr/>
          <p:nvPr/>
        </p:nvSpPr>
        <p:spPr>
          <a:xfrm>
            <a:off x="320040" y="2560320"/>
            <a:ext cx="2011680" cy="256032"/>
          </a:xfrm>
          <a:prstGeom prst="rect">
            <a:avLst/>
          </a:prstGeom>
          <a:noFill/>
          <a:ln/>
        </p:spPr>
        <p:txBody>
          <a:bodyPr wrap="square" lIns="0" tIns="0" rIns="0" bIns="0" rtlCol="0" anchor="ctr"/>
          <a:lstStyle/>
          <a:p>
            <a:pPr algn="ctr" indent="0" marL="0">
              <a:buNone/>
            </a:pPr>
            <a:r>
              <a:rPr lang="en-US" sz="1000" b="1" dirty="0">
                <a:solidFill>
                  <a:srgbClr val="1A2E3B"/>
                </a:solidFill>
                <a:latin typeface="Calibri" pitchFamily="34" charset="0"/>
                <a:ea typeface="Calibri" pitchFamily="34" charset="-122"/>
                <a:cs typeface="Calibri" pitchFamily="34" charset="-120"/>
              </a:rPr>
              <a:t>Emotion Accuracy</a:t>
            </a:r>
            <a:endParaRPr lang="en-US" sz="1000" dirty="0"/>
          </a:p>
        </p:txBody>
      </p:sp>
      <p:sp>
        <p:nvSpPr>
          <p:cNvPr id="10" name="Text 8"/>
          <p:cNvSpPr/>
          <p:nvPr/>
        </p:nvSpPr>
        <p:spPr>
          <a:xfrm>
            <a:off x="320040" y="2834640"/>
            <a:ext cx="2011680" cy="256032"/>
          </a:xfrm>
          <a:prstGeom prst="rect">
            <a:avLst/>
          </a:prstGeom>
          <a:noFill/>
          <a:ln/>
        </p:spPr>
        <p:txBody>
          <a:bodyPr wrap="square" lIns="0" tIns="0" rIns="0" bIns="0" rtlCol="0" anchor="ctr"/>
          <a:lstStyle/>
          <a:p>
            <a:pPr algn="ctr" indent="0" marL="0">
              <a:buNone/>
            </a:pPr>
            <a:r>
              <a:rPr lang="en-US" sz="900" dirty="0">
                <a:solidFill>
                  <a:srgbClr val="4A6274"/>
                </a:solidFill>
                <a:latin typeface="Calibri" pitchFamily="34" charset="0"/>
                <a:ea typeface="Calibri" pitchFamily="34" charset="-122"/>
                <a:cs typeface="Calibri" pitchFamily="34" charset="-120"/>
              </a:rPr>
              <a:t>58-case test set (incl. Pidgin)</a:t>
            </a:r>
            <a:endParaRPr lang="en-US" sz="900" dirty="0"/>
          </a:p>
        </p:txBody>
      </p:sp>
      <p:sp>
        <p:nvSpPr>
          <p:cNvPr id="11" name="Shape 9"/>
          <p:cNvSpPr/>
          <p:nvPr/>
        </p:nvSpPr>
        <p:spPr>
          <a:xfrm>
            <a:off x="2468880" y="1965960"/>
            <a:ext cx="2011680" cy="1188720"/>
          </a:xfrm>
          <a:prstGeom prst="roundRect">
            <a:avLst>
              <a:gd name="adj" fmla="val 9231"/>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2" name="Text 10"/>
          <p:cNvSpPr/>
          <p:nvPr/>
        </p:nvSpPr>
        <p:spPr>
          <a:xfrm>
            <a:off x="2468880" y="2029968"/>
            <a:ext cx="2011680" cy="502920"/>
          </a:xfrm>
          <a:prstGeom prst="rect">
            <a:avLst/>
          </a:prstGeom>
          <a:noFill/>
          <a:ln/>
        </p:spPr>
        <p:txBody>
          <a:bodyPr wrap="square" lIns="0" tIns="0" rIns="0" bIns="0" rtlCol="0" anchor="ctr"/>
          <a:lstStyle/>
          <a:p>
            <a:pPr algn="ctr" indent="0" marL="0">
              <a:buNone/>
            </a:pPr>
            <a:r>
              <a:rPr lang="en-US" sz="2800" b="1" dirty="0">
                <a:solidFill>
                  <a:srgbClr val="0A6E72"/>
                </a:solidFill>
                <a:latin typeface="Calibri" pitchFamily="34" charset="0"/>
                <a:ea typeface="Calibri" pitchFamily="34" charset="-122"/>
                <a:cs typeface="Calibri" pitchFamily="34" charset="-120"/>
              </a:rPr>
              <a:t>100%</a:t>
            </a:r>
            <a:endParaRPr lang="en-US" sz="2800" dirty="0"/>
          </a:p>
        </p:txBody>
      </p:sp>
      <p:sp>
        <p:nvSpPr>
          <p:cNvPr id="13" name="Text 11"/>
          <p:cNvSpPr/>
          <p:nvPr/>
        </p:nvSpPr>
        <p:spPr>
          <a:xfrm>
            <a:off x="2468880" y="2560320"/>
            <a:ext cx="2011680" cy="256032"/>
          </a:xfrm>
          <a:prstGeom prst="rect">
            <a:avLst/>
          </a:prstGeom>
          <a:noFill/>
          <a:ln/>
        </p:spPr>
        <p:txBody>
          <a:bodyPr wrap="square" lIns="0" tIns="0" rIns="0" bIns="0" rtlCol="0" anchor="ctr"/>
          <a:lstStyle/>
          <a:p>
            <a:pPr algn="ctr" indent="0" marL="0">
              <a:buNone/>
            </a:pPr>
            <a:r>
              <a:rPr lang="en-US" sz="1000" b="1" dirty="0">
                <a:solidFill>
                  <a:srgbClr val="1A2E3B"/>
                </a:solidFill>
                <a:latin typeface="Calibri" pitchFamily="34" charset="0"/>
                <a:ea typeface="Calibri" pitchFamily="34" charset="-122"/>
                <a:cs typeface="Calibri" pitchFamily="34" charset="-120"/>
              </a:rPr>
              <a:t>Crisis Accuracy</a:t>
            </a:r>
            <a:endParaRPr lang="en-US" sz="1000" dirty="0"/>
          </a:p>
        </p:txBody>
      </p:sp>
      <p:sp>
        <p:nvSpPr>
          <p:cNvPr id="14" name="Text 12"/>
          <p:cNvSpPr/>
          <p:nvPr/>
        </p:nvSpPr>
        <p:spPr>
          <a:xfrm>
            <a:off x="2468880" y="2834640"/>
            <a:ext cx="2011680" cy="256032"/>
          </a:xfrm>
          <a:prstGeom prst="rect">
            <a:avLst/>
          </a:prstGeom>
          <a:noFill/>
          <a:ln/>
        </p:spPr>
        <p:txBody>
          <a:bodyPr wrap="square" lIns="0" tIns="0" rIns="0" bIns="0" rtlCol="0" anchor="ctr"/>
          <a:lstStyle/>
          <a:p>
            <a:pPr algn="ctr" indent="0" marL="0">
              <a:buNone/>
            </a:pPr>
            <a:r>
              <a:rPr lang="en-US" sz="900" dirty="0">
                <a:solidFill>
                  <a:srgbClr val="4A6274"/>
                </a:solidFill>
                <a:latin typeface="Calibri" pitchFamily="34" charset="0"/>
                <a:ea typeface="Calibri" pitchFamily="34" charset="-122"/>
                <a:cs typeface="Calibri" pitchFamily="34" charset="-120"/>
              </a:rPr>
              <a:t>10/10 — safety non-negotiable</a:t>
            </a:r>
            <a:endParaRPr lang="en-US" sz="900" dirty="0"/>
          </a:p>
        </p:txBody>
      </p:sp>
      <p:sp>
        <p:nvSpPr>
          <p:cNvPr id="15" name="Shape 13"/>
          <p:cNvSpPr/>
          <p:nvPr/>
        </p:nvSpPr>
        <p:spPr>
          <a:xfrm>
            <a:off x="4617720" y="1965960"/>
            <a:ext cx="2011680" cy="1188720"/>
          </a:xfrm>
          <a:prstGeom prst="roundRect">
            <a:avLst>
              <a:gd name="adj" fmla="val 9231"/>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16" name="Text 14"/>
          <p:cNvSpPr/>
          <p:nvPr/>
        </p:nvSpPr>
        <p:spPr>
          <a:xfrm>
            <a:off x="4617720" y="2029968"/>
            <a:ext cx="2011680" cy="502920"/>
          </a:xfrm>
          <a:prstGeom prst="rect">
            <a:avLst/>
          </a:prstGeom>
          <a:noFill/>
          <a:ln/>
        </p:spPr>
        <p:txBody>
          <a:bodyPr wrap="square" lIns="0" tIns="0" rIns="0" bIns="0" rtlCol="0" anchor="ctr"/>
          <a:lstStyle/>
          <a:p>
            <a:pPr algn="ctr" indent="0" marL="0">
              <a:buNone/>
            </a:pPr>
            <a:r>
              <a:rPr lang="en-US" sz="2800" b="1" dirty="0">
                <a:solidFill>
                  <a:srgbClr val="0A6E72"/>
                </a:solidFill>
                <a:latin typeface="Calibri" pitchFamily="34" charset="0"/>
                <a:ea typeface="Calibri" pitchFamily="34" charset="-122"/>
                <a:cs typeface="Calibri" pitchFamily="34" charset="-120"/>
              </a:rPr>
              <a:t>100%</a:t>
            </a:r>
            <a:endParaRPr lang="en-US" sz="2800" dirty="0"/>
          </a:p>
        </p:txBody>
      </p:sp>
      <p:sp>
        <p:nvSpPr>
          <p:cNvPr id="17" name="Text 15"/>
          <p:cNvSpPr/>
          <p:nvPr/>
        </p:nvSpPr>
        <p:spPr>
          <a:xfrm>
            <a:off x="4617720" y="2560320"/>
            <a:ext cx="2011680" cy="256032"/>
          </a:xfrm>
          <a:prstGeom prst="rect">
            <a:avLst/>
          </a:prstGeom>
          <a:noFill/>
          <a:ln/>
        </p:spPr>
        <p:txBody>
          <a:bodyPr wrap="square" lIns="0" tIns="0" rIns="0" bIns="0" rtlCol="0" anchor="ctr"/>
          <a:lstStyle/>
          <a:p>
            <a:pPr algn="ctr" indent="0" marL="0">
              <a:buNone/>
            </a:pPr>
            <a:r>
              <a:rPr lang="en-US" sz="1000" b="1" dirty="0">
                <a:solidFill>
                  <a:srgbClr val="1A2E3B"/>
                </a:solidFill>
                <a:latin typeface="Calibri" pitchFamily="34" charset="0"/>
                <a:ea typeface="Calibri" pitchFamily="34" charset="-122"/>
                <a:cs typeface="Calibri" pitchFamily="34" charset="-120"/>
              </a:rPr>
              <a:t>Trend Accuracy</a:t>
            </a:r>
            <a:endParaRPr lang="en-US" sz="1000" dirty="0"/>
          </a:p>
        </p:txBody>
      </p:sp>
      <p:sp>
        <p:nvSpPr>
          <p:cNvPr id="18" name="Text 16"/>
          <p:cNvSpPr/>
          <p:nvPr/>
        </p:nvSpPr>
        <p:spPr>
          <a:xfrm>
            <a:off x="4617720" y="2834640"/>
            <a:ext cx="2011680" cy="256032"/>
          </a:xfrm>
          <a:prstGeom prst="rect">
            <a:avLst/>
          </a:prstGeom>
          <a:noFill/>
          <a:ln/>
        </p:spPr>
        <p:txBody>
          <a:bodyPr wrap="square" lIns="0" tIns="0" rIns="0" bIns="0" rtlCol="0" anchor="ctr"/>
          <a:lstStyle/>
          <a:p>
            <a:pPr algn="ctr" indent="0" marL="0">
              <a:buNone/>
            </a:pPr>
            <a:r>
              <a:rPr lang="en-US" sz="900" dirty="0">
                <a:solidFill>
                  <a:srgbClr val="4A6274"/>
                </a:solidFill>
                <a:latin typeface="Calibri" pitchFamily="34" charset="0"/>
                <a:ea typeface="Calibri" pitchFamily="34" charset="-122"/>
                <a:cs typeface="Calibri" pitchFamily="34" charset="-120"/>
              </a:rPr>
              <a:t>7/7 scripted sequences</a:t>
            </a:r>
            <a:endParaRPr lang="en-US" sz="900" dirty="0"/>
          </a:p>
        </p:txBody>
      </p:sp>
      <p:sp>
        <p:nvSpPr>
          <p:cNvPr id="19" name="Shape 17"/>
          <p:cNvSpPr/>
          <p:nvPr/>
        </p:nvSpPr>
        <p:spPr>
          <a:xfrm>
            <a:off x="6766560" y="1965960"/>
            <a:ext cx="2011680" cy="1188720"/>
          </a:xfrm>
          <a:prstGeom prst="roundRect">
            <a:avLst>
              <a:gd name="adj" fmla="val 9231"/>
            </a:avLst>
          </a:prstGeom>
          <a:solidFill>
            <a:srgbClr val="D6EEE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0" name="Text 18"/>
          <p:cNvSpPr/>
          <p:nvPr/>
        </p:nvSpPr>
        <p:spPr>
          <a:xfrm>
            <a:off x="6766560" y="2029968"/>
            <a:ext cx="2011680" cy="502920"/>
          </a:xfrm>
          <a:prstGeom prst="rect">
            <a:avLst/>
          </a:prstGeom>
          <a:noFill/>
          <a:ln/>
        </p:spPr>
        <p:txBody>
          <a:bodyPr wrap="square" lIns="0" tIns="0" rIns="0" bIns="0" rtlCol="0" anchor="ctr"/>
          <a:lstStyle/>
          <a:p>
            <a:pPr algn="ctr" indent="0" marL="0">
              <a:buNone/>
            </a:pPr>
            <a:r>
              <a:rPr lang="en-US" sz="2800" b="1" dirty="0">
                <a:solidFill>
                  <a:srgbClr val="0A6E72"/>
                </a:solidFill>
                <a:latin typeface="Calibri" pitchFamily="34" charset="0"/>
                <a:ea typeface="Calibri" pitchFamily="34" charset="-122"/>
                <a:cs typeface="Calibri" pitchFamily="34" charset="-120"/>
              </a:rPr>
              <a:t>31/31</a:t>
            </a:r>
            <a:endParaRPr lang="en-US" sz="2800" dirty="0"/>
          </a:p>
        </p:txBody>
      </p:sp>
      <p:sp>
        <p:nvSpPr>
          <p:cNvPr id="21" name="Text 19"/>
          <p:cNvSpPr/>
          <p:nvPr/>
        </p:nvSpPr>
        <p:spPr>
          <a:xfrm>
            <a:off x="6766560" y="2560320"/>
            <a:ext cx="2011680" cy="256032"/>
          </a:xfrm>
          <a:prstGeom prst="rect">
            <a:avLst/>
          </a:prstGeom>
          <a:noFill/>
          <a:ln/>
        </p:spPr>
        <p:txBody>
          <a:bodyPr wrap="square" lIns="0" tIns="0" rIns="0" bIns="0" rtlCol="0" anchor="ctr"/>
          <a:lstStyle/>
          <a:p>
            <a:pPr algn="ctr" indent="0" marL="0">
              <a:buNone/>
            </a:pPr>
            <a:r>
              <a:rPr lang="en-US" sz="1000" b="1" dirty="0">
                <a:solidFill>
                  <a:srgbClr val="1A2E3B"/>
                </a:solidFill>
                <a:latin typeface="Calibri" pitchFamily="34" charset="0"/>
                <a:ea typeface="Calibri" pitchFamily="34" charset="-122"/>
                <a:cs typeface="Calibri" pitchFamily="34" charset="-120"/>
              </a:rPr>
              <a:t>Unit Tests Pass</a:t>
            </a:r>
            <a:endParaRPr lang="en-US" sz="1000" dirty="0"/>
          </a:p>
        </p:txBody>
      </p:sp>
      <p:sp>
        <p:nvSpPr>
          <p:cNvPr id="22" name="Text 20"/>
          <p:cNvSpPr/>
          <p:nvPr/>
        </p:nvSpPr>
        <p:spPr>
          <a:xfrm>
            <a:off x="6766560" y="2834640"/>
            <a:ext cx="2011680" cy="256032"/>
          </a:xfrm>
          <a:prstGeom prst="rect">
            <a:avLst/>
          </a:prstGeom>
          <a:noFill/>
          <a:ln/>
        </p:spPr>
        <p:txBody>
          <a:bodyPr wrap="square" lIns="0" tIns="0" rIns="0" bIns="0" rtlCol="0" anchor="ctr"/>
          <a:lstStyle/>
          <a:p>
            <a:pPr algn="ctr" indent="0" marL="0">
              <a:buNone/>
            </a:pPr>
            <a:r>
              <a:rPr lang="en-US" sz="900" dirty="0">
                <a:solidFill>
                  <a:srgbClr val="4A6274"/>
                </a:solidFill>
                <a:latin typeface="Calibri" pitchFamily="34" charset="0"/>
                <a:ea typeface="Calibri" pitchFamily="34" charset="-122"/>
                <a:cs typeface="Calibri" pitchFamily="34" charset="-120"/>
              </a:rPr>
              <a:t>5 modules, all layers tested</a:t>
            </a:r>
            <a:endParaRPr lang="en-US" sz="900" dirty="0"/>
          </a:p>
        </p:txBody>
      </p:sp>
      <p:sp>
        <p:nvSpPr>
          <p:cNvPr id="23" name="Shape 21"/>
          <p:cNvSpPr/>
          <p:nvPr/>
        </p:nvSpPr>
        <p:spPr>
          <a:xfrm>
            <a:off x="320040" y="3310128"/>
            <a:ext cx="8503920" cy="475488"/>
          </a:xfrm>
          <a:prstGeom prst="roundRect">
            <a:avLst>
              <a:gd name="adj" fmla="val 23077"/>
            </a:avLst>
          </a:prstGeom>
          <a:solidFill>
            <a:srgbClr val="FFFFFF"/>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4" name="Text 22"/>
          <p:cNvSpPr/>
          <p:nvPr/>
        </p:nvSpPr>
        <p:spPr>
          <a:xfrm>
            <a:off x="475488" y="3346704"/>
            <a:ext cx="8229600" cy="402336"/>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Qualitative: AEIF responses consistently more empathetically calibrated than baseline — especially demonstrated in the mixed-emotion Turn 2 divergence (same POSITIVE emotion → opposite responses).</a:t>
            </a:r>
            <a:endParaRPr lang="en-US" sz="1050" dirty="0"/>
          </a:p>
        </p:txBody>
      </p:sp>
      <p:sp>
        <p:nvSpPr>
          <p:cNvPr id="25" name="Shape 23"/>
          <p:cNvSpPr/>
          <p:nvPr/>
        </p:nvSpPr>
        <p:spPr>
          <a:xfrm>
            <a:off x="320040" y="3913632"/>
            <a:ext cx="8503920" cy="457200"/>
          </a:xfrm>
          <a:prstGeom prst="roundRect">
            <a:avLst>
              <a:gd name="adj" fmla="val 24000"/>
            </a:avLst>
          </a:prstGeom>
          <a:solidFill>
            <a:srgbClr val="FDE8E8"/>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6" name="Text 24"/>
          <p:cNvSpPr/>
          <p:nvPr/>
        </p:nvSpPr>
        <p:spPr>
          <a:xfrm>
            <a:off x="475488" y="4005072"/>
            <a:ext cx="1005840" cy="274320"/>
          </a:xfrm>
          <a:prstGeom prst="rect">
            <a:avLst/>
          </a:prstGeom>
          <a:noFill/>
          <a:ln/>
        </p:spPr>
        <p:txBody>
          <a:bodyPr wrap="square" lIns="0" tIns="0" rIns="0" bIns="0" rtlCol="0" anchor="ctr"/>
          <a:lstStyle/>
          <a:p>
            <a:pPr indent="0" marL="0">
              <a:buNone/>
            </a:pPr>
            <a:r>
              <a:rPr lang="en-US" sz="1050" b="1" dirty="0">
                <a:solidFill>
                  <a:srgbClr val="B83232"/>
                </a:solidFill>
                <a:latin typeface="Calibri" pitchFamily="34" charset="0"/>
                <a:ea typeface="Calibri" pitchFamily="34" charset="-122"/>
                <a:cs typeface="Calibri" pitchFamily="34" charset="-120"/>
              </a:rPr>
              <a:t>Limitations:  </a:t>
            </a:r>
            <a:endParaRPr lang="en-US" sz="1050" dirty="0"/>
          </a:p>
        </p:txBody>
      </p:sp>
      <p:sp>
        <p:nvSpPr>
          <p:cNvPr id="27" name="Text 25"/>
          <p:cNvSpPr/>
          <p:nvPr/>
        </p:nvSpPr>
        <p:spPr>
          <a:xfrm>
            <a:off x="1508760" y="4005072"/>
            <a:ext cx="7178040" cy="27432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In-memory storage only  ·  Keyword classifier misses subtle positives  ·  No formal user study yet</a:t>
            </a:r>
            <a:endParaRPr lang="en-US" sz="1050" dirty="0"/>
          </a:p>
        </p:txBody>
      </p:sp>
      <p:sp>
        <p:nvSpPr>
          <p:cNvPr id="28" name="Shape 26"/>
          <p:cNvSpPr/>
          <p:nvPr/>
        </p:nvSpPr>
        <p:spPr>
          <a:xfrm>
            <a:off x="320040" y="4462272"/>
            <a:ext cx="8503920" cy="457200"/>
          </a:xfrm>
          <a:prstGeom prst="roundRect">
            <a:avLst>
              <a:gd name="adj" fmla="val 24000"/>
            </a:avLst>
          </a:prstGeom>
          <a:solidFill>
            <a:srgbClr val="FDF3E0"/>
          </a:solidFill>
          <a:ln w="6350">
            <a:solidFill>
              <a:srgbClr val="D8E8EC"/>
            </a:solidFill>
            <a:prstDash val="solid"/>
          </a:ln>
          <a:effectLst>
            <a:outerShdw sx="100000" sy="100000" kx="0" ky="0" algn="bl" rotWithShape="0" blurRad="50800" dist="25400" dir="2700000">
              <a:srgbClr val="000000">
                <a:alpha val="7000"/>
              </a:srgbClr>
            </a:outerShdw>
          </a:effectLst>
        </p:spPr>
      </p:sp>
      <p:sp>
        <p:nvSpPr>
          <p:cNvPr id="29" name="Text 27"/>
          <p:cNvSpPr/>
          <p:nvPr/>
        </p:nvSpPr>
        <p:spPr>
          <a:xfrm>
            <a:off x="475488" y="4553712"/>
            <a:ext cx="1005840" cy="274320"/>
          </a:xfrm>
          <a:prstGeom prst="rect">
            <a:avLst/>
          </a:prstGeom>
          <a:noFill/>
          <a:ln/>
        </p:spPr>
        <p:txBody>
          <a:bodyPr wrap="square" lIns="0" tIns="0" rIns="0" bIns="0" rtlCol="0" anchor="ctr"/>
          <a:lstStyle/>
          <a:p>
            <a:pPr indent="0" marL="0">
              <a:buNone/>
            </a:pPr>
            <a:r>
              <a:rPr lang="en-US" sz="1050" b="1" dirty="0">
                <a:solidFill>
                  <a:srgbClr val="C9993A"/>
                </a:solidFill>
                <a:latin typeface="Calibri" pitchFamily="34" charset="0"/>
                <a:ea typeface="Calibri" pitchFamily="34" charset="-122"/>
                <a:cs typeface="Calibri" pitchFamily="34" charset="-120"/>
              </a:rPr>
              <a:t>Future Work:  </a:t>
            </a:r>
            <a:endParaRPr lang="en-US" sz="1050" dirty="0"/>
          </a:p>
        </p:txBody>
      </p:sp>
      <p:sp>
        <p:nvSpPr>
          <p:cNvPr id="30" name="Text 28"/>
          <p:cNvSpPr/>
          <p:nvPr/>
        </p:nvSpPr>
        <p:spPr>
          <a:xfrm>
            <a:off x="1508760" y="4553712"/>
            <a:ext cx="7178040" cy="274320"/>
          </a:xfrm>
          <a:prstGeom prst="rect">
            <a:avLst/>
          </a:prstGeom>
          <a:noFill/>
          <a:ln/>
        </p:spPr>
        <p:txBody>
          <a:bodyPr wrap="square" lIns="0" tIns="0" rIns="0" bIns="0" rtlCol="0" anchor="ctr"/>
          <a:lstStyle/>
          <a:p>
            <a:pPr indent="0" marL="0">
              <a:buNone/>
            </a:pPr>
            <a:r>
              <a:rPr lang="en-US" sz="1050" dirty="0">
                <a:solidFill>
                  <a:srgbClr val="1A2E3B"/>
                </a:solidFill>
                <a:latin typeface="Calibri" pitchFamily="34" charset="0"/>
                <a:ea typeface="Calibri" pitchFamily="34" charset="-122"/>
                <a:cs typeface="Calibri" pitchFamily="34" charset="-120"/>
              </a:rPr>
              <a:t>Nigerian user study  ·  Contextual emotion classification  ·  Database persistence  ·  Multilingual support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6E72"/>
          </a:solidFill>
          <a:ln w="12700">
            <a:solidFill>
              <a:srgbClr val="0A6E72"/>
            </a:solidFill>
            <a:prstDash val="solid"/>
          </a:ln>
        </p:spPr>
      </p:sp>
      <p:sp>
        <p:nvSpPr>
          <p:cNvPr id="3" name="Text 1"/>
          <p:cNvSpPr/>
          <p:nvPr/>
        </p:nvSpPr>
        <p:spPr>
          <a:xfrm>
            <a:off x="411480" y="73152"/>
            <a:ext cx="832104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REFERENCES</a:t>
            </a:r>
            <a:endParaRPr lang="en-US" sz="2200" dirty="0"/>
          </a:p>
        </p:txBody>
      </p:sp>
      <p:sp>
        <p:nvSpPr>
          <p:cNvPr id="4" name="Text 2"/>
          <p:cNvSpPr/>
          <p:nvPr/>
        </p:nvSpPr>
        <p:spPr>
          <a:xfrm>
            <a:off x="7955280" y="4800600"/>
            <a:ext cx="1005840" cy="228600"/>
          </a:xfrm>
          <a:prstGeom prst="rect">
            <a:avLst/>
          </a:prstGeom>
          <a:noFill/>
          <a:ln/>
        </p:spPr>
        <p:txBody>
          <a:bodyPr wrap="square" rtlCol="0" anchor="ctr"/>
          <a:lstStyle/>
          <a:p>
            <a:pPr algn="r" indent="0" marL="0">
              <a:buNone/>
            </a:pPr>
            <a:r>
              <a:rPr lang="en-US" sz="900" dirty="0">
                <a:solidFill>
                  <a:srgbClr val="7FA3B5"/>
                </a:solidFill>
              </a:rPr>
              <a:t>18 / 19</a:t>
            </a:r>
            <a:endParaRPr lang="en-US" sz="900" dirty="0"/>
          </a:p>
        </p:txBody>
      </p:sp>
      <p:sp>
        <p:nvSpPr>
          <p:cNvPr id="5" name="Shape 3"/>
          <p:cNvSpPr/>
          <p:nvPr/>
        </p:nvSpPr>
        <p:spPr>
          <a:xfrm>
            <a:off x="320040" y="1115568"/>
            <a:ext cx="4187952" cy="548640"/>
          </a:xfrm>
          <a:prstGeom prst="roundRect">
            <a:avLst>
              <a:gd name="adj" fmla="val 13333"/>
            </a:avLst>
          </a:prstGeom>
          <a:solidFill>
            <a:srgbClr val="FFFFFF"/>
          </a:solidFill>
          <a:ln w="12700">
            <a:solidFill>
              <a:srgbClr val="D8E8EC"/>
            </a:solidFill>
            <a:prstDash val="solid"/>
          </a:ln>
        </p:spPr>
      </p:sp>
      <p:sp>
        <p:nvSpPr>
          <p:cNvPr id="6" name="Text 4"/>
          <p:cNvSpPr/>
          <p:nvPr/>
        </p:nvSpPr>
        <p:spPr>
          <a:xfrm>
            <a:off x="429768" y="1170432"/>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Fitzpatrick, K. K., Darcy, A., &amp; Vierhile, M. (2017). Delivering CBT to young adults using Woebot. JMIR Mental Health, 4(2), e19.</a:t>
            </a:r>
            <a:endParaRPr lang="en-US" sz="850" dirty="0"/>
          </a:p>
        </p:txBody>
      </p:sp>
      <p:sp>
        <p:nvSpPr>
          <p:cNvPr id="7" name="Shape 5"/>
          <p:cNvSpPr/>
          <p:nvPr/>
        </p:nvSpPr>
        <p:spPr>
          <a:xfrm>
            <a:off x="320040" y="1737360"/>
            <a:ext cx="4187952" cy="548640"/>
          </a:xfrm>
          <a:prstGeom prst="roundRect">
            <a:avLst>
              <a:gd name="adj" fmla="val 13333"/>
            </a:avLst>
          </a:prstGeom>
          <a:solidFill>
            <a:srgbClr val="FFFFFF"/>
          </a:solidFill>
          <a:ln w="12700">
            <a:solidFill>
              <a:srgbClr val="D8E8EC"/>
            </a:solidFill>
            <a:prstDash val="solid"/>
          </a:ln>
        </p:spPr>
      </p:sp>
      <p:sp>
        <p:nvSpPr>
          <p:cNvPr id="8" name="Text 6"/>
          <p:cNvSpPr/>
          <p:nvPr/>
        </p:nvSpPr>
        <p:spPr>
          <a:xfrm>
            <a:off x="429768" y="1792224"/>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Inkster, B., Sarda, S., &amp; Subramanian, V. (2018). An empathy-driven conversational AI agent (Wysa). JMIR mHealth, 6(11), e12106.</a:t>
            </a:r>
            <a:endParaRPr lang="en-US" sz="850" dirty="0"/>
          </a:p>
        </p:txBody>
      </p:sp>
      <p:sp>
        <p:nvSpPr>
          <p:cNvPr id="9" name="Shape 7"/>
          <p:cNvSpPr/>
          <p:nvPr/>
        </p:nvSpPr>
        <p:spPr>
          <a:xfrm>
            <a:off x="320040" y="2359152"/>
            <a:ext cx="4187952" cy="548640"/>
          </a:xfrm>
          <a:prstGeom prst="roundRect">
            <a:avLst>
              <a:gd name="adj" fmla="val 13333"/>
            </a:avLst>
          </a:prstGeom>
          <a:solidFill>
            <a:srgbClr val="FFFFFF"/>
          </a:solidFill>
          <a:ln w="12700">
            <a:solidFill>
              <a:srgbClr val="D8E8EC"/>
            </a:solidFill>
            <a:prstDash val="solid"/>
          </a:ln>
        </p:spPr>
      </p:sp>
      <p:sp>
        <p:nvSpPr>
          <p:cNvPr id="10" name="Text 8"/>
          <p:cNvSpPr/>
          <p:nvPr/>
        </p:nvSpPr>
        <p:spPr>
          <a:xfrm>
            <a:off x="429768" y="2414016"/>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Liu, S., et al. (2021). Towards emotional support dialog systems. Proceedings of ACL 2021.</a:t>
            </a:r>
            <a:endParaRPr lang="en-US" sz="850" dirty="0"/>
          </a:p>
        </p:txBody>
      </p:sp>
      <p:sp>
        <p:nvSpPr>
          <p:cNvPr id="11" name="Shape 9"/>
          <p:cNvSpPr/>
          <p:nvPr/>
        </p:nvSpPr>
        <p:spPr>
          <a:xfrm>
            <a:off x="320040" y="2980944"/>
            <a:ext cx="4187952" cy="548640"/>
          </a:xfrm>
          <a:prstGeom prst="roundRect">
            <a:avLst>
              <a:gd name="adj" fmla="val 13333"/>
            </a:avLst>
          </a:prstGeom>
          <a:solidFill>
            <a:srgbClr val="FFFFFF"/>
          </a:solidFill>
          <a:ln w="12700">
            <a:solidFill>
              <a:srgbClr val="D8E8EC"/>
            </a:solidFill>
            <a:prstDash val="solid"/>
          </a:ln>
        </p:spPr>
      </p:sp>
      <p:sp>
        <p:nvSpPr>
          <p:cNvPr id="12" name="Text 10"/>
          <p:cNvSpPr/>
          <p:nvPr/>
        </p:nvSpPr>
        <p:spPr>
          <a:xfrm>
            <a:off x="429768" y="3035808"/>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Demszky, D., et al. (2020). GoEmotions: A dataset of fine-grained emotions. Proceedings of ACL 2020.</a:t>
            </a:r>
            <a:endParaRPr lang="en-US" sz="850" dirty="0"/>
          </a:p>
        </p:txBody>
      </p:sp>
      <p:sp>
        <p:nvSpPr>
          <p:cNvPr id="13" name="Shape 11"/>
          <p:cNvSpPr/>
          <p:nvPr/>
        </p:nvSpPr>
        <p:spPr>
          <a:xfrm>
            <a:off x="320040" y="3602736"/>
            <a:ext cx="4187952" cy="548640"/>
          </a:xfrm>
          <a:prstGeom prst="roundRect">
            <a:avLst>
              <a:gd name="adj" fmla="val 13333"/>
            </a:avLst>
          </a:prstGeom>
          <a:solidFill>
            <a:srgbClr val="FFFFFF"/>
          </a:solidFill>
          <a:ln w="12700">
            <a:solidFill>
              <a:srgbClr val="D8E8EC"/>
            </a:solidFill>
            <a:prstDash val="solid"/>
          </a:ln>
        </p:spPr>
      </p:sp>
      <p:sp>
        <p:nvSpPr>
          <p:cNvPr id="14" name="Text 12"/>
          <p:cNvSpPr/>
          <p:nvPr/>
        </p:nvSpPr>
        <p:spPr>
          <a:xfrm>
            <a:off x="429768" y="3657600"/>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Patel, V., et al. (2018). The Lancet Commission on global mental health. The Lancet, 392(10157), 1553–1598.</a:t>
            </a:r>
            <a:endParaRPr lang="en-US" sz="850" dirty="0"/>
          </a:p>
        </p:txBody>
      </p:sp>
      <p:sp>
        <p:nvSpPr>
          <p:cNvPr id="15" name="Shape 13"/>
          <p:cNvSpPr/>
          <p:nvPr/>
        </p:nvSpPr>
        <p:spPr>
          <a:xfrm>
            <a:off x="320040" y="4224528"/>
            <a:ext cx="4187952" cy="548640"/>
          </a:xfrm>
          <a:prstGeom prst="roundRect">
            <a:avLst>
              <a:gd name="adj" fmla="val 13333"/>
            </a:avLst>
          </a:prstGeom>
          <a:solidFill>
            <a:srgbClr val="FFFFFF"/>
          </a:solidFill>
          <a:ln w="12700">
            <a:solidFill>
              <a:srgbClr val="D8E8EC"/>
            </a:solidFill>
            <a:prstDash val="solid"/>
          </a:ln>
        </p:spPr>
      </p:sp>
      <p:sp>
        <p:nvSpPr>
          <p:cNvPr id="16" name="Text 14"/>
          <p:cNvSpPr/>
          <p:nvPr/>
        </p:nvSpPr>
        <p:spPr>
          <a:xfrm>
            <a:off x="429768" y="4279392"/>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Naslund, J. A., et al. (2017). Digital technology for mental disorders in LMICs. The Lancet Psychiatry, 4(6), 486–500.</a:t>
            </a:r>
            <a:endParaRPr lang="en-US" sz="850" dirty="0"/>
          </a:p>
        </p:txBody>
      </p:sp>
      <p:sp>
        <p:nvSpPr>
          <p:cNvPr id="17" name="Shape 15"/>
          <p:cNvSpPr/>
          <p:nvPr/>
        </p:nvSpPr>
        <p:spPr>
          <a:xfrm>
            <a:off x="4727448" y="1115568"/>
            <a:ext cx="4187952" cy="548640"/>
          </a:xfrm>
          <a:prstGeom prst="roundRect">
            <a:avLst>
              <a:gd name="adj" fmla="val 13333"/>
            </a:avLst>
          </a:prstGeom>
          <a:solidFill>
            <a:srgbClr val="FFFFFF"/>
          </a:solidFill>
          <a:ln w="12700">
            <a:solidFill>
              <a:srgbClr val="D8E8EC"/>
            </a:solidFill>
            <a:prstDash val="solid"/>
          </a:ln>
        </p:spPr>
      </p:sp>
      <p:sp>
        <p:nvSpPr>
          <p:cNvPr id="18" name="Text 16"/>
          <p:cNvSpPr/>
          <p:nvPr/>
        </p:nvSpPr>
        <p:spPr>
          <a:xfrm>
            <a:off x="4837176" y="1170432"/>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Atilola, O., Ayinde, O., &amp; James, B. (2020). Mental health policy in Nigeria. International Psychiatry, 17(2), 33–35.</a:t>
            </a:r>
            <a:endParaRPr lang="en-US" sz="850" dirty="0"/>
          </a:p>
        </p:txBody>
      </p:sp>
      <p:sp>
        <p:nvSpPr>
          <p:cNvPr id="19" name="Shape 17"/>
          <p:cNvSpPr/>
          <p:nvPr/>
        </p:nvSpPr>
        <p:spPr>
          <a:xfrm>
            <a:off x="4727448" y="1737360"/>
            <a:ext cx="4187952" cy="548640"/>
          </a:xfrm>
          <a:prstGeom prst="roundRect">
            <a:avLst>
              <a:gd name="adj" fmla="val 13333"/>
            </a:avLst>
          </a:prstGeom>
          <a:solidFill>
            <a:srgbClr val="FFFFFF"/>
          </a:solidFill>
          <a:ln w="12700">
            <a:solidFill>
              <a:srgbClr val="D8E8EC"/>
            </a:solidFill>
            <a:prstDash val="solid"/>
          </a:ln>
        </p:spPr>
      </p:sp>
      <p:sp>
        <p:nvSpPr>
          <p:cNvPr id="20" name="Text 18"/>
          <p:cNvSpPr/>
          <p:nvPr/>
        </p:nvSpPr>
        <p:spPr>
          <a:xfrm>
            <a:off x="4837176" y="1792224"/>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Santomauro, D. F., et al. (2021). Global prevalence of depression/anxiety in 204 countries due to COVID-19. The Lancet, 398(10312), 1700–1712.</a:t>
            </a:r>
            <a:endParaRPr lang="en-US" sz="850" dirty="0"/>
          </a:p>
        </p:txBody>
      </p:sp>
      <p:sp>
        <p:nvSpPr>
          <p:cNvPr id="21" name="Shape 19"/>
          <p:cNvSpPr/>
          <p:nvPr/>
        </p:nvSpPr>
        <p:spPr>
          <a:xfrm>
            <a:off x="4727448" y="2359152"/>
            <a:ext cx="4187952" cy="548640"/>
          </a:xfrm>
          <a:prstGeom prst="roundRect">
            <a:avLst>
              <a:gd name="adj" fmla="val 13333"/>
            </a:avLst>
          </a:prstGeom>
          <a:solidFill>
            <a:srgbClr val="FFFFFF"/>
          </a:solidFill>
          <a:ln w="12700">
            <a:solidFill>
              <a:srgbClr val="D8E8EC"/>
            </a:solidFill>
            <a:prstDash val="solid"/>
          </a:ln>
        </p:spPr>
      </p:sp>
      <p:sp>
        <p:nvSpPr>
          <p:cNvPr id="22" name="Text 20"/>
          <p:cNvSpPr/>
          <p:nvPr/>
        </p:nvSpPr>
        <p:spPr>
          <a:xfrm>
            <a:off x="4837176" y="2414016"/>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Zhang, Y., et al. (2022). Transformer-based empathetic response generation for mental health chatbots. Proceedings of EMNLP 2022.</a:t>
            </a:r>
            <a:endParaRPr lang="en-US" sz="850" dirty="0"/>
          </a:p>
        </p:txBody>
      </p:sp>
      <p:sp>
        <p:nvSpPr>
          <p:cNvPr id="23" name="Shape 21"/>
          <p:cNvSpPr/>
          <p:nvPr/>
        </p:nvSpPr>
        <p:spPr>
          <a:xfrm>
            <a:off x="4727448" y="2980944"/>
            <a:ext cx="4187952" cy="548640"/>
          </a:xfrm>
          <a:prstGeom prst="roundRect">
            <a:avLst>
              <a:gd name="adj" fmla="val 13333"/>
            </a:avLst>
          </a:prstGeom>
          <a:solidFill>
            <a:srgbClr val="FFFFFF"/>
          </a:solidFill>
          <a:ln w="12700">
            <a:solidFill>
              <a:srgbClr val="D8E8EC"/>
            </a:solidFill>
            <a:prstDash val="solid"/>
          </a:ln>
        </p:spPr>
      </p:sp>
      <p:sp>
        <p:nvSpPr>
          <p:cNvPr id="24" name="Text 22"/>
          <p:cNvSpPr/>
          <p:nvPr/>
        </p:nvSpPr>
        <p:spPr>
          <a:xfrm>
            <a:off x="4837176" y="3035808"/>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Feng, Y., et al. (2025). Effectiveness of AI chatbots for adolescents and young adults. JMIR, 27(1), e50093.</a:t>
            </a:r>
            <a:endParaRPr lang="en-US" sz="850" dirty="0"/>
          </a:p>
        </p:txBody>
      </p:sp>
      <p:sp>
        <p:nvSpPr>
          <p:cNvPr id="25" name="Shape 23"/>
          <p:cNvSpPr/>
          <p:nvPr/>
        </p:nvSpPr>
        <p:spPr>
          <a:xfrm>
            <a:off x="4727448" y="3602736"/>
            <a:ext cx="4187952" cy="548640"/>
          </a:xfrm>
          <a:prstGeom prst="roundRect">
            <a:avLst>
              <a:gd name="adj" fmla="val 13333"/>
            </a:avLst>
          </a:prstGeom>
          <a:solidFill>
            <a:srgbClr val="FFFFFF"/>
          </a:solidFill>
          <a:ln w="12700">
            <a:solidFill>
              <a:srgbClr val="D8E8EC"/>
            </a:solidFill>
            <a:prstDash val="solid"/>
          </a:ln>
        </p:spPr>
      </p:sp>
      <p:sp>
        <p:nvSpPr>
          <p:cNvPr id="26" name="Text 24"/>
          <p:cNvSpPr/>
          <p:nvPr/>
        </p:nvSpPr>
        <p:spPr>
          <a:xfrm>
            <a:off x="4837176" y="3657600"/>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Torous, J., &amp; Roberts, L. W. (2023). Ethical implications of AI in mental health. JAMA Psychiatry, 80(9), 880–882.</a:t>
            </a:r>
            <a:endParaRPr lang="en-US" sz="850" dirty="0"/>
          </a:p>
        </p:txBody>
      </p:sp>
      <p:sp>
        <p:nvSpPr>
          <p:cNvPr id="27" name="Shape 25"/>
          <p:cNvSpPr/>
          <p:nvPr/>
        </p:nvSpPr>
        <p:spPr>
          <a:xfrm>
            <a:off x="4727448" y="4224528"/>
            <a:ext cx="4187952" cy="548640"/>
          </a:xfrm>
          <a:prstGeom prst="roundRect">
            <a:avLst>
              <a:gd name="adj" fmla="val 13333"/>
            </a:avLst>
          </a:prstGeom>
          <a:solidFill>
            <a:srgbClr val="FFFFFF"/>
          </a:solidFill>
          <a:ln w="12700">
            <a:solidFill>
              <a:srgbClr val="D8E8EC"/>
            </a:solidFill>
            <a:prstDash val="solid"/>
          </a:ln>
        </p:spPr>
      </p:sp>
      <p:sp>
        <p:nvSpPr>
          <p:cNvPr id="28" name="Text 26"/>
          <p:cNvSpPr/>
          <p:nvPr/>
        </p:nvSpPr>
        <p:spPr>
          <a:xfrm>
            <a:off x="4837176" y="4279392"/>
            <a:ext cx="3968496" cy="457200"/>
          </a:xfrm>
          <a:prstGeom prst="rect">
            <a:avLst/>
          </a:prstGeom>
          <a:noFill/>
          <a:ln/>
        </p:spPr>
        <p:txBody>
          <a:bodyPr wrap="square" lIns="0" tIns="0" rIns="0" bIns="0" rtlCol="0" anchor="ctr"/>
          <a:lstStyle/>
          <a:p>
            <a:pPr indent="0" marL="0">
              <a:buNone/>
            </a:pPr>
            <a:r>
              <a:rPr lang="en-US" sz="850" dirty="0">
                <a:solidFill>
                  <a:srgbClr val="4A6274"/>
                </a:solidFill>
                <a:latin typeface="Calibri" pitchFamily="34" charset="0"/>
                <a:ea typeface="Calibri" pitchFamily="34" charset="-122"/>
                <a:cs typeface="Calibri" pitchFamily="34" charset="-120"/>
              </a:rPr>
              <a:t>Picard, R. W. (1997). Affective Computing. MIT Press.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2B3E"/>
        </a:solidFill>
      </p:bgPr>
    </p:bg>
    <p:spTree>
      <p:nvGrpSpPr>
        <p:cNvPr id="1" name=""/>
        <p:cNvGrpSpPr/>
        <p:nvPr/>
      </p:nvGrpSpPr>
      <p:grpSpPr>
        <a:xfrm>
          <a:off x="0" y="0"/>
          <a:ext cx="0" cy="0"/>
          <a:chOff x="0" y="0"/>
          <a:chExt cx="0" cy="0"/>
        </a:xfrm>
      </p:grpSpPr>
      <p:sp>
        <p:nvSpPr>
          <p:cNvPr id="2" name="Shape 0"/>
          <p:cNvSpPr/>
          <p:nvPr/>
        </p:nvSpPr>
        <p:spPr>
          <a:xfrm>
            <a:off x="3200400" y="731520"/>
            <a:ext cx="2743200" cy="2743200"/>
          </a:xfrm>
          <a:prstGeom prst="ellipse">
            <a:avLst/>
          </a:prstGeom>
          <a:solidFill>
            <a:srgbClr val="0A6E72">
              <a:alpha val="18000"/>
            </a:srgbClr>
          </a:solidFill>
          <a:ln w="12700">
            <a:solidFill>
              <a:srgbClr val="000000">
                <a:alpha val="0"/>
              </a:srgbClr>
            </a:solidFill>
            <a:prstDash val="solid"/>
          </a:ln>
        </p:spPr>
      </p:sp>
      <p:sp>
        <p:nvSpPr>
          <p:cNvPr id="3" name="Shape 1"/>
          <p:cNvSpPr/>
          <p:nvPr/>
        </p:nvSpPr>
        <p:spPr>
          <a:xfrm>
            <a:off x="5943600" y="2286000"/>
            <a:ext cx="2011680" cy="2011680"/>
          </a:xfrm>
          <a:prstGeom prst="ellipse">
            <a:avLst/>
          </a:prstGeom>
          <a:solidFill>
            <a:srgbClr val="C9993A">
              <a:alpha val="12000"/>
            </a:srgbClr>
          </a:solidFill>
          <a:ln w="12700">
            <a:solidFill>
              <a:srgbClr val="000000">
                <a:alpha val="0"/>
              </a:srgbClr>
            </a:solidFill>
            <a:prstDash val="solid"/>
          </a:ln>
        </p:spPr>
      </p:sp>
      <p:sp>
        <p:nvSpPr>
          <p:cNvPr id="4" name="Text 2"/>
          <p:cNvSpPr/>
          <p:nvPr/>
        </p:nvSpPr>
        <p:spPr>
          <a:xfrm>
            <a:off x="640080" y="731520"/>
            <a:ext cx="7863840"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3"/>
          <p:cNvSpPr/>
          <p:nvPr/>
        </p:nvSpPr>
        <p:spPr>
          <a:xfrm>
            <a:off x="640080" y="1828800"/>
            <a:ext cx="7863840" cy="502920"/>
          </a:xfrm>
          <a:prstGeom prst="rect">
            <a:avLst/>
          </a:prstGeom>
          <a:noFill/>
          <a:ln/>
        </p:spPr>
        <p:txBody>
          <a:bodyPr wrap="square" lIns="0" tIns="0" rIns="0" bIns="0" rtlCol="0" anchor="ctr"/>
          <a:lstStyle/>
          <a:p>
            <a:pPr algn="ctr" indent="0" marL="0">
              <a:buNone/>
            </a:pPr>
            <a:r>
              <a:rPr lang="en-US" sz="2200" dirty="0">
                <a:solidFill>
                  <a:srgbClr val="C9993A"/>
                </a:solidFill>
                <a:latin typeface="Calibri" pitchFamily="34" charset="0"/>
                <a:ea typeface="Calibri" pitchFamily="34" charset="-122"/>
                <a:cs typeface="Calibri" pitchFamily="34" charset="-120"/>
              </a:rPr>
              <a:t>Questions &amp; Discussion</a:t>
            </a:r>
            <a:endParaRPr lang="en-US" sz="2200" dirty="0"/>
          </a:p>
        </p:txBody>
      </p:sp>
      <p:sp>
        <p:nvSpPr>
          <p:cNvPr id="6" name="Shape 4"/>
          <p:cNvSpPr/>
          <p:nvPr/>
        </p:nvSpPr>
        <p:spPr>
          <a:xfrm>
            <a:off x="2286000" y="2514600"/>
            <a:ext cx="4572000" cy="22860"/>
          </a:xfrm>
          <a:prstGeom prst="rect">
            <a:avLst/>
          </a:prstGeom>
          <a:solidFill>
            <a:srgbClr val="128C8E"/>
          </a:solidFill>
          <a:ln w="12700">
            <a:solidFill>
              <a:srgbClr val="128C8E"/>
            </a:solidFill>
            <a:prstDash val="solid"/>
          </a:ln>
        </p:spPr>
      </p:sp>
      <p:sp>
        <p:nvSpPr>
          <p:cNvPr id="7" name="Text 5"/>
          <p:cNvSpPr/>
          <p:nvPr/>
        </p:nvSpPr>
        <p:spPr>
          <a:xfrm>
            <a:off x="1828800" y="2743200"/>
            <a:ext cx="5486400" cy="274320"/>
          </a:xfrm>
          <a:prstGeom prst="rect">
            <a:avLst/>
          </a:prstGeom>
          <a:noFill/>
          <a:ln/>
        </p:spPr>
        <p:txBody>
          <a:bodyPr wrap="square" lIns="0" tIns="0" rIns="0" bIns="0" rtlCol="0" anchor="ctr"/>
          <a:lstStyle/>
          <a:p>
            <a:pPr algn="ctr" indent="0" marL="0">
              <a:buNone/>
            </a:pPr>
            <a:r>
              <a:rPr lang="en-US" sz="1200" dirty="0">
                <a:solidFill>
                  <a:srgbClr val="90B8C8"/>
                </a:solidFill>
                <a:latin typeface="Calibri" pitchFamily="34" charset="0"/>
                <a:ea typeface="Calibri" pitchFamily="34" charset="-122"/>
                <a:cs typeface="Calibri" pitchFamily="34" charset="-120"/>
              </a:rPr>
              <a:t>• God Almighty — for grace throughout this journey</a:t>
            </a:r>
            <a:endParaRPr lang="en-US" sz="1200" dirty="0"/>
          </a:p>
        </p:txBody>
      </p:sp>
      <p:sp>
        <p:nvSpPr>
          <p:cNvPr id="8" name="Text 6"/>
          <p:cNvSpPr/>
          <p:nvPr/>
        </p:nvSpPr>
        <p:spPr>
          <a:xfrm>
            <a:off x="1828800" y="3063240"/>
            <a:ext cx="5486400" cy="274320"/>
          </a:xfrm>
          <a:prstGeom prst="rect">
            <a:avLst/>
          </a:prstGeom>
          <a:noFill/>
          <a:ln/>
        </p:spPr>
        <p:txBody>
          <a:bodyPr wrap="square" lIns="0" tIns="0" rIns="0" bIns="0" rtlCol="0" anchor="ctr"/>
          <a:lstStyle/>
          <a:p>
            <a:pPr algn="ctr" indent="0" marL="0">
              <a:buNone/>
            </a:pPr>
            <a:r>
              <a:rPr lang="en-US" sz="1200" dirty="0">
                <a:solidFill>
                  <a:srgbClr val="90B8C8"/>
                </a:solidFill>
                <a:latin typeface="Calibri" pitchFamily="34" charset="0"/>
                <a:ea typeface="Calibri" pitchFamily="34" charset="-122"/>
                <a:cs typeface="Calibri" pitchFamily="34" charset="-120"/>
              </a:rPr>
              <a:t>• Dr. Emmanuel O. Igbekele — Supervisor</a:t>
            </a:r>
            <a:endParaRPr lang="en-US" sz="1200" dirty="0"/>
          </a:p>
        </p:txBody>
      </p:sp>
      <p:sp>
        <p:nvSpPr>
          <p:cNvPr id="9" name="Text 7"/>
          <p:cNvSpPr/>
          <p:nvPr/>
        </p:nvSpPr>
        <p:spPr>
          <a:xfrm>
            <a:off x="1828800" y="3383280"/>
            <a:ext cx="5486400" cy="274320"/>
          </a:xfrm>
          <a:prstGeom prst="rect">
            <a:avLst/>
          </a:prstGeom>
          <a:noFill/>
          <a:ln/>
        </p:spPr>
        <p:txBody>
          <a:bodyPr wrap="square" lIns="0" tIns="0" rIns="0" bIns="0" rtlCol="0" anchor="ctr"/>
          <a:lstStyle/>
          <a:p>
            <a:pPr algn="ctr" indent="0" marL="0">
              <a:buNone/>
            </a:pPr>
            <a:r>
              <a:rPr lang="en-US" sz="1200" dirty="0">
                <a:solidFill>
                  <a:srgbClr val="90B8C8"/>
                </a:solidFill>
                <a:latin typeface="Calibri" pitchFamily="34" charset="0"/>
                <a:ea typeface="Calibri" pitchFamily="34" charset="-122"/>
                <a:cs typeface="Calibri" pitchFamily="34" charset="-120"/>
              </a:rPr>
              <a:t>• Mr. Fortune O. Amrevuawho — Co-supervisor</a:t>
            </a:r>
            <a:endParaRPr lang="en-US" sz="1200" dirty="0"/>
          </a:p>
        </p:txBody>
      </p:sp>
      <p:sp>
        <p:nvSpPr>
          <p:cNvPr id="10" name="Text 8"/>
          <p:cNvSpPr/>
          <p:nvPr/>
        </p:nvSpPr>
        <p:spPr>
          <a:xfrm>
            <a:off x="1828800" y="3703320"/>
            <a:ext cx="5486400" cy="274320"/>
          </a:xfrm>
          <a:prstGeom prst="rect">
            <a:avLst/>
          </a:prstGeom>
          <a:noFill/>
          <a:ln/>
        </p:spPr>
        <p:txBody>
          <a:bodyPr wrap="square" lIns="0" tIns="0" rIns="0" bIns="0" rtlCol="0" anchor="ctr"/>
          <a:lstStyle/>
          <a:p>
            <a:pPr algn="ctr" indent="0" marL="0">
              <a:buNone/>
            </a:pPr>
            <a:r>
              <a:rPr lang="en-US" sz="1200" dirty="0">
                <a:solidFill>
                  <a:srgbClr val="90B8C8"/>
                </a:solidFill>
                <a:latin typeface="Calibri" pitchFamily="34" charset="0"/>
                <a:ea typeface="Calibri" pitchFamily="34" charset="-122"/>
                <a:cs typeface="Calibri" pitchFamily="34" charset="-120"/>
              </a:rPr>
              <a:t>• Prof. Marion O. Adebiyi — HOD, Computer Science</a:t>
            </a:r>
            <a:endParaRPr lang="en-US" sz="1200" dirty="0"/>
          </a:p>
        </p:txBody>
      </p:sp>
      <p:sp>
        <p:nvSpPr>
          <p:cNvPr id="11" name="Text 9"/>
          <p:cNvSpPr/>
          <p:nvPr/>
        </p:nvSpPr>
        <p:spPr>
          <a:xfrm>
            <a:off x="1828800" y="4023360"/>
            <a:ext cx="5486400" cy="274320"/>
          </a:xfrm>
          <a:prstGeom prst="rect">
            <a:avLst/>
          </a:prstGeom>
          <a:noFill/>
          <a:ln/>
        </p:spPr>
        <p:txBody>
          <a:bodyPr wrap="square" lIns="0" tIns="0" rIns="0" bIns="0" rtlCol="0" anchor="ctr"/>
          <a:lstStyle/>
          <a:p>
            <a:pPr algn="ctr" indent="0" marL="0">
              <a:buNone/>
            </a:pPr>
            <a:r>
              <a:rPr lang="en-US" sz="1200" dirty="0">
                <a:solidFill>
                  <a:srgbClr val="90B8C8"/>
                </a:solidFill>
                <a:latin typeface="Calibri" pitchFamily="34" charset="0"/>
                <a:ea typeface="Calibri" pitchFamily="34" charset="-122"/>
                <a:cs typeface="Calibri" pitchFamily="34" charset="-120"/>
              </a:rPr>
              <a:t>• Landmark University, Omu-Aran</a:t>
            </a:r>
            <a:endParaRPr lang="en-US" sz="1200" dirty="0"/>
          </a:p>
        </p:txBody>
      </p:sp>
      <p:sp>
        <p:nvSpPr>
          <p:cNvPr id="12" name="Text 10"/>
          <p:cNvSpPr/>
          <p:nvPr/>
        </p:nvSpPr>
        <p:spPr>
          <a:xfrm>
            <a:off x="1828800" y="4343400"/>
            <a:ext cx="5486400" cy="274320"/>
          </a:xfrm>
          <a:prstGeom prst="rect">
            <a:avLst/>
          </a:prstGeom>
          <a:noFill/>
          <a:ln/>
        </p:spPr>
        <p:txBody>
          <a:bodyPr wrap="square" lIns="0" tIns="0" rIns="0" bIns="0" rtlCol="0" anchor="ctr"/>
          <a:lstStyle/>
          <a:p>
            <a:pPr algn="ctr" indent="0" marL="0">
              <a:buNone/>
            </a:pPr>
            <a:r>
              <a:rPr lang="en-US" sz="1200" dirty="0">
                <a:solidFill>
                  <a:srgbClr val="90B8C8"/>
                </a:solidFill>
                <a:latin typeface="Calibri" pitchFamily="34" charset="0"/>
                <a:ea typeface="Calibri" pitchFamily="34" charset="-122"/>
                <a:cs typeface="Calibri" pitchFamily="34" charset="-120"/>
              </a:rPr>
              <a:t>• Family &amp; friends for their unwavering support</a:t>
            </a:r>
            <a:endParaRPr lang="en-US" sz="1200" dirty="0"/>
          </a:p>
        </p:txBody>
      </p:sp>
      <p:sp>
        <p:nvSpPr>
          <p:cNvPr id="13" name="Text 11"/>
          <p:cNvSpPr/>
          <p:nvPr/>
        </p:nvSpPr>
        <p:spPr>
          <a:xfrm>
            <a:off x="640080" y="4736592"/>
            <a:ext cx="7863840" cy="256032"/>
          </a:xfrm>
          <a:prstGeom prst="rect">
            <a:avLst/>
          </a:prstGeom>
          <a:noFill/>
          <a:ln/>
        </p:spPr>
        <p:txBody>
          <a:bodyPr wrap="square" lIns="0" tIns="0" rIns="0" bIns="0" rtlCol="0" anchor="ctr"/>
          <a:lstStyle/>
          <a:p>
            <a:pPr algn="ctr" indent="0" marL="0">
              <a:buNone/>
            </a:pPr>
            <a:r>
              <a:rPr lang="en-US" sz="1100" dirty="0">
                <a:solidFill>
                  <a:srgbClr val="70A0B8"/>
                </a:solidFill>
                <a:latin typeface="Calibri" pitchFamily="34" charset="0"/>
                <a:ea typeface="Calibri" pitchFamily="34" charset="-122"/>
                <a:cs typeface="Calibri" pitchFamily="34" charset="-120"/>
              </a:rPr>
              <a:t>Yohanan Kolawola  ·  21CD008347  ·  June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AIDA Defense — AEIF Framework</dc:title>
  <dc:subject>PptxGenJS Presentation</dc:subject>
  <dc:creator>Yohanan Kolawola</dc:creator>
  <cp:lastModifiedBy>Yohanan Kolawola</cp:lastModifiedBy>
  <cp:revision>1</cp:revision>
  <dcterms:created xsi:type="dcterms:W3CDTF">2026-06-10T21:19:22Z</dcterms:created>
  <dcterms:modified xsi:type="dcterms:W3CDTF">2026-06-10T21:19:22Z</dcterms:modified>
</cp:coreProperties>
</file>