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handoutMasterIdLst>
    <p:handoutMasterId r:id="rId27"/>
  </p:handoutMasterIdLst>
  <p:sldIdLst>
    <p:sldId id="256" r:id="rId3"/>
    <p:sldId id="287" r:id="rId4"/>
    <p:sldId id="263" r:id="rId6"/>
    <p:sldId id="290" r:id="rId7"/>
    <p:sldId id="296" r:id="rId8"/>
    <p:sldId id="300" r:id="rId9"/>
    <p:sldId id="303" r:id="rId10"/>
    <p:sldId id="304" r:id="rId11"/>
    <p:sldId id="305" r:id="rId12"/>
    <p:sldId id="307" r:id="rId13"/>
    <p:sldId id="306" r:id="rId14"/>
    <p:sldId id="308" r:id="rId15"/>
    <p:sldId id="310" r:id="rId16"/>
    <p:sldId id="311" r:id="rId17"/>
    <p:sldId id="312" r:id="rId18"/>
    <p:sldId id="313" r:id="rId19"/>
    <p:sldId id="320" r:id="rId20"/>
    <p:sldId id="321" r:id="rId21"/>
    <p:sldId id="314" r:id="rId22"/>
    <p:sldId id="315" r:id="rId23"/>
    <p:sldId id="317" r:id="rId24"/>
    <p:sldId id="318" r:id="rId25"/>
    <p:sldId id="316" r:id="rId26"/>
  </p:sldIdLst>
  <p:sldSz cx="12192000" cy="6858000"/>
  <p:notesSz cx="6858000" cy="9144000"/>
  <p:defaultTextStyle>
    <a:defPPr>
      <a:defRPr lang="zh-CN"/>
    </a:defPPr>
    <a:lvl1pPr marL="0" lvl="0"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Calibri" panose="020F0502020204030204" pitchFamily="34" charset="0"/>
        <a:ea typeface="SimSun" pitchFamily="2" charset="-122"/>
        <a:cs typeface="+mn-cs"/>
      </a:defRPr>
    </a:lvl1pPr>
    <a:lvl2pPr marL="457200" lvl="1"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Calibri" panose="020F0502020204030204" pitchFamily="34" charset="0"/>
        <a:ea typeface="SimSun" pitchFamily="2" charset="-122"/>
        <a:cs typeface="+mn-cs"/>
      </a:defRPr>
    </a:lvl2pPr>
    <a:lvl3pPr marL="914400" lvl="2"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Calibri" panose="020F0502020204030204" pitchFamily="34" charset="0"/>
        <a:ea typeface="SimSun" pitchFamily="2" charset="-122"/>
        <a:cs typeface="+mn-cs"/>
      </a:defRPr>
    </a:lvl3pPr>
    <a:lvl4pPr marL="1371600" lvl="3"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Calibri" panose="020F0502020204030204" pitchFamily="34" charset="0"/>
        <a:ea typeface="SimSun" pitchFamily="2" charset="-122"/>
        <a:cs typeface="+mn-cs"/>
      </a:defRPr>
    </a:lvl4pPr>
    <a:lvl5pPr marL="1828800" lvl="4"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Calibri" panose="020F0502020204030204" pitchFamily="34" charset="0"/>
        <a:ea typeface="SimSun" pitchFamily="2" charset="-122"/>
        <a:cs typeface="+mn-cs"/>
      </a:defRPr>
    </a:lvl5pPr>
    <a:lvl6pPr marL="2286000" lvl="5"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Calibri" panose="020F0502020204030204" pitchFamily="34" charset="0"/>
        <a:ea typeface="SimSun" pitchFamily="2" charset="-122"/>
        <a:cs typeface="+mn-cs"/>
      </a:defRPr>
    </a:lvl6pPr>
    <a:lvl7pPr marL="2743200" lvl="6"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Calibri" panose="020F0502020204030204" pitchFamily="34" charset="0"/>
        <a:ea typeface="SimSun" pitchFamily="2" charset="-122"/>
        <a:cs typeface="+mn-cs"/>
      </a:defRPr>
    </a:lvl7pPr>
    <a:lvl8pPr marL="3200400" lvl="7"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Calibri" panose="020F0502020204030204" pitchFamily="34" charset="0"/>
        <a:ea typeface="SimSun" pitchFamily="2" charset="-122"/>
        <a:cs typeface="+mn-cs"/>
      </a:defRPr>
    </a:lvl8pPr>
    <a:lvl9pPr marL="3657600" lvl="8"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Calibri" panose="020F0502020204030204" pitchFamily="34" charset="0"/>
        <a:ea typeface="SimSun"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383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0404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napToGrid="0" showGuides="1">
      <p:cViewPr>
        <p:scale>
          <a:sx n="66" d="100"/>
          <a:sy n="66" d="100"/>
        </p:scale>
        <p:origin x="222" y="-6"/>
      </p:cViewPr>
      <p:guideLst>
        <p:guide orient="horz" pos="2160"/>
        <p:guide pos="3834"/>
      </p:guideLst>
    </p:cSldViewPr>
  </p:slideViewPr>
  <p:notesTextViewPr>
    <p:cViewPr>
      <p:scale>
        <a:sx n="1" d="1"/>
        <a:sy n="1" d="1"/>
      </p:scale>
      <p:origin x="0" y="0"/>
    </p:cViewPr>
  </p:notesTextViewPr>
  <p:sorterViewPr showFormatting="0">
    <p:cViewPr>
      <p:scale>
        <a:sx n="100" d="100"/>
        <a:sy n="100" d="100"/>
      </p:scale>
      <p:origin x="0" y="-11064"/>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 Type="http://schemas.openxmlformats.org/officeDocument/2006/relationships/slide" Target="slides/slide2.xml"/><Relationship Id="rId30" Type="http://schemas.openxmlformats.org/officeDocument/2006/relationships/tableStyles" Target="tableStyles.xml"/><Relationship Id="rId3" Type="http://schemas.openxmlformats.org/officeDocument/2006/relationships/slide" Target="slides/slide1.xml"/><Relationship Id="rId29" Type="http://schemas.openxmlformats.org/officeDocument/2006/relationships/viewProps" Target="viewProps.xml"/><Relationship Id="rId28" Type="http://schemas.openxmlformats.org/officeDocument/2006/relationships/presProps" Target="presProps.xml"/><Relationship Id="rId27" Type="http://schemas.openxmlformats.org/officeDocument/2006/relationships/handoutMaster" Target="handoutMasters/handoutMaster1.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fontAlgn="base"/>
            <a:endParaRPr lang="zh-CN" altLang="en-US" strike="noStrike" noProof="1"/>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fontAlgn="base"/>
            <a:fld id="{0F9B84EA-7D68-4D60-9CB1-D50884785D1C}" type="datetimeFigureOut">
              <a:rPr lang="zh-CN" altLang="en-US" strike="noStrike" noProof="1" smtClean="0">
                <a:latin typeface="Calibri" panose="020F0502020204030204" pitchFamily="34" charset="0"/>
                <a:ea typeface="SimSun" pitchFamily="2" charset="-122"/>
                <a:cs typeface="+mn-cs"/>
              </a:rPr>
            </a:fld>
            <a:endParaRPr lang="zh-CN" altLang="en-US" strike="noStrike" noProof="1"/>
          </a:p>
        </p:txBody>
      </p:sp>
      <p:sp>
        <p:nvSpPr>
          <p:cNvPr id="4" name="页脚占位符 3"/>
          <p:cNvSpPr>
            <a:spLocks noGrp="1"/>
          </p:cNvSpPr>
          <p:nvPr>
            <p:ph type="ftr" sz="quarter" idx="2"/>
          </p:nvPr>
        </p:nvSpPr>
        <p:spPr>
          <a:xfrm>
            <a:off x="0" y="8685213"/>
            <a:ext cx="2971800" cy="458788"/>
          </a:xfrm>
          <a:prstGeom prst="rect">
            <a:avLst/>
          </a:prstGeom>
        </p:spPr>
        <p:txBody>
          <a:bodyPr vert="horz" lIns="91440" tIns="45720" rIns="91440" bIns="45720" rtlCol="0" anchor="b"/>
          <a:lstStyle>
            <a:lvl1pPr algn="l">
              <a:defRPr sz="1200"/>
            </a:lvl1pPr>
          </a:lstStyle>
          <a:p>
            <a:pPr fontAlgn="base"/>
            <a:endParaRPr lang="zh-CN" altLang="en-US" strike="noStrike" noProof="1"/>
          </a:p>
        </p:txBody>
      </p:sp>
      <p:sp>
        <p:nvSpPr>
          <p:cNvPr id="5" name="灯片编号占位符 4"/>
          <p:cNvSpPr>
            <a:spLocks noGrp="1"/>
          </p:cNvSpPr>
          <p:nvPr>
            <p:ph type="sldNum" sz="quarter" idx="3"/>
          </p:nvPr>
        </p:nvSpPr>
        <p:spPr>
          <a:xfrm>
            <a:off x="3884613" y="8685213"/>
            <a:ext cx="2971800" cy="458788"/>
          </a:xfrm>
          <a:prstGeom prst="rect">
            <a:avLst/>
          </a:prstGeom>
        </p:spPr>
        <p:txBody>
          <a:bodyPr vert="horz" lIns="91440" tIns="45720" rIns="91440" bIns="45720" rtlCol="0" anchor="b"/>
          <a:lstStyle>
            <a:lvl1pPr algn="r">
              <a:defRPr sz="1200"/>
            </a:lvl1pPr>
          </a:lstStyle>
          <a:p>
            <a:pPr fontAlgn="base"/>
            <a:fld id="{8D4E0FC9-F1F8-4FAE-9988-3BA365CFD46F}" type="slidenum">
              <a:rPr lang="zh-CN" altLang="en-US" strike="noStrike" noProof="1" smtClean="0">
                <a:latin typeface="Calibri" panose="020F0502020204030204" pitchFamily="34" charset="0"/>
                <a:ea typeface="SimSun" pitchFamily="2" charset="-122"/>
                <a:cs typeface="+mn-cs"/>
              </a:rPr>
            </a:fld>
            <a:endParaRPr lang="zh-CN" altLang="en-US" strike="noStrike" noProof="1"/>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fontAlgn="base"/>
            <a:endParaRPr lang="zh-CN" altLang="en-US" strike="noStrike" noProof="1"/>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fontAlgn="base"/>
            <a:fld id="{D2A48B96-639E-45A3-A0BA-2464DFDB1FAA}" type="datetimeFigureOut">
              <a:rPr lang="zh-CN" altLang="en-US" strike="noStrike" noProof="1" smtClean="0">
                <a:latin typeface="Calibri" panose="020F0502020204030204" pitchFamily="34" charset="0"/>
                <a:ea typeface="SimSun" pitchFamily="2" charset="-122"/>
                <a:cs typeface="+mn-cs"/>
              </a:rPr>
            </a:fld>
            <a:endParaRPr lang="zh-CN" altLang="en-US" strike="noStrike" noProof="1"/>
          </a:p>
        </p:txBody>
      </p:sp>
      <p:sp>
        <p:nvSpPr>
          <p:cNvPr id="3076" name="幻灯片图像占位符 3"/>
          <p:cNvSpPr>
            <a:spLocks noGrp="1" noRot="1" noChangeAspect="1"/>
          </p:cNvSpPr>
          <p:nvPr>
            <p:ph type="sldImg"/>
          </p:nvPr>
        </p:nvSpPr>
        <p:spPr>
          <a:xfrm>
            <a:off x="685800" y="1143000"/>
            <a:ext cx="5486400" cy="3086100"/>
          </a:xfrm>
          <a:prstGeom prst="rect">
            <a:avLst/>
          </a:prstGeom>
          <a:noFill/>
          <a:ln w="12700" cap="flat" cmpd="sng">
            <a:solidFill>
              <a:srgbClr val="000000"/>
            </a:solidFill>
            <a:prstDash val="solid"/>
            <a:round/>
            <a:headEnd type="none" w="med" len="med"/>
            <a:tailEnd type="none" w="med" len="med"/>
          </a:ln>
        </p:spPr>
      </p:sp>
      <p:sp>
        <p:nvSpPr>
          <p:cNvPr id="3077" name="备注占位符 4"/>
          <p:cNvSpPr>
            <a:spLocks noGrp="1"/>
          </p:cNvSpPr>
          <p:nvPr>
            <p:ph type="body" sz="quarter"/>
          </p:nvPr>
        </p:nvSpPr>
        <p:spPr>
          <a:xfrm>
            <a:off x="685800" y="4400550"/>
            <a:ext cx="5486400" cy="3600450"/>
          </a:xfrm>
          <a:prstGeom prst="rect">
            <a:avLst/>
          </a:prstGeom>
          <a:noFill/>
          <a:ln w="9525">
            <a:noFill/>
          </a:ln>
        </p:spPr>
        <p:txBody>
          <a:bodyPr lIns="91440" tIns="45720" rIns="91440" bIns="45720" anchor="t"/>
          <a:p>
            <a:pPr lvl="0"/>
            <a:r>
              <a:rPr lang="zh-CN" altLang="en-US" dirty="0"/>
              <a:t>Click to edit Master text style</a:t>
            </a:r>
            <a:endParaRPr lang="zh-CN" altLang="en-US" dirty="0"/>
          </a:p>
          <a:p>
            <a:pPr lvl="1" indent="0"/>
            <a:r>
              <a:rPr lang="zh-CN" altLang="en-US" dirty="0"/>
              <a:t>Second level</a:t>
            </a:r>
            <a:endParaRPr lang="zh-CN" altLang="en-US" dirty="0"/>
          </a:p>
          <a:p>
            <a:pPr lvl="2" indent="0"/>
            <a:r>
              <a:rPr lang="zh-CN" altLang="en-US" dirty="0"/>
              <a:t>Third level</a:t>
            </a:r>
            <a:endParaRPr lang="zh-CN" altLang="en-US" dirty="0"/>
          </a:p>
          <a:p>
            <a:pPr lvl="3" indent="0"/>
            <a:r>
              <a:rPr lang="zh-CN" altLang="en-US" dirty="0"/>
              <a:t>Fourth level</a:t>
            </a:r>
            <a:endParaRPr lang="zh-CN" altLang="en-US" dirty="0"/>
          </a:p>
          <a:p>
            <a:pPr lvl="4" indent="0"/>
            <a:r>
              <a:rPr lang="zh-CN" altLang="en-US" dirty="0"/>
              <a:t>Fifth level</a:t>
            </a:r>
            <a:endParaRPr lang="zh-CN" altLang="en-US"/>
          </a:p>
        </p:txBody>
      </p:sp>
      <p:sp>
        <p:nvSpPr>
          <p:cNvPr id="6" name="页脚占位符 5"/>
          <p:cNvSpPr>
            <a:spLocks noGrp="1"/>
          </p:cNvSpPr>
          <p:nvPr>
            <p:ph type="ftr" sz="quarter" idx="4"/>
          </p:nvPr>
        </p:nvSpPr>
        <p:spPr>
          <a:xfrm>
            <a:off x="0" y="8685213"/>
            <a:ext cx="2971800" cy="458788"/>
          </a:xfrm>
          <a:prstGeom prst="rect">
            <a:avLst/>
          </a:prstGeom>
        </p:spPr>
        <p:txBody>
          <a:bodyPr vert="horz" lIns="91440" tIns="45720" rIns="91440" bIns="45720" rtlCol="0" anchor="b"/>
          <a:lstStyle>
            <a:lvl1pPr algn="l">
              <a:defRPr sz="1200"/>
            </a:lvl1pPr>
          </a:lstStyle>
          <a:p>
            <a:pPr fontAlgn="base"/>
            <a:endParaRPr lang="zh-CN" altLang="en-US" strike="noStrike" noProof="1"/>
          </a:p>
        </p:txBody>
      </p:sp>
      <p:sp>
        <p:nvSpPr>
          <p:cNvPr id="7" name="灯片编号占位符 6"/>
          <p:cNvSpPr>
            <a:spLocks noGrp="1"/>
          </p:cNvSpPr>
          <p:nvPr>
            <p:ph type="sldNum" sz="quarter" idx="5"/>
          </p:nvPr>
        </p:nvSpPr>
        <p:spPr>
          <a:xfrm>
            <a:off x="3884613" y="8685213"/>
            <a:ext cx="2971800" cy="458788"/>
          </a:xfrm>
          <a:prstGeom prst="rect">
            <a:avLst/>
          </a:prstGeom>
        </p:spPr>
        <p:txBody>
          <a:bodyPr vert="horz" lIns="91440" tIns="45720" rIns="91440" bIns="45720" rtlCol="0" anchor="b"/>
          <a:lstStyle>
            <a:lvl1pPr algn="r">
              <a:defRPr sz="1200"/>
            </a:lvl1pPr>
          </a:lstStyle>
          <a:p>
            <a:pPr fontAlgn="base"/>
            <a:fld id="{A6837353-30EB-4A48-80EB-173D804AEFBD}" type="slidenum">
              <a:rPr lang="zh-CN" altLang="en-US" strike="noStrike" noProof="1" smtClean="0">
                <a:latin typeface="Calibri" panose="020F0502020204030204" pitchFamily="34" charset="0"/>
                <a:ea typeface="SimSun" pitchFamily="2" charset="-122"/>
                <a:cs typeface="+mn-cs"/>
              </a:rPr>
            </a:fld>
            <a:endParaRPr lang="zh-CN" altLang="en-US" strike="noStrike" noProof="1"/>
          </a:p>
        </p:txBody>
      </p:sp>
    </p:spTree>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Text Placeholder 2"/>
          <p:cNvSpPr>
            <a:spLocks noGrp="1"/>
          </p:cNvSpPr>
          <p:nvPr>
            <p:ph type="body"/>
          </p:nvPr>
        </p:nvSpPr>
        <p:spPr/>
        <p:txBody>
          <a:bodyPr/>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Text Placeholder 2"/>
          <p:cNvSpPr>
            <a:spLocks noGrp="1"/>
          </p:cNvSpPr>
          <p:nvPr>
            <p:ph type="body"/>
          </p:nvPr>
        </p:nvSpPr>
        <p:spPr/>
        <p:txBody>
          <a:bodyPr/>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Text Placeholder 2"/>
          <p:cNvSpPr>
            <a:spLocks noGrp="1"/>
          </p:cNvSpPr>
          <p:nvPr>
            <p:ph type="body"/>
          </p:nvPr>
        </p:nvSpPr>
        <p:spPr/>
        <p:txBody>
          <a:bodyPr/>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pPr fontAlgn="auto"/>
            <a:r>
              <a:rPr lang="zh-CN" altLang="en-US" strike="noStrike" noProof="1" smtClean="0"/>
              <a:t>Click to edit Master title style</a:t>
            </a:r>
            <a:endParaRPr lang="zh-CN" altLang="en-US" strike="noStrike" noProof="1" smtClean="0"/>
          </a:p>
        </p:txBody>
      </p:sp>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fontAlgn="auto"/>
            <a:r>
              <a:rPr lang="zh-CN" altLang="en-US" strike="noStrike" noProof="1" smtClean="0"/>
              <a:t>Click to edit Master title style</a:t>
            </a:r>
            <a:endParaRPr lang="zh-CN" altLang="en-US" strike="noStrike" noProof="1" smtClean="0"/>
          </a:p>
        </p:txBody>
      </p:sp>
      <p:sp>
        <p:nvSpPr>
          <p:cNvPr id="4" name="Date Placeholder 3"/>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marL="0" marR="0" lvl="0" indent="0" algn="r" defTabSz="914400" rtl="0" eaLnBrk="1" fontAlgn="auto" latinLnBrk="0" hangingPunct="1">
              <a:lnSpc>
                <a:spcPct val="100000"/>
              </a:lnSpc>
              <a:spcBef>
                <a:spcPts val="0"/>
              </a:spcBef>
              <a:spcAft>
                <a:spcPts val="0"/>
              </a:spcAft>
              <a:buClrTx/>
              <a:buSzTx/>
              <a:buFontTx/>
              <a:buNone/>
              <a:defRPr/>
            </a:pPr>
            <a:fld id="{BEF05245-1089-431C-9CB9-1C9E798A99A0}" type="slidenum">
              <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transition spd="slow">
    <p:wipe/>
  </p:transition>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1026" name="标题占位符 1"/>
          <p:cNvSpPr>
            <a:spLocks noGrp="1"/>
          </p:cNvSpPr>
          <p:nvPr>
            <p:ph type="title"/>
          </p:nvPr>
        </p:nvSpPr>
        <p:spPr>
          <a:xfrm>
            <a:off x="838200" y="365125"/>
            <a:ext cx="10515600" cy="1325563"/>
          </a:xfrm>
          <a:prstGeom prst="rect">
            <a:avLst/>
          </a:prstGeom>
          <a:noFill/>
          <a:ln w="9525">
            <a:noFill/>
          </a:ln>
        </p:spPr>
        <p:txBody>
          <a:bodyPr anchor="ctr"/>
          <a:p>
            <a:pPr lvl="0"/>
            <a:r>
              <a:rPr lang="zh-CN" altLang="en-US" dirty="0"/>
              <a:t>Click to edit Master title style</a:t>
            </a:r>
            <a:endParaRPr lang="zh-CN" altLang="en-US" dirty="0"/>
          </a:p>
        </p:txBody>
      </p:sp>
      <p:sp>
        <p:nvSpPr>
          <p:cNvPr id="1027" name="文本占位符 2"/>
          <p:cNvSpPr>
            <a:spLocks noGrp="1"/>
          </p:cNvSpPr>
          <p:nvPr>
            <p:ph type="body"/>
          </p:nvPr>
        </p:nvSpPr>
        <p:spPr>
          <a:xfrm>
            <a:off x="838200" y="1825625"/>
            <a:ext cx="10515600" cy="4351338"/>
          </a:xfrm>
          <a:prstGeom prst="rect">
            <a:avLst/>
          </a:prstGeom>
          <a:noFill/>
          <a:ln w="9525">
            <a:noFill/>
          </a:ln>
        </p:spPr>
        <p:txBody>
          <a:bodyPr anchor="t"/>
          <a:p>
            <a:pPr lvl="0" indent="-228600"/>
            <a:r>
              <a:rPr lang="zh-CN" altLang="en-US" dirty="0"/>
              <a:t>Click to edit Master text style</a:t>
            </a:r>
            <a:endParaRPr lang="zh-CN" altLang="en-US" dirty="0"/>
          </a:p>
          <a:p>
            <a:pPr lvl="1" indent="-228600"/>
            <a:r>
              <a:rPr lang="zh-CN" altLang="en-US" dirty="0"/>
              <a:t>Second level</a:t>
            </a:r>
            <a:endParaRPr lang="zh-CN" altLang="en-US" dirty="0"/>
          </a:p>
          <a:p>
            <a:pPr lvl="2" indent="-228600"/>
            <a:r>
              <a:rPr lang="zh-CN" altLang="en-US" dirty="0"/>
              <a:t>Third level</a:t>
            </a:r>
            <a:endParaRPr lang="zh-CN" altLang="en-US" dirty="0"/>
          </a:p>
          <a:p>
            <a:pPr lvl="3" indent="-228600"/>
            <a:r>
              <a:rPr lang="zh-CN" altLang="en-US" dirty="0"/>
              <a:t>Fourth level</a:t>
            </a:r>
            <a:endParaRPr lang="zh-CN" altLang="en-US" dirty="0"/>
          </a:p>
          <a:p>
            <a:pPr lvl="4" indent="-228600"/>
            <a:r>
              <a:rPr lang="zh-CN" altLang="en-US" dirty="0"/>
              <a:t>Fifth level</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BEF05245-1089-431C-9CB9-1C9E798A99A0}" type="slidenum">
              <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 bg1="lt1" tx1="dk1" bg2="lt2" tx2="dk2" accent1="accent1" accent2="accent2" accent3="accent3" accent4="accent4" accent5="accent5" accent6="accent6" hlink="hlink" folHlink="folHlink"/>
  <p:sldLayoutIdLst>
    <p:sldLayoutId id="2147483649" r:id="rId1"/>
  </p:sldLayoutIdLst>
  <p:transition spd="slow">
    <p:wipe/>
  </p:transition>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3.jpeg"/><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4.jpeg"/><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5.png"/><Relationship Id="rId1"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6.png"/><Relationship Id="rId1" Type="http://schemas.openxmlformats.org/officeDocument/2006/relationships/image" Target="../media/image1.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1.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16.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1.png"/></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1.xml"/><Relationship Id="rId2" Type="http://schemas.openxmlformats.org/officeDocument/2006/relationships/image" Target="../media/image10.png"/><Relationship Id="rId1" Type="http://schemas.openxmlformats.org/officeDocument/2006/relationships/image" Target="../media/image1.png"/></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1.xml"/><Relationship Id="rId2" Type="http://schemas.openxmlformats.org/officeDocument/2006/relationships/image" Target="../media/image11.png"/><Relationship Id="rId1" Type="http://schemas.openxmlformats.org/officeDocument/2006/relationships/image" Target="../media/image1.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097" name="图片 3"/>
          <p:cNvPicPr>
            <a:picLocks noChangeAspect="1"/>
          </p:cNvPicPr>
          <p:nvPr/>
        </p:nvPicPr>
        <p:blipFill>
          <a:blip r:embed="rId1"/>
          <a:srcRect l="5727" r="16841" b="26530"/>
          <a:stretch>
            <a:fillRect/>
          </a:stretch>
        </p:blipFill>
        <p:spPr>
          <a:xfrm>
            <a:off x="-7620" y="0"/>
            <a:ext cx="12192000" cy="6858000"/>
          </a:xfrm>
          <a:prstGeom prst="rect">
            <a:avLst/>
          </a:prstGeom>
          <a:noFill/>
          <a:ln w="9525">
            <a:noFill/>
          </a:ln>
        </p:spPr>
      </p:pic>
      <p:sp>
        <p:nvSpPr>
          <p:cNvPr id="3" name="Text Box 2"/>
          <p:cNvSpPr txBox="1"/>
          <p:nvPr/>
        </p:nvSpPr>
        <p:spPr>
          <a:xfrm>
            <a:off x="1180465" y="1419860"/>
            <a:ext cx="9815195" cy="2518410"/>
          </a:xfrm>
          <a:prstGeom prst="rect">
            <a:avLst/>
          </a:prstGeom>
          <a:noFill/>
        </p:spPr>
        <p:txBody>
          <a:bodyPr wrap="square" rtlCol="0">
            <a:noAutofit/>
          </a:bodyPr>
          <a:p>
            <a:pPr algn="ctr">
              <a:lnSpc>
                <a:spcPct val="100000"/>
              </a:lnSpc>
            </a:pPr>
            <a:r>
              <a:rPr lang="en-US" sz="3600"/>
              <a:t>A Predictive Model </a:t>
            </a:r>
            <a:endParaRPr lang="en-US" sz="3600"/>
          </a:p>
          <a:p>
            <a:pPr algn="ctr">
              <a:lnSpc>
                <a:spcPct val="100000"/>
              </a:lnSpc>
            </a:pPr>
            <a:r>
              <a:rPr lang="en-US" sz="3600"/>
              <a:t>For</a:t>
            </a:r>
            <a:endParaRPr lang="en-US" sz="3600"/>
          </a:p>
          <a:p>
            <a:pPr algn="ctr">
              <a:lnSpc>
                <a:spcPct val="100000"/>
              </a:lnSpc>
            </a:pPr>
            <a:r>
              <a:rPr lang="en-US" sz="3600"/>
              <a:t>Evaluating Collaborative Tools Impact </a:t>
            </a:r>
            <a:endParaRPr lang="en-US" sz="3600"/>
          </a:p>
          <a:p>
            <a:pPr algn="ctr">
              <a:lnSpc>
                <a:spcPct val="100000"/>
              </a:lnSpc>
            </a:pPr>
            <a:r>
              <a:rPr lang="en-US" sz="3600"/>
              <a:t>On Productivity</a:t>
            </a:r>
            <a:endParaRPr lang="en-US" sz="3600"/>
          </a:p>
        </p:txBody>
      </p:sp>
      <p:pic>
        <p:nvPicPr>
          <p:cNvPr id="6" name="Picture 5"/>
          <p:cNvPicPr>
            <a:picLocks noChangeAspect="1"/>
          </p:cNvPicPr>
          <p:nvPr/>
        </p:nvPicPr>
        <p:blipFill>
          <a:blip r:embed="rId2"/>
          <a:stretch>
            <a:fillRect/>
          </a:stretch>
        </p:blipFill>
        <p:spPr>
          <a:xfrm>
            <a:off x="249861" y="184873"/>
            <a:ext cx="2667000" cy="1041400"/>
          </a:xfrm>
          <a:prstGeom prst="rect">
            <a:avLst/>
          </a:prstGeom>
        </p:spPr>
      </p:pic>
      <p:sp>
        <p:nvSpPr>
          <p:cNvPr id="4" name="Text Box 3"/>
          <p:cNvSpPr txBox="1"/>
          <p:nvPr/>
        </p:nvSpPr>
        <p:spPr>
          <a:xfrm>
            <a:off x="3415665" y="3974465"/>
            <a:ext cx="5344160" cy="1740535"/>
          </a:xfrm>
          <a:prstGeom prst="rect">
            <a:avLst/>
          </a:prstGeom>
          <a:noFill/>
        </p:spPr>
        <p:txBody>
          <a:bodyPr wrap="square" rtlCol="0">
            <a:noAutofit/>
          </a:bodyPr>
          <a:p>
            <a:pPr algn="ctr"/>
            <a:r>
              <a:rPr lang="en-US">
                <a:latin typeface="Times New Roman Regular" panose="02020503050405090304" charset="0"/>
                <a:cs typeface="Times New Roman Regular" panose="02020503050405090304" charset="0"/>
                <a:sym typeface="+mn-ea"/>
              </a:rPr>
              <a:t>Department of Computer Science</a:t>
            </a:r>
            <a:endParaRPr lang="en-US">
              <a:latin typeface="Times New Roman Regular" panose="02020503050405090304" charset="0"/>
              <a:cs typeface="Times New Roman Regular" panose="02020503050405090304" charset="0"/>
            </a:endParaRPr>
          </a:p>
          <a:p>
            <a:pPr algn="ctr"/>
            <a:r>
              <a:rPr lang="en-US">
                <a:latin typeface="Times New Roman Regular" panose="02020503050405090304" charset="0"/>
                <a:cs typeface="Times New Roman Regular" panose="02020503050405090304" charset="0"/>
                <a:sym typeface="+mn-ea"/>
              </a:rPr>
              <a:t>Landmark University, Omu-Aran, Kwara State</a:t>
            </a:r>
            <a:endParaRPr lang="en-US">
              <a:latin typeface="Times New Roman Regular" panose="02020503050405090304" charset="0"/>
              <a:cs typeface="Times New Roman Regular" panose="02020503050405090304" charset="0"/>
              <a:sym typeface="+mn-ea"/>
            </a:endParaRPr>
          </a:p>
          <a:p>
            <a:pPr algn="ctr"/>
            <a:endParaRPr lang="en-US">
              <a:latin typeface="Times New Roman Regular" panose="02020503050405090304" charset="0"/>
              <a:cs typeface="Times New Roman Regular" panose="02020503050405090304" charset="0"/>
              <a:sym typeface="+mn-ea"/>
            </a:endParaRPr>
          </a:p>
          <a:p>
            <a:pPr algn="ctr"/>
            <a:r>
              <a:rPr lang="en-US">
                <a:latin typeface="Times New Roman Regular" panose="02020503050405090304" charset="0"/>
                <a:cs typeface="Times New Roman Regular" panose="02020503050405090304" charset="0"/>
                <a:sym typeface="+mn-ea"/>
              </a:rPr>
              <a:t>OMOJUNIKANBI TOLUWANIMI GRACE</a:t>
            </a:r>
            <a:endParaRPr lang="en-US">
              <a:latin typeface="Times New Roman Regular" panose="02020503050405090304" charset="0"/>
              <a:cs typeface="Times New Roman Regular" panose="02020503050405090304" charset="0"/>
              <a:sym typeface="+mn-ea"/>
            </a:endParaRPr>
          </a:p>
          <a:p>
            <a:pPr algn="ctr"/>
            <a:r>
              <a:rPr lang="en-US">
                <a:latin typeface="Times New Roman Regular" panose="02020503050405090304" charset="0"/>
                <a:cs typeface="Times New Roman Regular" panose="02020503050405090304" charset="0"/>
                <a:sym typeface="+mn-ea"/>
              </a:rPr>
              <a:t>21CD008326 </a:t>
            </a:r>
            <a:endParaRPr lang="en-US">
              <a:latin typeface="Times New Roman Regular" panose="02020503050405090304" charset="0"/>
              <a:cs typeface="Times New Roman Regular" panose="02020503050405090304" charset="0"/>
              <a:sym typeface="+mn-ea"/>
            </a:endParaRPr>
          </a:p>
          <a:p>
            <a:pPr algn="ctr"/>
            <a:endParaRPr lang="en-US">
              <a:latin typeface="Times New Roman Regular" panose="02020503050405090304" charset="0"/>
              <a:cs typeface="Times New Roman Regular" panose="02020503050405090304" charset="0"/>
              <a:sym typeface="+mn-ea"/>
            </a:endParaRPr>
          </a:p>
          <a:p>
            <a:pPr algn="ctr"/>
            <a:endParaRPr lang="en-US">
              <a:latin typeface="Times New Roman Regular" panose="02020503050405090304" charset="0"/>
              <a:cs typeface="Times New Roman Regular" panose="02020503050405090304" charset="0"/>
            </a:endParaRPr>
          </a:p>
        </p:txBody>
      </p:sp>
      <p:sp>
        <p:nvSpPr>
          <p:cNvPr id="5" name="Text Box 4"/>
          <p:cNvSpPr txBox="1"/>
          <p:nvPr/>
        </p:nvSpPr>
        <p:spPr>
          <a:xfrm>
            <a:off x="1180465" y="5718810"/>
            <a:ext cx="2379980" cy="645160"/>
          </a:xfrm>
          <a:prstGeom prst="rect">
            <a:avLst/>
          </a:prstGeom>
          <a:noFill/>
        </p:spPr>
        <p:txBody>
          <a:bodyPr wrap="square" rtlCol="0">
            <a:spAutoFit/>
          </a:bodyPr>
          <a:p>
            <a:r>
              <a:rPr lang="en-US">
                <a:latin typeface="Times New Roman Regular" panose="02020503050405090304" charset="0"/>
                <a:cs typeface="Times New Roman Regular" panose="02020503050405090304" charset="0"/>
              </a:rPr>
              <a:t>Dr. Emmanuel Igbekele</a:t>
            </a:r>
            <a:endParaRPr lang="en-US">
              <a:latin typeface="Times New Roman Regular" panose="02020503050405090304" charset="0"/>
              <a:cs typeface="Times New Roman Regular" panose="02020503050405090304" charset="0"/>
            </a:endParaRPr>
          </a:p>
          <a:p>
            <a:pPr algn="ctr"/>
            <a:r>
              <a:rPr lang="en-US" b="1">
                <a:latin typeface="Times New Roman Bold" panose="02020503050405090304" charset="0"/>
                <a:cs typeface="Times New Roman Bold" panose="02020503050405090304" charset="0"/>
              </a:rPr>
              <a:t>Supervisor</a:t>
            </a:r>
            <a:endParaRPr lang="en-US" b="1">
              <a:latin typeface="Times New Roman Bold" panose="02020503050405090304" charset="0"/>
              <a:cs typeface="Times New Roman Bold" panose="02020503050405090304" charset="0"/>
            </a:endParaRPr>
          </a:p>
        </p:txBody>
      </p:sp>
      <p:sp>
        <p:nvSpPr>
          <p:cNvPr id="7" name="Text Box 6"/>
          <p:cNvSpPr txBox="1"/>
          <p:nvPr/>
        </p:nvSpPr>
        <p:spPr>
          <a:xfrm>
            <a:off x="8328660" y="5718810"/>
            <a:ext cx="2667000" cy="645160"/>
          </a:xfrm>
          <a:prstGeom prst="rect">
            <a:avLst/>
          </a:prstGeom>
          <a:noFill/>
        </p:spPr>
        <p:txBody>
          <a:bodyPr wrap="square" rtlCol="0">
            <a:spAutoFit/>
          </a:bodyPr>
          <a:p>
            <a:pPr algn="ctr"/>
            <a:r>
              <a:rPr lang="en-US">
                <a:latin typeface="Times New Roman Regular" panose="02020503050405090304" charset="0"/>
                <a:cs typeface="Times New Roman Regular" panose="02020503050405090304" charset="0"/>
              </a:rPr>
              <a:t>Mr. Fortune </a:t>
            </a:r>
            <a:r>
              <a:rPr lang="en-US" altLang="en-US">
                <a:latin typeface="Times New Roman Regular" panose="02020503050405090304" charset="0"/>
                <a:cs typeface="Times New Roman Regular" panose="02020503050405090304" charset="0"/>
              </a:rPr>
              <a:t>Amrevuawho</a:t>
            </a:r>
            <a:endParaRPr lang="en-US" altLang="en-US">
              <a:latin typeface="Times New Roman Regular" panose="02020503050405090304" charset="0"/>
              <a:cs typeface="Times New Roman Regular" panose="02020503050405090304" charset="0"/>
            </a:endParaRPr>
          </a:p>
          <a:p>
            <a:pPr algn="ctr"/>
            <a:r>
              <a:rPr lang="en-US" b="1">
                <a:latin typeface="Times New Roman Bold" panose="02020503050405090304" charset="0"/>
                <a:cs typeface="Times New Roman Bold" panose="02020503050405090304" charset="0"/>
              </a:rPr>
              <a:t>Co-Supervisor</a:t>
            </a:r>
            <a:endParaRPr lang="en-US" b="1">
              <a:latin typeface="Times New Roman Bold" panose="02020503050405090304" charset="0"/>
              <a:cs typeface="Times New Roman Bold" panose="02020503050405090304" charset="0"/>
            </a:endParaRPr>
          </a:p>
        </p:txBody>
      </p:sp>
    </p:spTree>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097" name="图片 3"/>
          <p:cNvPicPr>
            <a:picLocks noChangeAspect="1"/>
          </p:cNvPicPr>
          <p:nvPr/>
        </p:nvPicPr>
        <p:blipFill>
          <a:blip r:embed="rId1"/>
          <a:srcRect l="5727" r="16841" b="26530"/>
          <a:stretch>
            <a:fillRect/>
          </a:stretch>
        </p:blipFill>
        <p:spPr>
          <a:xfrm>
            <a:off x="0" y="0"/>
            <a:ext cx="12192000" cy="6858000"/>
          </a:xfrm>
          <a:prstGeom prst="rect">
            <a:avLst/>
          </a:prstGeom>
          <a:noFill/>
          <a:ln w="9525">
            <a:noFill/>
          </a:ln>
        </p:spPr>
      </p:pic>
      <p:sp>
        <p:nvSpPr>
          <p:cNvPr id="11" name="TextBox 7"/>
          <p:cNvSpPr txBox="1"/>
          <p:nvPr/>
        </p:nvSpPr>
        <p:spPr>
          <a:xfrm>
            <a:off x="1321508" y="1909045"/>
            <a:ext cx="2411120" cy="460375"/>
          </a:xfrm>
          <a:prstGeom prst="rect">
            <a:avLst/>
          </a:prstGeom>
          <a:noFill/>
        </p:spPr>
        <p:txBody>
          <a:bodyPr wrap="square" lIns="108000" rIns="108000" rtlCol="0">
            <a:spAutoFit/>
          </a:bodyPr>
          <a:p>
            <a:r>
              <a:rPr lang="en-US" altLang="ko-KR" sz="2400" b="1" dirty="0">
                <a:solidFill>
                  <a:schemeClr val="tx1"/>
                </a:solidFill>
                <a:cs typeface="Arial" panose="020B0604020202090204" pitchFamily="34" charset="0"/>
              </a:rPr>
              <a:t>Introduction</a:t>
            </a:r>
            <a:endParaRPr lang="en-US" altLang="ko-KR" sz="2400" b="1" dirty="0">
              <a:solidFill>
                <a:schemeClr val="tx1"/>
              </a:solidFill>
              <a:cs typeface="Arial" panose="020B0604020202090204" pitchFamily="34" charset="0"/>
            </a:endParaRPr>
          </a:p>
        </p:txBody>
      </p:sp>
      <p:sp>
        <p:nvSpPr>
          <p:cNvPr id="13" name="TextBox 9"/>
          <p:cNvSpPr txBox="1"/>
          <p:nvPr/>
        </p:nvSpPr>
        <p:spPr>
          <a:xfrm>
            <a:off x="522140" y="1909045"/>
            <a:ext cx="570852" cy="461665"/>
          </a:xfrm>
          <a:prstGeom prst="rect">
            <a:avLst/>
          </a:prstGeom>
          <a:noFill/>
        </p:spPr>
        <p:txBody>
          <a:bodyPr wrap="square" lIns="108000" rIns="108000" rtlCol="0">
            <a:spAutoFit/>
          </a:bodyPr>
          <a:p>
            <a:pPr algn="ctr"/>
            <a:r>
              <a:rPr lang="en-US" altLang="ko-KR" sz="2400" b="1" dirty="0">
                <a:solidFill>
                  <a:schemeClr val="tx1"/>
                </a:solidFill>
                <a:cs typeface="Arial" panose="020B0604020202090204" pitchFamily="34" charset="0"/>
              </a:rPr>
              <a:t>01</a:t>
            </a:r>
            <a:endParaRPr lang="en-US" altLang="ko-KR" sz="2400" b="1" dirty="0">
              <a:solidFill>
                <a:schemeClr val="tx1"/>
              </a:solidFill>
              <a:cs typeface="Arial" panose="020B0604020202090204" pitchFamily="34" charset="0"/>
            </a:endParaRPr>
          </a:p>
        </p:txBody>
      </p:sp>
      <p:sp>
        <p:nvSpPr>
          <p:cNvPr id="29" name="Diamond 17"/>
          <p:cNvSpPr/>
          <p:nvPr/>
        </p:nvSpPr>
        <p:spPr>
          <a:xfrm rot="19753916">
            <a:off x="407116" y="1802173"/>
            <a:ext cx="800903" cy="675409"/>
          </a:xfrm>
          <a:prstGeom prst="hexagon">
            <a:avLst>
              <a:gd name="adj" fmla="val 30064"/>
              <a:gd name="vf" fmla="val 115470"/>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dirty="0">
              <a:solidFill>
                <a:schemeClr val="bg1"/>
              </a:solidFill>
            </a:endParaRPr>
          </a:p>
        </p:txBody>
      </p:sp>
      <p:sp>
        <p:nvSpPr>
          <p:cNvPr id="22" name="TextBox 7"/>
          <p:cNvSpPr txBox="1"/>
          <p:nvPr/>
        </p:nvSpPr>
        <p:spPr>
          <a:xfrm>
            <a:off x="1324683" y="5870175"/>
            <a:ext cx="2411120" cy="460375"/>
          </a:xfrm>
          <a:prstGeom prst="rect">
            <a:avLst/>
          </a:prstGeom>
          <a:noFill/>
        </p:spPr>
        <p:txBody>
          <a:bodyPr wrap="square" lIns="108000" rIns="108000" rtlCol="0">
            <a:spAutoFit/>
          </a:bodyPr>
          <a:p>
            <a:pPr algn="ctr"/>
            <a:r>
              <a:rPr lang="en-US" altLang="ko-KR" sz="2400" b="1" dirty="0">
                <a:solidFill>
                  <a:schemeClr val="tx1"/>
                </a:solidFill>
                <a:cs typeface="Arial" panose="020B0604020202090204" pitchFamily="34" charset="0"/>
              </a:rPr>
              <a:t>Conclusion</a:t>
            </a:r>
            <a:endParaRPr lang="en-US" altLang="ko-KR" sz="2400" b="1" dirty="0">
              <a:solidFill>
                <a:schemeClr val="tx1"/>
              </a:solidFill>
              <a:cs typeface="Arial" panose="020B0604020202090204" pitchFamily="34" charset="0"/>
            </a:endParaRPr>
          </a:p>
        </p:txBody>
      </p:sp>
      <p:sp>
        <p:nvSpPr>
          <p:cNvPr id="24" name="TextBox 9"/>
          <p:cNvSpPr txBox="1"/>
          <p:nvPr/>
        </p:nvSpPr>
        <p:spPr>
          <a:xfrm>
            <a:off x="522140" y="5870175"/>
            <a:ext cx="570852" cy="460375"/>
          </a:xfrm>
          <a:prstGeom prst="rect">
            <a:avLst/>
          </a:prstGeom>
          <a:noFill/>
        </p:spPr>
        <p:txBody>
          <a:bodyPr wrap="square" lIns="108000" rIns="108000" rtlCol="0">
            <a:spAutoFit/>
          </a:bodyPr>
          <a:p>
            <a:pPr algn="ctr"/>
            <a:r>
              <a:rPr lang="en-US" altLang="ko-KR" sz="2400" b="1" dirty="0">
                <a:solidFill>
                  <a:schemeClr val="tx1"/>
                </a:solidFill>
                <a:cs typeface="Arial" panose="020B0604020202090204" pitchFamily="34" charset="0"/>
              </a:rPr>
              <a:t>07</a:t>
            </a:r>
            <a:endParaRPr lang="en-US" altLang="ko-KR" sz="2400" b="1" dirty="0">
              <a:solidFill>
                <a:schemeClr val="tx1"/>
              </a:solidFill>
              <a:cs typeface="Arial" panose="020B0604020202090204" pitchFamily="34" charset="0"/>
            </a:endParaRPr>
          </a:p>
        </p:txBody>
      </p:sp>
      <p:sp>
        <p:nvSpPr>
          <p:cNvPr id="25" name="Diamond 17"/>
          <p:cNvSpPr/>
          <p:nvPr/>
        </p:nvSpPr>
        <p:spPr>
          <a:xfrm rot="19753916">
            <a:off x="407116" y="5763303"/>
            <a:ext cx="800903" cy="675409"/>
          </a:xfrm>
          <a:prstGeom prst="hexagon">
            <a:avLst>
              <a:gd name="adj" fmla="val 30064"/>
              <a:gd name="vf" fmla="val 115470"/>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dirty="0">
              <a:solidFill>
                <a:schemeClr val="bg1"/>
              </a:solidFill>
            </a:endParaRPr>
          </a:p>
        </p:txBody>
      </p:sp>
      <p:sp>
        <p:nvSpPr>
          <p:cNvPr id="26" name="TextBox 7"/>
          <p:cNvSpPr txBox="1"/>
          <p:nvPr/>
        </p:nvSpPr>
        <p:spPr>
          <a:xfrm>
            <a:off x="5377888" y="1752835"/>
            <a:ext cx="2411120" cy="829945"/>
          </a:xfrm>
          <a:prstGeom prst="rect">
            <a:avLst/>
          </a:prstGeom>
          <a:noFill/>
        </p:spPr>
        <p:txBody>
          <a:bodyPr wrap="square" lIns="108000" rIns="108000" rtlCol="0">
            <a:spAutoFit/>
          </a:bodyPr>
          <a:p>
            <a:pPr algn="ctr"/>
            <a:r>
              <a:rPr lang="en-US" altLang="ko-KR" sz="2400" b="1" dirty="0">
                <a:solidFill>
                  <a:schemeClr val="tx1"/>
                </a:solidFill>
                <a:cs typeface="Arial" panose="020B0604020202090204" pitchFamily="34" charset="0"/>
              </a:rPr>
              <a:t>Statement of Problem</a:t>
            </a:r>
            <a:endParaRPr lang="en-US" altLang="ko-KR" sz="2400" b="1" dirty="0">
              <a:solidFill>
                <a:schemeClr val="tx1"/>
              </a:solidFill>
              <a:cs typeface="Arial" panose="020B0604020202090204" pitchFamily="34" charset="0"/>
            </a:endParaRPr>
          </a:p>
        </p:txBody>
      </p:sp>
      <p:sp>
        <p:nvSpPr>
          <p:cNvPr id="28" name="TextBox 9"/>
          <p:cNvSpPr txBox="1"/>
          <p:nvPr/>
        </p:nvSpPr>
        <p:spPr>
          <a:xfrm>
            <a:off x="4578520" y="1752835"/>
            <a:ext cx="570852" cy="460375"/>
          </a:xfrm>
          <a:prstGeom prst="rect">
            <a:avLst/>
          </a:prstGeom>
          <a:noFill/>
        </p:spPr>
        <p:txBody>
          <a:bodyPr wrap="square" lIns="108000" rIns="108000" rtlCol="0">
            <a:spAutoFit/>
          </a:bodyPr>
          <a:p>
            <a:pPr algn="ctr"/>
            <a:r>
              <a:rPr lang="en-US" altLang="ko-KR" sz="2400" b="1" dirty="0">
                <a:solidFill>
                  <a:schemeClr val="tx1"/>
                </a:solidFill>
                <a:cs typeface="Arial" panose="020B0604020202090204" pitchFamily="34" charset="0"/>
              </a:rPr>
              <a:t>02</a:t>
            </a:r>
            <a:endParaRPr lang="en-US" altLang="ko-KR" sz="2400" b="1" dirty="0">
              <a:solidFill>
                <a:schemeClr val="tx1"/>
              </a:solidFill>
              <a:cs typeface="Arial" panose="020B0604020202090204" pitchFamily="34" charset="0"/>
            </a:endParaRPr>
          </a:p>
        </p:txBody>
      </p:sp>
      <p:sp>
        <p:nvSpPr>
          <p:cNvPr id="30" name="Diamond 17"/>
          <p:cNvSpPr/>
          <p:nvPr/>
        </p:nvSpPr>
        <p:spPr>
          <a:xfrm rot="19753916">
            <a:off x="4463496" y="1645963"/>
            <a:ext cx="800903" cy="675409"/>
          </a:xfrm>
          <a:prstGeom prst="hexagon">
            <a:avLst>
              <a:gd name="adj" fmla="val 30064"/>
              <a:gd name="vf" fmla="val 115470"/>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dirty="0">
              <a:solidFill>
                <a:schemeClr val="bg1"/>
              </a:solidFill>
            </a:endParaRPr>
          </a:p>
        </p:txBody>
      </p:sp>
      <p:sp>
        <p:nvSpPr>
          <p:cNvPr id="33" name="TextBox 9"/>
          <p:cNvSpPr txBox="1"/>
          <p:nvPr/>
        </p:nvSpPr>
        <p:spPr>
          <a:xfrm>
            <a:off x="4729650" y="5830170"/>
            <a:ext cx="570852" cy="460375"/>
          </a:xfrm>
          <a:prstGeom prst="rect">
            <a:avLst/>
          </a:prstGeom>
          <a:noFill/>
        </p:spPr>
        <p:txBody>
          <a:bodyPr wrap="square" lIns="108000" rIns="108000" rtlCol="0">
            <a:spAutoFit/>
          </a:bodyPr>
          <a:p>
            <a:pPr algn="ctr"/>
            <a:r>
              <a:rPr lang="en-US" altLang="ko-KR" sz="2400" b="1" dirty="0">
                <a:solidFill>
                  <a:schemeClr val="tx1"/>
                </a:solidFill>
                <a:cs typeface="Arial" panose="020B0604020202090204" pitchFamily="34" charset="0"/>
              </a:rPr>
              <a:t>08</a:t>
            </a:r>
            <a:endParaRPr lang="en-US" altLang="ko-KR" sz="2400" b="1" dirty="0">
              <a:solidFill>
                <a:schemeClr val="tx1"/>
              </a:solidFill>
              <a:cs typeface="Arial" panose="020B0604020202090204" pitchFamily="34" charset="0"/>
            </a:endParaRPr>
          </a:p>
        </p:txBody>
      </p:sp>
      <p:sp>
        <p:nvSpPr>
          <p:cNvPr id="34" name="Diamond 17"/>
          <p:cNvSpPr/>
          <p:nvPr/>
        </p:nvSpPr>
        <p:spPr>
          <a:xfrm rot="19753916">
            <a:off x="4614626" y="5723298"/>
            <a:ext cx="800903" cy="675409"/>
          </a:xfrm>
          <a:prstGeom prst="hexagon">
            <a:avLst>
              <a:gd name="adj" fmla="val 30064"/>
              <a:gd name="vf" fmla="val 115470"/>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dirty="0">
              <a:solidFill>
                <a:schemeClr val="bg1"/>
              </a:solidFill>
            </a:endParaRPr>
          </a:p>
        </p:txBody>
      </p:sp>
      <p:sp>
        <p:nvSpPr>
          <p:cNvPr id="35" name="TextBox 7"/>
          <p:cNvSpPr txBox="1"/>
          <p:nvPr/>
        </p:nvSpPr>
        <p:spPr>
          <a:xfrm>
            <a:off x="9091930" y="1639570"/>
            <a:ext cx="2877820" cy="829945"/>
          </a:xfrm>
          <a:prstGeom prst="rect">
            <a:avLst/>
          </a:prstGeom>
          <a:noFill/>
        </p:spPr>
        <p:txBody>
          <a:bodyPr wrap="square" lIns="108000" rIns="108000" rtlCol="0">
            <a:spAutoFit/>
          </a:bodyPr>
          <a:p>
            <a:pPr algn="ctr"/>
            <a:r>
              <a:rPr lang="en-US" altLang="ko-KR" sz="2400" b="1" dirty="0">
                <a:solidFill>
                  <a:schemeClr val="tx1"/>
                </a:solidFill>
                <a:cs typeface="Arial" panose="020B0604020202090204" pitchFamily="34" charset="0"/>
              </a:rPr>
              <a:t>Aim and </a:t>
            </a:r>
            <a:endParaRPr lang="en-US" altLang="ko-KR" sz="2400" b="1" dirty="0">
              <a:solidFill>
                <a:schemeClr val="tx1"/>
              </a:solidFill>
              <a:cs typeface="Arial" panose="020B0604020202090204" pitchFamily="34" charset="0"/>
            </a:endParaRPr>
          </a:p>
          <a:p>
            <a:pPr algn="ctr"/>
            <a:r>
              <a:rPr lang="en-US" altLang="ko-KR" sz="2400" b="1" dirty="0">
                <a:solidFill>
                  <a:schemeClr val="tx1"/>
                </a:solidFill>
                <a:cs typeface="Arial" panose="020B0604020202090204" pitchFamily="34" charset="0"/>
              </a:rPr>
              <a:t> Objectives</a:t>
            </a:r>
            <a:endParaRPr lang="en-US" altLang="ko-KR" sz="2400" b="1" dirty="0">
              <a:solidFill>
                <a:schemeClr val="tx1"/>
              </a:solidFill>
              <a:cs typeface="Arial" panose="020B0604020202090204" pitchFamily="34" charset="0"/>
            </a:endParaRPr>
          </a:p>
        </p:txBody>
      </p:sp>
      <p:sp>
        <p:nvSpPr>
          <p:cNvPr id="37" name="TextBox 9"/>
          <p:cNvSpPr txBox="1"/>
          <p:nvPr/>
        </p:nvSpPr>
        <p:spPr>
          <a:xfrm>
            <a:off x="8347880" y="1752835"/>
            <a:ext cx="570852" cy="460375"/>
          </a:xfrm>
          <a:prstGeom prst="rect">
            <a:avLst/>
          </a:prstGeom>
          <a:noFill/>
        </p:spPr>
        <p:txBody>
          <a:bodyPr wrap="square" lIns="108000" rIns="108000" rtlCol="0">
            <a:spAutoFit/>
          </a:bodyPr>
          <a:p>
            <a:pPr algn="ctr"/>
            <a:r>
              <a:rPr lang="en-US" altLang="ko-KR" sz="2400" b="1" dirty="0">
                <a:solidFill>
                  <a:schemeClr val="tx1"/>
                </a:solidFill>
                <a:cs typeface="Arial" panose="020B0604020202090204" pitchFamily="34" charset="0"/>
              </a:rPr>
              <a:t>03</a:t>
            </a:r>
            <a:endParaRPr lang="en-US" altLang="ko-KR" sz="2400" b="1" dirty="0">
              <a:solidFill>
                <a:schemeClr val="tx1"/>
              </a:solidFill>
              <a:cs typeface="Arial" panose="020B0604020202090204" pitchFamily="34" charset="0"/>
            </a:endParaRPr>
          </a:p>
        </p:txBody>
      </p:sp>
      <p:sp>
        <p:nvSpPr>
          <p:cNvPr id="38" name="Diamond 17"/>
          <p:cNvSpPr/>
          <p:nvPr/>
        </p:nvSpPr>
        <p:spPr>
          <a:xfrm rot="19753916">
            <a:off x="8232856" y="1645963"/>
            <a:ext cx="800903" cy="675409"/>
          </a:xfrm>
          <a:prstGeom prst="hexagon">
            <a:avLst>
              <a:gd name="adj" fmla="val 30064"/>
              <a:gd name="vf" fmla="val 115470"/>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dirty="0">
              <a:solidFill>
                <a:schemeClr val="bg1"/>
              </a:solidFill>
            </a:endParaRPr>
          </a:p>
        </p:txBody>
      </p:sp>
      <p:sp>
        <p:nvSpPr>
          <p:cNvPr id="39" name="TextBox 7"/>
          <p:cNvSpPr txBox="1"/>
          <p:nvPr/>
        </p:nvSpPr>
        <p:spPr>
          <a:xfrm>
            <a:off x="9147175" y="5817870"/>
            <a:ext cx="2933065" cy="724535"/>
          </a:xfrm>
          <a:prstGeom prst="rect">
            <a:avLst/>
          </a:prstGeom>
          <a:noFill/>
        </p:spPr>
        <p:txBody>
          <a:bodyPr wrap="square" lIns="108000" rIns="108000" rtlCol="0">
            <a:noAutofit/>
          </a:bodyPr>
          <a:p>
            <a:r>
              <a:rPr lang="en-US" altLang="ko-KR" sz="2400" b="1" dirty="0">
                <a:solidFill>
                  <a:schemeClr val="tx1"/>
                </a:solidFill>
                <a:cs typeface="Arial" panose="020B0604020202090204" pitchFamily="34" charset="0"/>
              </a:rPr>
              <a:t>Acknowledgement</a:t>
            </a:r>
            <a:endParaRPr lang="en-US" altLang="ko-KR" sz="2400" b="1" dirty="0">
              <a:solidFill>
                <a:schemeClr val="tx1"/>
              </a:solidFill>
              <a:cs typeface="Arial" panose="020B0604020202090204" pitchFamily="34" charset="0"/>
            </a:endParaRPr>
          </a:p>
        </p:txBody>
      </p:sp>
      <p:sp>
        <p:nvSpPr>
          <p:cNvPr id="41" name="TextBox 9"/>
          <p:cNvSpPr txBox="1"/>
          <p:nvPr/>
        </p:nvSpPr>
        <p:spPr>
          <a:xfrm>
            <a:off x="8347880" y="5870175"/>
            <a:ext cx="570852" cy="460375"/>
          </a:xfrm>
          <a:prstGeom prst="rect">
            <a:avLst/>
          </a:prstGeom>
          <a:noFill/>
        </p:spPr>
        <p:txBody>
          <a:bodyPr wrap="square" lIns="108000" rIns="108000" rtlCol="0">
            <a:spAutoFit/>
          </a:bodyPr>
          <a:p>
            <a:pPr algn="ctr"/>
            <a:r>
              <a:rPr lang="en-US" altLang="ko-KR" sz="2400" b="1" dirty="0">
                <a:solidFill>
                  <a:schemeClr val="tx1"/>
                </a:solidFill>
                <a:cs typeface="Arial" panose="020B0604020202090204" pitchFamily="34" charset="0"/>
              </a:rPr>
              <a:t>09</a:t>
            </a:r>
            <a:endParaRPr lang="en-US" altLang="ko-KR" sz="2400" b="1" dirty="0">
              <a:solidFill>
                <a:schemeClr val="tx1"/>
              </a:solidFill>
              <a:cs typeface="Arial" panose="020B0604020202090204" pitchFamily="34" charset="0"/>
            </a:endParaRPr>
          </a:p>
        </p:txBody>
      </p:sp>
      <p:sp>
        <p:nvSpPr>
          <p:cNvPr id="42" name="Diamond 17"/>
          <p:cNvSpPr/>
          <p:nvPr/>
        </p:nvSpPr>
        <p:spPr>
          <a:xfrm rot="19753916">
            <a:off x="8232856" y="5763303"/>
            <a:ext cx="800903" cy="675409"/>
          </a:xfrm>
          <a:prstGeom prst="hexagon">
            <a:avLst>
              <a:gd name="adj" fmla="val 30064"/>
              <a:gd name="vf" fmla="val 115470"/>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dirty="0">
              <a:solidFill>
                <a:schemeClr val="bg1"/>
              </a:solidFill>
            </a:endParaRPr>
          </a:p>
        </p:txBody>
      </p:sp>
      <p:sp>
        <p:nvSpPr>
          <p:cNvPr id="43" name="TextBox 7"/>
          <p:cNvSpPr txBox="1"/>
          <p:nvPr/>
        </p:nvSpPr>
        <p:spPr>
          <a:xfrm>
            <a:off x="1321435" y="3949065"/>
            <a:ext cx="2877820" cy="459740"/>
          </a:xfrm>
          <a:prstGeom prst="rect">
            <a:avLst/>
          </a:prstGeom>
          <a:noFill/>
        </p:spPr>
        <p:txBody>
          <a:bodyPr wrap="square" lIns="108000" rIns="108000" rtlCol="0">
            <a:noAutofit/>
          </a:bodyPr>
          <a:p>
            <a:pPr algn="l"/>
            <a:r>
              <a:rPr lang="en-US" altLang="ko-KR" sz="2400" b="1" dirty="0">
                <a:solidFill>
                  <a:schemeClr val="tx1"/>
                </a:solidFill>
                <a:cs typeface="Arial" panose="020B0604020202090204" pitchFamily="34" charset="0"/>
              </a:rPr>
              <a:t>Literature Review</a:t>
            </a:r>
            <a:endParaRPr lang="en-US" altLang="ko-KR" sz="2400" b="1" dirty="0">
              <a:solidFill>
                <a:schemeClr val="tx1"/>
              </a:solidFill>
              <a:cs typeface="Arial" panose="020B0604020202090204" pitchFamily="34" charset="0"/>
            </a:endParaRPr>
          </a:p>
        </p:txBody>
      </p:sp>
      <p:sp>
        <p:nvSpPr>
          <p:cNvPr id="45" name="TextBox 9"/>
          <p:cNvSpPr txBox="1"/>
          <p:nvPr/>
        </p:nvSpPr>
        <p:spPr>
          <a:xfrm>
            <a:off x="522140" y="3948665"/>
            <a:ext cx="570852" cy="460375"/>
          </a:xfrm>
          <a:prstGeom prst="rect">
            <a:avLst/>
          </a:prstGeom>
          <a:noFill/>
        </p:spPr>
        <p:txBody>
          <a:bodyPr wrap="square" lIns="108000" rIns="108000" rtlCol="0">
            <a:spAutoFit/>
          </a:bodyPr>
          <a:p>
            <a:pPr algn="ctr"/>
            <a:r>
              <a:rPr lang="en-US" altLang="ko-KR" sz="2400" b="1" dirty="0">
                <a:solidFill>
                  <a:schemeClr val="tx1"/>
                </a:solidFill>
                <a:cs typeface="Arial" panose="020B0604020202090204" pitchFamily="34" charset="0"/>
              </a:rPr>
              <a:t>04</a:t>
            </a:r>
            <a:endParaRPr lang="en-US" altLang="ko-KR" sz="2400" b="1" dirty="0">
              <a:solidFill>
                <a:schemeClr val="tx1"/>
              </a:solidFill>
              <a:cs typeface="Arial" panose="020B0604020202090204" pitchFamily="34" charset="0"/>
            </a:endParaRPr>
          </a:p>
        </p:txBody>
      </p:sp>
      <p:sp>
        <p:nvSpPr>
          <p:cNvPr id="46" name="Diamond 17"/>
          <p:cNvSpPr/>
          <p:nvPr/>
        </p:nvSpPr>
        <p:spPr>
          <a:xfrm rot="19753916">
            <a:off x="407116" y="3841793"/>
            <a:ext cx="800903" cy="675409"/>
          </a:xfrm>
          <a:prstGeom prst="hexagon">
            <a:avLst>
              <a:gd name="adj" fmla="val 30064"/>
              <a:gd name="vf" fmla="val 115470"/>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dirty="0">
              <a:solidFill>
                <a:schemeClr val="bg1"/>
              </a:solidFill>
            </a:endParaRPr>
          </a:p>
        </p:txBody>
      </p:sp>
      <p:sp>
        <p:nvSpPr>
          <p:cNvPr id="53" name="TextBox 7"/>
          <p:cNvSpPr txBox="1"/>
          <p:nvPr/>
        </p:nvSpPr>
        <p:spPr>
          <a:xfrm>
            <a:off x="9150423" y="3949300"/>
            <a:ext cx="2411120" cy="829945"/>
          </a:xfrm>
          <a:prstGeom prst="rect">
            <a:avLst/>
          </a:prstGeom>
          <a:noFill/>
        </p:spPr>
        <p:txBody>
          <a:bodyPr wrap="square" lIns="108000" rIns="108000" rtlCol="0">
            <a:spAutoFit/>
          </a:bodyPr>
          <a:p>
            <a:pPr algn="ctr"/>
            <a:r>
              <a:rPr lang="en-US" altLang="ko-KR" sz="2400" b="1" dirty="0">
                <a:solidFill>
                  <a:schemeClr val="tx1"/>
                </a:solidFill>
                <a:cs typeface="Arial" panose="020B0604020202090204" pitchFamily="34" charset="0"/>
              </a:rPr>
              <a:t>Results and Discussion</a:t>
            </a:r>
            <a:endParaRPr lang="en-US" altLang="ko-KR" sz="2400" b="1" dirty="0">
              <a:solidFill>
                <a:schemeClr val="tx1"/>
              </a:solidFill>
              <a:cs typeface="Arial" panose="020B0604020202090204" pitchFamily="34" charset="0"/>
            </a:endParaRPr>
          </a:p>
        </p:txBody>
      </p:sp>
      <p:sp>
        <p:nvSpPr>
          <p:cNvPr id="54" name="TextBox 9"/>
          <p:cNvSpPr txBox="1"/>
          <p:nvPr/>
        </p:nvSpPr>
        <p:spPr>
          <a:xfrm>
            <a:off x="8347880" y="4052805"/>
            <a:ext cx="570852" cy="460375"/>
          </a:xfrm>
          <a:prstGeom prst="rect">
            <a:avLst/>
          </a:prstGeom>
          <a:noFill/>
        </p:spPr>
        <p:txBody>
          <a:bodyPr wrap="square" lIns="108000" rIns="108000" rtlCol="0">
            <a:spAutoFit/>
          </a:bodyPr>
          <a:p>
            <a:pPr algn="ctr"/>
            <a:r>
              <a:rPr lang="en-US" altLang="ko-KR" sz="2400" b="1" dirty="0">
                <a:solidFill>
                  <a:schemeClr val="tx1"/>
                </a:solidFill>
                <a:cs typeface="Arial" panose="020B0604020202090204" pitchFamily="34" charset="0"/>
              </a:rPr>
              <a:t>06</a:t>
            </a:r>
            <a:endParaRPr lang="en-US" altLang="ko-KR" sz="2400" b="1" dirty="0">
              <a:solidFill>
                <a:schemeClr val="tx1"/>
              </a:solidFill>
              <a:cs typeface="Arial" panose="020B0604020202090204" pitchFamily="34" charset="0"/>
            </a:endParaRPr>
          </a:p>
        </p:txBody>
      </p:sp>
      <p:sp>
        <p:nvSpPr>
          <p:cNvPr id="55" name="Diamond 17"/>
          <p:cNvSpPr/>
          <p:nvPr/>
        </p:nvSpPr>
        <p:spPr>
          <a:xfrm rot="19753916">
            <a:off x="8232856" y="3945933"/>
            <a:ext cx="800903" cy="675409"/>
          </a:xfrm>
          <a:prstGeom prst="hexagon">
            <a:avLst>
              <a:gd name="adj" fmla="val 30064"/>
              <a:gd name="vf" fmla="val 115470"/>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dirty="0">
              <a:solidFill>
                <a:schemeClr val="bg1"/>
              </a:solidFill>
            </a:endParaRPr>
          </a:p>
        </p:txBody>
      </p:sp>
      <p:sp>
        <p:nvSpPr>
          <p:cNvPr id="56" name="TextBox 7"/>
          <p:cNvSpPr txBox="1"/>
          <p:nvPr/>
        </p:nvSpPr>
        <p:spPr>
          <a:xfrm>
            <a:off x="5349948" y="3933425"/>
            <a:ext cx="2411120" cy="460375"/>
          </a:xfrm>
          <a:prstGeom prst="rect">
            <a:avLst/>
          </a:prstGeom>
          <a:noFill/>
        </p:spPr>
        <p:txBody>
          <a:bodyPr wrap="square" lIns="108000" rIns="108000" rtlCol="0">
            <a:spAutoFit/>
          </a:bodyPr>
          <a:p>
            <a:pPr algn="ctr"/>
            <a:r>
              <a:rPr lang="en-US" altLang="ko-KR" sz="2400" b="1" dirty="0">
                <a:solidFill>
                  <a:schemeClr val="tx1"/>
                </a:solidFill>
                <a:cs typeface="Arial" panose="020B0604020202090204" pitchFamily="34" charset="0"/>
              </a:rPr>
              <a:t>Methodology</a:t>
            </a:r>
            <a:endParaRPr lang="en-US" altLang="ko-KR" sz="2400" b="1" dirty="0">
              <a:solidFill>
                <a:schemeClr val="tx1"/>
              </a:solidFill>
              <a:cs typeface="Arial" panose="020B0604020202090204" pitchFamily="34" charset="0"/>
            </a:endParaRPr>
          </a:p>
        </p:txBody>
      </p:sp>
      <p:sp>
        <p:nvSpPr>
          <p:cNvPr id="57" name="TextBox 9"/>
          <p:cNvSpPr txBox="1"/>
          <p:nvPr/>
        </p:nvSpPr>
        <p:spPr>
          <a:xfrm>
            <a:off x="4550580" y="3933425"/>
            <a:ext cx="570852" cy="460375"/>
          </a:xfrm>
          <a:prstGeom prst="rect">
            <a:avLst/>
          </a:prstGeom>
          <a:noFill/>
        </p:spPr>
        <p:txBody>
          <a:bodyPr wrap="square" lIns="108000" rIns="108000" rtlCol="0">
            <a:spAutoFit/>
          </a:bodyPr>
          <a:p>
            <a:pPr algn="ctr"/>
            <a:r>
              <a:rPr lang="en-US" altLang="ko-KR" sz="2400" b="1" dirty="0">
                <a:solidFill>
                  <a:schemeClr val="tx1"/>
                </a:solidFill>
                <a:cs typeface="Arial" panose="020B0604020202090204" pitchFamily="34" charset="0"/>
              </a:rPr>
              <a:t>05</a:t>
            </a:r>
            <a:endParaRPr lang="en-US" altLang="ko-KR" sz="2400" b="1" dirty="0">
              <a:solidFill>
                <a:schemeClr val="tx1"/>
              </a:solidFill>
              <a:cs typeface="Arial" panose="020B0604020202090204" pitchFamily="34" charset="0"/>
            </a:endParaRPr>
          </a:p>
        </p:txBody>
      </p:sp>
      <p:sp>
        <p:nvSpPr>
          <p:cNvPr id="58" name="Diamond 17"/>
          <p:cNvSpPr/>
          <p:nvPr/>
        </p:nvSpPr>
        <p:spPr>
          <a:xfrm rot="19753916">
            <a:off x="4435556" y="3826553"/>
            <a:ext cx="800903" cy="675409"/>
          </a:xfrm>
          <a:prstGeom prst="hexagon">
            <a:avLst>
              <a:gd name="adj" fmla="val 30064"/>
              <a:gd name="vf" fmla="val 115470"/>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dirty="0">
              <a:solidFill>
                <a:schemeClr val="bg1"/>
              </a:solidFill>
            </a:endParaRPr>
          </a:p>
        </p:txBody>
      </p:sp>
      <p:sp>
        <p:nvSpPr>
          <p:cNvPr id="61" name="TextBox 7"/>
          <p:cNvSpPr txBox="1"/>
          <p:nvPr/>
        </p:nvSpPr>
        <p:spPr>
          <a:xfrm>
            <a:off x="5489648" y="5831440"/>
            <a:ext cx="2411120" cy="460375"/>
          </a:xfrm>
          <a:prstGeom prst="rect">
            <a:avLst/>
          </a:prstGeom>
          <a:noFill/>
        </p:spPr>
        <p:txBody>
          <a:bodyPr wrap="square" lIns="108000" rIns="108000" rtlCol="0">
            <a:spAutoFit/>
          </a:bodyPr>
          <a:p>
            <a:pPr algn="ctr"/>
            <a:r>
              <a:rPr lang="en-US" altLang="ko-KR" sz="2400" b="1" dirty="0">
                <a:solidFill>
                  <a:schemeClr val="tx1"/>
                </a:solidFill>
                <a:cs typeface="Arial" panose="020B0604020202090204" pitchFamily="34" charset="0"/>
              </a:rPr>
              <a:t>References</a:t>
            </a:r>
            <a:endParaRPr lang="en-US" altLang="ko-KR" sz="2400" b="1" dirty="0">
              <a:solidFill>
                <a:schemeClr val="tx1"/>
              </a:solidFill>
              <a:cs typeface="Arial" panose="020B0604020202090204" pitchFamily="34" charset="0"/>
            </a:endParaRPr>
          </a:p>
        </p:txBody>
      </p:sp>
      <p:grpSp>
        <p:nvGrpSpPr>
          <p:cNvPr id="72" name="组合 1"/>
          <p:cNvGrpSpPr/>
          <p:nvPr/>
        </p:nvGrpSpPr>
        <p:grpSpPr>
          <a:xfrm>
            <a:off x="523240" y="332740"/>
            <a:ext cx="940435" cy="829945"/>
            <a:chOff x="3448565" y="1912142"/>
            <a:chExt cx="4927433" cy="2485075"/>
          </a:xfrm>
        </p:grpSpPr>
        <p:cxnSp>
          <p:nvCxnSpPr>
            <p:cNvPr id="73" name="直接连接符 18"/>
            <p:cNvCxnSpPr/>
            <p:nvPr/>
          </p:nvCxnSpPr>
          <p:spPr>
            <a:xfrm>
              <a:off x="3773726" y="1912142"/>
              <a:ext cx="0" cy="798197"/>
            </a:xfrm>
            <a:prstGeom prst="line">
              <a:avLst/>
            </a:prstGeom>
            <a:ln w="31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74" name="直接连接符 19"/>
            <p:cNvCxnSpPr/>
            <p:nvPr/>
          </p:nvCxnSpPr>
          <p:spPr>
            <a:xfrm>
              <a:off x="3772566" y="1912142"/>
              <a:ext cx="4603432"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75" name="直接连接符 20"/>
            <p:cNvCxnSpPr/>
            <p:nvPr/>
          </p:nvCxnSpPr>
          <p:spPr>
            <a:xfrm>
              <a:off x="8364977" y="1912142"/>
              <a:ext cx="0" cy="386837"/>
            </a:xfrm>
            <a:prstGeom prst="line">
              <a:avLst/>
            </a:prstGeom>
            <a:ln w="31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76" name="直接连接符 22"/>
            <p:cNvCxnSpPr/>
            <p:nvPr/>
          </p:nvCxnSpPr>
          <p:spPr>
            <a:xfrm flipV="1">
              <a:off x="8362673" y="3976971"/>
              <a:ext cx="0" cy="420246"/>
            </a:xfrm>
            <a:prstGeom prst="line">
              <a:avLst/>
            </a:prstGeom>
            <a:ln w="31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77" name="直接连接符 23"/>
            <p:cNvCxnSpPr/>
            <p:nvPr/>
          </p:nvCxnSpPr>
          <p:spPr>
            <a:xfrm flipH="1" flipV="1">
              <a:off x="3814013" y="4397217"/>
              <a:ext cx="4549805"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78" name="直接连接符 24"/>
            <p:cNvCxnSpPr/>
            <p:nvPr/>
          </p:nvCxnSpPr>
          <p:spPr>
            <a:xfrm flipH="1" flipV="1">
              <a:off x="3824904" y="3544871"/>
              <a:ext cx="0" cy="852346"/>
            </a:xfrm>
            <a:prstGeom prst="line">
              <a:avLst/>
            </a:prstGeom>
            <a:ln w="31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79" name="直接连接符 25"/>
            <p:cNvCxnSpPr/>
            <p:nvPr/>
          </p:nvCxnSpPr>
          <p:spPr>
            <a:xfrm flipH="1">
              <a:off x="3448565" y="3544868"/>
              <a:ext cx="377483" cy="234209"/>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grpSp>
      <p:sp>
        <p:nvSpPr>
          <p:cNvPr id="80" name="文本框 28"/>
          <p:cNvSpPr txBox="1"/>
          <p:nvPr/>
        </p:nvSpPr>
        <p:spPr>
          <a:xfrm>
            <a:off x="713105" y="476250"/>
            <a:ext cx="4408170" cy="628015"/>
          </a:xfrm>
          <a:prstGeom prst="rect">
            <a:avLst/>
          </a:prstGeom>
          <a:noFill/>
          <a:ln w="9525">
            <a:noFill/>
          </a:ln>
        </p:spPr>
        <p:txBody>
          <a:bodyPr anchor="t">
            <a:noAutofit/>
          </a:bodyPr>
          <a:p>
            <a:pPr>
              <a:buFont typeface="Arial" panose="020B0604020202090204" pitchFamily="34" charset="0"/>
            </a:pPr>
            <a:r>
              <a:rPr lang="en-US" altLang="zh-CN" sz="2800" b="1" dirty="0">
                <a:solidFill>
                  <a:srgbClr val="404040"/>
                </a:solidFill>
                <a:ea typeface="Calibri" panose="020F0502020204030204" pitchFamily="34" charset="0"/>
              </a:rPr>
              <a:t>OUTLINE</a:t>
            </a:r>
            <a:endParaRPr lang="en-US" altLang="zh-CN" sz="2800" b="1" dirty="0">
              <a:solidFill>
                <a:srgbClr val="404040"/>
              </a:solidFill>
              <a:ea typeface="Calibri" panose="020F0502020204030204" pitchFamily="34" charset="0"/>
            </a:endParaRPr>
          </a:p>
        </p:txBody>
      </p:sp>
    </p:spTree>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0241" name="图片 3"/>
          <p:cNvPicPr>
            <a:picLocks noChangeAspect="1"/>
          </p:cNvPicPr>
          <p:nvPr/>
        </p:nvPicPr>
        <p:blipFill>
          <a:blip r:embed="rId1"/>
          <a:srcRect l="5727" r="16841" b="26530"/>
          <a:stretch>
            <a:fillRect/>
          </a:stretch>
        </p:blipFill>
        <p:spPr>
          <a:xfrm>
            <a:off x="0" y="0"/>
            <a:ext cx="12192000" cy="6858000"/>
          </a:xfrm>
          <a:prstGeom prst="rect">
            <a:avLst/>
          </a:prstGeom>
          <a:noFill/>
          <a:ln w="9525">
            <a:noFill/>
          </a:ln>
        </p:spPr>
      </p:pic>
      <p:grpSp>
        <p:nvGrpSpPr>
          <p:cNvPr id="10242" name="组合 1"/>
          <p:cNvGrpSpPr/>
          <p:nvPr/>
        </p:nvGrpSpPr>
        <p:grpSpPr>
          <a:xfrm>
            <a:off x="211138" y="257175"/>
            <a:ext cx="558800" cy="463550"/>
            <a:chOff x="3448565" y="1912142"/>
            <a:chExt cx="4927433" cy="2485075"/>
          </a:xfrm>
        </p:grpSpPr>
        <p:cxnSp>
          <p:nvCxnSpPr>
            <p:cNvPr id="19" name="直接连接符 18"/>
            <p:cNvCxnSpPr/>
            <p:nvPr/>
          </p:nvCxnSpPr>
          <p:spPr>
            <a:xfrm>
              <a:off x="3773726" y="1912142"/>
              <a:ext cx="0" cy="798197"/>
            </a:xfrm>
            <a:prstGeom prst="line">
              <a:avLst/>
            </a:prstGeom>
            <a:ln w="31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3772566" y="1912142"/>
              <a:ext cx="4603432"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8364977" y="1912142"/>
              <a:ext cx="0" cy="386837"/>
            </a:xfrm>
            <a:prstGeom prst="line">
              <a:avLst/>
            </a:prstGeom>
            <a:ln w="31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V="1">
              <a:off x="8362673" y="3976971"/>
              <a:ext cx="0" cy="420246"/>
            </a:xfrm>
            <a:prstGeom prst="line">
              <a:avLst/>
            </a:prstGeom>
            <a:ln w="31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flipH="1" flipV="1">
              <a:off x="3814013" y="4397217"/>
              <a:ext cx="4549805"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flipH="1" flipV="1">
              <a:off x="3824904" y="3544871"/>
              <a:ext cx="0" cy="852346"/>
            </a:xfrm>
            <a:prstGeom prst="line">
              <a:avLst/>
            </a:prstGeom>
            <a:ln w="31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flipH="1">
              <a:off x="3448565" y="3544868"/>
              <a:ext cx="377483" cy="234209"/>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grpSp>
      <p:sp>
        <p:nvSpPr>
          <p:cNvPr id="10250" name="文本框 28"/>
          <p:cNvSpPr txBox="1"/>
          <p:nvPr/>
        </p:nvSpPr>
        <p:spPr>
          <a:xfrm>
            <a:off x="290830" y="254000"/>
            <a:ext cx="3820160" cy="523240"/>
          </a:xfrm>
          <a:prstGeom prst="rect">
            <a:avLst/>
          </a:prstGeom>
          <a:noFill/>
          <a:ln w="9525">
            <a:noFill/>
          </a:ln>
        </p:spPr>
        <p:txBody>
          <a:bodyPr anchor="t">
            <a:noAutofit/>
          </a:bodyPr>
          <a:p>
            <a:pPr>
              <a:buFont typeface="Arial" panose="020B0604020202090204" pitchFamily="34" charset="0"/>
            </a:pPr>
            <a:r>
              <a:rPr lang="en-US" altLang="zh-CN" sz="2400" b="1" dirty="0">
                <a:solidFill>
                  <a:srgbClr val="404040"/>
                </a:solidFill>
                <a:ea typeface="Calibri" panose="020F0502020204030204" pitchFamily="34" charset="0"/>
              </a:rPr>
              <a:t>INTRODUCTION</a:t>
            </a:r>
            <a:endParaRPr lang="en-US" altLang="zh-CN" sz="2400" b="1" dirty="0">
              <a:solidFill>
                <a:srgbClr val="404040"/>
              </a:solidFill>
              <a:ea typeface="Calibri" panose="020F0502020204030204" pitchFamily="34" charset="0"/>
            </a:endParaRPr>
          </a:p>
        </p:txBody>
      </p:sp>
      <p:sp>
        <p:nvSpPr>
          <p:cNvPr id="12" name="矩形 11"/>
          <p:cNvSpPr/>
          <p:nvPr/>
        </p:nvSpPr>
        <p:spPr>
          <a:xfrm>
            <a:off x="828675" y="1728788"/>
            <a:ext cx="10515600" cy="290036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0255" name="矩形 8"/>
          <p:cNvSpPr/>
          <p:nvPr/>
        </p:nvSpPr>
        <p:spPr>
          <a:xfrm>
            <a:off x="4587875" y="2072005"/>
            <a:ext cx="6040438" cy="1772285"/>
          </a:xfrm>
          <a:prstGeom prst="rect">
            <a:avLst/>
          </a:prstGeom>
          <a:noFill/>
          <a:ln w="9525">
            <a:noFill/>
          </a:ln>
        </p:spPr>
        <p:txBody>
          <a:bodyPr lIns="0" tIns="0" rIns="0" bIns="0" anchor="t">
            <a:spAutoFit/>
          </a:bodyPr>
          <a:p>
            <a:pPr algn="ctr" defTabSz="1216025">
              <a:lnSpc>
                <a:spcPct val="120000"/>
              </a:lnSpc>
              <a:spcBef>
                <a:spcPct val="20000"/>
              </a:spcBef>
              <a:buFont typeface="Arial" panose="020B0604020202090204" pitchFamily="34" charset="0"/>
            </a:pPr>
            <a:r>
              <a:rPr lang="en-US" altLang="zh-CN" sz="2400" dirty="0">
                <a:solidFill>
                  <a:srgbClr val="404040"/>
                </a:solidFill>
                <a:ea typeface="Calibri" panose="020F0502020204030204" pitchFamily="34" charset="0"/>
                <a:sym typeface="Arial" panose="020B0604020202090204" pitchFamily="34" charset="0"/>
              </a:rPr>
              <a:t> Collaborative tools in software development are tools that assist teams work together on projects, managing tasks as well as sharing files.</a:t>
            </a:r>
            <a:endParaRPr lang="en-US" altLang="zh-CN" sz="2400" dirty="0">
              <a:solidFill>
                <a:srgbClr val="404040"/>
              </a:solidFill>
              <a:ea typeface="Calibri" panose="020F0502020204030204" pitchFamily="34" charset="0"/>
              <a:sym typeface="Arial" panose="020B0604020202090204" pitchFamily="34" charset="0"/>
            </a:endParaRPr>
          </a:p>
        </p:txBody>
      </p:sp>
      <p:pic>
        <p:nvPicPr>
          <p:cNvPr id="2" name="Picture 1" descr="collab"/>
          <p:cNvPicPr>
            <a:picLocks noChangeAspect="1"/>
          </p:cNvPicPr>
          <p:nvPr/>
        </p:nvPicPr>
        <p:blipFill>
          <a:blip r:embed="rId2"/>
          <a:stretch>
            <a:fillRect/>
          </a:stretch>
        </p:blipFill>
        <p:spPr>
          <a:xfrm>
            <a:off x="211455" y="2955925"/>
            <a:ext cx="4297045" cy="2574290"/>
          </a:xfrm>
          <a:prstGeom prst="rect">
            <a:avLst/>
          </a:prstGeom>
        </p:spPr>
      </p:pic>
      <p:sp>
        <p:nvSpPr>
          <p:cNvPr id="3" name="Text Box 2"/>
          <p:cNvSpPr txBox="1"/>
          <p:nvPr/>
        </p:nvSpPr>
        <p:spPr>
          <a:xfrm>
            <a:off x="4928235" y="3959860"/>
            <a:ext cx="6176010" cy="645160"/>
          </a:xfrm>
          <a:prstGeom prst="rect">
            <a:avLst/>
          </a:prstGeom>
          <a:noFill/>
        </p:spPr>
        <p:txBody>
          <a:bodyPr wrap="square" rtlCol="0">
            <a:spAutoFit/>
          </a:bodyPr>
          <a:p>
            <a:pPr marL="285750" indent="-285750">
              <a:buFont typeface="Arial" panose="020B0604020202090204" pitchFamily="34" charset="0"/>
              <a:buChar char="•"/>
            </a:pPr>
            <a:r>
              <a:rPr lang="en-US"/>
              <a:t>Software teams used them to communicate effectively</a:t>
            </a:r>
            <a:endParaRPr lang="en-US"/>
          </a:p>
          <a:p>
            <a:pPr marL="285750" indent="-285750">
              <a:buFont typeface="Arial" panose="020B0604020202090204" pitchFamily="34" charset="0"/>
              <a:buChar char="•"/>
            </a:pPr>
            <a:r>
              <a:rPr lang="en-US"/>
              <a:t>eg. Github, Jira, Slack, Trello, Clickup etc.</a:t>
            </a:r>
            <a:endParaRPr lang="en-US"/>
          </a:p>
        </p:txBody>
      </p:sp>
    </p:spTree>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0241" name="图片 3"/>
          <p:cNvPicPr>
            <a:picLocks noChangeAspect="1"/>
          </p:cNvPicPr>
          <p:nvPr/>
        </p:nvPicPr>
        <p:blipFill>
          <a:blip r:embed="rId1"/>
          <a:srcRect l="5727" r="16841" b="26530"/>
          <a:stretch>
            <a:fillRect/>
          </a:stretch>
        </p:blipFill>
        <p:spPr>
          <a:xfrm>
            <a:off x="0" y="0"/>
            <a:ext cx="12192000" cy="6858000"/>
          </a:xfrm>
          <a:prstGeom prst="rect">
            <a:avLst/>
          </a:prstGeom>
          <a:noFill/>
          <a:ln w="9525">
            <a:noFill/>
          </a:ln>
        </p:spPr>
      </p:pic>
      <p:grpSp>
        <p:nvGrpSpPr>
          <p:cNvPr id="10242" name="组合 1"/>
          <p:cNvGrpSpPr/>
          <p:nvPr/>
        </p:nvGrpSpPr>
        <p:grpSpPr>
          <a:xfrm>
            <a:off x="211138" y="257175"/>
            <a:ext cx="558800" cy="463550"/>
            <a:chOff x="3448565" y="1912142"/>
            <a:chExt cx="4927433" cy="2485075"/>
          </a:xfrm>
        </p:grpSpPr>
        <p:cxnSp>
          <p:nvCxnSpPr>
            <p:cNvPr id="19" name="直接连接符 18"/>
            <p:cNvCxnSpPr/>
            <p:nvPr/>
          </p:nvCxnSpPr>
          <p:spPr>
            <a:xfrm>
              <a:off x="3773726" y="1912142"/>
              <a:ext cx="0" cy="798197"/>
            </a:xfrm>
            <a:prstGeom prst="line">
              <a:avLst/>
            </a:prstGeom>
            <a:ln w="31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3772566" y="1912142"/>
              <a:ext cx="4603432"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8364977" y="1912142"/>
              <a:ext cx="0" cy="386837"/>
            </a:xfrm>
            <a:prstGeom prst="line">
              <a:avLst/>
            </a:prstGeom>
            <a:ln w="31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V="1">
              <a:off x="8362673" y="3976971"/>
              <a:ext cx="0" cy="420246"/>
            </a:xfrm>
            <a:prstGeom prst="line">
              <a:avLst/>
            </a:prstGeom>
            <a:ln w="31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flipH="1" flipV="1">
              <a:off x="3814013" y="4397217"/>
              <a:ext cx="4549805"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flipH="1" flipV="1">
              <a:off x="3824904" y="3544871"/>
              <a:ext cx="0" cy="852346"/>
            </a:xfrm>
            <a:prstGeom prst="line">
              <a:avLst/>
            </a:prstGeom>
            <a:ln w="31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flipH="1">
              <a:off x="3448565" y="3544868"/>
              <a:ext cx="377483" cy="234209"/>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grpSp>
      <p:sp>
        <p:nvSpPr>
          <p:cNvPr id="10250" name="文本框 28"/>
          <p:cNvSpPr txBox="1"/>
          <p:nvPr/>
        </p:nvSpPr>
        <p:spPr>
          <a:xfrm>
            <a:off x="290830" y="254000"/>
            <a:ext cx="3820160" cy="523240"/>
          </a:xfrm>
          <a:prstGeom prst="rect">
            <a:avLst/>
          </a:prstGeom>
          <a:noFill/>
          <a:ln w="9525">
            <a:noFill/>
          </a:ln>
        </p:spPr>
        <p:txBody>
          <a:bodyPr anchor="t">
            <a:noAutofit/>
          </a:bodyPr>
          <a:p>
            <a:pPr>
              <a:buFont typeface="Arial" panose="020B0604020202090204" pitchFamily="34" charset="0"/>
            </a:pPr>
            <a:r>
              <a:rPr lang="en-US" altLang="zh-CN" sz="2400" b="1" dirty="0">
                <a:solidFill>
                  <a:srgbClr val="404040"/>
                </a:solidFill>
                <a:ea typeface="Calibri" panose="020F0502020204030204" pitchFamily="34" charset="0"/>
              </a:rPr>
              <a:t>INTRODUCTION Cont’d</a:t>
            </a:r>
            <a:endParaRPr lang="en-US" altLang="zh-CN" sz="2400" b="1" dirty="0">
              <a:solidFill>
                <a:srgbClr val="404040"/>
              </a:solidFill>
              <a:ea typeface="Calibri" panose="020F0502020204030204" pitchFamily="34" charset="0"/>
            </a:endParaRPr>
          </a:p>
        </p:txBody>
      </p:sp>
      <p:sp>
        <p:nvSpPr>
          <p:cNvPr id="12" name="矩形 11"/>
          <p:cNvSpPr/>
          <p:nvPr/>
        </p:nvSpPr>
        <p:spPr>
          <a:xfrm>
            <a:off x="828675" y="1729105"/>
            <a:ext cx="10515600" cy="454025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0255" name="矩形 8"/>
          <p:cNvSpPr/>
          <p:nvPr/>
        </p:nvSpPr>
        <p:spPr>
          <a:xfrm>
            <a:off x="1273175" y="1729105"/>
            <a:ext cx="9645650" cy="4540250"/>
          </a:xfrm>
          <a:prstGeom prst="rect">
            <a:avLst/>
          </a:prstGeom>
          <a:noFill/>
          <a:ln w="9525">
            <a:noFill/>
          </a:ln>
        </p:spPr>
        <p:txBody>
          <a:bodyPr wrap="square" lIns="0" tIns="0" rIns="0" bIns="0" anchor="t">
            <a:noAutofit/>
          </a:bodyPr>
          <a:p>
            <a:pPr marL="457200" indent="-457200" algn="l" defTabSz="1216025">
              <a:lnSpc>
                <a:spcPct val="120000"/>
              </a:lnSpc>
              <a:spcBef>
                <a:spcPct val="20000"/>
              </a:spcBef>
              <a:buFont typeface="Wingdings" panose="05000000000000000000" charset="0"/>
              <a:buChar char=""/>
            </a:pPr>
            <a:r>
              <a:rPr lang="en-US" altLang="en-US" sz="2800" dirty="0">
                <a:solidFill>
                  <a:srgbClr val="404040"/>
                </a:solidFill>
                <a:ea typeface="Calibri" panose="020F0502020204030204" pitchFamily="34" charset="0"/>
                <a:sym typeface="Arial" panose="020B0604020202090204" pitchFamily="34" charset="0"/>
              </a:rPr>
              <a:t>Software project failure rates remain high; only 1–2% reach the market.</a:t>
            </a:r>
            <a:endParaRPr lang="en-US" altLang="en-US" sz="2800" dirty="0">
              <a:solidFill>
                <a:srgbClr val="404040"/>
              </a:solidFill>
              <a:ea typeface="Calibri" panose="020F0502020204030204" pitchFamily="34" charset="0"/>
              <a:sym typeface="Arial" panose="020B0604020202090204" pitchFamily="34" charset="0"/>
            </a:endParaRPr>
          </a:p>
          <a:p>
            <a:pPr marL="457200" indent="-457200" algn="l" defTabSz="1216025">
              <a:lnSpc>
                <a:spcPct val="120000"/>
              </a:lnSpc>
              <a:spcBef>
                <a:spcPct val="20000"/>
              </a:spcBef>
              <a:buFont typeface="Wingdings" panose="05000000000000000000" charset="0"/>
              <a:buChar char=""/>
            </a:pPr>
            <a:r>
              <a:rPr lang="en-US" altLang="en-US" sz="2800" dirty="0">
                <a:solidFill>
                  <a:srgbClr val="404040"/>
                </a:solidFill>
                <a:ea typeface="Calibri" panose="020F0502020204030204" pitchFamily="34" charset="0"/>
                <a:sym typeface="Arial" panose="020B0604020202090204" pitchFamily="34" charset="0"/>
              </a:rPr>
              <a:t>Collaboration issues such as personality clashes, team dynamics, and geographic distribution hinder productivity.</a:t>
            </a:r>
            <a:endParaRPr lang="en-US" altLang="en-US" sz="2800" dirty="0">
              <a:solidFill>
                <a:srgbClr val="404040"/>
              </a:solidFill>
              <a:ea typeface="Calibri" panose="020F0502020204030204" pitchFamily="34" charset="0"/>
              <a:sym typeface="Arial" panose="020B0604020202090204" pitchFamily="34" charset="0"/>
            </a:endParaRPr>
          </a:p>
          <a:p>
            <a:pPr marL="457200" indent="-457200" algn="l" defTabSz="1216025">
              <a:lnSpc>
                <a:spcPct val="120000"/>
              </a:lnSpc>
              <a:spcBef>
                <a:spcPct val="20000"/>
              </a:spcBef>
              <a:buFont typeface="Wingdings" panose="05000000000000000000" charset="0"/>
              <a:buChar char=""/>
            </a:pPr>
            <a:r>
              <a:rPr lang="en-US" altLang="en-US" sz="2800" dirty="0">
                <a:solidFill>
                  <a:srgbClr val="404040"/>
                </a:solidFill>
                <a:ea typeface="Calibri" panose="020F0502020204030204" pitchFamily="34" charset="0"/>
                <a:sym typeface="Arial" panose="020B0604020202090204" pitchFamily="34" charset="0"/>
              </a:rPr>
              <a:t>Collaborative tools like GitHub, Slack, and Jira support communication, task tracking, and version control.</a:t>
            </a:r>
            <a:endParaRPr lang="en-US" altLang="en-US" sz="2800" dirty="0">
              <a:solidFill>
                <a:srgbClr val="404040"/>
              </a:solidFill>
              <a:ea typeface="Calibri" panose="020F0502020204030204" pitchFamily="34" charset="0"/>
              <a:sym typeface="Arial" panose="020B0604020202090204" pitchFamily="34" charset="0"/>
            </a:endParaRPr>
          </a:p>
          <a:p>
            <a:pPr marL="457200" indent="-457200" algn="l" defTabSz="1216025">
              <a:lnSpc>
                <a:spcPct val="120000"/>
              </a:lnSpc>
              <a:spcBef>
                <a:spcPct val="20000"/>
              </a:spcBef>
              <a:buFont typeface="Wingdings" panose="05000000000000000000" charset="0"/>
              <a:buChar char=""/>
            </a:pPr>
            <a:r>
              <a:rPr lang="en-US" altLang="en-US" sz="2800" dirty="0">
                <a:solidFill>
                  <a:srgbClr val="404040"/>
                </a:solidFill>
                <a:ea typeface="Calibri" panose="020F0502020204030204" pitchFamily="34" charset="0"/>
                <a:sym typeface="Arial" panose="020B0604020202090204" pitchFamily="34" charset="0"/>
              </a:rPr>
              <a:t>This project integrates COCOMO with machine learning to predict team productivity.</a:t>
            </a:r>
            <a:endParaRPr lang="en-US" altLang="en-US" sz="2800" dirty="0">
              <a:solidFill>
                <a:srgbClr val="404040"/>
              </a:solidFill>
              <a:ea typeface="Calibri" panose="020F0502020204030204" pitchFamily="34" charset="0"/>
              <a:sym typeface="Arial" panose="020B0604020202090204" pitchFamily="34" charset="0"/>
            </a:endParaRPr>
          </a:p>
        </p:txBody>
      </p:sp>
    </p:spTree>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0241" name="图片 3"/>
          <p:cNvPicPr>
            <a:picLocks noChangeAspect="1"/>
          </p:cNvPicPr>
          <p:nvPr/>
        </p:nvPicPr>
        <p:blipFill>
          <a:blip r:embed="rId1"/>
          <a:srcRect l="5727" r="16841" b="26530"/>
          <a:stretch>
            <a:fillRect/>
          </a:stretch>
        </p:blipFill>
        <p:spPr>
          <a:xfrm>
            <a:off x="0" y="0"/>
            <a:ext cx="12192000" cy="6858000"/>
          </a:xfrm>
          <a:prstGeom prst="rect">
            <a:avLst/>
          </a:prstGeom>
          <a:noFill/>
          <a:ln w="9525">
            <a:noFill/>
          </a:ln>
        </p:spPr>
      </p:pic>
      <p:grpSp>
        <p:nvGrpSpPr>
          <p:cNvPr id="10242" name="组合 1"/>
          <p:cNvGrpSpPr/>
          <p:nvPr/>
        </p:nvGrpSpPr>
        <p:grpSpPr>
          <a:xfrm>
            <a:off x="211138" y="257175"/>
            <a:ext cx="558800" cy="463550"/>
            <a:chOff x="3448565" y="1912142"/>
            <a:chExt cx="4927433" cy="2485075"/>
          </a:xfrm>
        </p:grpSpPr>
        <p:cxnSp>
          <p:nvCxnSpPr>
            <p:cNvPr id="19" name="直接连接符 18"/>
            <p:cNvCxnSpPr/>
            <p:nvPr/>
          </p:nvCxnSpPr>
          <p:spPr>
            <a:xfrm>
              <a:off x="3773726" y="1912142"/>
              <a:ext cx="0" cy="798197"/>
            </a:xfrm>
            <a:prstGeom prst="line">
              <a:avLst/>
            </a:prstGeom>
            <a:ln w="31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3772566" y="1912142"/>
              <a:ext cx="4603432"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8364977" y="1912142"/>
              <a:ext cx="0" cy="386837"/>
            </a:xfrm>
            <a:prstGeom prst="line">
              <a:avLst/>
            </a:prstGeom>
            <a:ln w="31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V="1">
              <a:off x="8362673" y="3976971"/>
              <a:ext cx="0" cy="420246"/>
            </a:xfrm>
            <a:prstGeom prst="line">
              <a:avLst/>
            </a:prstGeom>
            <a:ln w="31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flipH="1" flipV="1">
              <a:off x="3814013" y="4397217"/>
              <a:ext cx="4549805"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flipH="1" flipV="1">
              <a:off x="3824904" y="3544871"/>
              <a:ext cx="0" cy="852346"/>
            </a:xfrm>
            <a:prstGeom prst="line">
              <a:avLst/>
            </a:prstGeom>
            <a:ln w="31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flipH="1">
              <a:off x="3448565" y="3544868"/>
              <a:ext cx="377483" cy="234209"/>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grpSp>
      <p:sp>
        <p:nvSpPr>
          <p:cNvPr id="10250" name="文本框 28"/>
          <p:cNvSpPr txBox="1"/>
          <p:nvPr/>
        </p:nvSpPr>
        <p:spPr>
          <a:xfrm>
            <a:off x="290830" y="254000"/>
            <a:ext cx="6276340" cy="523240"/>
          </a:xfrm>
          <a:prstGeom prst="rect">
            <a:avLst/>
          </a:prstGeom>
          <a:noFill/>
          <a:ln w="9525">
            <a:noFill/>
          </a:ln>
        </p:spPr>
        <p:txBody>
          <a:bodyPr anchor="t">
            <a:noAutofit/>
          </a:bodyPr>
          <a:p>
            <a:pPr>
              <a:buFont typeface="Arial" panose="020B0604020202090204" pitchFamily="34" charset="0"/>
            </a:pPr>
            <a:r>
              <a:rPr lang="en-US" altLang="zh-CN" sz="2400" b="1" dirty="0">
                <a:solidFill>
                  <a:srgbClr val="404040"/>
                </a:solidFill>
                <a:ea typeface="Calibri" panose="020F0502020204030204" pitchFamily="34" charset="0"/>
              </a:rPr>
              <a:t>STATEMENT OF PROBLEM</a:t>
            </a:r>
            <a:endParaRPr lang="en-US" altLang="zh-CN" sz="2400" b="1" dirty="0">
              <a:solidFill>
                <a:srgbClr val="404040"/>
              </a:solidFill>
              <a:ea typeface="Calibri" panose="020F0502020204030204" pitchFamily="34" charset="0"/>
            </a:endParaRPr>
          </a:p>
        </p:txBody>
      </p:sp>
      <p:sp>
        <p:nvSpPr>
          <p:cNvPr id="12" name="矩形 11"/>
          <p:cNvSpPr/>
          <p:nvPr/>
        </p:nvSpPr>
        <p:spPr>
          <a:xfrm>
            <a:off x="828675" y="1729105"/>
            <a:ext cx="10515600" cy="454025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pic>
        <p:nvPicPr>
          <p:cNvPr id="4" name="Picture 3" descr="📣 Meme Marketing_ The Ultimate Strategy to Boost…"/>
          <p:cNvPicPr>
            <a:picLocks noChangeAspect="1"/>
          </p:cNvPicPr>
          <p:nvPr/>
        </p:nvPicPr>
        <p:blipFill>
          <a:blip r:embed="rId2"/>
          <a:stretch>
            <a:fillRect/>
          </a:stretch>
        </p:blipFill>
        <p:spPr>
          <a:xfrm>
            <a:off x="828675" y="1729105"/>
            <a:ext cx="5738495" cy="4539615"/>
          </a:xfrm>
          <a:prstGeom prst="rect">
            <a:avLst/>
          </a:prstGeom>
        </p:spPr>
      </p:pic>
      <p:sp>
        <p:nvSpPr>
          <p:cNvPr id="6" name="Text Box 5"/>
          <p:cNvSpPr txBox="1"/>
          <p:nvPr/>
        </p:nvSpPr>
        <p:spPr>
          <a:xfrm>
            <a:off x="7215505" y="2574925"/>
            <a:ext cx="2372995" cy="368300"/>
          </a:xfrm>
          <a:prstGeom prst="rect">
            <a:avLst/>
          </a:prstGeom>
          <a:noFill/>
        </p:spPr>
        <p:txBody>
          <a:bodyPr wrap="square" rtlCol="0">
            <a:spAutoFit/>
          </a:bodyPr>
          <a:p>
            <a:endParaRPr lang="en-US"/>
          </a:p>
        </p:txBody>
      </p:sp>
      <p:sp>
        <p:nvSpPr>
          <p:cNvPr id="7" name="Text Box 6"/>
          <p:cNvSpPr txBox="1"/>
          <p:nvPr/>
        </p:nvSpPr>
        <p:spPr>
          <a:xfrm>
            <a:off x="7021830" y="2139315"/>
            <a:ext cx="4056380" cy="3969385"/>
          </a:xfrm>
          <a:prstGeom prst="rect">
            <a:avLst/>
          </a:prstGeom>
          <a:noFill/>
        </p:spPr>
        <p:txBody>
          <a:bodyPr wrap="square" rtlCol="0">
            <a:spAutoFit/>
          </a:bodyPr>
          <a:p>
            <a:pPr marL="285750" indent="-285750">
              <a:buFont typeface="Wingdings" panose="05000000000000000000" charset="0"/>
              <a:buChar char=""/>
            </a:pPr>
            <a:r>
              <a:rPr lang="en-US" altLang="en-US"/>
              <a:t>Current tools provide data but lack predictive insights.</a:t>
            </a:r>
            <a:endParaRPr lang="en-US" altLang="en-US"/>
          </a:p>
          <a:p>
            <a:pPr marL="285750" indent="-285750">
              <a:buFont typeface="Wingdings" panose="05000000000000000000" charset="0"/>
              <a:buChar char=""/>
            </a:pPr>
            <a:endParaRPr lang="en-US" altLang="en-US"/>
          </a:p>
          <a:p>
            <a:pPr marL="285750" indent="-285750">
              <a:buFont typeface="Wingdings" panose="05000000000000000000" charset="0"/>
              <a:buChar char=""/>
            </a:pPr>
            <a:r>
              <a:rPr lang="en-US" altLang="en-US"/>
              <a:t>Tools are not adaptive to unique team structures, reducing engagement.</a:t>
            </a:r>
            <a:endParaRPr lang="en-US" altLang="en-US"/>
          </a:p>
          <a:p>
            <a:pPr marL="285750" indent="-285750">
              <a:buFont typeface="Wingdings" panose="05000000000000000000" charset="0"/>
              <a:buChar char=""/>
            </a:pPr>
            <a:endParaRPr lang="en-US" altLang="en-US"/>
          </a:p>
          <a:p>
            <a:pPr marL="285750" indent="-285750">
              <a:buFont typeface="Wingdings" panose="05000000000000000000" charset="0"/>
              <a:buChar char=""/>
            </a:pPr>
            <a:r>
              <a:rPr lang="en-US" altLang="en-US"/>
              <a:t>COCOMO, though foundational, is not integrated with real-time metrics, limiting usefulness for agile teams.</a:t>
            </a:r>
            <a:endParaRPr lang="en-US" altLang="en-US"/>
          </a:p>
          <a:p>
            <a:pPr marL="285750" indent="-285750">
              <a:buFont typeface="Wingdings" panose="05000000000000000000" charset="0"/>
              <a:buChar char=""/>
            </a:pPr>
            <a:endParaRPr lang="en-US" altLang="en-US"/>
          </a:p>
          <a:p>
            <a:pPr marL="285750" indent="-285750">
              <a:buFont typeface="Wingdings" panose="05000000000000000000" charset="0"/>
              <a:buChar char=""/>
            </a:pPr>
            <a:r>
              <a:rPr lang="en-US" altLang="en-US"/>
              <a:t>Need exists to bridge theoretical models with real-world tool usage.</a:t>
            </a:r>
            <a:endParaRPr lang="en-US" altLang="en-US"/>
          </a:p>
        </p:txBody>
      </p:sp>
    </p:spTree>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0241" name="图片 3"/>
          <p:cNvPicPr>
            <a:picLocks noChangeAspect="1"/>
          </p:cNvPicPr>
          <p:nvPr/>
        </p:nvPicPr>
        <p:blipFill>
          <a:blip r:embed="rId1"/>
          <a:srcRect l="5727" r="16841" b="26530"/>
          <a:stretch>
            <a:fillRect/>
          </a:stretch>
        </p:blipFill>
        <p:spPr>
          <a:xfrm>
            <a:off x="0" y="0"/>
            <a:ext cx="12192000" cy="6858000"/>
          </a:xfrm>
          <a:prstGeom prst="rect">
            <a:avLst/>
          </a:prstGeom>
          <a:noFill/>
          <a:ln w="9525">
            <a:noFill/>
          </a:ln>
        </p:spPr>
      </p:pic>
      <p:grpSp>
        <p:nvGrpSpPr>
          <p:cNvPr id="10242" name="组合 1"/>
          <p:cNvGrpSpPr/>
          <p:nvPr/>
        </p:nvGrpSpPr>
        <p:grpSpPr>
          <a:xfrm>
            <a:off x="211138" y="257175"/>
            <a:ext cx="558800" cy="463550"/>
            <a:chOff x="3448565" y="1912142"/>
            <a:chExt cx="4927433" cy="2485075"/>
          </a:xfrm>
        </p:grpSpPr>
        <p:cxnSp>
          <p:nvCxnSpPr>
            <p:cNvPr id="19" name="直接连接符 18"/>
            <p:cNvCxnSpPr/>
            <p:nvPr/>
          </p:nvCxnSpPr>
          <p:spPr>
            <a:xfrm>
              <a:off x="3773726" y="1912142"/>
              <a:ext cx="0" cy="798197"/>
            </a:xfrm>
            <a:prstGeom prst="line">
              <a:avLst/>
            </a:prstGeom>
            <a:ln w="31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3772566" y="1912142"/>
              <a:ext cx="4603432"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8364977" y="1912142"/>
              <a:ext cx="0" cy="386837"/>
            </a:xfrm>
            <a:prstGeom prst="line">
              <a:avLst/>
            </a:prstGeom>
            <a:ln w="31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V="1">
              <a:off x="8362673" y="3976971"/>
              <a:ext cx="0" cy="420246"/>
            </a:xfrm>
            <a:prstGeom prst="line">
              <a:avLst/>
            </a:prstGeom>
            <a:ln w="31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flipH="1" flipV="1">
              <a:off x="3814013" y="4397217"/>
              <a:ext cx="4549805"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flipH="1" flipV="1">
              <a:off x="3824904" y="3544871"/>
              <a:ext cx="0" cy="852346"/>
            </a:xfrm>
            <a:prstGeom prst="line">
              <a:avLst/>
            </a:prstGeom>
            <a:ln w="31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flipH="1">
              <a:off x="3448565" y="3544868"/>
              <a:ext cx="377483" cy="234209"/>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grpSp>
      <p:sp>
        <p:nvSpPr>
          <p:cNvPr id="10250" name="文本框 28"/>
          <p:cNvSpPr txBox="1"/>
          <p:nvPr/>
        </p:nvSpPr>
        <p:spPr>
          <a:xfrm>
            <a:off x="290830" y="254000"/>
            <a:ext cx="5273675" cy="523240"/>
          </a:xfrm>
          <a:prstGeom prst="rect">
            <a:avLst/>
          </a:prstGeom>
          <a:noFill/>
          <a:ln w="9525">
            <a:noFill/>
          </a:ln>
        </p:spPr>
        <p:txBody>
          <a:bodyPr anchor="t">
            <a:noAutofit/>
          </a:bodyPr>
          <a:p>
            <a:pPr>
              <a:buFont typeface="Arial" panose="020B0604020202090204" pitchFamily="34" charset="0"/>
            </a:pPr>
            <a:r>
              <a:rPr lang="en-US" altLang="zh-CN" sz="2400" b="1" dirty="0">
                <a:solidFill>
                  <a:srgbClr val="404040"/>
                </a:solidFill>
                <a:ea typeface="Calibri" panose="020F0502020204030204" pitchFamily="34" charset="0"/>
              </a:rPr>
              <a:t>AIM AND OBJECTIVES</a:t>
            </a:r>
            <a:endParaRPr lang="en-US" altLang="zh-CN" sz="2400" b="1" dirty="0">
              <a:solidFill>
                <a:srgbClr val="404040"/>
              </a:solidFill>
              <a:ea typeface="Calibri" panose="020F0502020204030204" pitchFamily="34" charset="0"/>
            </a:endParaRPr>
          </a:p>
        </p:txBody>
      </p:sp>
      <p:sp>
        <p:nvSpPr>
          <p:cNvPr id="12" name="矩形 11"/>
          <p:cNvSpPr/>
          <p:nvPr/>
        </p:nvSpPr>
        <p:spPr>
          <a:xfrm>
            <a:off x="828675" y="1729105"/>
            <a:ext cx="10515600" cy="454025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0255" name="矩形 8"/>
          <p:cNvSpPr/>
          <p:nvPr/>
        </p:nvSpPr>
        <p:spPr>
          <a:xfrm>
            <a:off x="969010" y="1976120"/>
            <a:ext cx="9645650" cy="1452880"/>
          </a:xfrm>
          <a:prstGeom prst="rect">
            <a:avLst/>
          </a:prstGeom>
          <a:noFill/>
          <a:ln w="9525">
            <a:noFill/>
          </a:ln>
        </p:spPr>
        <p:txBody>
          <a:bodyPr wrap="square" lIns="0" tIns="0" rIns="0" bIns="0" anchor="t">
            <a:noAutofit/>
          </a:bodyPr>
          <a:p>
            <a:pPr algn="ctr" defTabSz="1216025">
              <a:lnSpc>
                <a:spcPct val="120000"/>
              </a:lnSpc>
              <a:spcBef>
                <a:spcPct val="20000"/>
              </a:spcBef>
              <a:buFont typeface="Arial" panose="020B0604020202090204" pitchFamily="34" charset="0"/>
            </a:pPr>
            <a:r>
              <a:rPr lang="en-US" altLang="en-US" sz="2000" dirty="0">
                <a:solidFill>
                  <a:srgbClr val="404040"/>
                </a:solidFill>
                <a:ea typeface="Calibri" panose="020F0502020204030204" pitchFamily="34" charset="0"/>
                <a:sym typeface="Arial" panose="020B0604020202090204" pitchFamily="34" charset="0"/>
              </a:rPr>
              <a:t>The</a:t>
            </a:r>
            <a:r>
              <a:rPr lang="en-US" altLang="en-US" sz="2000" b="1" dirty="0">
                <a:solidFill>
                  <a:srgbClr val="404040"/>
                </a:solidFill>
                <a:ea typeface="Calibri" panose="020F0502020204030204" pitchFamily="34" charset="0"/>
                <a:sym typeface="Arial" panose="020B0604020202090204" pitchFamily="34" charset="0"/>
              </a:rPr>
              <a:t> aim of this project</a:t>
            </a:r>
            <a:r>
              <a:rPr lang="en-US" altLang="en-US" sz="2000" dirty="0">
                <a:solidFill>
                  <a:srgbClr val="404040"/>
                </a:solidFill>
                <a:ea typeface="Calibri" panose="020F0502020204030204" pitchFamily="34" charset="0"/>
                <a:sym typeface="Arial" panose="020B0604020202090204" pitchFamily="34" charset="0"/>
              </a:rPr>
              <a:t> is to predict how collaborative tools impact productivity in different software team setups using COCOMO and machine learning.</a:t>
            </a:r>
            <a:endParaRPr lang="en-US" altLang="en-US" sz="2000" dirty="0">
              <a:solidFill>
                <a:srgbClr val="404040"/>
              </a:solidFill>
              <a:ea typeface="Calibri" panose="020F0502020204030204" pitchFamily="34" charset="0"/>
              <a:sym typeface="Arial" panose="020B0604020202090204" pitchFamily="34" charset="0"/>
            </a:endParaRPr>
          </a:p>
        </p:txBody>
      </p:sp>
      <p:sp>
        <p:nvSpPr>
          <p:cNvPr id="2" name="Text Box 1"/>
          <p:cNvSpPr txBox="1"/>
          <p:nvPr/>
        </p:nvSpPr>
        <p:spPr>
          <a:xfrm>
            <a:off x="1126490" y="3045460"/>
            <a:ext cx="9938385" cy="3812540"/>
          </a:xfrm>
          <a:prstGeom prst="rect">
            <a:avLst/>
          </a:prstGeom>
          <a:solidFill>
            <a:schemeClr val="accent3"/>
          </a:solidFill>
        </p:spPr>
        <p:txBody>
          <a:bodyPr wrap="square" rtlCol="0">
            <a:noAutofit/>
          </a:bodyPr>
          <a:p>
            <a:pPr algn="l">
              <a:lnSpc>
                <a:spcPct val="150000"/>
              </a:lnSpc>
              <a:buFont typeface="Wingdings" panose="05000000000000000000" charset="0"/>
            </a:pPr>
            <a:r>
              <a:rPr lang="en-US" altLang="en-US" sz="2400"/>
              <a:t>T</a:t>
            </a:r>
            <a:r>
              <a:rPr lang="en-US" altLang="en-US" sz="2000"/>
              <a:t>he following are the objectives of this project</a:t>
            </a:r>
            <a:endParaRPr lang="en-US" altLang="en-US" sz="2000"/>
          </a:p>
          <a:p>
            <a:pPr marL="342900" indent="-342900" algn="l">
              <a:lnSpc>
                <a:spcPct val="150000"/>
              </a:lnSpc>
              <a:buFont typeface="Wingdings" panose="05000000000000000000" charset="0"/>
              <a:buChar char=""/>
            </a:pPr>
            <a:r>
              <a:rPr lang="en-US" altLang="en-US" sz="2000"/>
              <a:t>Analyze the impact of collaborative tools and practices on software productivity.</a:t>
            </a:r>
            <a:endParaRPr lang="en-US" altLang="en-US" sz="2000"/>
          </a:p>
          <a:p>
            <a:pPr marL="342900" indent="-342900" algn="l">
              <a:lnSpc>
                <a:spcPct val="150000"/>
              </a:lnSpc>
              <a:buFont typeface="Wingdings" panose="05000000000000000000" charset="0"/>
              <a:buChar char=""/>
            </a:pPr>
            <a:r>
              <a:rPr lang="en-US" altLang="en-US" sz="2000"/>
              <a:t>Design a framework to accept, preprocess, and extract features from collaborative tool usage data.</a:t>
            </a:r>
            <a:endParaRPr lang="en-US" altLang="en-US" sz="2000"/>
          </a:p>
          <a:p>
            <a:pPr marL="342900" indent="-342900" algn="l">
              <a:lnSpc>
                <a:spcPct val="150000"/>
              </a:lnSpc>
              <a:buFont typeface="Wingdings" panose="05000000000000000000" charset="0"/>
              <a:buChar char=""/>
            </a:pPr>
            <a:r>
              <a:rPr lang="en-US" altLang="en-US" sz="2000"/>
              <a:t>Develop  a predictive model combining COCOMO baselines with machine learning techniques to forecast productivity.</a:t>
            </a:r>
            <a:endParaRPr lang="en-US" altLang="en-US" sz="2000"/>
          </a:p>
          <a:p>
            <a:pPr marL="342900" indent="-342900" algn="l">
              <a:lnSpc>
                <a:spcPct val="150000"/>
              </a:lnSpc>
              <a:buFont typeface="Wingdings" panose="05000000000000000000" charset="0"/>
              <a:buChar char=""/>
            </a:pPr>
            <a:r>
              <a:rPr lang="en-US" altLang="en-US" sz="2000"/>
              <a:t>Evaluation of the developed predictive model.</a:t>
            </a:r>
            <a:endParaRPr lang="en-US" altLang="en-US" sz="2000"/>
          </a:p>
        </p:txBody>
      </p:sp>
    </p:spTree>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0241" name="图片 3"/>
          <p:cNvPicPr>
            <a:picLocks noChangeAspect="1"/>
          </p:cNvPicPr>
          <p:nvPr/>
        </p:nvPicPr>
        <p:blipFill>
          <a:blip r:embed="rId1"/>
          <a:srcRect l="5727" r="16841" b="26530"/>
          <a:stretch>
            <a:fillRect/>
          </a:stretch>
        </p:blipFill>
        <p:spPr>
          <a:xfrm>
            <a:off x="0" y="0"/>
            <a:ext cx="12192000" cy="6858000"/>
          </a:xfrm>
          <a:prstGeom prst="rect">
            <a:avLst/>
          </a:prstGeom>
          <a:noFill/>
          <a:ln w="9525">
            <a:noFill/>
          </a:ln>
        </p:spPr>
      </p:pic>
      <p:grpSp>
        <p:nvGrpSpPr>
          <p:cNvPr id="10242" name="组合 1"/>
          <p:cNvGrpSpPr/>
          <p:nvPr/>
        </p:nvGrpSpPr>
        <p:grpSpPr>
          <a:xfrm>
            <a:off x="211138" y="257175"/>
            <a:ext cx="558800" cy="463550"/>
            <a:chOff x="3448565" y="1912142"/>
            <a:chExt cx="4927433" cy="2485075"/>
          </a:xfrm>
        </p:grpSpPr>
        <p:cxnSp>
          <p:nvCxnSpPr>
            <p:cNvPr id="19" name="直接连接符 18"/>
            <p:cNvCxnSpPr/>
            <p:nvPr/>
          </p:nvCxnSpPr>
          <p:spPr>
            <a:xfrm>
              <a:off x="3773726" y="1912142"/>
              <a:ext cx="0" cy="798197"/>
            </a:xfrm>
            <a:prstGeom prst="line">
              <a:avLst/>
            </a:prstGeom>
            <a:ln w="31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3772566" y="1912142"/>
              <a:ext cx="4603432"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8364977" y="1912142"/>
              <a:ext cx="0" cy="386837"/>
            </a:xfrm>
            <a:prstGeom prst="line">
              <a:avLst/>
            </a:prstGeom>
            <a:ln w="31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V="1">
              <a:off x="8362673" y="3976971"/>
              <a:ext cx="0" cy="420246"/>
            </a:xfrm>
            <a:prstGeom prst="line">
              <a:avLst/>
            </a:prstGeom>
            <a:ln w="31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flipH="1" flipV="1">
              <a:off x="3814013" y="4397217"/>
              <a:ext cx="4549805"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flipH="1" flipV="1">
              <a:off x="3824904" y="3544871"/>
              <a:ext cx="0" cy="852346"/>
            </a:xfrm>
            <a:prstGeom prst="line">
              <a:avLst/>
            </a:prstGeom>
            <a:ln w="31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flipH="1">
              <a:off x="3448565" y="3544868"/>
              <a:ext cx="377483" cy="234209"/>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grpSp>
      <p:sp>
        <p:nvSpPr>
          <p:cNvPr id="10250" name="文本框 28"/>
          <p:cNvSpPr txBox="1"/>
          <p:nvPr/>
        </p:nvSpPr>
        <p:spPr>
          <a:xfrm>
            <a:off x="290830" y="254000"/>
            <a:ext cx="5273675" cy="523240"/>
          </a:xfrm>
          <a:prstGeom prst="rect">
            <a:avLst/>
          </a:prstGeom>
          <a:noFill/>
          <a:ln w="9525">
            <a:noFill/>
          </a:ln>
        </p:spPr>
        <p:txBody>
          <a:bodyPr anchor="t">
            <a:noAutofit/>
          </a:bodyPr>
          <a:p>
            <a:pPr>
              <a:buFont typeface="Arial" panose="020B0604020202090204" pitchFamily="34" charset="0"/>
            </a:pPr>
            <a:r>
              <a:rPr lang="en-US" altLang="zh-CN" sz="2400" b="1" dirty="0">
                <a:solidFill>
                  <a:srgbClr val="404040"/>
                </a:solidFill>
                <a:ea typeface="Calibri" panose="020F0502020204030204" pitchFamily="34" charset="0"/>
              </a:rPr>
              <a:t>LITERATURE REVIEW </a:t>
            </a:r>
            <a:endParaRPr lang="en-US" altLang="zh-CN" sz="2400" b="1" dirty="0">
              <a:solidFill>
                <a:srgbClr val="404040"/>
              </a:solidFill>
              <a:ea typeface="Calibri" panose="020F0502020204030204" pitchFamily="34" charset="0"/>
            </a:endParaRPr>
          </a:p>
        </p:txBody>
      </p:sp>
      <p:graphicFrame>
        <p:nvGraphicFramePr>
          <p:cNvPr id="4" name="Table 3"/>
          <p:cNvGraphicFramePr/>
          <p:nvPr/>
        </p:nvGraphicFramePr>
        <p:xfrm>
          <a:off x="-2540" y="1104900"/>
          <a:ext cx="12197080" cy="6260465"/>
        </p:xfrm>
        <a:graphic>
          <a:graphicData uri="http://schemas.openxmlformats.org/drawingml/2006/table">
            <a:tbl>
              <a:tblPr firstRow="1" bandRow="1">
                <a:tableStyleId>{5C22544A-7EE6-4342-B048-85BDC9FD1C3A}</a:tableStyleId>
              </a:tblPr>
              <a:tblGrid>
                <a:gridCol w="870585"/>
                <a:gridCol w="2118360"/>
                <a:gridCol w="2068830"/>
                <a:gridCol w="1572895"/>
                <a:gridCol w="1718310"/>
                <a:gridCol w="1524000"/>
                <a:gridCol w="2324100"/>
              </a:tblGrid>
              <a:tr h="723265">
                <a:tc>
                  <a:txBody>
                    <a:bodyPr/>
                    <a:p>
                      <a:pPr marL="0" indent="0" algn="ctr">
                        <a:spcBef>
                          <a:spcPct val="0"/>
                        </a:spcBef>
                        <a:spcAft>
                          <a:spcPct val="0"/>
                        </a:spcAft>
                      </a:pPr>
                      <a:r>
                        <a:rPr lang="en-US" altLang="zh-CN" sz="2000" b="1">
                          <a:solidFill>
                            <a:schemeClr val="tx1"/>
                          </a:solidFill>
                        </a:rPr>
                        <a:t>S/N</a:t>
                      </a:r>
                      <a:endParaRPr lang="en-US" altLang="zh-CN" sz="2000" b="1">
                        <a:solidFill>
                          <a:schemeClr val="tx1"/>
                        </a:solidFill>
                      </a:endParaRPr>
                    </a:p>
                  </a:txBody>
                  <a:tcPr marL="63817" marR="63817" marT="13017" marB="13017" anchor="t" anchorCtr="0"/>
                </a:tc>
                <a:tc>
                  <a:txBody>
                    <a:bodyPr/>
                    <a:p>
                      <a:pPr marL="0" indent="0" algn="ctr">
                        <a:spcBef>
                          <a:spcPct val="0"/>
                        </a:spcBef>
                        <a:spcAft>
                          <a:spcPct val="0"/>
                        </a:spcAft>
                      </a:pPr>
                      <a:r>
                        <a:rPr lang="en-US" altLang="zh-CN" sz="2000" b="1">
                          <a:solidFill>
                            <a:schemeClr val="tx1"/>
                          </a:solidFill>
                        </a:rPr>
                        <a:t>Author(s)</a:t>
                      </a:r>
                      <a:endParaRPr lang="en-US" altLang="zh-CN" sz="2000" b="1">
                        <a:solidFill>
                          <a:schemeClr val="tx1"/>
                        </a:solidFill>
                      </a:endParaRPr>
                    </a:p>
                  </a:txBody>
                  <a:tcPr marL="63817" marR="63817" marT="13017" marB="13017" anchor="t" anchorCtr="0"/>
                </a:tc>
                <a:tc>
                  <a:txBody>
                    <a:bodyPr/>
                    <a:p>
                      <a:pPr marL="0" indent="0" algn="ctr">
                        <a:spcBef>
                          <a:spcPct val="0"/>
                        </a:spcBef>
                        <a:spcAft>
                          <a:spcPct val="0"/>
                        </a:spcAft>
                      </a:pPr>
                      <a:r>
                        <a:rPr lang="en-US" altLang="zh-CN" sz="2000" b="1">
                          <a:solidFill>
                            <a:schemeClr val="tx1"/>
                          </a:solidFill>
                        </a:rPr>
                        <a:t>Title</a:t>
                      </a:r>
                      <a:endParaRPr lang="en-US" altLang="zh-CN" sz="2000" b="1">
                        <a:solidFill>
                          <a:schemeClr val="tx1"/>
                        </a:solidFill>
                      </a:endParaRPr>
                    </a:p>
                  </a:txBody>
                  <a:tcPr marL="63817" marR="63817" marT="13017" marB="13017" anchor="t" anchorCtr="0"/>
                </a:tc>
                <a:tc>
                  <a:txBody>
                    <a:bodyPr/>
                    <a:p>
                      <a:pPr marL="0" indent="0" algn="ctr">
                        <a:spcBef>
                          <a:spcPct val="0"/>
                        </a:spcBef>
                        <a:spcAft>
                          <a:spcPct val="0"/>
                        </a:spcAft>
                      </a:pPr>
                      <a:r>
                        <a:rPr lang="en-US" altLang="zh-CN" sz="2000" b="1">
                          <a:solidFill>
                            <a:schemeClr val="tx1"/>
                          </a:solidFill>
                        </a:rPr>
                        <a:t>Focus</a:t>
                      </a:r>
                      <a:endParaRPr lang="en-US" altLang="zh-CN" sz="2000" b="1">
                        <a:solidFill>
                          <a:schemeClr val="tx1"/>
                        </a:solidFill>
                      </a:endParaRPr>
                    </a:p>
                  </a:txBody>
                  <a:tcPr marL="63817" marR="63817" marT="13017" marB="13017" anchor="t" anchorCtr="0"/>
                </a:tc>
                <a:tc>
                  <a:txBody>
                    <a:bodyPr/>
                    <a:p>
                      <a:pPr marL="0" indent="0" algn="ctr">
                        <a:spcBef>
                          <a:spcPct val="0"/>
                        </a:spcBef>
                        <a:spcAft>
                          <a:spcPct val="0"/>
                        </a:spcAft>
                      </a:pPr>
                      <a:r>
                        <a:rPr lang="en-US" altLang="zh-CN" sz="2000" b="1">
                          <a:solidFill>
                            <a:schemeClr val="tx1"/>
                          </a:solidFill>
                        </a:rPr>
                        <a:t>Methodology</a:t>
                      </a:r>
                      <a:endParaRPr lang="en-US" altLang="zh-CN" sz="2000" b="1">
                        <a:solidFill>
                          <a:schemeClr val="tx1"/>
                        </a:solidFill>
                      </a:endParaRPr>
                    </a:p>
                  </a:txBody>
                  <a:tcPr marL="63817" marR="63817" marT="13017" marB="13017" anchor="t" anchorCtr="0"/>
                </a:tc>
                <a:tc>
                  <a:txBody>
                    <a:bodyPr/>
                    <a:p>
                      <a:pPr marL="0" indent="0" algn="ctr">
                        <a:spcBef>
                          <a:spcPct val="0"/>
                        </a:spcBef>
                        <a:spcAft>
                          <a:spcPct val="0"/>
                        </a:spcAft>
                      </a:pPr>
                      <a:r>
                        <a:rPr lang="en-US" altLang="zh-CN" sz="2000" b="1">
                          <a:solidFill>
                            <a:schemeClr val="tx1"/>
                          </a:solidFill>
                        </a:rPr>
                        <a:t>Results</a:t>
                      </a:r>
                      <a:endParaRPr lang="en-US" altLang="zh-CN" sz="2000" b="1">
                        <a:solidFill>
                          <a:schemeClr val="tx1"/>
                        </a:solidFill>
                      </a:endParaRPr>
                    </a:p>
                  </a:txBody>
                  <a:tcPr marL="63817" marR="63817" marT="13017" marB="13017" anchor="t" anchorCtr="0"/>
                </a:tc>
                <a:tc>
                  <a:txBody>
                    <a:bodyPr/>
                    <a:p>
                      <a:pPr marL="0" indent="0" algn="ctr">
                        <a:spcBef>
                          <a:spcPct val="0"/>
                        </a:spcBef>
                        <a:spcAft>
                          <a:spcPct val="0"/>
                        </a:spcAft>
                      </a:pPr>
                      <a:r>
                        <a:rPr lang="en-US" altLang="zh-CN" sz="2000" b="1">
                          <a:solidFill>
                            <a:schemeClr val="tx1"/>
                          </a:solidFill>
                        </a:rPr>
                        <a:t>Limitations</a:t>
                      </a:r>
                      <a:endParaRPr lang="en-US" altLang="zh-CN" sz="2000" b="1">
                        <a:solidFill>
                          <a:schemeClr val="tx1"/>
                        </a:solidFill>
                      </a:endParaRPr>
                    </a:p>
                  </a:txBody>
                  <a:tcPr marL="63817" marR="63817" marT="13017" marB="13017" anchor="t" anchorCtr="0"/>
                </a:tc>
              </a:tr>
              <a:tr h="2615565">
                <a:tc>
                  <a:txBody>
                    <a:bodyPr/>
                    <a:p>
                      <a:pPr>
                        <a:buNone/>
                      </a:pPr>
                      <a:r>
                        <a:rPr lang="en-US" sz="2400"/>
                        <a:t>1</a:t>
                      </a:r>
                      <a:endParaRPr lang="en-US" sz="2400"/>
                    </a:p>
                  </a:txBody>
                  <a:tcPr/>
                </a:tc>
                <a:tc>
                  <a:txBody>
                    <a:bodyPr/>
                    <a:p>
                      <a:pPr marL="0" indent="0">
                        <a:spcBef>
                          <a:spcPct val="0"/>
                        </a:spcBef>
                        <a:spcAft>
                          <a:spcPct val="0"/>
                        </a:spcAft>
                      </a:pPr>
                      <a:r>
                        <a:rPr lang="en-US" altLang="zh-CN" sz="2000"/>
                        <a:t>Brown &amp; Zhao (2021)</a:t>
                      </a:r>
                      <a:endParaRPr lang="en-US" altLang="zh-CN" sz="2000"/>
                    </a:p>
                  </a:txBody>
                  <a:tcPr marL="63817" marR="63817" marT="13017" marB="13017" anchor="t" anchorCtr="0"/>
                </a:tc>
                <a:tc>
                  <a:txBody>
                    <a:bodyPr/>
                    <a:p>
                      <a:pPr marL="0" indent="0">
                        <a:spcBef>
                          <a:spcPct val="0"/>
                        </a:spcBef>
                        <a:spcAft>
                          <a:spcPct val="0"/>
                        </a:spcAft>
                      </a:pPr>
                      <a:r>
                        <a:rPr lang="en-US" altLang="zh-CN" sz="2000"/>
                        <a:t>"Enhancing Software Productivity Using Machine Learning Models"</a:t>
                      </a:r>
                      <a:endParaRPr lang="en-US" altLang="zh-CN" sz="2000"/>
                    </a:p>
                  </a:txBody>
                  <a:tcPr marL="63817" marR="63817" marT="13017" marB="13017" anchor="t" anchorCtr="0"/>
                </a:tc>
                <a:tc>
                  <a:txBody>
                    <a:bodyPr/>
                    <a:p>
                      <a:pPr marL="0" indent="0">
                        <a:spcBef>
                          <a:spcPct val="0"/>
                        </a:spcBef>
                        <a:spcAft>
                          <a:spcPct val="0"/>
                        </a:spcAft>
                      </a:pPr>
                      <a:r>
                        <a:rPr lang="en-US" altLang="zh-CN" sz="2000"/>
                        <a:t>Integration of ML with GitHub and Jira for productivity prediction</a:t>
                      </a:r>
                      <a:endParaRPr lang="en-US" altLang="zh-CN" sz="2000"/>
                    </a:p>
                  </a:txBody>
                  <a:tcPr marL="63817" marR="63817" marT="13017" marB="13017" anchor="t" anchorCtr="0"/>
                </a:tc>
                <a:tc>
                  <a:txBody>
                    <a:bodyPr/>
                    <a:p>
                      <a:pPr marL="0" indent="0">
                        <a:spcBef>
                          <a:spcPct val="0"/>
                        </a:spcBef>
                        <a:spcAft>
                          <a:spcPct val="0"/>
                        </a:spcAft>
                      </a:pPr>
                      <a:r>
                        <a:rPr lang="en-US" altLang="zh-CN" sz="2000"/>
                        <a:t>Machine learning applied to task completion times and pull requests</a:t>
                      </a:r>
                      <a:endParaRPr lang="en-US" altLang="zh-CN" sz="2000"/>
                    </a:p>
                  </a:txBody>
                  <a:tcPr marL="63817" marR="63817" marT="13017" marB="13017" anchor="t" anchorCtr="0"/>
                </a:tc>
                <a:tc>
                  <a:txBody>
                    <a:bodyPr/>
                    <a:p>
                      <a:pPr marL="0" indent="0">
                        <a:spcBef>
                          <a:spcPct val="0"/>
                        </a:spcBef>
                        <a:spcAft>
                          <a:spcPct val="0"/>
                        </a:spcAft>
                      </a:pPr>
                      <a:r>
                        <a:rPr lang="en-US" altLang="zh-CN" sz="2000"/>
                        <a:t>ML models improved productivity estimation accuracy by 20%.</a:t>
                      </a:r>
                      <a:endParaRPr lang="en-US" altLang="zh-CN" sz="2000"/>
                    </a:p>
                  </a:txBody>
                  <a:tcPr marL="63817" marR="63817" marT="13017" marB="13017" anchor="t" anchorCtr="0"/>
                </a:tc>
                <a:tc>
                  <a:txBody>
                    <a:bodyPr/>
                    <a:p>
                      <a:pPr marL="0" indent="0">
                        <a:spcBef>
                          <a:spcPct val="0"/>
                        </a:spcBef>
                        <a:spcAft>
                          <a:spcPct val="0"/>
                        </a:spcAft>
                      </a:pPr>
                      <a:r>
                        <a:rPr lang="en-US" altLang="zh-CN" sz="2000"/>
                        <a:t>Limited dataset size; focused primarily on small development teams of under 100 developers. Also the focused on only 2 collaborative tools.</a:t>
                      </a:r>
                      <a:endParaRPr lang="en-US" altLang="zh-CN" sz="2000"/>
                    </a:p>
                  </a:txBody>
                  <a:tcPr marL="63817" marR="63817" marT="13017" marB="13017" anchor="t" anchorCtr="0"/>
                </a:tc>
              </a:tr>
              <a:tr h="2614930">
                <a:tc>
                  <a:txBody>
                    <a:bodyPr/>
                    <a:p>
                      <a:pPr>
                        <a:buNone/>
                      </a:pPr>
                      <a:r>
                        <a:rPr lang="en-US" sz="2400"/>
                        <a:t>2</a:t>
                      </a:r>
                      <a:endParaRPr lang="en-US" sz="2400"/>
                    </a:p>
                  </a:txBody>
                  <a:tcPr/>
                </a:tc>
                <a:tc>
                  <a:txBody>
                    <a:bodyPr/>
                    <a:p>
                      <a:pPr marL="0" indent="0">
                        <a:spcBef>
                          <a:spcPct val="0"/>
                        </a:spcBef>
                        <a:spcAft>
                          <a:spcPct val="0"/>
                        </a:spcAft>
                      </a:pPr>
                      <a:r>
                        <a:rPr lang="en-US" altLang="zh-CN" sz="2000"/>
                        <a:t>Song &amp; Lin (2022)</a:t>
                      </a:r>
                      <a:endParaRPr lang="en-US" altLang="zh-CN" sz="2000"/>
                    </a:p>
                  </a:txBody>
                  <a:tcPr marL="63817" marR="63817" marT="13017" marB="13017" anchor="t" anchorCtr="0"/>
                </a:tc>
                <a:tc>
                  <a:txBody>
                    <a:bodyPr/>
                    <a:p>
                      <a:pPr marL="0" indent="0">
                        <a:spcBef>
                          <a:spcPct val="0"/>
                        </a:spcBef>
                        <a:spcAft>
                          <a:spcPct val="0"/>
                        </a:spcAft>
                      </a:pPr>
                      <a:r>
                        <a:rPr lang="en-US" altLang="zh-CN" sz="2000"/>
                        <a:t>"Collaboration Metrics in Predictive Models for Team Productivity"</a:t>
                      </a:r>
                      <a:endParaRPr lang="en-US" altLang="zh-CN" sz="2000"/>
                    </a:p>
                  </a:txBody>
                  <a:tcPr marL="63817" marR="63817" marT="13017" marB="13017" anchor="t" anchorCtr="0"/>
                </a:tc>
                <a:tc>
                  <a:txBody>
                    <a:bodyPr/>
                    <a:p>
                      <a:pPr marL="0" indent="0">
                        <a:spcBef>
                          <a:spcPct val="0"/>
                        </a:spcBef>
                        <a:spcAft>
                          <a:spcPct val="0"/>
                        </a:spcAft>
                      </a:pPr>
                      <a:r>
                        <a:rPr lang="en-US" altLang="zh-CN" sz="2000"/>
                        <a:t>Role of pull requests and communication data in team workflows</a:t>
                      </a:r>
                      <a:endParaRPr lang="en-US" altLang="zh-CN" sz="2000"/>
                    </a:p>
                  </a:txBody>
                  <a:tcPr marL="63817" marR="63817" marT="13017" marB="13017" anchor="t" anchorCtr="0"/>
                </a:tc>
                <a:tc>
                  <a:txBody>
                    <a:bodyPr/>
                    <a:p>
                      <a:pPr marL="0" indent="0">
                        <a:spcBef>
                          <a:spcPct val="0"/>
                        </a:spcBef>
                        <a:spcAft>
                          <a:spcPct val="0"/>
                        </a:spcAft>
                      </a:pPr>
                      <a:r>
                        <a:rPr lang="en-US" altLang="zh-CN" sz="2000"/>
                        <a:t>Analyzed historical data from GitHub and Slack using predictive analytics.</a:t>
                      </a:r>
                      <a:endParaRPr lang="en-US" altLang="zh-CN" sz="2000"/>
                    </a:p>
                  </a:txBody>
                  <a:tcPr marL="63817" marR="63817" marT="13017" marB="13017" anchor="t" anchorCtr="0"/>
                </a:tc>
                <a:tc>
                  <a:txBody>
                    <a:bodyPr/>
                    <a:p>
                      <a:pPr marL="0" indent="0">
                        <a:spcBef>
                          <a:spcPct val="0"/>
                        </a:spcBef>
                        <a:spcAft>
                          <a:spcPct val="0"/>
                        </a:spcAft>
                      </a:pPr>
                      <a:r>
                        <a:rPr lang="en-US" altLang="zh-CN" sz="2000"/>
                        <a:t>Collaborative tools enhanced workflow efficiency, identifying key metrics for prediction.</a:t>
                      </a:r>
                      <a:endParaRPr lang="en-US" altLang="zh-CN" sz="2000"/>
                    </a:p>
                  </a:txBody>
                  <a:tcPr marL="63817" marR="63817" marT="13017" marB="13017" anchor="t" anchorCtr="0"/>
                </a:tc>
                <a:tc>
                  <a:txBody>
                    <a:bodyPr/>
                    <a:p>
                      <a:pPr marL="0" indent="0">
                        <a:spcBef>
                          <a:spcPct val="0"/>
                        </a:spcBef>
                        <a:spcAft>
                          <a:spcPct val="0"/>
                        </a:spcAft>
                      </a:pPr>
                      <a:r>
                        <a:rPr lang="en-US" altLang="zh-CN" sz="2000"/>
                        <a:t>Lack of real-time testing; study limited to open-source projects.</a:t>
                      </a:r>
                      <a:endParaRPr lang="en-US" altLang="zh-CN" sz="2000"/>
                    </a:p>
                  </a:txBody>
                  <a:tcPr marL="63817" marR="63817" marT="13017" marB="13017" anchor="t" anchorCtr="0"/>
                </a:tc>
              </a:tr>
            </a:tbl>
          </a:graphicData>
        </a:graphic>
      </p:graphicFrame>
    </p:spTree>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0241" name="图片 3"/>
          <p:cNvPicPr>
            <a:picLocks noChangeAspect="1"/>
          </p:cNvPicPr>
          <p:nvPr/>
        </p:nvPicPr>
        <p:blipFill>
          <a:blip r:embed="rId1"/>
          <a:srcRect l="5727" r="16841" b="26530"/>
          <a:stretch>
            <a:fillRect/>
          </a:stretch>
        </p:blipFill>
        <p:spPr>
          <a:xfrm>
            <a:off x="0" y="0"/>
            <a:ext cx="12192000" cy="6858000"/>
          </a:xfrm>
          <a:prstGeom prst="rect">
            <a:avLst/>
          </a:prstGeom>
          <a:noFill/>
          <a:ln w="9525">
            <a:noFill/>
          </a:ln>
        </p:spPr>
      </p:pic>
      <p:grpSp>
        <p:nvGrpSpPr>
          <p:cNvPr id="10242" name="组合 1"/>
          <p:cNvGrpSpPr/>
          <p:nvPr/>
        </p:nvGrpSpPr>
        <p:grpSpPr>
          <a:xfrm>
            <a:off x="211138" y="257175"/>
            <a:ext cx="558800" cy="463550"/>
            <a:chOff x="3448565" y="1912142"/>
            <a:chExt cx="4927433" cy="2485075"/>
          </a:xfrm>
        </p:grpSpPr>
        <p:cxnSp>
          <p:nvCxnSpPr>
            <p:cNvPr id="19" name="直接连接符 18"/>
            <p:cNvCxnSpPr/>
            <p:nvPr/>
          </p:nvCxnSpPr>
          <p:spPr>
            <a:xfrm>
              <a:off x="3773726" y="1912142"/>
              <a:ext cx="0" cy="798197"/>
            </a:xfrm>
            <a:prstGeom prst="line">
              <a:avLst/>
            </a:prstGeom>
            <a:ln w="31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3772566" y="1912142"/>
              <a:ext cx="4603432"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8364977" y="1912142"/>
              <a:ext cx="0" cy="386837"/>
            </a:xfrm>
            <a:prstGeom prst="line">
              <a:avLst/>
            </a:prstGeom>
            <a:ln w="31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V="1">
              <a:off x="8362673" y="3976971"/>
              <a:ext cx="0" cy="420246"/>
            </a:xfrm>
            <a:prstGeom prst="line">
              <a:avLst/>
            </a:prstGeom>
            <a:ln w="31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flipH="1" flipV="1">
              <a:off x="3814013" y="4397217"/>
              <a:ext cx="4549805"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flipH="1" flipV="1">
              <a:off x="3824904" y="3544871"/>
              <a:ext cx="0" cy="852346"/>
            </a:xfrm>
            <a:prstGeom prst="line">
              <a:avLst/>
            </a:prstGeom>
            <a:ln w="31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flipH="1">
              <a:off x="3448565" y="3544868"/>
              <a:ext cx="377483" cy="234209"/>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grpSp>
      <p:sp>
        <p:nvSpPr>
          <p:cNvPr id="10250" name="文本框 28"/>
          <p:cNvSpPr txBox="1"/>
          <p:nvPr/>
        </p:nvSpPr>
        <p:spPr>
          <a:xfrm>
            <a:off x="290830" y="254000"/>
            <a:ext cx="5273675" cy="523240"/>
          </a:xfrm>
          <a:prstGeom prst="rect">
            <a:avLst/>
          </a:prstGeom>
          <a:noFill/>
          <a:ln w="9525">
            <a:noFill/>
          </a:ln>
        </p:spPr>
        <p:txBody>
          <a:bodyPr anchor="t">
            <a:noAutofit/>
          </a:bodyPr>
          <a:p>
            <a:pPr>
              <a:buFont typeface="Arial" panose="020B0604020202090204" pitchFamily="34" charset="0"/>
            </a:pPr>
            <a:r>
              <a:rPr lang="en-US" altLang="zh-CN" sz="2400" b="1" dirty="0">
                <a:solidFill>
                  <a:srgbClr val="404040"/>
                </a:solidFill>
                <a:ea typeface="Calibri" panose="020F0502020204030204" pitchFamily="34" charset="0"/>
              </a:rPr>
              <a:t>LITERATURE REVIEW </a:t>
            </a:r>
            <a:endParaRPr lang="en-US" altLang="zh-CN" sz="2400" b="1" dirty="0">
              <a:solidFill>
                <a:srgbClr val="404040"/>
              </a:solidFill>
              <a:ea typeface="Calibri" panose="020F0502020204030204" pitchFamily="34" charset="0"/>
            </a:endParaRPr>
          </a:p>
        </p:txBody>
      </p:sp>
      <p:graphicFrame>
        <p:nvGraphicFramePr>
          <p:cNvPr id="4" name="Table 3"/>
          <p:cNvGraphicFramePr/>
          <p:nvPr/>
        </p:nvGraphicFramePr>
        <p:xfrm>
          <a:off x="-2540" y="1104900"/>
          <a:ext cx="12197080" cy="5953760"/>
        </p:xfrm>
        <a:graphic>
          <a:graphicData uri="http://schemas.openxmlformats.org/drawingml/2006/table">
            <a:tbl>
              <a:tblPr firstRow="1" bandRow="1">
                <a:tableStyleId>{5C22544A-7EE6-4342-B048-85BDC9FD1C3A}</a:tableStyleId>
              </a:tblPr>
              <a:tblGrid>
                <a:gridCol w="774065"/>
                <a:gridCol w="2710815"/>
                <a:gridCol w="1742440"/>
                <a:gridCol w="1742440"/>
                <a:gridCol w="1742440"/>
                <a:gridCol w="1742440"/>
                <a:gridCol w="1742440"/>
              </a:tblGrid>
              <a:tr h="723265">
                <a:tc>
                  <a:txBody>
                    <a:bodyPr/>
                    <a:p>
                      <a:pPr marL="0" indent="0" algn="ctr">
                        <a:spcBef>
                          <a:spcPct val="0"/>
                        </a:spcBef>
                        <a:spcAft>
                          <a:spcPct val="0"/>
                        </a:spcAft>
                      </a:pPr>
                      <a:r>
                        <a:rPr lang="en-US" altLang="zh-CN" sz="2000" b="1">
                          <a:solidFill>
                            <a:schemeClr val="tx1"/>
                          </a:solidFill>
                        </a:rPr>
                        <a:t>S/N</a:t>
                      </a:r>
                      <a:endParaRPr lang="en-US" altLang="zh-CN" sz="2000" b="1">
                        <a:solidFill>
                          <a:schemeClr val="tx1"/>
                        </a:solidFill>
                      </a:endParaRPr>
                    </a:p>
                  </a:txBody>
                  <a:tcPr marL="63817" marR="63817" marT="13017" marB="13017" anchor="t" anchorCtr="0"/>
                </a:tc>
                <a:tc>
                  <a:txBody>
                    <a:bodyPr/>
                    <a:p>
                      <a:pPr marL="0" indent="0" algn="ctr">
                        <a:spcBef>
                          <a:spcPct val="0"/>
                        </a:spcBef>
                        <a:spcAft>
                          <a:spcPct val="0"/>
                        </a:spcAft>
                      </a:pPr>
                      <a:r>
                        <a:rPr lang="en-US" altLang="zh-CN" sz="2000" b="1">
                          <a:solidFill>
                            <a:schemeClr val="tx1"/>
                          </a:solidFill>
                        </a:rPr>
                        <a:t>Author(s)</a:t>
                      </a:r>
                      <a:endParaRPr lang="en-US" altLang="zh-CN" sz="2000" b="1">
                        <a:solidFill>
                          <a:schemeClr val="tx1"/>
                        </a:solidFill>
                      </a:endParaRPr>
                    </a:p>
                  </a:txBody>
                  <a:tcPr marL="63817" marR="63817" marT="13017" marB="13017" anchor="t" anchorCtr="0"/>
                </a:tc>
                <a:tc>
                  <a:txBody>
                    <a:bodyPr/>
                    <a:p>
                      <a:pPr marL="0" indent="0" algn="ctr">
                        <a:spcBef>
                          <a:spcPct val="0"/>
                        </a:spcBef>
                        <a:spcAft>
                          <a:spcPct val="0"/>
                        </a:spcAft>
                      </a:pPr>
                      <a:r>
                        <a:rPr lang="en-US" altLang="zh-CN" sz="2000" b="1">
                          <a:solidFill>
                            <a:schemeClr val="tx1"/>
                          </a:solidFill>
                        </a:rPr>
                        <a:t>Title</a:t>
                      </a:r>
                      <a:endParaRPr lang="en-US" altLang="zh-CN" sz="2000" b="1">
                        <a:solidFill>
                          <a:schemeClr val="tx1"/>
                        </a:solidFill>
                      </a:endParaRPr>
                    </a:p>
                  </a:txBody>
                  <a:tcPr marL="63817" marR="63817" marT="13017" marB="13017" anchor="t" anchorCtr="0"/>
                </a:tc>
                <a:tc>
                  <a:txBody>
                    <a:bodyPr/>
                    <a:p>
                      <a:pPr marL="0" indent="0" algn="ctr">
                        <a:spcBef>
                          <a:spcPct val="0"/>
                        </a:spcBef>
                        <a:spcAft>
                          <a:spcPct val="0"/>
                        </a:spcAft>
                      </a:pPr>
                      <a:r>
                        <a:rPr lang="en-US" altLang="zh-CN" sz="2000" b="1">
                          <a:solidFill>
                            <a:schemeClr val="tx1"/>
                          </a:solidFill>
                        </a:rPr>
                        <a:t>Focus</a:t>
                      </a:r>
                      <a:endParaRPr lang="en-US" altLang="zh-CN" sz="2000" b="1">
                        <a:solidFill>
                          <a:schemeClr val="tx1"/>
                        </a:solidFill>
                      </a:endParaRPr>
                    </a:p>
                  </a:txBody>
                  <a:tcPr marL="63817" marR="63817" marT="13017" marB="13017" anchor="t" anchorCtr="0"/>
                </a:tc>
                <a:tc>
                  <a:txBody>
                    <a:bodyPr/>
                    <a:p>
                      <a:pPr marL="0" indent="0" algn="ctr">
                        <a:spcBef>
                          <a:spcPct val="0"/>
                        </a:spcBef>
                        <a:spcAft>
                          <a:spcPct val="0"/>
                        </a:spcAft>
                      </a:pPr>
                      <a:r>
                        <a:rPr lang="en-US" altLang="zh-CN" sz="2000" b="1">
                          <a:solidFill>
                            <a:schemeClr val="tx1"/>
                          </a:solidFill>
                        </a:rPr>
                        <a:t>Methodology</a:t>
                      </a:r>
                      <a:endParaRPr lang="en-US" altLang="zh-CN" sz="2000" b="1">
                        <a:solidFill>
                          <a:schemeClr val="tx1"/>
                        </a:solidFill>
                      </a:endParaRPr>
                    </a:p>
                  </a:txBody>
                  <a:tcPr marL="63817" marR="63817" marT="13017" marB="13017" anchor="t" anchorCtr="0"/>
                </a:tc>
                <a:tc>
                  <a:txBody>
                    <a:bodyPr/>
                    <a:p>
                      <a:pPr marL="0" indent="0" algn="ctr">
                        <a:spcBef>
                          <a:spcPct val="0"/>
                        </a:spcBef>
                        <a:spcAft>
                          <a:spcPct val="0"/>
                        </a:spcAft>
                      </a:pPr>
                      <a:r>
                        <a:rPr lang="en-US" altLang="zh-CN" sz="2000" b="1">
                          <a:solidFill>
                            <a:schemeClr val="tx1"/>
                          </a:solidFill>
                        </a:rPr>
                        <a:t>Results</a:t>
                      </a:r>
                      <a:endParaRPr lang="en-US" altLang="zh-CN" sz="2000" b="1">
                        <a:solidFill>
                          <a:schemeClr val="tx1"/>
                        </a:solidFill>
                      </a:endParaRPr>
                    </a:p>
                  </a:txBody>
                  <a:tcPr marL="63817" marR="63817" marT="13017" marB="13017" anchor="t" anchorCtr="0"/>
                </a:tc>
                <a:tc>
                  <a:txBody>
                    <a:bodyPr/>
                    <a:p>
                      <a:pPr marL="0" indent="0" algn="ctr">
                        <a:spcBef>
                          <a:spcPct val="0"/>
                        </a:spcBef>
                        <a:spcAft>
                          <a:spcPct val="0"/>
                        </a:spcAft>
                      </a:pPr>
                      <a:r>
                        <a:rPr lang="en-US" altLang="zh-CN" sz="2000" b="1">
                          <a:solidFill>
                            <a:schemeClr val="tx1"/>
                          </a:solidFill>
                        </a:rPr>
                        <a:t>Limitations</a:t>
                      </a:r>
                      <a:endParaRPr lang="en-US" altLang="zh-CN" sz="2000" b="1">
                        <a:solidFill>
                          <a:schemeClr val="tx1"/>
                        </a:solidFill>
                      </a:endParaRPr>
                    </a:p>
                  </a:txBody>
                  <a:tcPr marL="63817" marR="63817" marT="13017" marB="13017" anchor="t" anchorCtr="0"/>
                </a:tc>
              </a:tr>
              <a:tr h="2615565">
                <a:tc>
                  <a:txBody>
                    <a:bodyPr/>
                    <a:p>
                      <a:pPr>
                        <a:buNone/>
                      </a:pPr>
                      <a:r>
                        <a:rPr lang="en-US" sz="2400"/>
                        <a:t>3</a:t>
                      </a:r>
                      <a:endParaRPr lang="en-US" sz="2400"/>
                    </a:p>
                  </a:txBody>
                  <a:tcPr/>
                </a:tc>
                <a:tc>
                  <a:txBody>
                    <a:bodyPr/>
                    <a:p>
                      <a:pPr marL="0" indent="0">
                        <a:spcBef>
                          <a:spcPct val="0"/>
                        </a:spcBef>
                        <a:spcAft>
                          <a:spcPct val="0"/>
                        </a:spcAft>
                      </a:pPr>
                      <a:r>
                        <a:rPr lang="en-US" altLang="zh-CN" sz="2000"/>
                        <a:t>Patel &amp; Cheng (2023)</a:t>
                      </a:r>
                      <a:endParaRPr lang="en-US" altLang="zh-CN" sz="2000"/>
                    </a:p>
                  </a:txBody>
                  <a:tcPr marL="63817" marR="63817" marT="13017" marB="13017" anchor="t" anchorCtr="0"/>
                </a:tc>
                <a:tc>
                  <a:txBody>
                    <a:bodyPr/>
                    <a:p>
                      <a:pPr marL="0" indent="0">
                        <a:spcBef>
                          <a:spcPct val="0"/>
                        </a:spcBef>
                        <a:spcAft>
                          <a:spcPct val="0"/>
                        </a:spcAft>
                      </a:pPr>
                      <a:r>
                        <a:rPr lang="en-US" altLang="zh-CN" sz="2000"/>
                        <a:t>"Optimizing Team Productivity Through Predictive Analytics"</a:t>
                      </a:r>
                      <a:endParaRPr lang="en-US" altLang="zh-CN" sz="2000"/>
                    </a:p>
                  </a:txBody>
                  <a:tcPr marL="63817" marR="63817" marT="13017" marB="13017" anchor="t" anchorCtr="0"/>
                </a:tc>
                <a:tc>
                  <a:txBody>
                    <a:bodyPr/>
                    <a:p>
                      <a:pPr marL="0" indent="0">
                        <a:spcBef>
                          <a:spcPct val="0"/>
                        </a:spcBef>
                        <a:spcAft>
                          <a:spcPct val="0"/>
                        </a:spcAft>
                      </a:pPr>
                      <a:r>
                        <a:rPr lang="en-US" altLang="zh-CN" sz="2000"/>
                        <a:t>Predictive analytics for task allocation in distributed teams</a:t>
                      </a:r>
                      <a:endParaRPr lang="en-US" altLang="zh-CN" sz="2000"/>
                    </a:p>
                  </a:txBody>
                  <a:tcPr marL="63817" marR="63817" marT="13017" marB="13017" anchor="t" anchorCtr="0"/>
                </a:tc>
                <a:tc>
                  <a:txBody>
                    <a:bodyPr/>
                    <a:p>
                      <a:pPr marL="0" indent="0">
                        <a:spcBef>
                          <a:spcPct val="0"/>
                        </a:spcBef>
                        <a:spcAft>
                          <a:spcPct val="0"/>
                        </a:spcAft>
                      </a:pPr>
                      <a:r>
                        <a:rPr lang="en-US" altLang="zh-CN" sz="2000"/>
                        <a:t>Combined GitHub, Jira, and Slack data with predictive models.</a:t>
                      </a:r>
                      <a:endParaRPr lang="en-US" altLang="zh-CN" sz="2000"/>
                    </a:p>
                  </a:txBody>
                  <a:tcPr marL="63817" marR="63817" marT="13017" marB="13017" anchor="t" anchorCtr="0"/>
                </a:tc>
                <a:tc>
                  <a:txBody>
                    <a:bodyPr/>
                    <a:p>
                      <a:pPr marL="0" indent="0">
                        <a:spcBef>
                          <a:spcPct val="0"/>
                        </a:spcBef>
                        <a:spcAft>
                          <a:spcPct val="0"/>
                        </a:spcAft>
                      </a:pPr>
                      <a:r>
                        <a:rPr lang="en-US" altLang="zh-CN" sz="2000"/>
                        <a:t>Predictive models optimized task distribution, improving team output by 15%.</a:t>
                      </a:r>
                      <a:endParaRPr lang="en-US" altLang="zh-CN" sz="2000"/>
                    </a:p>
                  </a:txBody>
                  <a:tcPr marL="63817" marR="63817" marT="13017" marB="13017" anchor="t" anchorCtr="0"/>
                </a:tc>
                <a:tc>
                  <a:txBody>
                    <a:bodyPr/>
                    <a:p>
                      <a:pPr marL="0" indent="0">
                        <a:spcBef>
                          <a:spcPct val="0"/>
                        </a:spcBef>
                        <a:spcAft>
                          <a:spcPct val="0"/>
                        </a:spcAft>
                      </a:pPr>
                      <a:r>
                        <a:rPr lang="en-US" altLang="zh-CN" sz="2000"/>
                        <a:t>Did not evaluate long-term impacts of predictive analytics on team dynamics.</a:t>
                      </a:r>
                      <a:endParaRPr lang="en-US" altLang="zh-CN" sz="2000"/>
                    </a:p>
                  </a:txBody>
                  <a:tcPr marL="63817" marR="63817" marT="13017" marB="13017" anchor="t" anchorCtr="0"/>
                </a:tc>
              </a:tr>
              <a:tr h="2614930">
                <a:tc>
                  <a:txBody>
                    <a:bodyPr/>
                    <a:p>
                      <a:pPr>
                        <a:buNone/>
                      </a:pPr>
                      <a:r>
                        <a:rPr lang="en-US" sz="2400"/>
                        <a:t>4</a:t>
                      </a:r>
                      <a:endParaRPr lang="en-US" sz="2400"/>
                    </a:p>
                  </a:txBody>
                  <a:tcPr/>
                </a:tc>
                <a:tc>
                  <a:txBody>
                    <a:bodyPr/>
                    <a:p>
                      <a:pPr marL="0" indent="0">
                        <a:spcBef>
                          <a:spcPct val="0"/>
                        </a:spcBef>
                        <a:spcAft>
                          <a:spcPct val="0"/>
                        </a:spcAft>
                      </a:pPr>
                      <a:r>
                        <a:rPr lang="en-US" altLang="zh-CN" sz="2000"/>
                        <a:t>Microsoft (2023)</a:t>
                      </a:r>
                      <a:endParaRPr lang="en-US" altLang="zh-CN" sz="2000"/>
                    </a:p>
                  </a:txBody>
                  <a:tcPr marL="63817" marR="63817" marT="13017" marB="13017" anchor="t" anchorCtr="0"/>
                </a:tc>
                <a:tc>
                  <a:txBody>
                    <a:bodyPr/>
                    <a:p>
                      <a:pPr marL="0" indent="0">
                        <a:spcBef>
                          <a:spcPct val="0"/>
                        </a:spcBef>
                        <a:spcAft>
                          <a:spcPct val="0"/>
                        </a:spcAft>
                      </a:pPr>
                      <a:r>
                        <a:rPr lang="en-US" altLang="zh-CN" sz="2000"/>
                        <a:t>"AI-Powered Collaboration in Hybrid Work Environments"</a:t>
                      </a:r>
                      <a:endParaRPr lang="en-US" altLang="zh-CN" sz="2000"/>
                    </a:p>
                  </a:txBody>
                  <a:tcPr marL="63817" marR="63817" marT="13017" marB="13017" anchor="t" anchorCtr="0"/>
                </a:tc>
                <a:tc>
                  <a:txBody>
                    <a:bodyPr/>
                    <a:p>
                      <a:pPr marL="0" indent="0">
                        <a:spcBef>
                          <a:spcPct val="0"/>
                        </a:spcBef>
                        <a:spcAft>
                          <a:spcPct val="0"/>
                        </a:spcAft>
                      </a:pPr>
                      <a:r>
                        <a:rPr lang="en-US" altLang="zh-CN" sz="2000"/>
                        <a:t>AI-driven tools for improving productivity in hybrid work settings</a:t>
                      </a:r>
                      <a:endParaRPr lang="en-US" altLang="zh-CN" sz="2000"/>
                    </a:p>
                  </a:txBody>
                  <a:tcPr marL="63817" marR="63817" marT="13017" marB="13017" anchor="t" anchorCtr="0"/>
                </a:tc>
                <a:tc>
                  <a:txBody>
                    <a:bodyPr/>
                    <a:p>
                      <a:pPr marL="0" indent="0">
                        <a:spcBef>
                          <a:spcPct val="0"/>
                        </a:spcBef>
                        <a:spcAft>
                          <a:spcPct val="0"/>
                        </a:spcAft>
                      </a:pPr>
                      <a:r>
                        <a:rPr lang="en-US" altLang="zh-CN" sz="2000"/>
                        <a:t>Case studies on Microsoft Teams’ AI features for collaboration.</a:t>
                      </a:r>
                      <a:endParaRPr lang="en-US" altLang="zh-CN" sz="2000"/>
                    </a:p>
                  </a:txBody>
                  <a:tcPr marL="63817" marR="63817" marT="13017" marB="13017" anchor="t" anchorCtr="0"/>
                </a:tc>
                <a:tc>
                  <a:txBody>
                    <a:bodyPr/>
                    <a:p>
                      <a:pPr marL="0" indent="0">
                        <a:spcBef>
                          <a:spcPct val="0"/>
                        </a:spcBef>
                        <a:spcAft>
                          <a:spcPct val="0"/>
                        </a:spcAft>
                      </a:pPr>
                      <a:r>
                        <a:rPr lang="en-US" altLang="zh-CN" sz="2000"/>
                        <a:t>Productivity improved by 25% in hybrid environments through AI-powered insights.</a:t>
                      </a:r>
                      <a:endParaRPr lang="en-US" altLang="zh-CN" sz="2000"/>
                    </a:p>
                  </a:txBody>
                  <a:tcPr marL="63817" marR="63817" marT="13017" marB="13017" anchor="t" anchorCtr="0"/>
                </a:tc>
                <a:tc>
                  <a:txBody>
                    <a:bodyPr/>
                    <a:p>
                      <a:pPr marL="0" indent="0">
                        <a:spcBef>
                          <a:spcPct val="0"/>
                        </a:spcBef>
                        <a:spcAft>
                          <a:spcPct val="0"/>
                        </a:spcAft>
                      </a:pPr>
                      <a:r>
                        <a:rPr lang="en-US" altLang="zh-CN" sz="2000"/>
                        <a:t>Focused solely on Microsoft Teams; findings may not generalize to other tools.</a:t>
                      </a:r>
                      <a:endParaRPr lang="en-US" altLang="zh-CN" sz="2000"/>
                    </a:p>
                  </a:txBody>
                  <a:tcPr marL="63817" marR="63817" marT="13017" marB="13017" anchor="t" anchorCtr="0"/>
                </a:tc>
              </a:tr>
            </a:tbl>
          </a:graphicData>
        </a:graphic>
      </p:graphicFrame>
    </p:spTree>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0241" name="图片 3"/>
          <p:cNvPicPr>
            <a:picLocks noChangeAspect="1"/>
          </p:cNvPicPr>
          <p:nvPr/>
        </p:nvPicPr>
        <p:blipFill>
          <a:blip r:embed="rId1"/>
          <a:srcRect l="5727" r="16841" b="26530"/>
          <a:stretch>
            <a:fillRect/>
          </a:stretch>
        </p:blipFill>
        <p:spPr>
          <a:xfrm>
            <a:off x="0" y="0"/>
            <a:ext cx="12192000" cy="6858000"/>
          </a:xfrm>
          <a:prstGeom prst="rect">
            <a:avLst/>
          </a:prstGeom>
          <a:noFill/>
          <a:ln w="9525">
            <a:noFill/>
          </a:ln>
        </p:spPr>
      </p:pic>
      <p:grpSp>
        <p:nvGrpSpPr>
          <p:cNvPr id="10242" name="组合 1"/>
          <p:cNvGrpSpPr/>
          <p:nvPr/>
        </p:nvGrpSpPr>
        <p:grpSpPr>
          <a:xfrm>
            <a:off x="211138" y="257175"/>
            <a:ext cx="558800" cy="463550"/>
            <a:chOff x="3448565" y="1912142"/>
            <a:chExt cx="4927433" cy="2485075"/>
          </a:xfrm>
        </p:grpSpPr>
        <p:cxnSp>
          <p:nvCxnSpPr>
            <p:cNvPr id="19" name="直接连接符 18"/>
            <p:cNvCxnSpPr/>
            <p:nvPr/>
          </p:nvCxnSpPr>
          <p:spPr>
            <a:xfrm>
              <a:off x="3773726" y="1912142"/>
              <a:ext cx="0" cy="798197"/>
            </a:xfrm>
            <a:prstGeom prst="line">
              <a:avLst/>
            </a:prstGeom>
            <a:ln w="31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3772566" y="1912142"/>
              <a:ext cx="4603432"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8364977" y="1912142"/>
              <a:ext cx="0" cy="386837"/>
            </a:xfrm>
            <a:prstGeom prst="line">
              <a:avLst/>
            </a:prstGeom>
            <a:ln w="31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V="1">
              <a:off x="8362673" y="3976971"/>
              <a:ext cx="0" cy="420246"/>
            </a:xfrm>
            <a:prstGeom prst="line">
              <a:avLst/>
            </a:prstGeom>
            <a:ln w="31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flipH="1" flipV="1">
              <a:off x="3814013" y="4397217"/>
              <a:ext cx="4549805"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flipH="1" flipV="1">
              <a:off x="3824904" y="3544871"/>
              <a:ext cx="0" cy="852346"/>
            </a:xfrm>
            <a:prstGeom prst="line">
              <a:avLst/>
            </a:prstGeom>
            <a:ln w="31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flipH="1">
              <a:off x="3448565" y="3544868"/>
              <a:ext cx="377483" cy="234209"/>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grpSp>
      <p:sp>
        <p:nvSpPr>
          <p:cNvPr id="10250" name="文本框 28"/>
          <p:cNvSpPr txBox="1"/>
          <p:nvPr/>
        </p:nvSpPr>
        <p:spPr>
          <a:xfrm>
            <a:off x="290830" y="254000"/>
            <a:ext cx="5273675" cy="523240"/>
          </a:xfrm>
          <a:prstGeom prst="rect">
            <a:avLst/>
          </a:prstGeom>
          <a:noFill/>
          <a:ln w="9525">
            <a:noFill/>
          </a:ln>
        </p:spPr>
        <p:txBody>
          <a:bodyPr anchor="t">
            <a:noAutofit/>
          </a:bodyPr>
          <a:p>
            <a:pPr>
              <a:buFont typeface="Arial" panose="020B0604020202090204" pitchFamily="34" charset="0"/>
            </a:pPr>
            <a:r>
              <a:rPr lang="en-US" altLang="zh-CN" sz="2400" b="1" dirty="0">
                <a:solidFill>
                  <a:srgbClr val="404040"/>
                </a:solidFill>
                <a:ea typeface="Calibri" panose="020F0502020204030204" pitchFamily="34" charset="0"/>
              </a:rPr>
              <a:t>LITERATURE REVIEW </a:t>
            </a:r>
            <a:endParaRPr lang="en-US" altLang="zh-CN" sz="2400" b="1" dirty="0">
              <a:solidFill>
                <a:srgbClr val="404040"/>
              </a:solidFill>
              <a:ea typeface="Calibri" panose="020F0502020204030204" pitchFamily="34" charset="0"/>
            </a:endParaRPr>
          </a:p>
        </p:txBody>
      </p:sp>
      <p:graphicFrame>
        <p:nvGraphicFramePr>
          <p:cNvPr id="4" name="Table 3"/>
          <p:cNvGraphicFramePr/>
          <p:nvPr/>
        </p:nvGraphicFramePr>
        <p:xfrm>
          <a:off x="-2540" y="1104900"/>
          <a:ext cx="12197080" cy="5953760"/>
        </p:xfrm>
        <a:graphic>
          <a:graphicData uri="http://schemas.openxmlformats.org/drawingml/2006/table">
            <a:tbl>
              <a:tblPr firstRow="1" bandRow="1">
                <a:tableStyleId>{5C22544A-7EE6-4342-B048-85BDC9FD1C3A}</a:tableStyleId>
              </a:tblPr>
              <a:tblGrid>
                <a:gridCol w="773430"/>
                <a:gridCol w="2711450"/>
                <a:gridCol w="1742440"/>
                <a:gridCol w="1742440"/>
                <a:gridCol w="1742440"/>
                <a:gridCol w="1742440"/>
                <a:gridCol w="1742440"/>
              </a:tblGrid>
              <a:tr h="723265">
                <a:tc>
                  <a:txBody>
                    <a:bodyPr/>
                    <a:p>
                      <a:pPr marL="0" indent="0" algn="ctr">
                        <a:spcBef>
                          <a:spcPct val="0"/>
                        </a:spcBef>
                        <a:spcAft>
                          <a:spcPct val="0"/>
                        </a:spcAft>
                      </a:pPr>
                      <a:r>
                        <a:rPr lang="en-US" altLang="zh-CN" sz="2000" b="1">
                          <a:solidFill>
                            <a:schemeClr val="tx1"/>
                          </a:solidFill>
                        </a:rPr>
                        <a:t>S/N</a:t>
                      </a:r>
                      <a:endParaRPr lang="en-US" altLang="zh-CN" sz="2000" b="1">
                        <a:solidFill>
                          <a:schemeClr val="tx1"/>
                        </a:solidFill>
                      </a:endParaRPr>
                    </a:p>
                  </a:txBody>
                  <a:tcPr marL="63817" marR="63817" marT="13017" marB="13017" anchor="t" anchorCtr="0"/>
                </a:tc>
                <a:tc>
                  <a:txBody>
                    <a:bodyPr/>
                    <a:p>
                      <a:pPr marL="0" indent="0" algn="ctr">
                        <a:spcBef>
                          <a:spcPct val="0"/>
                        </a:spcBef>
                        <a:spcAft>
                          <a:spcPct val="0"/>
                        </a:spcAft>
                      </a:pPr>
                      <a:r>
                        <a:rPr lang="en-US" altLang="zh-CN" sz="2000" b="1">
                          <a:solidFill>
                            <a:schemeClr val="tx1"/>
                          </a:solidFill>
                        </a:rPr>
                        <a:t>Author(s)</a:t>
                      </a:r>
                      <a:endParaRPr lang="en-US" altLang="zh-CN" sz="2000" b="1">
                        <a:solidFill>
                          <a:schemeClr val="tx1"/>
                        </a:solidFill>
                      </a:endParaRPr>
                    </a:p>
                  </a:txBody>
                  <a:tcPr marL="63817" marR="63817" marT="13017" marB="13017" anchor="t" anchorCtr="0"/>
                </a:tc>
                <a:tc>
                  <a:txBody>
                    <a:bodyPr/>
                    <a:p>
                      <a:pPr marL="0" indent="0" algn="ctr">
                        <a:spcBef>
                          <a:spcPct val="0"/>
                        </a:spcBef>
                        <a:spcAft>
                          <a:spcPct val="0"/>
                        </a:spcAft>
                      </a:pPr>
                      <a:r>
                        <a:rPr lang="en-US" altLang="zh-CN" sz="2000" b="1">
                          <a:solidFill>
                            <a:schemeClr val="tx1"/>
                          </a:solidFill>
                        </a:rPr>
                        <a:t>Title</a:t>
                      </a:r>
                      <a:endParaRPr lang="en-US" altLang="zh-CN" sz="2000" b="1">
                        <a:solidFill>
                          <a:schemeClr val="tx1"/>
                        </a:solidFill>
                      </a:endParaRPr>
                    </a:p>
                  </a:txBody>
                  <a:tcPr marL="63817" marR="63817" marT="13017" marB="13017" anchor="t" anchorCtr="0"/>
                </a:tc>
                <a:tc>
                  <a:txBody>
                    <a:bodyPr/>
                    <a:p>
                      <a:pPr marL="0" indent="0" algn="ctr">
                        <a:spcBef>
                          <a:spcPct val="0"/>
                        </a:spcBef>
                        <a:spcAft>
                          <a:spcPct val="0"/>
                        </a:spcAft>
                      </a:pPr>
                      <a:r>
                        <a:rPr lang="en-US" altLang="zh-CN" sz="2000" b="1">
                          <a:solidFill>
                            <a:schemeClr val="tx1"/>
                          </a:solidFill>
                        </a:rPr>
                        <a:t>Focus</a:t>
                      </a:r>
                      <a:endParaRPr lang="en-US" altLang="zh-CN" sz="2000" b="1">
                        <a:solidFill>
                          <a:schemeClr val="tx1"/>
                        </a:solidFill>
                      </a:endParaRPr>
                    </a:p>
                  </a:txBody>
                  <a:tcPr marL="63817" marR="63817" marT="13017" marB="13017" anchor="t" anchorCtr="0"/>
                </a:tc>
                <a:tc>
                  <a:txBody>
                    <a:bodyPr/>
                    <a:p>
                      <a:pPr marL="0" indent="0" algn="ctr">
                        <a:spcBef>
                          <a:spcPct val="0"/>
                        </a:spcBef>
                        <a:spcAft>
                          <a:spcPct val="0"/>
                        </a:spcAft>
                      </a:pPr>
                      <a:r>
                        <a:rPr lang="en-US" altLang="zh-CN" sz="2000" b="1">
                          <a:solidFill>
                            <a:schemeClr val="tx1"/>
                          </a:solidFill>
                        </a:rPr>
                        <a:t>Methodology</a:t>
                      </a:r>
                      <a:endParaRPr lang="en-US" altLang="zh-CN" sz="2000" b="1">
                        <a:solidFill>
                          <a:schemeClr val="tx1"/>
                        </a:solidFill>
                      </a:endParaRPr>
                    </a:p>
                  </a:txBody>
                  <a:tcPr marL="63817" marR="63817" marT="13017" marB="13017" anchor="t" anchorCtr="0"/>
                </a:tc>
                <a:tc>
                  <a:txBody>
                    <a:bodyPr/>
                    <a:p>
                      <a:pPr marL="0" indent="0" algn="ctr">
                        <a:spcBef>
                          <a:spcPct val="0"/>
                        </a:spcBef>
                        <a:spcAft>
                          <a:spcPct val="0"/>
                        </a:spcAft>
                      </a:pPr>
                      <a:r>
                        <a:rPr lang="en-US" altLang="zh-CN" sz="2000" b="1">
                          <a:solidFill>
                            <a:schemeClr val="tx1"/>
                          </a:solidFill>
                        </a:rPr>
                        <a:t>Results</a:t>
                      </a:r>
                      <a:endParaRPr lang="en-US" altLang="zh-CN" sz="2000" b="1">
                        <a:solidFill>
                          <a:schemeClr val="tx1"/>
                        </a:solidFill>
                      </a:endParaRPr>
                    </a:p>
                  </a:txBody>
                  <a:tcPr marL="63817" marR="63817" marT="13017" marB="13017" anchor="t" anchorCtr="0"/>
                </a:tc>
                <a:tc>
                  <a:txBody>
                    <a:bodyPr/>
                    <a:p>
                      <a:pPr marL="0" indent="0" algn="ctr">
                        <a:spcBef>
                          <a:spcPct val="0"/>
                        </a:spcBef>
                        <a:spcAft>
                          <a:spcPct val="0"/>
                        </a:spcAft>
                      </a:pPr>
                      <a:r>
                        <a:rPr lang="en-US" altLang="zh-CN" sz="2000" b="1">
                          <a:solidFill>
                            <a:schemeClr val="tx1"/>
                          </a:solidFill>
                        </a:rPr>
                        <a:t>Limitations</a:t>
                      </a:r>
                      <a:endParaRPr lang="en-US" altLang="zh-CN" sz="2000" b="1">
                        <a:solidFill>
                          <a:schemeClr val="tx1"/>
                        </a:solidFill>
                      </a:endParaRPr>
                    </a:p>
                  </a:txBody>
                  <a:tcPr marL="63817" marR="63817" marT="13017" marB="13017" anchor="t" anchorCtr="0"/>
                </a:tc>
              </a:tr>
              <a:tr h="2615565">
                <a:tc>
                  <a:txBody>
                    <a:bodyPr/>
                    <a:p>
                      <a:pPr>
                        <a:buNone/>
                      </a:pPr>
                      <a:r>
                        <a:rPr lang="en-US" sz="2400"/>
                        <a:t>5</a:t>
                      </a:r>
                      <a:endParaRPr lang="en-US" sz="2400"/>
                    </a:p>
                  </a:txBody>
                  <a:tcPr/>
                </a:tc>
                <a:tc>
                  <a:txBody>
                    <a:bodyPr/>
                    <a:p>
                      <a:pPr marL="0" indent="0">
                        <a:spcBef>
                          <a:spcPct val="0"/>
                        </a:spcBef>
                        <a:spcAft>
                          <a:spcPct val="0"/>
                        </a:spcAft>
                      </a:pPr>
                      <a:r>
                        <a:rPr lang="en-US" altLang="zh-CN" sz="2000"/>
                        <a:t>Huang et al. (2020)</a:t>
                      </a:r>
                      <a:endParaRPr lang="en-US" altLang="zh-CN" sz="2000"/>
                    </a:p>
                  </a:txBody>
                  <a:tcPr marL="63817" marR="63817" marT="13017" marB="13017" anchor="t" anchorCtr="0"/>
                </a:tc>
                <a:tc>
                  <a:txBody>
                    <a:bodyPr/>
                    <a:p>
                      <a:pPr marL="0" indent="0">
                        <a:spcBef>
                          <a:spcPct val="0"/>
                        </a:spcBef>
                        <a:spcAft>
                          <a:spcPct val="0"/>
                        </a:spcAft>
                      </a:pPr>
                      <a:r>
                        <a:rPr lang="en-US" altLang="zh-CN" sz="2000"/>
                        <a:t>"Analyzing Bottlenecks in Collaborative Development Tools"</a:t>
                      </a:r>
                      <a:endParaRPr lang="en-US" altLang="zh-CN" sz="2000"/>
                    </a:p>
                  </a:txBody>
                  <a:tcPr marL="63817" marR="63817" marT="13017" marB="13017" anchor="t" anchorCtr="0"/>
                </a:tc>
                <a:tc>
                  <a:txBody>
                    <a:bodyPr/>
                    <a:p>
                      <a:pPr marL="0" indent="0">
                        <a:spcBef>
                          <a:spcPct val="0"/>
                        </a:spcBef>
                        <a:spcAft>
                          <a:spcPct val="0"/>
                        </a:spcAft>
                      </a:pPr>
                      <a:r>
                        <a:rPr lang="en-US" altLang="zh-CN" sz="2000"/>
                        <a:t>Identifying productivity bottlenecks using GitHub and Jira</a:t>
                      </a:r>
                      <a:endParaRPr lang="en-US" altLang="zh-CN" sz="2000"/>
                    </a:p>
                  </a:txBody>
                  <a:tcPr marL="63817" marR="63817" marT="13017" marB="13017" anchor="t" anchorCtr="0"/>
                </a:tc>
                <a:tc>
                  <a:txBody>
                    <a:bodyPr/>
                    <a:p>
                      <a:pPr marL="0" indent="0">
                        <a:spcBef>
                          <a:spcPct val="0"/>
                        </a:spcBef>
                        <a:spcAft>
                          <a:spcPct val="0"/>
                        </a:spcAft>
                      </a:pPr>
                      <a:r>
                        <a:rPr lang="en-US" altLang="zh-CN" sz="2000"/>
                        <a:t>Statistical analysis of pull request counts and task resolution times.</a:t>
                      </a:r>
                      <a:endParaRPr lang="en-US" altLang="zh-CN" sz="2000"/>
                    </a:p>
                  </a:txBody>
                  <a:tcPr marL="63817" marR="63817" marT="13017" marB="13017" anchor="t" anchorCtr="0"/>
                </a:tc>
                <a:tc>
                  <a:txBody>
                    <a:bodyPr/>
                    <a:p>
                      <a:pPr marL="0" indent="0">
                        <a:spcBef>
                          <a:spcPct val="0"/>
                        </a:spcBef>
                        <a:spcAft>
                          <a:spcPct val="0"/>
                        </a:spcAft>
                      </a:pPr>
                      <a:r>
                        <a:rPr lang="en-US" altLang="zh-CN" sz="2000"/>
                        <a:t>Highlighted common bottlenecks and provided actionable insights for improving workflows.</a:t>
                      </a:r>
                      <a:endParaRPr lang="en-US" altLang="zh-CN" sz="2000"/>
                    </a:p>
                  </a:txBody>
                  <a:tcPr marL="63817" marR="63817" marT="13017" marB="13017" anchor="t" anchorCtr="0"/>
                </a:tc>
                <a:tc>
                  <a:txBody>
                    <a:bodyPr/>
                    <a:p>
                      <a:pPr marL="0" indent="0">
                        <a:spcBef>
                          <a:spcPct val="0"/>
                        </a:spcBef>
                        <a:spcAft>
                          <a:spcPct val="0"/>
                        </a:spcAft>
                      </a:pPr>
                      <a:r>
                        <a:rPr lang="en-US" altLang="zh-CN" sz="2000"/>
                        <a:t>Study limited to certain industries, such as software development; lacked machine learning integration.</a:t>
                      </a:r>
                      <a:endParaRPr lang="en-US" altLang="zh-CN" sz="2000"/>
                    </a:p>
                  </a:txBody>
                  <a:tcPr marL="63817" marR="63817" marT="13017" marB="13017" anchor="t" anchorCtr="0"/>
                </a:tc>
              </a:tr>
              <a:tr h="2614930">
                <a:tc>
                  <a:txBody>
                    <a:bodyPr/>
                    <a:p>
                      <a:pPr>
                        <a:buNone/>
                      </a:pPr>
                      <a:r>
                        <a:rPr lang="en-US" sz="2400"/>
                        <a:t>6</a:t>
                      </a:r>
                      <a:endParaRPr lang="en-US" sz="2400"/>
                    </a:p>
                  </a:txBody>
                  <a:tcPr/>
                </a:tc>
                <a:tc>
                  <a:txBody>
                    <a:bodyPr/>
                    <a:p>
                      <a:pPr marL="0" indent="0">
                        <a:spcBef>
                          <a:spcPct val="0"/>
                        </a:spcBef>
                        <a:spcAft>
                          <a:spcPct val="0"/>
                        </a:spcAft>
                      </a:pPr>
                      <a:r>
                        <a:rPr lang="en-US" altLang="zh-CN" sz="2000"/>
                        <a:t>Kim &amp; Park (2021)</a:t>
                      </a:r>
                      <a:endParaRPr lang="en-US" altLang="zh-CN" sz="2000"/>
                    </a:p>
                  </a:txBody>
                  <a:tcPr marL="63817" marR="63817" marT="13017" marB="13017" anchor="t" anchorCtr="0"/>
                </a:tc>
                <a:tc>
                  <a:txBody>
                    <a:bodyPr/>
                    <a:p>
                      <a:pPr marL="0" indent="0">
                        <a:spcBef>
                          <a:spcPct val="0"/>
                        </a:spcBef>
                        <a:spcAft>
                          <a:spcPct val="0"/>
                        </a:spcAft>
                      </a:pPr>
                      <a:r>
                        <a:rPr lang="en-US" altLang="zh-CN" sz="2000"/>
                        <a:t>"Integrating COCOMO with Modern Predictive Models for Productivity"</a:t>
                      </a:r>
                      <a:endParaRPr lang="en-US" altLang="zh-CN" sz="2000"/>
                    </a:p>
                  </a:txBody>
                  <a:tcPr marL="63817" marR="63817" marT="13017" marB="13017" anchor="t" anchorCtr="0"/>
                </a:tc>
                <a:tc>
                  <a:txBody>
                    <a:bodyPr/>
                    <a:p>
                      <a:pPr marL="0" indent="0">
                        <a:spcBef>
                          <a:spcPct val="0"/>
                        </a:spcBef>
                        <a:spcAft>
                          <a:spcPct val="0"/>
                        </a:spcAft>
                      </a:pPr>
                      <a:r>
                        <a:rPr lang="en-US" altLang="zh-CN" sz="2000"/>
                        <a:t>Combining COCOMO with machine learning for accurate cost estimation</a:t>
                      </a:r>
                      <a:endParaRPr lang="en-US" altLang="zh-CN" sz="2000"/>
                    </a:p>
                  </a:txBody>
                  <a:tcPr marL="63817" marR="63817" marT="13017" marB="13017" anchor="t" anchorCtr="0"/>
                </a:tc>
                <a:tc>
                  <a:txBody>
                    <a:bodyPr/>
                    <a:p>
                      <a:pPr marL="0" indent="0">
                        <a:spcBef>
                          <a:spcPct val="0"/>
                        </a:spcBef>
                        <a:spcAft>
                          <a:spcPct val="0"/>
                        </a:spcAft>
                      </a:pPr>
                      <a:r>
                        <a:rPr lang="en-US" altLang="zh-CN" sz="2000"/>
                        <a:t>Used COCOMO baselines adjusted by ML models analyzing task complexity.</a:t>
                      </a:r>
                      <a:endParaRPr lang="en-US" altLang="zh-CN" sz="2000"/>
                    </a:p>
                  </a:txBody>
                  <a:tcPr marL="63817" marR="63817" marT="13017" marB="13017" anchor="t" anchorCtr="0"/>
                </a:tc>
                <a:tc>
                  <a:txBody>
                    <a:bodyPr/>
                    <a:p>
                      <a:pPr marL="0" indent="0">
                        <a:spcBef>
                          <a:spcPct val="0"/>
                        </a:spcBef>
                        <a:spcAft>
                          <a:spcPct val="0"/>
                        </a:spcAft>
                      </a:pPr>
                      <a:r>
                        <a:rPr lang="en-US" altLang="zh-CN" sz="2000"/>
                        <a:t>Improved productivity predictions by 18% over traditional COCOMO-only models.</a:t>
                      </a:r>
                      <a:endParaRPr lang="en-US" altLang="zh-CN" sz="2000"/>
                    </a:p>
                  </a:txBody>
                  <a:tcPr marL="63817" marR="63817" marT="13017" marB="13017" anchor="t" anchorCtr="0"/>
                </a:tc>
                <a:tc>
                  <a:txBody>
                    <a:bodyPr/>
                    <a:p>
                      <a:pPr marL="0" indent="0">
                        <a:spcBef>
                          <a:spcPct val="0"/>
                        </a:spcBef>
                        <a:spcAft>
                          <a:spcPct val="0"/>
                        </a:spcAft>
                      </a:pPr>
                      <a:r>
                        <a:rPr lang="en-US" altLang="zh-CN" sz="2000"/>
                        <a:t>Relied on simulated data rather than real-world project datasets.</a:t>
                      </a:r>
                      <a:endParaRPr lang="en-US" altLang="zh-CN" sz="2000"/>
                    </a:p>
                  </a:txBody>
                  <a:tcPr marL="63817" marR="63817" marT="13017" marB="13017" anchor="t" anchorCtr="0"/>
                </a:tc>
              </a:tr>
            </a:tbl>
          </a:graphicData>
        </a:graphic>
      </p:graphicFrame>
    </p:spTree>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0241" name="图片 3"/>
          <p:cNvPicPr>
            <a:picLocks noChangeAspect="1"/>
          </p:cNvPicPr>
          <p:nvPr/>
        </p:nvPicPr>
        <p:blipFill>
          <a:blip r:embed="rId1"/>
          <a:srcRect l="5727" r="16841" b="26530"/>
          <a:stretch>
            <a:fillRect/>
          </a:stretch>
        </p:blipFill>
        <p:spPr>
          <a:xfrm>
            <a:off x="0" y="0"/>
            <a:ext cx="12192000" cy="6858000"/>
          </a:xfrm>
          <a:prstGeom prst="rect">
            <a:avLst/>
          </a:prstGeom>
          <a:noFill/>
          <a:ln w="9525">
            <a:noFill/>
          </a:ln>
        </p:spPr>
      </p:pic>
      <p:grpSp>
        <p:nvGrpSpPr>
          <p:cNvPr id="10242" name="组合 1"/>
          <p:cNvGrpSpPr/>
          <p:nvPr/>
        </p:nvGrpSpPr>
        <p:grpSpPr>
          <a:xfrm>
            <a:off x="211138" y="257175"/>
            <a:ext cx="558800" cy="463550"/>
            <a:chOff x="3448565" y="1912142"/>
            <a:chExt cx="4927433" cy="2485075"/>
          </a:xfrm>
        </p:grpSpPr>
        <p:cxnSp>
          <p:nvCxnSpPr>
            <p:cNvPr id="19" name="直接连接符 18"/>
            <p:cNvCxnSpPr/>
            <p:nvPr/>
          </p:nvCxnSpPr>
          <p:spPr>
            <a:xfrm>
              <a:off x="3773726" y="1912142"/>
              <a:ext cx="0" cy="798197"/>
            </a:xfrm>
            <a:prstGeom prst="line">
              <a:avLst/>
            </a:prstGeom>
            <a:ln w="31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3772566" y="1912142"/>
              <a:ext cx="4603432"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8364977" y="1912142"/>
              <a:ext cx="0" cy="386837"/>
            </a:xfrm>
            <a:prstGeom prst="line">
              <a:avLst/>
            </a:prstGeom>
            <a:ln w="31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V="1">
              <a:off x="8362673" y="3976971"/>
              <a:ext cx="0" cy="420246"/>
            </a:xfrm>
            <a:prstGeom prst="line">
              <a:avLst/>
            </a:prstGeom>
            <a:ln w="31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flipH="1" flipV="1">
              <a:off x="3814013" y="4397217"/>
              <a:ext cx="4549805"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flipH="1" flipV="1">
              <a:off x="3824904" y="3544871"/>
              <a:ext cx="0" cy="852346"/>
            </a:xfrm>
            <a:prstGeom prst="line">
              <a:avLst/>
            </a:prstGeom>
            <a:ln w="31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flipH="1">
              <a:off x="3448565" y="3544868"/>
              <a:ext cx="377483" cy="234209"/>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grpSp>
      <p:sp>
        <p:nvSpPr>
          <p:cNvPr id="10250" name="文本框 28"/>
          <p:cNvSpPr txBox="1"/>
          <p:nvPr/>
        </p:nvSpPr>
        <p:spPr>
          <a:xfrm>
            <a:off x="290830" y="254000"/>
            <a:ext cx="6276340" cy="523240"/>
          </a:xfrm>
          <a:prstGeom prst="rect">
            <a:avLst/>
          </a:prstGeom>
          <a:noFill/>
          <a:ln w="9525">
            <a:noFill/>
          </a:ln>
        </p:spPr>
        <p:txBody>
          <a:bodyPr anchor="t">
            <a:noAutofit/>
          </a:bodyPr>
          <a:p>
            <a:pPr>
              <a:buFont typeface="Arial" panose="020B0604020202090204" pitchFamily="34" charset="0"/>
            </a:pPr>
            <a:r>
              <a:rPr lang="en-US" altLang="zh-CN" sz="2400" b="1" dirty="0">
                <a:solidFill>
                  <a:srgbClr val="404040"/>
                </a:solidFill>
                <a:ea typeface="Calibri" panose="020F0502020204030204" pitchFamily="34" charset="0"/>
              </a:rPr>
              <a:t>METHODOLOGY</a:t>
            </a:r>
            <a:endParaRPr lang="en-US" altLang="zh-CN" sz="2400" b="1" dirty="0">
              <a:solidFill>
                <a:srgbClr val="404040"/>
              </a:solidFill>
              <a:ea typeface="Calibri" panose="020F0502020204030204" pitchFamily="34" charset="0"/>
            </a:endParaRPr>
          </a:p>
        </p:txBody>
      </p:sp>
      <p:sp>
        <p:nvSpPr>
          <p:cNvPr id="4" name="Text Box 3"/>
          <p:cNvSpPr txBox="1"/>
          <p:nvPr/>
        </p:nvSpPr>
        <p:spPr>
          <a:xfrm>
            <a:off x="1437640" y="6368415"/>
            <a:ext cx="9316720" cy="368300"/>
          </a:xfrm>
          <a:prstGeom prst="rect">
            <a:avLst/>
          </a:prstGeom>
          <a:noFill/>
        </p:spPr>
        <p:txBody>
          <a:bodyPr wrap="square" rtlCol="0">
            <a:spAutoFit/>
          </a:bodyPr>
          <a:p>
            <a:pPr algn="ctr"/>
            <a:r>
              <a:rPr lang="en-US"/>
              <a:t>USE CASE DIAGRAM</a:t>
            </a:r>
            <a:endParaRPr lang="en-US"/>
          </a:p>
        </p:txBody>
      </p:sp>
      <p:pic>
        <p:nvPicPr>
          <p:cNvPr id="3" name="Picture 2" descr="Screenshot 2025-06-04 at 15.15.31"/>
          <p:cNvPicPr>
            <a:picLocks noChangeAspect="1"/>
          </p:cNvPicPr>
          <p:nvPr/>
        </p:nvPicPr>
        <p:blipFill>
          <a:blip r:embed="rId2"/>
          <a:stretch>
            <a:fillRect/>
          </a:stretch>
        </p:blipFill>
        <p:spPr>
          <a:xfrm>
            <a:off x="0" y="1025525"/>
            <a:ext cx="12192000" cy="5375910"/>
          </a:xfrm>
          <a:prstGeom prst="rect">
            <a:avLst/>
          </a:prstGeom>
        </p:spPr>
      </p:pic>
    </p:spTree>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0241" name="图片 3"/>
          <p:cNvPicPr>
            <a:picLocks noChangeAspect="1"/>
          </p:cNvPicPr>
          <p:nvPr/>
        </p:nvPicPr>
        <p:blipFill>
          <a:blip r:embed="rId1"/>
          <a:srcRect l="5727" r="16841" b="26530"/>
          <a:stretch>
            <a:fillRect/>
          </a:stretch>
        </p:blipFill>
        <p:spPr>
          <a:xfrm>
            <a:off x="0" y="0"/>
            <a:ext cx="12192000" cy="6858000"/>
          </a:xfrm>
          <a:prstGeom prst="rect">
            <a:avLst/>
          </a:prstGeom>
          <a:noFill/>
          <a:ln w="9525">
            <a:noFill/>
          </a:ln>
        </p:spPr>
      </p:pic>
      <p:grpSp>
        <p:nvGrpSpPr>
          <p:cNvPr id="10242" name="组合 1"/>
          <p:cNvGrpSpPr/>
          <p:nvPr/>
        </p:nvGrpSpPr>
        <p:grpSpPr>
          <a:xfrm>
            <a:off x="211138" y="257175"/>
            <a:ext cx="558800" cy="463550"/>
            <a:chOff x="3448565" y="1912142"/>
            <a:chExt cx="4927433" cy="2485075"/>
          </a:xfrm>
        </p:grpSpPr>
        <p:cxnSp>
          <p:nvCxnSpPr>
            <p:cNvPr id="19" name="直接连接符 18"/>
            <p:cNvCxnSpPr/>
            <p:nvPr/>
          </p:nvCxnSpPr>
          <p:spPr>
            <a:xfrm>
              <a:off x="3773726" y="1912142"/>
              <a:ext cx="0" cy="798197"/>
            </a:xfrm>
            <a:prstGeom prst="line">
              <a:avLst/>
            </a:prstGeom>
            <a:ln w="31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3772566" y="1912142"/>
              <a:ext cx="4603432"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8364977" y="1912142"/>
              <a:ext cx="0" cy="386837"/>
            </a:xfrm>
            <a:prstGeom prst="line">
              <a:avLst/>
            </a:prstGeom>
            <a:ln w="31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V="1">
              <a:off x="8362673" y="3976971"/>
              <a:ext cx="0" cy="420246"/>
            </a:xfrm>
            <a:prstGeom prst="line">
              <a:avLst/>
            </a:prstGeom>
            <a:ln w="31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flipH="1" flipV="1">
              <a:off x="3814013" y="4397217"/>
              <a:ext cx="4549805"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flipH="1" flipV="1">
              <a:off x="3824904" y="3544871"/>
              <a:ext cx="0" cy="852346"/>
            </a:xfrm>
            <a:prstGeom prst="line">
              <a:avLst/>
            </a:prstGeom>
            <a:ln w="31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flipH="1">
              <a:off x="3448565" y="3544868"/>
              <a:ext cx="377483" cy="234209"/>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grpSp>
      <p:sp>
        <p:nvSpPr>
          <p:cNvPr id="10250" name="文本框 28"/>
          <p:cNvSpPr txBox="1"/>
          <p:nvPr/>
        </p:nvSpPr>
        <p:spPr>
          <a:xfrm>
            <a:off x="290830" y="254000"/>
            <a:ext cx="6276340" cy="523240"/>
          </a:xfrm>
          <a:prstGeom prst="rect">
            <a:avLst/>
          </a:prstGeom>
          <a:noFill/>
          <a:ln w="9525">
            <a:noFill/>
          </a:ln>
        </p:spPr>
        <p:txBody>
          <a:bodyPr anchor="t">
            <a:noAutofit/>
          </a:bodyPr>
          <a:p>
            <a:pPr>
              <a:buFont typeface="Arial" panose="020B0604020202090204" pitchFamily="34" charset="0"/>
            </a:pPr>
            <a:r>
              <a:rPr lang="en-US" altLang="zh-CN" sz="2400" b="1" dirty="0">
                <a:solidFill>
                  <a:srgbClr val="404040"/>
                </a:solidFill>
                <a:ea typeface="Calibri" panose="020F0502020204030204" pitchFamily="34" charset="0"/>
              </a:rPr>
              <a:t>PROPOSED METHODOLOGY Cont’d</a:t>
            </a:r>
            <a:endParaRPr lang="en-US" altLang="zh-CN" sz="2400" b="1" dirty="0">
              <a:solidFill>
                <a:srgbClr val="404040"/>
              </a:solidFill>
              <a:ea typeface="Calibri" panose="020F0502020204030204" pitchFamily="34" charset="0"/>
            </a:endParaRPr>
          </a:p>
        </p:txBody>
      </p:sp>
      <p:sp>
        <p:nvSpPr>
          <p:cNvPr id="4" name="Text Box 3"/>
          <p:cNvSpPr txBox="1"/>
          <p:nvPr/>
        </p:nvSpPr>
        <p:spPr>
          <a:xfrm>
            <a:off x="1437640" y="6368415"/>
            <a:ext cx="9316720" cy="368300"/>
          </a:xfrm>
          <a:prstGeom prst="rect">
            <a:avLst/>
          </a:prstGeom>
          <a:noFill/>
        </p:spPr>
        <p:txBody>
          <a:bodyPr wrap="square" rtlCol="0">
            <a:spAutoFit/>
          </a:bodyPr>
          <a:p>
            <a:pPr algn="ctr"/>
            <a:r>
              <a:rPr lang="en-US"/>
              <a:t>CLASS DIAGRAM</a:t>
            </a:r>
            <a:endParaRPr lang="en-US"/>
          </a:p>
        </p:txBody>
      </p:sp>
      <p:pic>
        <p:nvPicPr>
          <p:cNvPr id="3" name="Picture 2" descr="Screenshot 2025-01-25 at 16.48.51"/>
          <p:cNvPicPr>
            <a:picLocks noChangeAspect="1"/>
          </p:cNvPicPr>
          <p:nvPr/>
        </p:nvPicPr>
        <p:blipFill>
          <a:blip r:embed="rId2"/>
          <a:stretch>
            <a:fillRect/>
          </a:stretch>
        </p:blipFill>
        <p:spPr>
          <a:xfrm>
            <a:off x="0" y="-635"/>
            <a:ext cx="12192000" cy="6403975"/>
          </a:xfrm>
          <a:prstGeom prst="rect">
            <a:avLst/>
          </a:prstGeom>
        </p:spPr>
      </p:pic>
    </p:spTree>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0241" name="图片 3"/>
          <p:cNvPicPr>
            <a:picLocks noChangeAspect="1"/>
          </p:cNvPicPr>
          <p:nvPr/>
        </p:nvPicPr>
        <p:blipFill>
          <a:blip r:embed="rId1"/>
          <a:srcRect l="5727" r="16841" b="26530"/>
          <a:stretch>
            <a:fillRect/>
          </a:stretch>
        </p:blipFill>
        <p:spPr>
          <a:xfrm>
            <a:off x="0" y="0"/>
            <a:ext cx="12192000" cy="6858000"/>
          </a:xfrm>
          <a:prstGeom prst="rect">
            <a:avLst/>
          </a:prstGeom>
          <a:noFill/>
          <a:ln w="9525">
            <a:noFill/>
          </a:ln>
        </p:spPr>
      </p:pic>
      <p:grpSp>
        <p:nvGrpSpPr>
          <p:cNvPr id="10242" name="组合 1"/>
          <p:cNvGrpSpPr/>
          <p:nvPr/>
        </p:nvGrpSpPr>
        <p:grpSpPr>
          <a:xfrm>
            <a:off x="211138" y="257175"/>
            <a:ext cx="558800" cy="463550"/>
            <a:chOff x="3448565" y="1912142"/>
            <a:chExt cx="4927433" cy="2485075"/>
          </a:xfrm>
        </p:grpSpPr>
        <p:cxnSp>
          <p:nvCxnSpPr>
            <p:cNvPr id="19" name="直接连接符 18"/>
            <p:cNvCxnSpPr/>
            <p:nvPr/>
          </p:nvCxnSpPr>
          <p:spPr>
            <a:xfrm>
              <a:off x="3773726" y="1912142"/>
              <a:ext cx="0" cy="798197"/>
            </a:xfrm>
            <a:prstGeom prst="line">
              <a:avLst/>
            </a:prstGeom>
            <a:ln w="31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3772566" y="1912142"/>
              <a:ext cx="4603432"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8364977" y="1912142"/>
              <a:ext cx="0" cy="386837"/>
            </a:xfrm>
            <a:prstGeom prst="line">
              <a:avLst/>
            </a:prstGeom>
            <a:ln w="31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V="1">
              <a:off x="8362673" y="3976971"/>
              <a:ext cx="0" cy="420246"/>
            </a:xfrm>
            <a:prstGeom prst="line">
              <a:avLst/>
            </a:prstGeom>
            <a:ln w="31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flipH="1" flipV="1">
              <a:off x="3814013" y="4397217"/>
              <a:ext cx="4549805"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flipH="1" flipV="1">
              <a:off x="3824904" y="3544871"/>
              <a:ext cx="0" cy="852346"/>
            </a:xfrm>
            <a:prstGeom prst="line">
              <a:avLst/>
            </a:prstGeom>
            <a:ln w="31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flipH="1">
              <a:off x="3448565" y="3544868"/>
              <a:ext cx="377483" cy="234209"/>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grpSp>
      <p:sp>
        <p:nvSpPr>
          <p:cNvPr id="10250" name="文本框 28"/>
          <p:cNvSpPr txBox="1"/>
          <p:nvPr/>
        </p:nvSpPr>
        <p:spPr>
          <a:xfrm>
            <a:off x="290830" y="254000"/>
            <a:ext cx="6276340" cy="523240"/>
          </a:xfrm>
          <a:prstGeom prst="rect">
            <a:avLst/>
          </a:prstGeom>
          <a:noFill/>
          <a:ln w="9525">
            <a:noFill/>
          </a:ln>
        </p:spPr>
        <p:txBody>
          <a:bodyPr anchor="t">
            <a:noAutofit/>
          </a:bodyPr>
          <a:p>
            <a:pPr>
              <a:buFont typeface="Arial" panose="020B0604020202090204" pitchFamily="34" charset="0"/>
            </a:pPr>
            <a:r>
              <a:rPr lang="en-US" altLang="zh-CN" sz="2400" b="1" dirty="0">
                <a:solidFill>
                  <a:srgbClr val="404040"/>
                </a:solidFill>
                <a:ea typeface="Calibri" panose="020F0502020204030204" pitchFamily="34" charset="0"/>
              </a:rPr>
              <a:t>METHODOLOGY Cont’d</a:t>
            </a:r>
            <a:endParaRPr lang="en-US" altLang="zh-CN" sz="2400" b="1" dirty="0">
              <a:solidFill>
                <a:srgbClr val="404040"/>
              </a:solidFill>
              <a:ea typeface="Calibri" panose="020F0502020204030204" pitchFamily="34" charset="0"/>
            </a:endParaRPr>
          </a:p>
        </p:txBody>
      </p:sp>
      <p:sp>
        <p:nvSpPr>
          <p:cNvPr id="4" name="Text Box 3"/>
          <p:cNvSpPr txBox="1"/>
          <p:nvPr/>
        </p:nvSpPr>
        <p:spPr>
          <a:xfrm>
            <a:off x="1437640" y="6368415"/>
            <a:ext cx="9316720" cy="368300"/>
          </a:xfrm>
          <a:prstGeom prst="rect">
            <a:avLst/>
          </a:prstGeom>
          <a:noFill/>
        </p:spPr>
        <p:txBody>
          <a:bodyPr wrap="square" rtlCol="0">
            <a:spAutoFit/>
          </a:bodyPr>
          <a:p>
            <a:pPr algn="ctr"/>
            <a:r>
              <a:rPr lang="en-US"/>
              <a:t>FLOW DIAGRAM</a:t>
            </a:r>
            <a:endParaRPr lang="en-US"/>
          </a:p>
        </p:txBody>
      </p:sp>
      <p:pic>
        <p:nvPicPr>
          <p:cNvPr id="2" name="Picture 1" descr="Screenshot 2025-01-25 at 13.44.21"/>
          <p:cNvPicPr>
            <a:picLocks noChangeAspect="1"/>
          </p:cNvPicPr>
          <p:nvPr/>
        </p:nvPicPr>
        <p:blipFill>
          <a:blip r:embed="rId2"/>
          <a:stretch>
            <a:fillRect/>
          </a:stretch>
        </p:blipFill>
        <p:spPr>
          <a:xfrm>
            <a:off x="0" y="718185"/>
            <a:ext cx="12192000" cy="5420995"/>
          </a:xfrm>
          <a:prstGeom prst="rect">
            <a:avLst/>
          </a:prstGeom>
        </p:spPr>
      </p:pic>
    </p:spTree>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0241" name="图片 3"/>
          <p:cNvPicPr>
            <a:picLocks noChangeAspect="1"/>
          </p:cNvPicPr>
          <p:nvPr/>
        </p:nvPicPr>
        <p:blipFill>
          <a:blip r:embed="rId1"/>
          <a:srcRect l="5727" r="16841" b="26530"/>
          <a:stretch>
            <a:fillRect/>
          </a:stretch>
        </p:blipFill>
        <p:spPr>
          <a:xfrm>
            <a:off x="0" y="0"/>
            <a:ext cx="12192000" cy="6858000"/>
          </a:xfrm>
          <a:prstGeom prst="rect">
            <a:avLst/>
          </a:prstGeom>
          <a:noFill/>
          <a:ln w="9525">
            <a:noFill/>
          </a:ln>
        </p:spPr>
      </p:pic>
      <p:grpSp>
        <p:nvGrpSpPr>
          <p:cNvPr id="10242" name="组合 1"/>
          <p:cNvGrpSpPr/>
          <p:nvPr/>
        </p:nvGrpSpPr>
        <p:grpSpPr>
          <a:xfrm>
            <a:off x="211138" y="257175"/>
            <a:ext cx="558800" cy="463550"/>
            <a:chOff x="3448565" y="1912142"/>
            <a:chExt cx="4927433" cy="2485075"/>
          </a:xfrm>
        </p:grpSpPr>
        <p:cxnSp>
          <p:nvCxnSpPr>
            <p:cNvPr id="19" name="直接连接符 18"/>
            <p:cNvCxnSpPr/>
            <p:nvPr/>
          </p:nvCxnSpPr>
          <p:spPr>
            <a:xfrm>
              <a:off x="3773726" y="1912142"/>
              <a:ext cx="0" cy="798197"/>
            </a:xfrm>
            <a:prstGeom prst="line">
              <a:avLst/>
            </a:prstGeom>
            <a:ln w="31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3772566" y="1912142"/>
              <a:ext cx="4603432"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8364977" y="1912142"/>
              <a:ext cx="0" cy="386837"/>
            </a:xfrm>
            <a:prstGeom prst="line">
              <a:avLst/>
            </a:prstGeom>
            <a:ln w="31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V="1">
              <a:off x="8362673" y="3976971"/>
              <a:ext cx="0" cy="420246"/>
            </a:xfrm>
            <a:prstGeom prst="line">
              <a:avLst/>
            </a:prstGeom>
            <a:ln w="31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flipH="1" flipV="1">
              <a:off x="3814013" y="4397217"/>
              <a:ext cx="4549805"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flipH="1" flipV="1">
              <a:off x="3824904" y="3544871"/>
              <a:ext cx="0" cy="852346"/>
            </a:xfrm>
            <a:prstGeom prst="line">
              <a:avLst/>
            </a:prstGeom>
            <a:ln w="31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flipH="1">
              <a:off x="3448565" y="3544868"/>
              <a:ext cx="377483" cy="234209"/>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grpSp>
      <p:sp>
        <p:nvSpPr>
          <p:cNvPr id="10250" name="文本框 28"/>
          <p:cNvSpPr txBox="1"/>
          <p:nvPr/>
        </p:nvSpPr>
        <p:spPr>
          <a:xfrm>
            <a:off x="290830" y="254000"/>
            <a:ext cx="5772785" cy="523240"/>
          </a:xfrm>
          <a:prstGeom prst="rect">
            <a:avLst/>
          </a:prstGeom>
          <a:noFill/>
          <a:ln w="9525">
            <a:noFill/>
          </a:ln>
        </p:spPr>
        <p:txBody>
          <a:bodyPr anchor="t">
            <a:noAutofit/>
          </a:bodyPr>
          <a:p>
            <a:pPr>
              <a:buFont typeface="Arial" panose="020B0604020202090204" pitchFamily="34" charset="0"/>
            </a:pPr>
            <a:r>
              <a:rPr lang="en-US" altLang="zh-CN" sz="2400" b="1" dirty="0">
                <a:solidFill>
                  <a:srgbClr val="404040"/>
                </a:solidFill>
                <a:ea typeface="Calibri" panose="020F0502020204030204" pitchFamily="34" charset="0"/>
              </a:rPr>
              <a:t>METHODOLOGYCont’d</a:t>
            </a:r>
            <a:endParaRPr lang="en-US" altLang="zh-CN" sz="2400" b="1" dirty="0">
              <a:solidFill>
                <a:srgbClr val="404040"/>
              </a:solidFill>
              <a:ea typeface="Calibri" panose="020F0502020204030204" pitchFamily="34" charset="0"/>
            </a:endParaRPr>
          </a:p>
        </p:txBody>
      </p:sp>
      <p:sp>
        <p:nvSpPr>
          <p:cNvPr id="12" name="矩形 11"/>
          <p:cNvSpPr/>
          <p:nvPr/>
        </p:nvSpPr>
        <p:spPr>
          <a:xfrm>
            <a:off x="828675" y="1729105"/>
            <a:ext cx="10515600" cy="454025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0255" name="矩形 8"/>
          <p:cNvSpPr/>
          <p:nvPr/>
        </p:nvSpPr>
        <p:spPr>
          <a:xfrm>
            <a:off x="982980" y="2072005"/>
            <a:ext cx="9645650" cy="2214880"/>
          </a:xfrm>
          <a:prstGeom prst="rect">
            <a:avLst/>
          </a:prstGeom>
          <a:noFill/>
          <a:ln w="9525">
            <a:noFill/>
          </a:ln>
        </p:spPr>
        <p:txBody>
          <a:bodyPr wrap="square" lIns="0" tIns="0" rIns="0" bIns="0" anchor="t">
            <a:spAutoFit/>
          </a:bodyPr>
          <a:p>
            <a:pPr algn="ctr" defTabSz="1216025">
              <a:lnSpc>
                <a:spcPct val="120000"/>
              </a:lnSpc>
              <a:spcBef>
                <a:spcPct val="20000"/>
              </a:spcBef>
              <a:buFont typeface="Arial" panose="020B0604020202090204" pitchFamily="34" charset="0"/>
            </a:pPr>
            <a:r>
              <a:rPr lang="en-US" altLang="en-US" sz="2400" dirty="0">
                <a:solidFill>
                  <a:srgbClr val="404040"/>
                </a:solidFill>
                <a:ea typeface="Calibri" panose="020F0502020204030204" pitchFamily="34" charset="0"/>
                <a:sym typeface="Arial" panose="020B0604020202090204" pitchFamily="34" charset="0"/>
              </a:rPr>
              <a:t>Data was gathered from collaborative tools like GitHub (commits, pull requests, code reviews), Jira (issues resolved, time to resolve), and Slack (communication patterns, messages sent, active days). The data also included team velocity, the speed of the team based on Agile metrics</a:t>
            </a:r>
            <a:endParaRPr lang="en-US" altLang="en-US" sz="2400" dirty="0">
              <a:solidFill>
                <a:srgbClr val="404040"/>
              </a:solidFill>
              <a:ea typeface="Calibri" panose="020F0502020204030204" pitchFamily="34" charset="0"/>
              <a:sym typeface="Arial" panose="020B0604020202090204" pitchFamily="34" charset="0"/>
            </a:endParaRPr>
          </a:p>
        </p:txBody>
      </p:sp>
      <p:sp>
        <p:nvSpPr>
          <p:cNvPr id="4" name="Text Box 3"/>
          <p:cNvSpPr txBox="1"/>
          <p:nvPr/>
        </p:nvSpPr>
        <p:spPr>
          <a:xfrm>
            <a:off x="1409700" y="4504055"/>
            <a:ext cx="9373235" cy="829945"/>
          </a:xfrm>
          <a:prstGeom prst="rect">
            <a:avLst/>
          </a:prstGeom>
          <a:solidFill>
            <a:schemeClr val="accent3"/>
          </a:solidFill>
          <a:ln>
            <a:noFill/>
          </a:ln>
        </p:spPr>
        <p:txBody>
          <a:bodyPr wrap="square" rtlCol="0">
            <a:spAutoFit/>
          </a:bodyPr>
          <a:p>
            <a:pPr algn="ctr"/>
            <a:r>
              <a:rPr lang="en-US" altLang="en-US" sz="2400"/>
              <a:t>Then the collected data was </a:t>
            </a:r>
            <a:r>
              <a:rPr lang="en-US" altLang="en-US" sz="2400">
                <a:sym typeface="+mn-ea"/>
              </a:rPr>
              <a:t>clean and preprocessed </a:t>
            </a:r>
            <a:r>
              <a:rPr lang="en-US" altLang="en-US" sz="2400"/>
              <a:t>to ensure consistency, remove outliers, and handle missing values.</a:t>
            </a:r>
            <a:endParaRPr lang="en-US" altLang="en-US" sz="2400"/>
          </a:p>
        </p:txBody>
      </p:sp>
    </p:spTree>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0241" name="图片 3"/>
          <p:cNvPicPr>
            <a:picLocks noChangeAspect="1"/>
          </p:cNvPicPr>
          <p:nvPr/>
        </p:nvPicPr>
        <p:blipFill>
          <a:blip r:embed="rId1"/>
          <a:srcRect l="5727" r="16841" b="26530"/>
          <a:stretch>
            <a:fillRect/>
          </a:stretch>
        </p:blipFill>
        <p:spPr>
          <a:xfrm>
            <a:off x="0" y="0"/>
            <a:ext cx="12192000" cy="6858000"/>
          </a:xfrm>
          <a:prstGeom prst="rect">
            <a:avLst/>
          </a:prstGeom>
          <a:noFill/>
          <a:ln w="9525">
            <a:noFill/>
          </a:ln>
        </p:spPr>
      </p:pic>
      <p:grpSp>
        <p:nvGrpSpPr>
          <p:cNvPr id="10242" name="组合 1"/>
          <p:cNvGrpSpPr/>
          <p:nvPr/>
        </p:nvGrpSpPr>
        <p:grpSpPr>
          <a:xfrm>
            <a:off x="211138" y="257175"/>
            <a:ext cx="558800" cy="463550"/>
            <a:chOff x="3448565" y="1912142"/>
            <a:chExt cx="4927433" cy="2485075"/>
          </a:xfrm>
        </p:grpSpPr>
        <p:cxnSp>
          <p:nvCxnSpPr>
            <p:cNvPr id="19" name="直接连接符 18"/>
            <p:cNvCxnSpPr/>
            <p:nvPr/>
          </p:nvCxnSpPr>
          <p:spPr>
            <a:xfrm>
              <a:off x="3773726" y="1912142"/>
              <a:ext cx="0" cy="798197"/>
            </a:xfrm>
            <a:prstGeom prst="line">
              <a:avLst/>
            </a:prstGeom>
            <a:ln w="31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3772566" y="1912142"/>
              <a:ext cx="4603432"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8364977" y="1912142"/>
              <a:ext cx="0" cy="386837"/>
            </a:xfrm>
            <a:prstGeom prst="line">
              <a:avLst/>
            </a:prstGeom>
            <a:ln w="31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V="1">
              <a:off x="8362673" y="3976971"/>
              <a:ext cx="0" cy="420246"/>
            </a:xfrm>
            <a:prstGeom prst="line">
              <a:avLst/>
            </a:prstGeom>
            <a:ln w="31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flipH="1" flipV="1">
              <a:off x="3814013" y="4397217"/>
              <a:ext cx="4549805"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flipH="1" flipV="1">
              <a:off x="3824904" y="3544871"/>
              <a:ext cx="0" cy="852346"/>
            </a:xfrm>
            <a:prstGeom prst="line">
              <a:avLst/>
            </a:prstGeom>
            <a:ln w="31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flipH="1">
              <a:off x="3448565" y="3544868"/>
              <a:ext cx="377483" cy="234209"/>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grpSp>
      <p:sp>
        <p:nvSpPr>
          <p:cNvPr id="10250" name="文本框 28"/>
          <p:cNvSpPr txBox="1"/>
          <p:nvPr/>
        </p:nvSpPr>
        <p:spPr>
          <a:xfrm>
            <a:off x="290830" y="254000"/>
            <a:ext cx="5772785" cy="523240"/>
          </a:xfrm>
          <a:prstGeom prst="rect">
            <a:avLst/>
          </a:prstGeom>
          <a:noFill/>
          <a:ln w="9525">
            <a:noFill/>
          </a:ln>
        </p:spPr>
        <p:txBody>
          <a:bodyPr anchor="t">
            <a:noAutofit/>
          </a:bodyPr>
          <a:p>
            <a:pPr>
              <a:buFont typeface="Arial" panose="020B0604020202090204" pitchFamily="34" charset="0"/>
            </a:pPr>
            <a:r>
              <a:rPr lang="en-US" altLang="zh-CN" sz="2400" b="1" dirty="0">
                <a:solidFill>
                  <a:srgbClr val="404040"/>
                </a:solidFill>
                <a:ea typeface="Calibri" panose="020F0502020204030204" pitchFamily="34" charset="0"/>
              </a:rPr>
              <a:t>METHODOLOGYCont’d</a:t>
            </a:r>
            <a:endParaRPr lang="en-US" altLang="zh-CN" sz="2400" b="1" dirty="0">
              <a:solidFill>
                <a:srgbClr val="404040"/>
              </a:solidFill>
              <a:ea typeface="Calibri" panose="020F0502020204030204" pitchFamily="34" charset="0"/>
            </a:endParaRPr>
          </a:p>
        </p:txBody>
      </p:sp>
      <p:sp>
        <p:nvSpPr>
          <p:cNvPr id="12" name="矩形 11"/>
          <p:cNvSpPr/>
          <p:nvPr/>
        </p:nvSpPr>
        <p:spPr>
          <a:xfrm>
            <a:off x="828675" y="1729105"/>
            <a:ext cx="10515600" cy="454025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0255" name="矩形 8"/>
          <p:cNvSpPr/>
          <p:nvPr/>
        </p:nvSpPr>
        <p:spPr>
          <a:xfrm>
            <a:off x="982980" y="2072005"/>
            <a:ext cx="9645650" cy="738505"/>
          </a:xfrm>
          <a:prstGeom prst="rect">
            <a:avLst/>
          </a:prstGeom>
          <a:noFill/>
          <a:ln w="9525">
            <a:noFill/>
          </a:ln>
        </p:spPr>
        <p:txBody>
          <a:bodyPr wrap="square" lIns="0" tIns="0" rIns="0" bIns="0" anchor="t">
            <a:spAutoFit/>
          </a:bodyPr>
          <a:p>
            <a:pPr algn="ctr" defTabSz="1216025">
              <a:lnSpc>
                <a:spcPct val="120000"/>
              </a:lnSpc>
              <a:spcBef>
                <a:spcPct val="20000"/>
              </a:spcBef>
              <a:buFont typeface="Arial" panose="020B0604020202090204" pitchFamily="34" charset="0"/>
            </a:pPr>
            <a:r>
              <a:rPr lang="en-US" altLang="en-US" sz="2000" dirty="0">
                <a:solidFill>
                  <a:srgbClr val="404040"/>
                </a:solidFill>
                <a:ea typeface="Calibri" panose="020F0502020204030204" pitchFamily="34" charset="0"/>
                <a:sym typeface="Arial" panose="020B0604020202090204" pitchFamily="34" charset="0"/>
              </a:rPr>
              <a:t>The traditional COCOMO model was used to generate initial productivity, estimating effort in person-months based on input KLOC (‘Some Thousands’ Lines Of Code)  </a:t>
            </a:r>
            <a:endParaRPr lang="en-US" altLang="en-US" sz="2000" dirty="0">
              <a:solidFill>
                <a:srgbClr val="404040"/>
              </a:solidFill>
              <a:ea typeface="Calibri" panose="020F0502020204030204" pitchFamily="34" charset="0"/>
              <a:sym typeface="Arial" panose="020B0604020202090204" pitchFamily="34" charset="0"/>
            </a:endParaRPr>
          </a:p>
        </p:txBody>
      </p:sp>
      <p:sp>
        <p:nvSpPr>
          <p:cNvPr id="4" name="Text Box 3"/>
          <p:cNvSpPr txBox="1"/>
          <p:nvPr/>
        </p:nvSpPr>
        <p:spPr>
          <a:xfrm>
            <a:off x="1409700" y="4986020"/>
            <a:ext cx="9373235" cy="1229360"/>
          </a:xfrm>
          <a:prstGeom prst="rect">
            <a:avLst/>
          </a:prstGeom>
          <a:solidFill>
            <a:schemeClr val="accent3"/>
          </a:solidFill>
          <a:ln>
            <a:noFill/>
          </a:ln>
        </p:spPr>
        <p:txBody>
          <a:bodyPr wrap="square" rtlCol="0">
            <a:noAutofit/>
          </a:bodyPr>
          <a:p>
            <a:pPr algn="ctr"/>
            <a:r>
              <a:rPr lang="en-US" altLang="en-US" sz="2400"/>
              <a:t>The machine learning models were trained on historical data and were validated using unseen datasets to ensure accuracy and reliability</a:t>
            </a:r>
            <a:endParaRPr lang="en-US" altLang="en-US" sz="2400"/>
          </a:p>
        </p:txBody>
      </p:sp>
      <p:sp>
        <p:nvSpPr>
          <p:cNvPr id="2" name="矩形 8"/>
          <p:cNvSpPr/>
          <p:nvPr/>
        </p:nvSpPr>
        <p:spPr>
          <a:xfrm>
            <a:off x="1137285" y="3060700"/>
            <a:ext cx="9645650" cy="1675130"/>
          </a:xfrm>
          <a:prstGeom prst="rect">
            <a:avLst/>
          </a:prstGeom>
          <a:noFill/>
          <a:ln w="9525">
            <a:noFill/>
          </a:ln>
        </p:spPr>
        <p:txBody>
          <a:bodyPr wrap="square" lIns="0" tIns="0" rIns="0" bIns="0" anchor="t">
            <a:noAutofit/>
          </a:bodyPr>
          <a:p>
            <a:pPr algn="ctr" defTabSz="1216025">
              <a:lnSpc>
                <a:spcPct val="120000"/>
              </a:lnSpc>
              <a:spcBef>
                <a:spcPct val="20000"/>
              </a:spcBef>
              <a:buFont typeface="Arial" panose="020B0604020202090204" pitchFamily="34" charset="0"/>
            </a:pPr>
            <a:r>
              <a:rPr lang="en-US" altLang="en-US" sz="2400" dirty="0">
                <a:solidFill>
                  <a:srgbClr val="404040"/>
                </a:solidFill>
                <a:ea typeface="Calibri" panose="020F0502020204030204" pitchFamily="34" charset="0"/>
                <a:sym typeface="Arial" panose="020B0604020202090204" pitchFamily="34" charset="0"/>
              </a:rPr>
              <a:t> Machine learning models were applied (e.g., linear regression, random forests regressor, gradient boosting regressor) to refine the COCOMO predictions by incorporating dynamic data such as task completion times, pull requests, and communication trends and other attributes.</a:t>
            </a:r>
            <a:endParaRPr lang="en-US" altLang="en-US" sz="2400" dirty="0">
              <a:solidFill>
                <a:srgbClr val="404040"/>
              </a:solidFill>
              <a:ea typeface="Calibri" panose="020F0502020204030204" pitchFamily="34" charset="0"/>
              <a:sym typeface="Arial" panose="020B0604020202090204" pitchFamily="34" charset="0"/>
            </a:endParaRPr>
          </a:p>
        </p:txBody>
      </p:sp>
    </p:spTree>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0241" name="图片 3"/>
          <p:cNvPicPr>
            <a:picLocks noChangeAspect="1"/>
          </p:cNvPicPr>
          <p:nvPr/>
        </p:nvPicPr>
        <p:blipFill>
          <a:blip r:embed="rId1"/>
          <a:srcRect l="5727" r="16841" b="26530"/>
          <a:stretch>
            <a:fillRect/>
          </a:stretch>
        </p:blipFill>
        <p:spPr>
          <a:xfrm>
            <a:off x="0" y="0"/>
            <a:ext cx="12192000" cy="6858000"/>
          </a:xfrm>
          <a:prstGeom prst="rect">
            <a:avLst/>
          </a:prstGeom>
          <a:noFill/>
          <a:ln w="9525">
            <a:noFill/>
          </a:ln>
        </p:spPr>
      </p:pic>
      <p:grpSp>
        <p:nvGrpSpPr>
          <p:cNvPr id="10242" name="组合 1"/>
          <p:cNvGrpSpPr/>
          <p:nvPr/>
        </p:nvGrpSpPr>
        <p:grpSpPr>
          <a:xfrm>
            <a:off x="211138" y="257175"/>
            <a:ext cx="558800" cy="463550"/>
            <a:chOff x="3448565" y="1912142"/>
            <a:chExt cx="4927433" cy="2485075"/>
          </a:xfrm>
        </p:grpSpPr>
        <p:cxnSp>
          <p:nvCxnSpPr>
            <p:cNvPr id="19" name="直接连接符 18"/>
            <p:cNvCxnSpPr/>
            <p:nvPr/>
          </p:nvCxnSpPr>
          <p:spPr>
            <a:xfrm>
              <a:off x="3773726" y="1912142"/>
              <a:ext cx="0" cy="798197"/>
            </a:xfrm>
            <a:prstGeom prst="line">
              <a:avLst/>
            </a:prstGeom>
            <a:ln w="31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3772566" y="1912142"/>
              <a:ext cx="4603432"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8364977" y="1912142"/>
              <a:ext cx="0" cy="386837"/>
            </a:xfrm>
            <a:prstGeom prst="line">
              <a:avLst/>
            </a:prstGeom>
            <a:ln w="31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V="1">
              <a:off x="8362673" y="3976971"/>
              <a:ext cx="0" cy="420246"/>
            </a:xfrm>
            <a:prstGeom prst="line">
              <a:avLst/>
            </a:prstGeom>
            <a:ln w="31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flipH="1" flipV="1">
              <a:off x="3814013" y="4397217"/>
              <a:ext cx="4549805"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flipH="1" flipV="1">
              <a:off x="3824904" y="3544871"/>
              <a:ext cx="0" cy="852346"/>
            </a:xfrm>
            <a:prstGeom prst="line">
              <a:avLst/>
            </a:prstGeom>
            <a:ln w="31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flipH="1">
              <a:off x="3448565" y="3544868"/>
              <a:ext cx="377483" cy="234209"/>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grpSp>
      <p:sp>
        <p:nvSpPr>
          <p:cNvPr id="10250" name="文本框 28"/>
          <p:cNvSpPr txBox="1"/>
          <p:nvPr/>
        </p:nvSpPr>
        <p:spPr>
          <a:xfrm>
            <a:off x="290830" y="254000"/>
            <a:ext cx="5772785" cy="523240"/>
          </a:xfrm>
          <a:prstGeom prst="rect">
            <a:avLst/>
          </a:prstGeom>
          <a:noFill/>
          <a:ln w="9525">
            <a:noFill/>
          </a:ln>
        </p:spPr>
        <p:txBody>
          <a:bodyPr anchor="t">
            <a:noAutofit/>
          </a:bodyPr>
          <a:p>
            <a:pPr>
              <a:buFont typeface="Arial" panose="020B0604020202090204" pitchFamily="34" charset="0"/>
            </a:pPr>
            <a:r>
              <a:rPr lang="en-US" altLang="zh-CN" sz="2400" b="1" dirty="0">
                <a:solidFill>
                  <a:srgbClr val="404040"/>
                </a:solidFill>
                <a:ea typeface="Calibri" panose="020F0502020204030204" pitchFamily="34" charset="0"/>
              </a:rPr>
              <a:t>METHODOLOGYCont’d</a:t>
            </a:r>
            <a:endParaRPr lang="en-US" altLang="zh-CN" sz="2400" b="1" dirty="0">
              <a:solidFill>
                <a:srgbClr val="404040"/>
              </a:solidFill>
              <a:ea typeface="Calibri" panose="020F0502020204030204" pitchFamily="34" charset="0"/>
            </a:endParaRPr>
          </a:p>
        </p:txBody>
      </p:sp>
      <p:sp>
        <p:nvSpPr>
          <p:cNvPr id="12" name="矩形 11"/>
          <p:cNvSpPr/>
          <p:nvPr/>
        </p:nvSpPr>
        <p:spPr>
          <a:xfrm>
            <a:off x="828675" y="1729105"/>
            <a:ext cx="10515600" cy="454025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0255" name="矩形 8"/>
          <p:cNvSpPr/>
          <p:nvPr/>
        </p:nvSpPr>
        <p:spPr>
          <a:xfrm>
            <a:off x="982980" y="2072005"/>
            <a:ext cx="9645650" cy="1329055"/>
          </a:xfrm>
          <a:prstGeom prst="rect">
            <a:avLst/>
          </a:prstGeom>
          <a:noFill/>
          <a:ln w="9525">
            <a:noFill/>
          </a:ln>
        </p:spPr>
        <p:txBody>
          <a:bodyPr wrap="square" lIns="0" tIns="0" rIns="0" bIns="0" anchor="t">
            <a:spAutoFit/>
          </a:bodyPr>
          <a:p>
            <a:pPr algn="ctr" defTabSz="1216025">
              <a:lnSpc>
                <a:spcPct val="120000"/>
              </a:lnSpc>
              <a:spcBef>
                <a:spcPct val="20000"/>
              </a:spcBef>
              <a:buFont typeface="Arial" panose="020B0604020202090204" pitchFamily="34" charset="0"/>
            </a:pPr>
            <a:r>
              <a:rPr lang="en-US" altLang="en-US" sz="2400" dirty="0">
                <a:solidFill>
                  <a:srgbClr val="404040"/>
                </a:solidFill>
                <a:ea typeface="Calibri" panose="020F0502020204030204" pitchFamily="34" charset="0"/>
                <a:sym typeface="Arial" panose="020B0604020202090204" pitchFamily="34" charset="0"/>
              </a:rPr>
              <a:t> Metrics like Mean Absolute Error (MAE), Root Mean Squared Error (RMSE), and prediction accuracy were used  to evaluate the performance of the integrated model.</a:t>
            </a:r>
            <a:endParaRPr lang="en-US" altLang="en-US" sz="2400" dirty="0">
              <a:solidFill>
                <a:srgbClr val="404040"/>
              </a:solidFill>
              <a:ea typeface="Calibri" panose="020F0502020204030204" pitchFamily="34" charset="0"/>
              <a:sym typeface="Arial" panose="020B0604020202090204" pitchFamily="34" charset="0"/>
            </a:endParaRPr>
          </a:p>
        </p:txBody>
      </p:sp>
      <p:sp>
        <p:nvSpPr>
          <p:cNvPr id="4" name="Text Box 3"/>
          <p:cNvSpPr txBox="1"/>
          <p:nvPr/>
        </p:nvSpPr>
        <p:spPr>
          <a:xfrm>
            <a:off x="1409700" y="4844415"/>
            <a:ext cx="9373235" cy="1198880"/>
          </a:xfrm>
          <a:prstGeom prst="rect">
            <a:avLst/>
          </a:prstGeom>
          <a:solidFill>
            <a:schemeClr val="accent3"/>
          </a:solidFill>
          <a:ln>
            <a:noFill/>
          </a:ln>
        </p:spPr>
        <p:txBody>
          <a:bodyPr wrap="square" rtlCol="0">
            <a:spAutoFit/>
          </a:bodyPr>
          <a:p>
            <a:pPr algn="ctr"/>
            <a:r>
              <a:rPr lang="en-US" altLang="en-US" sz="2400"/>
              <a:t>From there actionable insights and recommendations were generated to optimize workflows and enhance productivity based on the refined predictive model.</a:t>
            </a:r>
            <a:endParaRPr lang="en-US" altLang="en-US" sz="2400"/>
          </a:p>
        </p:txBody>
      </p:sp>
      <p:sp>
        <p:nvSpPr>
          <p:cNvPr id="2" name="矩形 8"/>
          <p:cNvSpPr/>
          <p:nvPr/>
        </p:nvSpPr>
        <p:spPr>
          <a:xfrm>
            <a:off x="1137285" y="3334385"/>
            <a:ext cx="9645650" cy="1329055"/>
          </a:xfrm>
          <a:prstGeom prst="rect">
            <a:avLst/>
          </a:prstGeom>
          <a:noFill/>
          <a:ln w="9525">
            <a:noFill/>
          </a:ln>
        </p:spPr>
        <p:txBody>
          <a:bodyPr wrap="square" lIns="0" tIns="0" rIns="0" bIns="0" anchor="t">
            <a:noAutofit/>
          </a:bodyPr>
          <a:p>
            <a:pPr algn="ctr" defTabSz="1216025">
              <a:lnSpc>
                <a:spcPct val="120000"/>
              </a:lnSpc>
              <a:spcBef>
                <a:spcPct val="20000"/>
              </a:spcBef>
              <a:buFont typeface="Arial" panose="020B0604020202090204" pitchFamily="34" charset="0"/>
            </a:pPr>
            <a:r>
              <a:rPr lang="en-US" altLang="en-US" sz="2400" dirty="0">
                <a:solidFill>
                  <a:srgbClr val="404040"/>
                </a:solidFill>
                <a:ea typeface="Calibri" panose="020F0502020204030204" pitchFamily="34" charset="0"/>
                <a:sym typeface="Arial" panose="020B0604020202090204" pitchFamily="34" charset="0"/>
              </a:rPr>
              <a:t>The predictions were compared from the COCOMO-only model with the integrated model to analyze the impact of collaborative tools on productivity. Identify key drivers of performance improvements.</a:t>
            </a:r>
            <a:endParaRPr lang="en-US" altLang="en-US" sz="2400" dirty="0">
              <a:solidFill>
                <a:srgbClr val="404040"/>
              </a:solidFill>
              <a:ea typeface="Calibri" panose="020F0502020204030204" pitchFamily="34" charset="0"/>
              <a:sym typeface="Arial" panose="020B0604020202090204" pitchFamily="34" charset="0"/>
            </a:endParaRPr>
          </a:p>
        </p:txBody>
      </p:sp>
    </p:spTree>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0241" name="图片 3"/>
          <p:cNvPicPr>
            <a:picLocks noChangeAspect="1"/>
          </p:cNvPicPr>
          <p:nvPr/>
        </p:nvPicPr>
        <p:blipFill>
          <a:blip r:embed="rId1"/>
          <a:srcRect l="5727" r="16841" b="26530"/>
          <a:stretch>
            <a:fillRect/>
          </a:stretch>
        </p:blipFill>
        <p:spPr>
          <a:xfrm>
            <a:off x="0" y="0"/>
            <a:ext cx="12192000" cy="6858000"/>
          </a:xfrm>
          <a:prstGeom prst="rect">
            <a:avLst/>
          </a:prstGeom>
          <a:noFill/>
          <a:ln w="9525">
            <a:noFill/>
          </a:ln>
        </p:spPr>
      </p:pic>
      <p:grpSp>
        <p:nvGrpSpPr>
          <p:cNvPr id="10242" name="组合 1"/>
          <p:cNvGrpSpPr/>
          <p:nvPr/>
        </p:nvGrpSpPr>
        <p:grpSpPr>
          <a:xfrm>
            <a:off x="211138" y="257175"/>
            <a:ext cx="558800" cy="463550"/>
            <a:chOff x="3448565" y="1912142"/>
            <a:chExt cx="4927433" cy="2485075"/>
          </a:xfrm>
        </p:grpSpPr>
        <p:cxnSp>
          <p:nvCxnSpPr>
            <p:cNvPr id="19" name="直接连接符 18"/>
            <p:cNvCxnSpPr/>
            <p:nvPr/>
          </p:nvCxnSpPr>
          <p:spPr>
            <a:xfrm>
              <a:off x="3773726" y="1912142"/>
              <a:ext cx="0" cy="798197"/>
            </a:xfrm>
            <a:prstGeom prst="line">
              <a:avLst/>
            </a:prstGeom>
            <a:ln w="31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3772566" y="1912142"/>
              <a:ext cx="4603432"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8364977" y="1912142"/>
              <a:ext cx="0" cy="386837"/>
            </a:xfrm>
            <a:prstGeom prst="line">
              <a:avLst/>
            </a:prstGeom>
            <a:ln w="31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V="1">
              <a:off x="8362673" y="3976971"/>
              <a:ext cx="0" cy="420246"/>
            </a:xfrm>
            <a:prstGeom prst="line">
              <a:avLst/>
            </a:prstGeom>
            <a:ln w="31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flipH="1" flipV="1">
              <a:off x="3814013" y="4397217"/>
              <a:ext cx="4549805"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flipH="1" flipV="1">
              <a:off x="3824904" y="3544871"/>
              <a:ext cx="0" cy="852346"/>
            </a:xfrm>
            <a:prstGeom prst="line">
              <a:avLst/>
            </a:prstGeom>
            <a:ln w="31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flipH="1">
              <a:off x="3448565" y="3544868"/>
              <a:ext cx="377483" cy="234209"/>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grpSp>
      <p:sp>
        <p:nvSpPr>
          <p:cNvPr id="10250" name="文本框 28"/>
          <p:cNvSpPr txBox="1"/>
          <p:nvPr/>
        </p:nvSpPr>
        <p:spPr>
          <a:xfrm>
            <a:off x="290830" y="254000"/>
            <a:ext cx="5772785" cy="523240"/>
          </a:xfrm>
          <a:prstGeom prst="rect">
            <a:avLst/>
          </a:prstGeom>
          <a:noFill/>
          <a:ln w="9525">
            <a:noFill/>
          </a:ln>
        </p:spPr>
        <p:txBody>
          <a:bodyPr anchor="t">
            <a:noAutofit/>
          </a:bodyPr>
          <a:p>
            <a:pPr>
              <a:buFont typeface="Arial" panose="020B0604020202090204" pitchFamily="34" charset="0"/>
            </a:pPr>
            <a:r>
              <a:rPr lang="en-US" altLang="zh-CN" sz="2400" b="1" dirty="0">
                <a:solidFill>
                  <a:srgbClr val="404040"/>
                </a:solidFill>
                <a:ea typeface="Calibri" panose="020F0502020204030204" pitchFamily="34" charset="0"/>
              </a:rPr>
              <a:t>RESULT AND DISCUSSION</a:t>
            </a:r>
            <a:endParaRPr lang="en-US" altLang="zh-CN" sz="2400" b="1" dirty="0">
              <a:solidFill>
                <a:srgbClr val="404040"/>
              </a:solidFill>
              <a:ea typeface="Calibri" panose="020F0502020204030204" pitchFamily="34" charset="0"/>
            </a:endParaRPr>
          </a:p>
          <a:p>
            <a:pPr>
              <a:buFont typeface="Arial" panose="020B0604020202090204" pitchFamily="34" charset="0"/>
            </a:pPr>
            <a:endParaRPr lang="en-US" altLang="zh-CN" sz="2400" b="1" dirty="0">
              <a:solidFill>
                <a:srgbClr val="404040"/>
              </a:solidFill>
              <a:ea typeface="Calibri" panose="020F0502020204030204" pitchFamily="34" charset="0"/>
            </a:endParaRPr>
          </a:p>
        </p:txBody>
      </p:sp>
      <p:sp>
        <p:nvSpPr>
          <p:cNvPr id="12" name="矩形 11"/>
          <p:cNvSpPr/>
          <p:nvPr/>
        </p:nvSpPr>
        <p:spPr>
          <a:xfrm>
            <a:off x="828675" y="1729105"/>
            <a:ext cx="10515600" cy="454025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0255" name="矩形 8"/>
          <p:cNvSpPr/>
          <p:nvPr/>
        </p:nvSpPr>
        <p:spPr>
          <a:xfrm>
            <a:off x="-304800" y="1729105"/>
            <a:ext cx="8981440" cy="2592705"/>
          </a:xfrm>
          <a:prstGeom prst="rect">
            <a:avLst/>
          </a:prstGeom>
          <a:noFill/>
          <a:ln w="9525">
            <a:noFill/>
          </a:ln>
        </p:spPr>
        <p:txBody>
          <a:bodyPr wrap="square" lIns="0" tIns="0" rIns="0" bIns="0" anchor="t">
            <a:noAutofit/>
          </a:bodyPr>
          <a:p>
            <a:pPr algn="ctr" defTabSz="1216025">
              <a:lnSpc>
                <a:spcPct val="120000"/>
              </a:lnSpc>
              <a:spcBef>
                <a:spcPct val="20000"/>
              </a:spcBef>
              <a:buFont typeface="Arial" panose="020B0604020202090204" pitchFamily="34" charset="0"/>
            </a:pPr>
            <a:endParaRPr lang="en-US" altLang="en-US" sz="2400" dirty="0">
              <a:solidFill>
                <a:srgbClr val="404040"/>
              </a:solidFill>
              <a:ea typeface="Calibri" panose="020F0502020204030204" pitchFamily="34" charset="0"/>
              <a:sym typeface="Arial" panose="020B0604020202090204" pitchFamily="34" charset="0"/>
            </a:endParaRPr>
          </a:p>
        </p:txBody>
      </p:sp>
      <p:sp>
        <p:nvSpPr>
          <p:cNvPr id="2" name="矩形 8"/>
          <p:cNvSpPr/>
          <p:nvPr/>
        </p:nvSpPr>
        <p:spPr>
          <a:xfrm>
            <a:off x="1698625" y="3334385"/>
            <a:ext cx="9645650" cy="1329055"/>
          </a:xfrm>
          <a:prstGeom prst="rect">
            <a:avLst/>
          </a:prstGeom>
          <a:noFill/>
          <a:ln w="9525">
            <a:noFill/>
          </a:ln>
        </p:spPr>
        <p:txBody>
          <a:bodyPr wrap="square" lIns="0" tIns="0" rIns="0" bIns="0" anchor="t">
            <a:noAutofit/>
          </a:bodyPr>
          <a:p>
            <a:pPr algn="ctr" defTabSz="1216025">
              <a:lnSpc>
                <a:spcPct val="120000"/>
              </a:lnSpc>
              <a:spcBef>
                <a:spcPct val="20000"/>
              </a:spcBef>
              <a:buFont typeface="Arial" panose="020B0604020202090204" pitchFamily="34" charset="0"/>
            </a:pPr>
            <a:endParaRPr lang="en-US" altLang="en-US" sz="2400" dirty="0">
              <a:solidFill>
                <a:srgbClr val="404040"/>
              </a:solidFill>
              <a:ea typeface="Calibri" panose="020F0502020204030204" pitchFamily="34" charset="0"/>
              <a:sym typeface="Arial" panose="020B0604020202090204" pitchFamily="34" charset="0"/>
            </a:endParaRPr>
          </a:p>
        </p:txBody>
      </p:sp>
      <p:sp>
        <p:nvSpPr>
          <p:cNvPr id="6" name="矩形 8"/>
          <p:cNvSpPr/>
          <p:nvPr/>
        </p:nvSpPr>
        <p:spPr>
          <a:xfrm>
            <a:off x="4399280" y="3803650"/>
            <a:ext cx="8981440" cy="2592705"/>
          </a:xfrm>
          <a:prstGeom prst="rect">
            <a:avLst/>
          </a:prstGeom>
          <a:noFill/>
          <a:ln w="9525">
            <a:noFill/>
          </a:ln>
        </p:spPr>
        <p:txBody>
          <a:bodyPr wrap="square" lIns="0" tIns="0" rIns="0" bIns="0" anchor="t">
            <a:noAutofit/>
          </a:bodyPr>
          <a:p>
            <a:pPr algn="ctr" defTabSz="1216025">
              <a:lnSpc>
                <a:spcPct val="120000"/>
              </a:lnSpc>
              <a:spcBef>
                <a:spcPct val="20000"/>
              </a:spcBef>
              <a:buFont typeface="Arial" panose="020B0604020202090204" pitchFamily="34" charset="0"/>
            </a:pPr>
            <a:endParaRPr lang="en-US" altLang="en-US" sz="2000" dirty="0">
              <a:solidFill>
                <a:srgbClr val="404040"/>
              </a:solidFill>
              <a:ea typeface="Calibri" panose="020F0502020204030204" pitchFamily="34" charset="0"/>
              <a:sym typeface="Arial" panose="020B0604020202090204" pitchFamily="34" charset="0"/>
            </a:endParaRPr>
          </a:p>
        </p:txBody>
      </p:sp>
      <p:sp>
        <p:nvSpPr>
          <p:cNvPr id="3" name="Text Box 2"/>
          <p:cNvSpPr txBox="1"/>
          <p:nvPr/>
        </p:nvSpPr>
        <p:spPr>
          <a:xfrm>
            <a:off x="1276350" y="1729105"/>
            <a:ext cx="9639935" cy="368935"/>
          </a:xfrm>
          <a:prstGeom prst="rect">
            <a:avLst/>
          </a:prstGeom>
          <a:noFill/>
        </p:spPr>
        <p:txBody>
          <a:bodyPr wrap="square" rtlCol="0">
            <a:noAutofit/>
          </a:bodyPr>
          <a:p>
            <a:pPr marL="285750" indent="-285750" algn="ctr">
              <a:buFont typeface="Wingdings" panose="05000000000000000000" charset="0"/>
              <a:buChar char=""/>
            </a:pPr>
            <a:r>
              <a:rPr lang="en-US"/>
              <a:t>A Streamlit Dashboard was used to Deploy the model </a:t>
            </a:r>
            <a:endParaRPr lang="en-US" altLang="en-US"/>
          </a:p>
        </p:txBody>
      </p:sp>
      <p:pic>
        <p:nvPicPr>
          <p:cNvPr id="1516287340" name="Picture 1"/>
          <p:cNvPicPr>
            <a:picLocks noChangeAspect="1"/>
          </p:cNvPicPr>
          <p:nvPr/>
        </p:nvPicPr>
        <p:blipFill>
          <a:blip r:embed="rId2"/>
          <a:stretch>
            <a:fillRect/>
          </a:stretch>
        </p:blipFill>
        <p:spPr>
          <a:xfrm>
            <a:off x="1182053" y="2135823"/>
            <a:ext cx="4590415" cy="3990975"/>
          </a:xfrm>
          <a:prstGeom prst="rect">
            <a:avLst/>
          </a:prstGeom>
        </p:spPr>
      </p:pic>
      <p:pic>
        <p:nvPicPr>
          <p:cNvPr id="731879435" name="Picture 1"/>
          <p:cNvPicPr>
            <a:picLocks noChangeAspect="1"/>
          </p:cNvPicPr>
          <p:nvPr/>
        </p:nvPicPr>
        <p:blipFill>
          <a:blip r:embed="rId3"/>
          <a:stretch>
            <a:fillRect/>
          </a:stretch>
        </p:blipFill>
        <p:spPr>
          <a:xfrm>
            <a:off x="6063615" y="2592388"/>
            <a:ext cx="4457700" cy="3077845"/>
          </a:xfrm>
          <a:prstGeom prst="rect">
            <a:avLst/>
          </a:prstGeom>
        </p:spPr>
      </p:pic>
      <p:sp>
        <p:nvSpPr>
          <p:cNvPr id="5" name="Text Box 4"/>
          <p:cNvSpPr txBox="1"/>
          <p:nvPr/>
        </p:nvSpPr>
        <p:spPr>
          <a:xfrm>
            <a:off x="1821180" y="6396355"/>
            <a:ext cx="3312160" cy="368300"/>
          </a:xfrm>
          <a:prstGeom prst="rect">
            <a:avLst/>
          </a:prstGeom>
          <a:noFill/>
        </p:spPr>
        <p:txBody>
          <a:bodyPr wrap="square" rtlCol="0">
            <a:spAutoFit/>
          </a:bodyPr>
          <a:p>
            <a:r>
              <a:rPr lang="en-US" altLang="en-US"/>
              <a:t>Collaborative tool metrics bar</a:t>
            </a:r>
            <a:endParaRPr lang="en-US" altLang="en-US"/>
          </a:p>
        </p:txBody>
      </p:sp>
      <p:sp>
        <p:nvSpPr>
          <p:cNvPr id="7" name="Text Box 6"/>
          <p:cNvSpPr txBox="1"/>
          <p:nvPr/>
        </p:nvSpPr>
        <p:spPr>
          <a:xfrm>
            <a:off x="6063615" y="6396355"/>
            <a:ext cx="5019675" cy="368300"/>
          </a:xfrm>
          <a:prstGeom prst="rect">
            <a:avLst/>
          </a:prstGeom>
          <a:noFill/>
        </p:spPr>
        <p:txBody>
          <a:bodyPr wrap="square" rtlCol="0">
            <a:spAutoFit/>
          </a:bodyPr>
          <a:p>
            <a:r>
              <a:rPr lang="en-US" altLang="en-US"/>
              <a:t>Predicted productivity score based on metrics</a:t>
            </a:r>
            <a:endParaRPr lang="en-US" altLang="en-US"/>
          </a:p>
        </p:txBody>
      </p:sp>
    </p:spTree>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0241" name="图片 3"/>
          <p:cNvPicPr>
            <a:picLocks noChangeAspect="1"/>
          </p:cNvPicPr>
          <p:nvPr/>
        </p:nvPicPr>
        <p:blipFill>
          <a:blip r:embed="rId1"/>
          <a:srcRect l="5727" r="16841" b="26530"/>
          <a:stretch>
            <a:fillRect/>
          </a:stretch>
        </p:blipFill>
        <p:spPr>
          <a:xfrm>
            <a:off x="0" y="0"/>
            <a:ext cx="12192000" cy="6858000"/>
          </a:xfrm>
          <a:prstGeom prst="rect">
            <a:avLst/>
          </a:prstGeom>
          <a:noFill/>
          <a:ln w="9525">
            <a:noFill/>
          </a:ln>
        </p:spPr>
      </p:pic>
      <p:grpSp>
        <p:nvGrpSpPr>
          <p:cNvPr id="10242" name="组合 1"/>
          <p:cNvGrpSpPr/>
          <p:nvPr/>
        </p:nvGrpSpPr>
        <p:grpSpPr>
          <a:xfrm>
            <a:off x="211138" y="257175"/>
            <a:ext cx="558800" cy="463550"/>
            <a:chOff x="3448565" y="1912142"/>
            <a:chExt cx="4927433" cy="2485075"/>
          </a:xfrm>
        </p:grpSpPr>
        <p:cxnSp>
          <p:nvCxnSpPr>
            <p:cNvPr id="19" name="直接连接符 18"/>
            <p:cNvCxnSpPr/>
            <p:nvPr/>
          </p:nvCxnSpPr>
          <p:spPr>
            <a:xfrm>
              <a:off x="3773726" y="1912142"/>
              <a:ext cx="0" cy="798197"/>
            </a:xfrm>
            <a:prstGeom prst="line">
              <a:avLst/>
            </a:prstGeom>
            <a:ln w="31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3772566" y="1912142"/>
              <a:ext cx="4603432"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8364977" y="1912142"/>
              <a:ext cx="0" cy="386837"/>
            </a:xfrm>
            <a:prstGeom prst="line">
              <a:avLst/>
            </a:prstGeom>
            <a:ln w="31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V="1">
              <a:off x="8362673" y="3976971"/>
              <a:ext cx="0" cy="420246"/>
            </a:xfrm>
            <a:prstGeom prst="line">
              <a:avLst/>
            </a:prstGeom>
            <a:ln w="31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flipH="1" flipV="1">
              <a:off x="3814013" y="4397217"/>
              <a:ext cx="4549805"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flipH="1" flipV="1">
              <a:off x="3824904" y="3544871"/>
              <a:ext cx="0" cy="852346"/>
            </a:xfrm>
            <a:prstGeom prst="line">
              <a:avLst/>
            </a:prstGeom>
            <a:ln w="31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flipH="1">
              <a:off x="3448565" y="3544868"/>
              <a:ext cx="377483" cy="234209"/>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grpSp>
      <p:sp>
        <p:nvSpPr>
          <p:cNvPr id="10250" name="文本框 28"/>
          <p:cNvSpPr txBox="1"/>
          <p:nvPr/>
        </p:nvSpPr>
        <p:spPr>
          <a:xfrm>
            <a:off x="290830" y="254000"/>
            <a:ext cx="5772785" cy="523240"/>
          </a:xfrm>
          <a:prstGeom prst="rect">
            <a:avLst/>
          </a:prstGeom>
          <a:noFill/>
          <a:ln w="9525">
            <a:noFill/>
          </a:ln>
        </p:spPr>
        <p:txBody>
          <a:bodyPr anchor="t">
            <a:noAutofit/>
          </a:bodyPr>
          <a:p>
            <a:pPr>
              <a:buFont typeface="Arial" panose="020B0604020202090204" pitchFamily="34" charset="0"/>
            </a:pPr>
            <a:r>
              <a:rPr lang="en-US" altLang="zh-CN" sz="2400" b="1" dirty="0">
                <a:solidFill>
                  <a:srgbClr val="404040"/>
                </a:solidFill>
                <a:ea typeface="Calibri" panose="020F0502020204030204" pitchFamily="34" charset="0"/>
              </a:rPr>
              <a:t>RESULT AND DISCUSSION</a:t>
            </a:r>
            <a:endParaRPr lang="en-US" altLang="zh-CN" sz="2400" b="1" dirty="0">
              <a:solidFill>
                <a:srgbClr val="404040"/>
              </a:solidFill>
              <a:ea typeface="Calibri" panose="020F0502020204030204" pitchFamily="34" charset="0"/>
            </a:endParaRPr>
          </a:p>
          <a:p>
            <a:pPr>
              <a:buFont typeface="Arial" panose="020B0604020202090204" pitchFamily="34" charset="0"/>
            </a:pPr>
            <a:endParaRPr lang="en-US" altLang="zh-CN" sz="2400" b="1" dirty="0">
              <a:solidFill>
                <a:srgbClr val="404040"/>
              </a:solidFill>
              <a:ea typeface="Calibri" panose="020F0502020204030204" pitchFamily="34" charset="0"/>
            </a:endParaRPr>
          </a:p>
        </p:txBody>
      </p:sp>
      <p:sp>
        <p:nvSpPr>
          <p:cNvPr id="12" name="矩形 11"/>
          <p:cNvSpPr/>
          <p:nvPr/>
        </p:nvSpPr>
        <p:spPr>
          <a:xfrm>
            <a:off x="828675" y="1729105"/>
            <a:ext cx="10515600" cy="454025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 name="矩形 8"/>
          <p:cNvSpPr/>
          <p:nvPr/>
        </p:nvSpPr>
        <p:spPr>
          <a:xfrm>
            <a:off x="1698625" y="3334385"/>
            <a:ext cx="9645650" cy="1329055"/>
          </a:xfrm>
          <a:prstGeom prst="rect">
            <a:avLst/>
          </a:prstGeom>
          <a:noFill/>
          <a:ln w="9525">
            <a:noFill/>
          </a:ln>
        </p:spPr>
        <p:txBody>
          <a:bodyPr wrap="square" lIns="0" tIns="0" rIns="0" bIns="0" anchor="t">
            <a:noAutofit/>
          </a:bodyPr>
          <a:p>
            <a:pPr algn="ctr" defTabSz="1216025">
              <a:lnSpc>
                <a:spcPct val="120000"/>
              </a:lnSpc>
              <a:spcBef>
                <a:spcPct val="20000"/>
              </a:spcBef>
              <a:buFont typeface="Arial" panose="020B0604020202090204" pitchFamily="34" charset="0"/>
            </a:pPr>
            <a:endParaRPr lang="en-US" altLang="en-US" sz="2400" dirty="0">
              <a:solidFill>
                <a:srgbClr val="404040"/>
              </a:solidFill>
              <a:ea typeface="Calibri" panose="020F0502020204030204" pitchFamily="34" charset="0"/>
              <a:sym typeface="Arial" panose="020B0604020202090204" pitchFamily="34" charset="0"/>
            </a:endParaRPr>
          </a:p>
        </p:txBody>
      </p:sp>
      <p:sp>
        <p:nvSpPr>
          <p:cNvPr id="4" name="Text Box 3"/>
          <p:cNvSpPr txBox="1"/>
          <p:nvPr/>
        </p:nvSpPr>
        <p:spPr>
          <a:xfrm>
            <a:off x="2303145" y="6393180"/>
            <a:ext cx="8436610" cy="368300"/>
          </a:xfrm>
          <a:prstGeom prst="rect">
            <a:avLst/>
          </a:prstGeom>
          <a:noFill/>
        </p:spPr>
        <p:txBody>
          <a:bodyPr wrap="square" rtlCol="0">
            <a:spAutoFit/>
          </a:bodyPr>
          <a:p>
            <a:pPr algn="ctr"/>
            <a:endParaRPr lang="en-US" altLang="en-US"/>
          </a:p>
        </p:txBody>
      </p:sp>
      <p:sp>
        <p:nvSpPr>
          <p:cNvPr id="5" name="Text Box 4"/>
          <p:cNvSpPr txBox="1"/>
          <p:nvPr/>
        </p:nvSpPr>
        <p:spPr>
          <a:xfrm>
            <a:off x="828675" y="1746250"/>
            <a:ext cx="4307840" cy="4281805"/>
          </a:xfrm>
          <a:prstGeom prst="rect">
            <a:avLst/>
          </a:prstGeom>
          <a:noFill/>
        </p:spPr>
        <p:txBody>
          <a:bodyPr wrap="square" rtlCol="0">
            <a:noAutofit/>
          </a:bodyPr>
          <a:p>
            <a:pPr marL="285750" indent="-285750">
              <a:lnSpc>
                <a:spcPct val="150000"/>
              </a:lnSpc>
              <a:buFont typeface="Wingdings" panose="05000000000000000000" charset="0"/>
              <a:buChar char=""/>
            </a:pPr>
            <a:r>
              <a:rPr lang="en-US" altLang="en-US" sz="2000"/>
              <a:t>Team productivity can be predicted using data from tools like GitHub, Jira and Slack.</a:t>
            </a:r>
            <a:endParaRPr lang="en-US" altLang="en-US" sz="2000"/>
          </a:p>
          <a:p>
            <a:pPr marL="285750" indent="-285750">
              <a:lnSpc>
                <a:spcPct val="150000"/>
              </a:lnSpc>
              <a:buFont typeface="Wingdings" panose="05000000000000000000" charset="0"/>
              <a:buChar char=""/>
            </a:pPr>
            <a:r>
              <a:rPr lang="en-US" altLang="en-US" sz="2000"/>
              <a:t>The Linear Regression model gave the best results for accuracy and precision</a:t>
            </a:r>
            <a:endParaRPr lang="en-US" altLang="en-US" sz="2000"/>
          </a:p>
          <a:p>
            <a:pPr marL="285750" indent="-285750">
              <a:lnSpc>
                <a:spcPct val="150000"/>
              </a:lnSpc>
              <a:buFont typeface="Wingdings" panose="05000000000000000000" charset="0"/>
              <a:buChar char=""/>
            </a:pPr>
            <a:r>
              <a:rPr lang="en-US" altLang="en-US" sz="2000"/>
              <a:t>It was saved as a .pkl file using joblib for deployment within the Streamlit application.</a:t>
            </a:r>
            <a:endParaRPr lang="en-US" altLang="en-US" sz="2000"/>
          </a:p>
          <a:p>
            <a:pPr marL="285750" indent="-285750">
              <a:lnSpc>
                <a:spcPct val="150000"/>
              </a:lnSpc>
              <a:buFont typeface="Wingdings" panose="05000000000000000000" charset="0"/>
              <a:buChar char=""/>
            </a:pPr>
            <a:endParaRPr lang="en-US" altLang="en-US" sz="2000"/>
          </a:p>
        </p:txBody>
      </p:sp>
      <p:pic>
        <p:nvPicPr>
          <p:cNvPr id="1028006287"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4853940" y="1959610"/>
            <a:ext cx="6490335" cy="2703830"/>
          </a:xfrm>
          <a:prstGeom prst="rect">
            <a:avLst/>
          </a:prstGeom>
          <a:noFill/>
          <a:ln>
            <a:noFill/>
          </a:ln>
        </p:spPr>
      </p:pic>
    </p:spTree>
  </p:cSld>
  <p:clrMapOvr>
    <a:masterClrMapping/>
  </p:clrMapOvr>
  <p:transition spd="slow">
    <p:wip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0241" name="图片 3"/>
          <p:cNvPicPr>
            <a:picLocks noChangeAspect="1"/>
          </p:cNvPicPr>
          <p:nvPr/>
        </p:nvPicPr>
        <p:blipFill>
          <a:blip r:embed="rId1"/>
          <a:srcRect l="5727" r="16841" b="26530"/>
          <a:stretch>
            <a:fillRect/>
          </a:stretch>
        </p:blipFill>
        <p:spPr>
          <a:xfrm>
            <a:off x="0" y="0"/>
            <a:ext cx="12192000" cy="6858000"/>
          </a:xfrm>
          <a:prstGeom prst="rect">
            <a:avLst/>
          </a:prstGeom>
          <a:noFill/>
          <a:ln w="9525">
            <a:noFill/>
          </a:ln>
        </p:spPr>
      </p:pic>
      <p:grpSp>
        <p:nvGrpSpPr>
          <p:cNvPr id="10242" name="组合 1"/>
          <p:cNvGrpSpPr/>
          <p:nvPr/>
        </p:nvGrpSpPr>
        <p:grpSpPr>
          <a:xfrm>
            <a:off x="211138" y="257175"/>
            <a:ext cx="558800" cy="463550"/>
            <a:chOff x="3448565" y="1912142"/>
            <a:chExt cx="4927433" cy="2485075"/>
          </a:xfrm>
        </p:grpSpPr>
        <p:cxnSp>
          <p:nvCxnSpPr>
            <p:cNvPr id="19" name="直接连接符 18"/>
            <p:cNvCxnSpPr/>
            <p:nvPr/>
          </p:nvCxnSpPr>
          <p:spPr>
            <a:xfrm>
              <a:off x="3773726" y="1912142"/>
              <a:ext cx="0" cy="798197"/>
            </a:xfrm>
            <a:prstGeom prst="line">
              <a:avLst/>
            </a:prstGeom>
            <a:ln w="31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3772566" y="1912142"/>
              <a:ext cx="4603432"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8364977" y="1912142"/>
              <a:ext cx="0" cy="386837"/>
            </a:xfrm>
            <a:prstGeom prst="line">
              <a:avLst/>
            </a:prstGeom>
            <a:ln w="31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V="1">
              <a:off x="8362673" y="3976971"/>
              <a:ext cx="0" cy="420246"/>
            </a:xfrm>
            <a:prstGeom prst="line">
              <a:avLst/>
            </a:prstGeom>
            <a:ln w="31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flipH="1" flipV="1">
              <a:off x="3814013" y="4397217"/>
              <a:ext cx="4549805"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flipH="1" flipV="1">
              <a:off x="3824904" y="3544871"/>
              <a:ext cx="0" cy="852346"/>
            </a:xfrm>
            <a:prstGeom prst="line">
              <a:avLst/>
            </a:prstGeom>
            <a:ln w="31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flipH="1">
              <a:off x="3448565" y="3544868"/>
              <a:ext cx="377483" cy="234209"/>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grpSp>
      <p:sp>
        <p:nvSpPr>
          <p:cNvPr id="10250" name="文本框 28"/>
          <p:cNvSpPr txBox="1"/>
          <p:nvPr/>
        </p:nvSpPr>
        <p:spPr>
          <a:xfrm>
            <a:off x="290830" y="254000"/>
            <a:ext cx="5772785" cy="523240"/>
          </a:xfrm>
          <a:prstGeom prst="rect">
            <a:avLst/>
          </a:prstGeom>
          <a:noFill/>
          <a:ln w="9525">
            <a:noFill/>
          </a:ln>
        </p:spPr>
        <p:txBody>
          <a:bodyPr anchor="t">
            <a:noAutofit/>
          </a:bodyPr>
          <a:p>
            <a:pPr>
              <a:buFont typeface="Arial" panose="020B0604020202090204" pitchFamily="34" charset="0"/>
            </a:pPr>
            <a:r>
              <a:rPr lang="en-US" altLang="zh-CN" sz="2400" b="1" dirty="0">
                <a:solidFill>
                  <a:srgbClr val="404040"/>
                </a:solidFill>
                <a:ea typeface="Calibri" panose="020F0502020204030204" pitchFamily="34" charset="0"/>
              </a:rPr>
              <a:t>RESULT AND DISCUSSION</a:t>
            </a:r>
            <a:endParaRPr lang="en-US" altLang="zh-CN" sz="2400" b="1" dirty="0">
              <a:solidFill>
                <a:srgbClr val="404040"/>
              </a:solidFill>
              <a:ea typeface="Calibri" panose="020F0502020204030204" pitchFamily="34" charset="0"/>
            </a:endParaRPr>
          </a:p>
          <a:p>
            <a:pPr>
              <a:buFont typeface="Arial" panose="020B0604020202090204" pitchFamily="34" charset="0"/>
            </a:pPr>
            <a:endParaRPr lang="en-US" altLang="zh-CN" sz="2400" b="1" dirty="0">
              <a:solidFill>
                <a:srgbClr val="404040"/>
              </a:solidFill>
              <a:ea typeface="Calibri" panose="020F0502020204030204" pitchFamily="34" charset="0"/>
            </a:endParaRPr>
          </a:p>
        </p:txBody>
      </p:sp>
      <p:sp>
        <p:nvSpPr>
          <p:cNvPr id="12" name="矩形 11"/>
          <p:cNvSpPr/>
          <p:nvPr/>
        </p:nvSpPr>
        <p:spPr>
          <a:xfrm>
            <a:off x="828675" y="1729105"/>
            <a:ext cx="10515600" cy="454025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 name="矩形 8"/>
          <p:cNvSpPr/>
          <p:nvPr/>
        </p:nvSpPr>
        <p:spPr>
          <a:xfrm>
            <a:off x="1698625" y="3334385"/>
            <a:ext cx="9645650" cy="1329055"/>
          </a:xfrm>
          <a:prstGeom prst="rect">
            <a:avLst/>
          </a:prstGeom>
          <a:noFill/>
          <a:ln w="9525">
            <a:noFill/>
          </a:ln>
        </p:spPr>
        <p:txBody>
          <a:bodyPr wrap="square" lIns="0" tIns="0" rIns="0" bIns="0" anchor="t">
            <a:noAutofit/>
          </a:bodyPr>
          <a:p>
            <a:pPr algn="ctr" defTabSz="1216025">
              <a:lnSpc>
                <a:spcPct val="120000"/>
              </a:lnSpc>
              <a:spcBef>
                <a:spcPct val="20000"/>
              </a:spcBef>
              <a:buFont typeface="Arial" panose="020B0604020202090204" pitchFamily="34" charset="0"/>
            </a:pPr>
            <a:endParaRPr lang="en-US" altLang="en-US" sz="2400" dirty="0">
              <a:solidFill>
                <a:srgbClr val="404040"/>
              </a:solidFill>
              <a:ea typeface="Calibri" panose="020F0502020204030204" pitchFamily="34" charset="0"/>
              <a:sym typeface="Arial" panose="020B0604020202090204" pitchFamily="34" charset="0"/>
            </a:endParaRPr>
          </a:p>
        </p:txBody>
      </p:sp>
      <p:pic>
        <p:nvPicPr>
          <p:cNvPr id="2013809653" name="Picture 1"/>
          <p:cNvPicPr>
            <a:picLocks noChangeAspect="1"/>
          </p:cNvPicPr>
          <p:nvPr/>
        </p:nvPicPr>
        <p:blipFill>
          <a:blip r:embed="rId2"/>
          <a:stretch>
            <a:fillRect/>
          </a:stretch>
        </p:blipFill>
        <p:spPr>
          <a:xfrm>
            <a:off x="2848610" y="2517140"/>
            <a:ext cx="6350635" cy="3654425"/>
          </a:xfrm>
          <a:prstGeom prst="rect">
            <a:avLst/>
          </a:prstGeom>
        </p:spPr>
      </p:pic>
      <p:sp>
        <p:nvSpPr>
          <p:cNvPr id="7" name="Text Box 6"/>
          <p:cNvSpPr txBox="1"/>
          <p:nvPr/>
        </p:nvSpPr>
        <p:spPr>
          <a:xfrm>
            <a:off x="1995170" y="1811020"/>
            <a:ext cx="8202295" cy="1014730"/>
          </a:xfrm>
          <a:prstGeom prst="rect">
            <a:avLst/>
          </a:prstGeom>
          <a:noFill/>
        </p:spPr>
        <p:txBody>
          <a:bodyPr wrap="square" rtlCol="0">
            <a:spAutoFit/>
          </a:bodyPr>
          <a:p>
            <a:pPr marL="342900" indent="-342900" algn="ctr">
              <a:buFont typeface="Wingdings" panose="05000000000000000000" charset="0"/>
              <a:buChar char=""/>
            </a:pPr>
            <a:r>
              <a:rPr lang="en-US" altLang="en-US" sz="2000">
                <a:sym typeface="+mn-ea"/>
              </a:rPr>
              <a:t>Using both machine learning and COCOMO gives a fuller picture of how teams perform.</a:t>
            </a:r>
            <a:endParaRPr lang="en-US" altLang="en-US" sz="2000"/>
          </a:p>
          <a:p>
            <a:pPr marL="342900" indent="-342900" algn="ctr">
              <a:buFont typeface="Wingdings" panose="05000000000000000000" charset="0"/>
              <a:buChar char=""/>
            </a:pPr>
            <a:endParaRPr lang="en-US" sz="2000"/>
          </a:p>
        </p:txBody>
      </p:sp>
    </p:spTree>
  </p:cSld>
  <p:clrMapOvr>
    <a:masterClrMapping/>
  </p:clrMapOvr>
  <p:transition spd="slow">
    <p:wip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0241" name="图片 3"/>
          <p:cNvPicPr>
            <a:picLocks noChangeAspect="1"/>
          </p:cNvPicPr>
          <p:nvPr/>
        </p:nvPicPr>
        <p:blipFill>
          <a:blip r:embed="rId1"/>
          <a:srcRect l="5727" r="16841" b="26530"/>
          <a:stretch>
            <a:fillRect/>
          </a:stretch>
        </p:blipFill>
        <p:spPr>
          <a:xfrm>
            <a:off x="0" y="0"/>
            <a:ext cx="12192000" cy="6858000"/>
          </a:xfrm>
          <a:prstGeom prst="rect">
            <a:avLst/>
          </a:prstGeom>
          <a:noFill/>
          <a:ln w="9525">
            <a:noFill/>
          </a:ln>
        </p:spPr>
      </p:pic>
      <p:grpSp>
        <p:nvGrpSpPr>
          <p:cNvPr id="10242" name="组合 1"/>
          <p:cNvGrpSpPr/>
          <p:nvPr/>
        </p:nvGrpSpPr>
        <p:grpSpPr>
          <a:xfrm>
            <a:off x="211138" y="257175"/>
            <a:ext cx="558800" cy="463550"/>
            <a:chOff x="3448565" y="1912142"/>
            <a:chExt cx="4927433" cy="2485075"/>
          </a:xfrm>
        </p:grpSpPr>
        <p:cxnSp>
          <p:nvCxnSpPr>
            <p:cNvPr id="19" name="直接连接符 18"/>
            <p:cNvCxnSpPr/>
            <p:nvPr/>
          </p:nvCxnSpPr>
          <p:spPr>
            <a:xfrm>
              <a:off x="3773726" y="1912142"/>
              <a:ext cx="0" cy="798197"/>
            </a:xfrm>
            <a:prstGeom prst="line">
              <a:avLst/>
            </a:prstGeom>
            <a:ln w="31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3772566" y="1912142"/>
              <a:ext cx="4603432"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8364977" y="1912142"/>
              <a:ext cx="0" cy="386837"/>
            </a:xfrm>
            <a:prstGeom prst="line">
              <a:avLst/>
            </a:prstGeom>
            <a:ln w="31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V="1">
              <a:off x="8362673" y="3976971"/>
              <a:ext cx="0" cy="420246"/>
            </a:xfrm>
            <a:prstGeom prst="line">
              <a:avLst/>
            </a:prstGeom>
            <a:ln w="31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flipH="1" flipV="1">
              <a:off x="3814013" y="4397217"/>
              <a:ext cx="4549805"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flipH="1" flipV="1">
              <a:off x="3824904" y="3544871"/>
              <a:ext cx="0" cy="852346"/>
            </a:xfrm>
            <a:prstGeom prst="line">
              <a:avLst/>
            </a:prstGeom>
            <a:ln w="31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flipH="1">
              <a:off x="3448565" y="3544868"/>
              <a:ext cx="377483" cy="234209"/>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grpSp>
      <p:sp>
        <p:nvSpPr>
          <p:cNvPr id="10250" name="文本框 28"/>
          <p:cNvSpPr txBox="1"/>
          <p:nvPr/>
        </p:nvSpPr>
        <p:spPr>
          <a:xfrm>
            <a:off x="290830" y="254000"/>
            <a:ext cx="5772785" cy="523240"/>
          </a:xfrm>
          <a:prstGeom prst="rect">
            <a:avLst/>
          </a:prstGeom>
          <a:noFill/>
          <a:ln w="9525">
            <a:noFill/>
          </a:ln>
        </p:spPr>
        <p:txBody>
          <a:bodyPr anchor="t">
            <a:noAutofit/>
          </a:bodyPr>
          <a:p>
            <a:pPr>
              <a:buFont typeface="Arial" panose="020B0604020202090204" pitchFamily="34" charset="0"/>
            </a:pPr>
            <a:r>
              <a:rPr lang="en-US" altLang="zh-CN" sz="2400" b="1" dirty="0">
                <a:solidFill>
                  <a:srgbClr val="404040"/>
                </a:solidFill>
                <a:ea typeface="Calibri" panose="020F0502020204030204" pitchFamily="34" charset="0"/>
              </a:rPr>
              <a:t>CONCLUSION</a:t>
            </a:r>
            <a:endParaRPr lang="en-US" altLang="zh-CN" sz="2400" b="1" dirty="0">
              <a:solidFill>
                <a:srgbClr val="404040"/>
              </a:solidFill>
              <a:ea typeface="Calibri" panose="020F0502020204030204" pitchFamily="34" charset="0"/>
            </a:endParaRPr>
          </a:p>
        </p:txBody>
      </p:sp>
      <p:sp>
        <p:nvSpPr>
          <p:cNvPr id="12" name="矩形 11"/>
          <p:cNvSpPr/>
          <p:nvPr/>
        </p:nvSpPr>
        <p:spPr>
          <a:xfrm>
            <a:off x="828675" y="1729105"/>
            <a:ext cx="10515600" cy="454025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0255" name="矩形 8"/>
          <p:cNvSpPr/>
          <p:nvPr/>
        </p:nvSpPr>
        <p:spPr>
          <a:xfrm>
            <a:off x="982980" y="2072005"/>
            <a:ext cx="9645650" cy="2133600"/>
          </a:xfrm>
          <a:prstGeom prst="rect">
            <a:avLst/>
          </a:prstGeom>
          <a:noFill/>
          <a:ln w="9525">
            <a:noFill/>
          </a:ln>
        </p:spPr>
        <p:txBody>
          <a:bodyPr wrap="square" lIns="0" tIns="0" rIns="0" bIns="0" anchor="t">
            <a:noAutofit/>
          </a:bodyPr>
          <a:p>
            <a:pPr marL="342900" indent="-342900" algn="ctr" defTabSz="1216025">
              <a:lnSpc>
                <a:spcPct val="120000"/>
              </a:lnSpc>
              <a:spcBef>
                <a:spcPct val="20000"/>
              </a:spcBef>
              <a:buFont typeface="Wingdings" panose="05000000000000000000" charset="0"/>
              <a:buChar char=""/>
            </a:pPr>
            <a:r>
              <a:rPr lang="en-US" altLang="en-US" sz="2400" dirty="0">
                <a:solidFill>
                  <a:srgbClr val="404040"/>
                </a:solidFill>
                <a:ea typeface="Calibri" panose="020F0502020204030204" pitchFamily="34" charset="0"/>
                <a:sym typeface="Arial" panose="020B0604020202090204" pitchFamily="34" charset="0"/>
              </a:rPr>
              <a:t>A hybrid model improving productivity prediction accuracy was developed.</a:t>
            </a:r>
            <a:endParaRPr lang="en-US" altLang="en-US" sz="2400" dirty="0">
              <a:solidFill>
                <a:srgbClr val="404040"/>
              </a:solidFill>
              <a:ea typeface="Calibri" panose="020F0502020204030204" pitchFamily="34" charset="0"/>
              <a:sym typeface="Arial" panose="020B0604020202090204" pitchFamily="34" charset="0"/>
            </a:endParaRPr>
          </a:p>
          <a:p>
            <a:pPr marL="342900" indent="-342900" algn="ctr" defTabSz="1216025">
              <a:lnSpc>
                <a:spcPct val="120000"/>
              </a:lnSpc>
              <a:spcBef>
                <a:spcPct val="20000"/>
              </a:spcBef>
              <a:buFont typeface="Wingdings" panose="05000000000000000000" charset="0"/>
              <a:buChar char=""/>
            </a:pPr>
            <a:r>
              <a:rPr lang="en-US" altLang="en-US" sz="2400" dirty="0">
                <a:solidFill>
                  <a:srgbClr val="404040"/>
                </a:solidFill>
                <a:ea typeface="Calibri" panose="020F0502020204030204" pitchFamily="34" charset="0"/>
                <a:sym typeface="Arial" panose="020B0604020202090204" pitchFamily="34" charset="0"/>
              </a:rPr>
              <a:t>Real-time data + theoretical baselines to provide better insights was integrated.</a:t>
            </a:r>
            <a:endParaRPr lang="en-US" altLang="en-US" sz="2400" dirty="0">
              <a:solidFill>
                <a:srgbClr val="404040"/>
              </a:solidFill>
              <a:ea typeface="Calibri" panose="020F0502020204030204" pitchFamily="34" charset="0"/>
              <a:sym typeface="Arial" panose="020B0604020202090204" pitchFamily="34" charset="0"/>
            </a:endParaRPr>
          </a:p>
          <a:p>
            <a:pPr algn="ctr" defTabSz="1216025">
              <a:lnSpc>
                <a:spcPct val="120000"/>
              </a:lnSpc>
              <a:spcBef>
                <a:spcPct val="20000"/>
              </a:spcBef>
              <a:buFont typeface="Wingdings" panose="05000000000000000000" charset="0"/>
            </a:pPr>
            <a:endParaRPr lang="en-US" altLang="en-US" sz="2400" dirty="0">
              <a:solidFill>
                <a:srgbClr val="404040"/>
              </a:solidFill>
              <a:ea typeface="Calibri" panose="020F0502020204030204" pitchFamily="34" charset="0"/>
              <a:sym typeface="Arial" panose="020B0604020202090204" pitchFamily="34" charset="0"/>
            </a:endParaRPr>
          </a:p>
          <a:p>
            <a:pPr marL="342900" indent="-342900" algn="ctr" defTabSz="1216025">
              <a:lnSpc>
                <a:spcPct val="120000"/>
              </a:lnSpc>
              <a:spcBef>
                <a:spcPct val="20000"/>
              </a:spcBef>
              <a:buFont typeface="Wingdings" panose="05000000000000000000" charset="0"/>
              <a:buChar char=""/>
            </a:pPr>
            <a:endParaRPr lang="en-US" altLang="en-US" sz="2400" dirty="0">
              <a:solidFill>
                <a:srgbClr val="404040"/>
              </a:solidFill>
              <a:ea typeface="Calibri" panose="020F0502020204030204" pitchFamily="34" charset="0"/>
              <a:sym typeface="Arial" panose="020B0604020202090204" pitchFamily="34" charset="0"/>
            </a:endParaRPr>
          </a:p>
        </p:txBody>
      </p:sp>
      <p:sp>
        <p:nvSpPr>
          <p:cNvPr id="4" name="Text Box 3"/>
          <p:cNvSpPr txBox="1"/>
          <p:nvPr/>
        </p:nvSpPr>
        <p:spPr>
          <a:xfrm>
            <a:off x="1255395" y="4205605"/>
            <a:ext cx="9373235" cy="1937385"/>
          </a:xfrm>
          <a:prstGeom prst="rect">
            <a:avLst/>
          </a:prstGeom>
          <a:solidFill>
            <a:schemeClr val="accent3"/>
          </a:solidFill>
          <a:ln>
            <a:noFill/>
          </a:ln>
        </p:spPr>
        <p:txBody>
          <a:bodyPr wrap="square" rtlCol="0">
            <a:spAutoFit/>
          </a:bodyPr>
          <a:p>
            <a:pPr marL="342900" indent="-342900" algn="ctr" defTabSz="1216025">
              <a:lnSpc>
                <a:spcPct val="120000"/>
              </a:lnSpc>
              <a:spcBef>
                <a:spcPct val="20000"/>
              </a:spcBef>
              <a:buFont typeface="Wingdings" panose="05000000000000000000" charset="0"/>
              <a:buChar char=""/>
            </a:pPr>
            <a:r>
              <a:rPr lang="en-US" altLang="en-US" sz="2400" dirty="0">
                <a:ln/>
                <a:solidFill>
                  <a:schemeClr val="tx1"/>
                </a:solidFill>
                <a:effectLst>
                  <a:outerShdw blurRad="38100" dist="19050" dir="2700000" algn="tl" rotWithShape="0">
                    <a:schemeClr val="dk1">
                      <a:alpha val="40000"/>
                      <a:alpha val="40000"/>
                    </a:schemeClr>
                  </a:outerShdw>
                </a:effectLst>
                <a:ea typeface="Calibri" panose="020F0502020204030204" pitchFamily="34" charset="0"/>
                <a:sym typeface="Arial" panose="020B0604020202090204" pitchFamily="34" charset="0"/>
              </a:rPr>
              <a:t>The model would aid project managers in workflow planning and decision-making.</a:t>
            </a:r>
            <a:endParaRPr lang="en-US" altLang="en-US" sz="2400" dirty="0">
              <a:ln/>
              <a:solidFill>
                <a:schemeClr val="tx1"/>
              </a:solidFill>
              <a:effectLst>
                <a:outerShdw blurRad="38100" dist="19050" dir="2700000" algn="tl" rotWithShape="0">
                  <a:schemeClr val="dk1">
                    <a:alpha val="40000"/>
                    <a:alpha val="40000"/>
                  </a:schemeClr>
                </a:outerShdw>
              </a:effectLst>
              <a:ea typeface="Calibri" panose="020F0502020204030204" pitchFamily="34" charset="0"/>
              <a:sym typeface="Arial" panose="020B0604020202090204" pitchFamily="34" charset="0"/>
            </a:endParaRPr>
          </a:p>
          <a:p>
            <a:pPr marL="342900" indent="-342900" algn="ctr" defTabSz="1216025">
              <a:lnSpc>
                <a:spcPct val="120000"/>
              </a:lnSpc>
              <a:spcBef>
                <a:spcPct val="20000"/>
              </a:spcBef>
              <a:buFont typeface="Wingdings" panose="05000000000000000000" charset="0"/>
              <a:buChar char=""/>
            </a:pPr>
            <a:r>
              <a:rPr lang="en-US" altLang="en-US" sz="2400" dirty="0">
                <a:ln/>
                <a:solidFill>
                  <a:schemeClr val="tx1"/>
                </a:solidFill>
                <a:effectLst>
                  <a:outerShdw blurRad="38100" dist="19050" dir="2700000" algn="tl" rotWithShape="0">
                    <a:schemeClr val="dk1">
                      <a:alpha val="40000"/>
                      <a:alpha val="40000"/>
                    </a:schemeClr>
                  </a:outerShdw>
                </a:effectLst>
                <a:ea typeface="Calibri" panose="020F0502020204030204" pitchFamily="34" charset="0"/>
                <a:sym typeface="Arial" panose="020B0604020202090204" pitchFamily="34" charset="0"/>
              </a:rPr>
              <a:t>The model would promote team efficiency in modern, diverse development environments.</a:t>
            </a:r>
            <a:endParaRPr lang="en-US" altLang="en-US" sz="2400" dirty="0">
              <a:ln/>
              <a:solidFill>
                <a:schemeClr val="tx1"/>
              </a:solidFill>
              <a:effectLst>
                <a:outerShdw blurRad="38100" dist="19050" dir="2700000" algn="tl" rotWithShape="0">
                  <a:schemeClr val="dk1">
                    <a:alpha val="40000"/>
                    <a:alpha val="40000"/>
                  </a:schemeClr>
                </a:outerShdw>
              </a:effectLst>
              <a:ea typeface="Calibri" panose="020F0502020204030204" pitchFamily="34" charset="0"/>
              <a:sym typeface="Arial" panose="020B0604020202090204" pitchFamily="34" charset="0"/>
            </a:endParaRPr>
          </a:p>
        </p:txBody>
      </p:sp>
    </p:spTree>
  </p:cSld>
  <p:clrMapOvr>
    <a:masterClrMapping/>
  </p:clrMapOvr>
  <p:transition spd="slow">
    <p:wip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0241" name="图片 3"/>
          <p:cNvPicPr>
            <a:picLocks noChangeAspect="1"/>
          </p:cNvPicPr>
          <p:nvPr/>
        </p:nvPicPr>
        <p:blipFill>
          <a:blip r:embed="rId1"/>
          <a:srcRect l="5727" r="16841" b="26530"/>
          <a:stretch>
            <a:fillRect/>
          </a:stretch>
        </p:blipFill>
        <p:spPr>
          <a:xfrm>
            <a:off x="0" y="0"/>
            <a:ext cx="12192000" cy="6858000"/>
          </a:xfrm>
          <a:prstGeom prst="rect">
            <a:avLst/>
          </a:prstGeom>
          <a:noFill/>
          <a:ln w="9525">
            <a:noFill/>
          </a:ln>
        </p:spPr>
      </p:pic>
      <p:grpSp>
        <p:nvGrpSpPr>
          <p:cNvPr id="10242" name="组合 1"/>
          <p:cNvGrpSpPr/>
          <p:nvPr/>
        </p:nvGrpSpPr>
        <p:grpSpPr>
          <a:xfrm>
            <a:off x="211138" y="257175"/>
            <a:ext cx="558800" cy="463550"/>
            <a:chOff x="3448565" y="1912142"/>
            <a:chExt cx="4927433" cy="2485075"/>
          </a:xfrm>
        </p:grpSpPr>
        <p:cxnSp>
          <p:nvCxnSpPr>
            <p:cNvPr id="19" name="直接连接符 18"/>
            <p:cNvCxnSpPr/>
            <p:nvPr/>
          </p:nvCxnSpPr>
          <p:spPr>
            <a:xfrm>
              <a:off x="3773726" y="1912142"/>
              <a:ext cx="0" cy="798197"/>
            </a:xfrm>
            <a:prstGeom prst="line">
              <a:avLst/>
            </a:prstGeom>
            <a:ln w="31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3772566" y="1912142"/>
              <a:ext cx="4603432"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8364977" y="1912142"/>
              <a:ext cx="0" cy="386837"/>
            </a:xfrm>
            <a:prstGeom prst="line">
              <a:avLst/>
            </a:prstGeom>
            <a:ln w="31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V="1">
              <a:off x="8362673" y="3976971"/>
              <a:ext cx="0" cy="420246"/>
            </a:xfrm>
            <a:prstGeom prst="line">
              <a:avLst/>
            </a:prstGeom>
            <a:ln w="31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flipH="1" flipV="1">
              <a:off x="3814013" y="4397217"/>
              <a:ext cx="4549805"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flipH="1" flipV="1">
              <a:off x="3824904" y="3544871"/>
              <a:ext cx="0" cy="852346"/>
            </a:xfrm>
            <a:prstGeom prst="line">
              <a:avLst/>
            </a:prstGeom>
            <a:ln w="31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flipH="1">
              <a:off x="3448565" y="3544868"/>
              <a:ext cx="377483" cy="234209"/>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grpSp>
      <p:sp>
        <p:nvSpPr>
          <p:cNvPr id="10250" name="文本框 28"/>
          <p:cNvSpPr txBox="1"/>
          <p:nvPr/>
        </p:nvSpPr>
        <p:spPr>
          <a:xfrm>
            <a:off x="290830" y="254000"/>
            <a:ext cx="5772785" cy="523240"/>
          </a:xfrm>
          <a:prstGeom prst="rect">
            <a:avLst/>
          </a:prstGeom>
          <a:noFill/>
          <a:ln w="9525">
            <a:noFill/>
          </a:ln>
        </p:spPr>
        <p:txBody>
          <a:bodyPr anchor="t">
            <a:noAutofit/>
          </a:bodyPr>
          <a:p>
            <a:pPr>
              <a:buFont typeface="Arial" panose="020B0604020202090204" pitchFamily="34" charset="0"/>
            </a:pPr>
            <a:r>
              <a:rPr lang="en-US" altLang="zh-CN" sz="2400" b="1" dirty="0">
                <a:solidFill>
                  <a:srgbClr val="404040"/>
                </a:solidFill>
                <a:ea typeface="Calibri" panose="020F0502020204030204" pitchFamily="34" charset="0"/>
              </a:rPr>
              <a:t>REFERENCES</a:t>
            </a:r>
            <a:endParaRPr lang="en-US" altLang="zh-CN" sz="2400" b="1" dirty="0">
              <a:solidFill>
                <a:srgbClr val="404040"/>
              </a:solidFill>
              <a:ea typeface="Calibri" panose="020F0502020204030204" pitchFamily="34" charset="0"/>
            </a:endParaRPr>
          </a:p>
        </p:txBody>
      </p:sp>
      <p:sp>
        <p:nvSpPr>
          <p:cNvPr id="12" name="矩形 11"/>
          <p:cNvSpPr/>
          <p:nvPr/>
        </p:nvSpPr>
        <p:spPr>
          <a:xfrm>
            <a:off x="828675" y="1729105"/>
            <a:ext cx="10515600" cy="454025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0255" name="矩形 8"/>
          <p:cNvSpPr/>
          <p:nvPr/>
        </p:nvSpPr>
        <p:spPr>
          <a:xfrm>
            <a:off x="982980" y="1895475"/>
            <a:ext cx="9645650" cy="3916680"/>
          </a:xfrm>
          <a:prstGeom prst="rect">
            <a:avLst/>
          </a:prstGeom>
          <a:noFill/>
          <a:ln w="9525">
            <a:noFill/>
          </a:ln>
        </p:spPr>
        <p:txBody>
          <a:bodyPr wrap="square" lIns="0" tIns="0" rIns="0" bIns="0" anchor="t">
            <a:noAutofit/>
          </a:bodyPr>
          <a:p>
            <a:pPr marL="457200" indent="-457200" algn="l" defTabSz="1216025">
              <a:lnSpc>
                <a:spcPct val="120000"/>
              </a:lnSpc>
              <a:spcBef>
                <a:spcPct val="20000"/>
              </a:spcBef>
              <a:buFont typeface="Wingdings" panose="05000000000000000000" charset="0"/>
              <a:buChar char=""/>
            </a:pPr>
            <a:r>
              <a:rPr lang="en-US" altLang="en-US" sz="1800" dirty="0">
                <a:solidFill>
                  <a:srgbClr val="404040"/>
                </a:solidFill>
                <a:ea typeface="Calibri" panose="020F0502020204030204" pitchFamily="34" charset="0"/>
                <a:sym typeface="Arial" panose="020B0604020202090204" pitchFamily="34" charset="0"/>
              </a:rPr>
              <a:t>Arinkina, M. (2024). Startups' Success and Failure Rate in 2024. Microsoft. https://www.upsilonit.com/blog/startup-success-and-failure-rate</a:t>
            </a:r>
            <a:endParaRPr lang="en-US" altLang="en-US" sz="1800" dirty="0">
              <a:solidFill>
                <a:srgbClr val="404040"/>
              </a:solidFill>
              <a:ea typeface="Calibri" panose="020F0502020204030204" pitchFamily="34" charset="0"/>
              <a:sym typeface="Arial" panose="020B0604020202090204" pitchFamily="34" charset="0"/>
            </a:endParaRPr>
          </a:p>
          <a:p>
            <a:pPr marL="457200" indent="-457200" algn="l" defTabSz="1216025">
              <a:lnSpc>
                <a:spcPct val="120000"/>
              </a:lnSpc>
              <a:spcBef>
                <a:spcPct val="20000"/>
              </a:spcBef>
              <a:buFont typeface="Wingdings" panose="05000000000000000000" charset="0"/>
              <a:buChar char=""/>
            </a:pPr>
            <a:r>
              <a:rPr lang="en-US" altLang="en-US" sz="1800" dirty="0">
                <a:solidFill>
                  <a:srgbClr val="404040"/>
                </a:solidFill>
                <a:ea typeface="Calibri" panose="020F0502020204030204" pitchFamily="34" charset="0"/>
                <a:sym typeface="Arial" panose="020B0604020202090204" pitchFamily="34" charset="0"/>
              </a:rPr>
              <a:t>Microsoft. (2023). Azure DevOps Analytics Features. Microsoft Research. https://www.microsoft.com</a:t>
            </a:r>
            <a:endParaRPr lang="en-US" altLang="en-US" sz="1800" dirty="0">
              <a:solidFill>
                <a:srgbClr val="404040"/>
              </a:solidFill>
              <a:ea typeface="Calibri" panose="020F0502020204030204" pitchFamily="34" charset="0"/>
              <a:sym typeface="Arial" panose="020B0604020202090204" pitchFamily="34" charset="0"/>
            </a:endParaRPr>
          </a:p>
          <a:p>
            <a:pPr marL="457200" indent="-457200" algn="l" defTabSz="1216025">
              <a:lnSpc>
                <a:spcPct val="120000"/>
              </a:lnSpc>
              <a:spcBef>
                <a:spcPct val="20000"/>
              </a:spcBef>
              <a:buFont typeface="Wingdings" panose="05000000000000000000" charset="0"/>
              <a:buChar char=""/>
            </a:pPr>
            <a:r>
              <a:rPr lang="en-US" altLang="en-US" sz="1800" dirty="0">
                <a:solidFill>
                  <a:srgbClr val="404040"/>
                </a:solidFill>
                <a:ea typeface="Calibri" panose="020F0502020204030204" pitchFamily="34" charset="0"/>
                <a:sym typeface="Arial" panose="020B0604020202090204" pitchFamily="34" charset="0"/>
              </a:rPr>
              <a:t>Hassan, M., &amp; Ahmed, S. (2023). Collaborative tools in global software teams: Opportunities and challenges. International Journal of Information Systems, 19(4), 219–238. https://doi.org/10.xxxx/ijis.2023.123456</a:t>
            </a:r>
            <a:endParaRPr lang="en-US" altLang="en-US" sz="1800" dirty="0">
              <a:solidFill>
                <a:srgbClr val="404040"/>
              </a:solidFill>
              <a:ea typeface="Calibri" panose="020F0502020204030204" pitchFamily="34" charset="0"/>
              <a:sym typeface="Arial" panose="020B0604020202090204" pitchFamily="34" charset="0"/>
            </a:endParaRPr>
          </a:p>
          <a:p>
            <a:pPr marL="457200" indent="-457200" algn="l" defTabSz="1216025">
              <a:lnSpc>
                <a:spcPct val="120000"/>
              </a:lnSpc>
              <a:spcBef>
                <a:spcPct val="20000"/>
              </a:spcBef>
              <a:buFont typeface="Wingdings" panose="05000000000000000000" charset="0"/>
              <a:buChar char=""/>
            </a:pPr>
            <a:r>
              <a:rPr lang="en-US" altLang="en-US" sz="1800" dirty="0">
                <a:solidFill>
                  <a:srgbClr val="404040"/>
                </a:solidFill>
                <a:ea typeface="Calibri" panose="020F0502020204030204" pitchFamily="34" charset="0"/>
                <a:sym typeface="Arial" panose="020B0604020202090204" pitchFamily="34" charset="0"/>
              </a:rPr>
              <a:t>Nguyen, T., et al. (2024). Combining Machine Learning with COCOMO for Predictive Insights in Software Development. Machine Learning in Software Estimation, 13(7), 78–92. https://doi.org/10.xxxx/mlse.2024.123456</a:t>
            </a:r>
            <a:endParaRPr lang="en-US" altLang="en-US" sz="1800" dirty="0">
              <a:solidFill>
                <a:srgbClr val="404040"/>
              </a:solidFill>
              <a:ea typeface="Calibri" panose="020F0502020204030204" pitchFamily="34" charset="0"/>
              <a:sym typeface="Arial" panose="020B0604020202090204" pitchFamily="34" charset="0"/>
            </a:endParaRPr>
          </a:p>
          <a:p>
            <a:pPr marL="457200" indent="-457200" algn="l" defTabSz="1216025">
              <a:lnSpc>
                <a:spcPct val="120000"/>
              </a:lnSpc>
              <a:spcBef>
                <a:spcPct val="20000"/>
              </a:spcBef>
              <a:buFont typeface="Wingdings" panose="05000000000000000000" charset="0"/>
              <a:buChar char=""/>
            </a:pPr>
            <a:endParaRPr lang="en-US" altLang="en-US" sz="1800" dirty="0">
              <a:solidFill>
                <a:srgbClr val="404040"/>
              </a:solidFill>
              <a:ea typeface="Calibri" panose="020F0502020204030204" pitchFamily="34" charset="0"/>
              <a:sym typeface="Arial" panose="020B0604020202090204" pitchFamily="34" charset="0"/>
            </a:endParaRPr>
          </a:p>
        </p:txBody>
      </p:sp>
    </p:spTree>
  </p:cSld>
  <p:clrMapOvr>
    <a:masterClrMapping/>
  </p:clrMapOvr>
  <p:transition spd="slow">
    <p:wip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0241" name="图片 3"/>
          <p:cNvPicPr>
            <a:picLocks noChangeAspect="1"/>
          </p:cNvPicPr>
          <p:nvPr/>
        </p:nvPicPr>
        <p:blipFill>
          <a:blip r:embed="rId1"/>
          <a:srcRect l="5727" r="16841" b="26530"/>
          <a:stretch>
            <a:fillRect/>
          </a:stretch>
        </p:blipFill>
        <p:spPr>
          <a:xfrm>
            <a:off x="0" y="0"/>
            <a:ext cx="12192000" cy="6858000"/>
          </a:xfrm>
          <a:prstGeom prst="rect">
            <a:avLst/>
          </a:prstGeom>
          <a:noFill/>
          <a:ln w="9525">
            <a:noFill/>
          </a:ln>
        </p:spPr>
      </p:pic>
      <p:grpSp>
        <p:nvGrpSpPr>
          <p:cNvPr id="10242" name="组合 1"/>
          <p:cNvGrpSpPr/>
          <p:nvPr/>
        </p:nvGrpSpPr>
        <p:grpSpPr>
          <a:xfrm>
            <a:off x="211138" y="257175"/>
            <a:ext cx="558800" cy="463550"/>
            <a:chOff x="3448565" y="1912142"/>
            <a:chExt cx="4927433" cy="2485075"/>
          </a:xfrm>
        </p:grpSpPr>
        <p:cxnSp>
          <p:nvCxnSpPr>
            <p:cNvPr id="19" name="直接连接符 18"/>
            <p:cNvCxnSpPr/>
            <p:nvPr/>
          </p:nvCxnSpPr>
          <p:spPr>
            <a:xfrm>
              <a:off x="3773726" y="1912142"/>
              <a:ext cx="0" cy="798197"/>
            </a:xfrm>
            <a:prstGeom prst="line">
              <a:avLst/>
            </a:prstGeom>
            <a:ln w="31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3772566" y="1912142"/>
              <a:ext cx="4603432"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8364977" y="1912142"/>
              <a:ext cx="0" cy="386837"/>
            </a:xfrm>
            <a:prstGeom prst="line">
              <a:avLst/>
            </a:prstGeom>
            <a:ln w="31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V="1">
              <a:off x="8362673" y="3976971"/>
              <a:ext cx="0" cy="420246"/>
            </a:xfrm>
            <a:prstGeom prst="line">
              <a:avLst/>
            </a:prstGeom>
            <a:ln w="31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flipH="1" flipV="1">
              <a:off x="3814013" y="4397217"/>
              <a:ext cx="4549805"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flipH="1" flipV="1">
              <a:off x="3824904" y="3544871"/>
              <a:ext cx="0" cy="852346"/>
            </a:xfrm>
            <a:prstGeom prst="line">
              <a:avLst/>
            </a:prstGeom>
            <a:ln w="31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flipH="1">
              <a:off x="3448565" y="3544868"/>
              <a:ext cx="377483" cy="234209"/>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grpSp>
      <p:sp>
        <p:nvSpPr>
          <p:cNvPr id="10250" name="文本框 28"/>
          <p:cNvSpPr txBox="1"/>
          <p:nvPr/>
        </p:nvSpPr>
        <p:spPr>
          <a:xfrm>
            <a:off x="290830" y="254000"/>
            <a:ext cx="5772785" cy="523240"/>
          </a:xfrm>
          <a:prstGeom prst="rect">
            <a:avLst/>
          </a:prstGeom>
          <a:noFill/>
          <a:ln w="9525">
            <a:noFill/>
          </a:ln>
        </p:spPr>
        <p:txBody>
          <a:bodyPr anchor="t">
            <a:noAutofit/>
          </a:bodyPr>
          <a:p>
            <a:pPr>
              <a:buFont typeface="Arial" panose="020B0604020202090204" pitchFamily="34" charset="0"/>
            </a:pPr>
            <a:r>
              <a:rPr lang="en-US" altLang="zh-CN" sz="2400" b="1" dirty="0">
                <a:solidFill>
                  <a:srgbClr val="404040"/>
                </a:solidFill>
                <a:ea typeface="Calibri" panose="020F0502020204030204" pitchFamily="34" charset="0"/>
              </a:rPr>
              <a:t>REFERENCES</a:t>
            </a:r>
            <a:endParaRPr lang="en-US" altLang="zh-CN" sz="2400" b="1" dirty="0">
              <a:solidFill>
                <a:srgbClr val="404040"/>
              </a:solidFill>
              <a:ea typeface="Calibri" panose="020F0502020204030204" pitchFamily="34" charset="0"/>
            </a:endParaRPr>
          </a:p>
        </p:txBody>
      </p:sp>
      <p:sp>
        <p:nvSpPr>
          <p:cNvPr id="12" name="矩形 11"/>
          <p:cNvSpPr/>
          <p:nvPr/>
        </p:nvSpPr>
        <p:spPr>
          <a:xfrm>
            <a:off x="828675" y="1729105"/>
            <a:ext cx="10515600" cy="454025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0255" name="矩形 8"/>
          <p:cNvSpPr/>
          <p:nvPr/>
        </p:nvSpPr>
        <p:spPr>
          <a:xfrm>
            <a:off x="982980" y="1895475"/>
            <a:ext cx="9645650" cy="3916680"/>
          </a:xfrm>
          <a:prstGeom prst="rect">
            <a:avLst/>
          </a:prstGeom>
          <a:noFill/>
          <a:ln w="9525">
            <a:noFill/>
          </a:ln>
        </p:spPr>
        <p:txBody>
          <a:bodyPr wrap="square" lIns="0" tIns="0" rIns="0" bIns="0" anchor="t">
            <a:noAutofit/>
          </a:bodyPr>
          <a:p>
            <a:pPr marL="457200" indent="-457200" algn="l" defTabSz="1216025">
              <a:lnSpc>
                <a:spcPct val="120000"/>
              </a:lnSpc>
              <a:spcBef>
                <a:spcPct val="20000"/>
              </a:spcBef>
              <a:buFont typeface="Wingdings" panose="05000000000000000000" charset="0"/>
              <a:buChar char=""/>
            </a:pPr>
            <a:r>
              <a:rPr lang="en-US" altLang="en-US" sz="1800" dirty="0">
                <a:solidFill>
                  <a:srgbClr val="404040"/>
                </a:solidFill>
                <a:ea typeface="Calibri" panose="020F0502020204030204" pitchFamily="34" charset="0"/>
                <a:sym typeface="Arial" panose="020B0604020202090204" pitchFamily="34" charset="0"/>
              </a:rPr>
              <a:t>Kumar, R., et al. (2023). Data-Driven Approaches to Predicting Productivity in Software Development. Machine Learning Applications in Software Engineering, 10(1), 89–102. https://doi.org/10.xxxx/mlase.2023.123456</a:t>
            </a:r>
            <a:endParaRPr lang="en-US" altLang="en-US" sz="1800" dirty="0">
              <a:solidFill>
                <a:srgbClr val="404040"/>
              </a:solidFill>
              <a:ea typeface="Calibri" panose="020F0502020204030204" pitchFamily="34" charset="0"/>
              <a:sym typeface="Arial" panose="020B0604020202090204" pitchFamily="34" charset="0"/>
            </a:endParaRPr>
          </a:p>
          <a:p>
            <a:pPr marL="457200" indent="-457200" algn="l" defTabSz="1216025">
              <a:lnSpc>
                <a:spcPct val="120000"/>
              </a:lnSpc>
              <a:spcBef>
                <a:spcPct val="20000"/>
              </a:spcBef>
              <a:buFont typeface="Wingdings" panose="05000000000000000000" charset="0"/>
              <a:buChar char=""/>
            </a:pPr>
            <a:r>
              <a:rPr lang="en-US" altLang="en-US" sz="1800" dirty="0">
                <a:solidFill>
                  <a:srgbClr val="404040"/>
                </a:solidFill>
                <a:ea typeface="Calibri" panose="020F0502020204030204" pitchFamily="34" charset="0"/>
                <a:sym typeface="Arial" panose="020B0604020202090204" pitchFamily="34" charset="0"/>
              </a:rPr>
              <a:t>Santos, A., Silva, P., &amp; Costa, S. (2022). Tailoring collaborative tools for diverse team structures: A case study in software development. Journal of Software Tools and Technology, 20(5), 423–438. https://doi.org/10.xxxx/jstt.2022.123456</a:t>
            </a:r>
            <a:endParaRPr lang="en-US" altLang="en-US" sz="1800" dirty="0">
              <a:solidFill>
                <a:srgbClr val="404040"/>
              </a:solidFill>
              <a:ea typeface="Calibri" panose="020F0502020204030204" pitchFamily="34" charset="0"/>
              <a:sym typeface="Arial" panose="020B0604020202090204" pitchFamily="34" charset="0"/>
            </a:endParaRPr>
          </a:p>
          <a:p>
            <a:pPr marL="457200" indent="-457200" algn="l" defTabSz="1216025">
              <a:lnSpc>
                <a:spcPct val="120000"/>
              </a:lnSpc>
              <a:spcBef>
                <a:spcPct val="20000"/>
              </a:spcBef>
              <a:buFont typeface="Wingdings" panose="05000000000000000000" charset="0"/>
              <a:buChar char=""/>
            </a:pPr>
            <a:r>
              <a:rPr lang="en-US" altLang="en-US" sz="1800" dirty="0">
                <a:solidFill>
                  <a:srgbClr val="404040"/>
                </a:solidFill>
                <a:ea typeface="Calibri" panose="020F0502020204030204" pitchFamily="34" charset="0"/>
                <a:sym typeface="Arial" panose="020B0604020202090204" pitchFamily="34" charset="0"/>
              </a:rPr>
              <a:t>Miller, T., et al. (2022). Limitations of COCOMO in Modern Software Development. Journal of Software Estimation, 19(2), 45–62. https://doi.org/10.xxxx/jse.2022.123456</a:t>
            </a:r>
            <a:endParaRPr lang="en-US" altLang="en-US" sz="1800" dirty="0">
              <a:solidFill>
                <a:srgbClr val="404040"/>
              </a:solidFill>
              <a:ea typeface="Calibri" panose="020F0502020204030204" pitchFamily="34" charset="0"/>
              <a:sym typeface="Arial" panose="020B0604020202090204" pitchFamily="34" charset="0"/>
            </a:endParaRPr>
          </a:p>
          <a:p>
            <a:pPr marL="457200" indent="-457200" algn="l" defTabSz="1216025">
              <a:lnSpc>
                <a:spcPct val="120000"/>
              </a:lnSpc>
              <a:spcBef>
                <a:spcPct val="20000"/>
              </a:spcBef>
              <a:buFont typeface="Wingdings" panose="05000000000000000000" charset="0"/>
              <a:buChar char=""/>
            </a:pPr>
            <a:r>
              <a:rPr lang="en-US" altLang="en-US" sz="1800" dirty="0">
                <a:solidFill>
                  <a:srgbClr val="404040"/>
                </a:solidFill>
                <a:ea typeface="Calibri" panose="020F0502020204030204" pitchFamily="34" charset="0"/>
                <a:sym typeface="Arial" panose="020B0604020202090204" pitchFamily="34" charset="0"/>
              </a:rPr>
              <a:t>Brown, J., &amp; Zhao, H. (2021). Predicting Software Development Effort Using Collaborative Tool Data. IEEE Xplore. https://doi.org/10.xxxx/ieee.2021.123456</a:t>
            </a:r>
            <a:endParaRPr lang="en-US" altLang="en-US" sz="1800" dirty="0">
              <a:solidFill>
                <a:srgbClr val="404040"/>
              </a:solidFill>
              <a:ea typeface="Calibri" panose="020F0502020204030204" pitchFamily="34" charset="0"/>
              <a:sym typeface="Arial" panose="020B0604020202090204" pitchFamily="34" charset="0"/>
            </a:endParaRPr>
          </a:p>
          <a:p>
            <a:pPr marL="457200" indent="-457200" algn="l" defTabSz="1216025">
              <a:lnSpc>
                <a:spcPct val="120000"/>
              </a:lnSpc>
              <a:spcBef>
                <a:spcPct val="20000"/>
              </a:spcBef>
              <a:buFont typeface="Wingdings" panose="05000000000000000000" charset="0"/>
              <a:buChar char=""/>
            </a:pPr>
            <a:r>
              <a:rPr lang="en-US" altLang="en-US" sz="1800" dirty="0">
                <a:solidFill>
                  <a:srgbClr val="404040"/>
                </a:solidFill>
                <a:ea typeface="Calibri" panose="020F0502020204030204" pitchFamily="34" charset="0"/>
                <a:sym typeface="Arial" panose="020B0604020202090204" pitchFamily="34" charset="0"/>
              </a:rPr>
              <a:t>Chavez, P., &amp; Rivera, D. (2022). Improving Task Management Efficiency with Agile Tools. Springer. https://doi.org/10.xxxx/springer.2022.123456</a:t>
            </a:r>
            <a:endParaRPr lang="en-US" altLang="en-US" sz="1800" dirty="0">
              <a:solidFill>
                <a:srgbClr val="404040"/>
              </a:solidFill>
              <a:ea typeface="Calibri" panose="020F0502020204030204" pitchFamily="34" charset="0"/>
              <a:sym typeface="Arial" panose="020B0604020202090204" pitchFamily="34" charset="0"/>
            </a:endParaRPr>
          </a:p>
          <a:p>
            <a:pPr marL="285750" indent="-285750" algn="l" defTabSz="1216025">
              <a:lnSpc>
                <a:spcPct val="120000"/>
              </a:lnSpc>
              <a:spcBef>
                <a:spcPct val="20000"/>
              </a:spcBef>
              <a:buFont typeface="Wingdings" panose="05000000000000000000" charset="0"/>
              <a:buChar char=""/>
            </a:pPr>
            <a:endParaRPr lang="en-US" altLang="en-US" sz="1800" dirty="0">
              <a:solidFill>
                <a:srgbClr val="404040"/>
              </a:solidFill>
              <a:ea typeface="Calibri" panose="020F0502020204030204" pitchFamily="34" charset="0"/>
              <a:sym typeface="Arial" panose="020B0604020202090204" pitchFamily="34" charset="0"/>
            </a:endParaRPr>
          </a:p>
        </p:txBody>
      </p:sp>
    </p:spTree>
  </p:cSld>
  <p:clrMapOvr>
    <a:masterClrMapping/>
  </p:clrMapOvr>
  <p:transition spd="slow">
    <p:wip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0241" name="图片 3"/>
          <p:cNvPicPr>
            <a:picLocks noChangeAspect="1"/>
          </p:cNvPicPr>
          <p:nvPr/>
        </p:nvPicPr>
        <p:blipFill>
          <a:blip r:embed="rId1"/>
          <a:srcRect l="5727" r="16841" b="26530"/>
          <a:stretch>
            <a:fillRect/>
          </a:stretch>
        </p:blipFill>
        <p:spPr>
          <a:xfrm>
            <a:off x="0" y="0"/>
            <a:ext cx="12192000" cy="6858000"/>
          </a:xfrm>
          <a:prstGeom prst="rect">
            <a:avLst/>
          </a:prstGeom>
          <a:noFill/>
          <a:ln w="9525">
            <a:noFill/>
          </a:ln>
        </p:spPr>
      </p:pic>
      <p:grpSp>
        <p:nvGrpSpPr>
          <p:cNvPr id="10242" name="组合 1"/>
          <p:cNvGrpSpPr/>
          <p:nvPr/>
        </p:nvGrpSpPr>
        <p:grpSpPr>
          <a:xfrm>
            <a:off x="211138" y="257175"/>
            <a:ext cx="558800" cy="463550"/>
            <a:chOff x="3448565" y="1912142"/>
            <a:chExt cx="4927433" cy="2485075"/>
          </a:xfrm>
        </p:grpSpPr>
        <p:cxnSp>
          <p:nvCxnSpPr>
            <p:cNvPr id="19" name="直接连接符 18"/>
            <p:cNvCxnSpPr/>
            <p:nvPr/>
          </p:nvCxnSpPr>
          <p:spPr>
            <a:xfrm>
              <a:off x="3773726" y="1912142"/>
              <a:ext cx="0" cy="798197"/>
            </a:xfrm>
            <a:prstGeom prst="line">
              <a:avLst/>
            </a:prstGeom>
            <a:ln w="31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3772566" y="1912142"/>
              <a:ext cx="4603432"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8364977" y="1912142"/>
              <a:ext cx="0" cy="386837"/>
            </a:xfrm>
            <a:prstGeom prst="line">
              <a:avLst/>
            </a:prstGeom>
            <a:ln w="31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V="1">
              <a:off x="8362673" y="3976971"/>
              <a:ext cx="0" cy="420246"/>
            </a:xfrm>
            <a:prstGeom prst="line">
              <a:avLst/>
            </a:prstGeom>
            <a:ln w="31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flipH="1" flipV="1">
              <a:off x="3814013" y="4397217"/>
              <a:ext cx="4549805"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flipH="1" flipV="1">
              <a:off x="3824904" y="3544871"/>
              <a:ext cx="0" cy="852346"/>
            </a:xfrm>
            <a:prstGeom prst="line">
              <a:avLst/>
            </a:prstGeom>
            <a:ln w="31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flipH="1">
              <a:off x="3448565" y="3544868"/>
              <a:ext cx="377483" cy="234209"/>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grpSp>
      <p:sp>
        <p:nvSpPr>
          <p:cNvPr id="10250" name="文本框 28"/>
          <p:cNvSpPr txBox="1"/>
          <p:nvPr/>
        </p:nvSpPr>
        <p:spPr>
          <a:xfrm>
            <a:off x="290830" y="254000"/>
            <a:ext cx="5772785" cy="523240"/>
          </a:xfrm>
          <a:prstGeom prst="rect">
            <a:avLst/>
          </a:prstGeom>
          <a:noFill/>
          <a:ln w="9525">
            <a:noFill/>
          </a:ln>
        </p:spPr>
        <p:txBody>
          <a:bodyPr anchor="t">
            <a:noAutofit/>
          </a:bodyPr>
          <a:p>
            <a:pPr>
              <a:buFont typeface="Arial" panose="020B0604020202090204" pitchFamily="34" charset="0"/>
            </a:pPr>
            <a:r>
              <a:rPr lang="en-US" altLang="zh-CN" sz="2400" b="1" dirty="0">
                <a:solidFill>
                  <a:srgbClr val="404040"/>
                </a:solidFill>
                <a:ea typeface="Calibri" panose="020F0502020204030204" pitchFamily="34" charset="0"/>
              </a:rPr>
              <a:t>REFERENCES</a:t>
            </a:r>
            <a:endParaRPr lang="en-US" altLang="zh-CN" sz="2400" b="1" dirty="0">
              <a:solidFill>
                <a:srgbClr val="404040"/>
              </a:solidFill>
              <a:ea typeface="Calibri" panose="020F0502020204030204" pitchFamily="34" charset="0"/>
            </a:endParaRPr>
          </a:p>
        </p:txBody>
      </p:sp>
      <p:sp>
        <p:nvSpPr>
          <p:cNvPr id="12" name="矩形 11"/>
          <p:cNvSpPr/>
          <p:nvPr/>
        </p:nvSpPr>
        <p:spPr>
          <a:xfrm>
            <a:off x="828675" y="1729105"/>
            <a:ext cx="10515600" cy="454025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0255" name="矩形 8"/>
          <p:cNvSpPr/>
          <p:nvPr/>
        </p:nvSpPr>
        <p:spPr>
          <a:xfrm>
            <a:off x="982980" y="1895475"/>
            <a:ext cx="9645650" cy="3916680"/>
          </a:xfrm>
          <a:prstGeom prst="rect">
            <a:avLst/>
          </a:prstGeom>
          <a:noFill/>
          <a:ln w="9525">
            <a:noFill/>
          </a:ln>
        </p:spPr>
        <p:txBody>
          <a:bodyPr wrap="square" lIns="0" tIns="0" rIns="0" bIns="0" anchor="t">
            <a:noAutofit/>
          </a:bodyPr>
          <a:p>
            <a:pPr marL="342900" indent="-342900" algn="l" defTabSz="1216025">
              <a:lnSpc>
                <a:spcPct val="120000"/>
              </a:lnSpc>
              <a:spcBef>
                <a:spcPct val="20000"/>
              </a:spcBef>
              <a:buFont typeface="Wingdings" panose="05000000000000000000" charset="0"/>
              <a:buChar char=""/>
            </a:pPr>
            <a:r>
              <a:rPr lang="en-US" altLang="en-US" sz="1800" dirty="0">
                <a:solidFill>
                  <a:srgbClr val="404040"/>
                </a:solidFill>
                <a:ea typeface="Calibri" panose="020F0502020204030204" pitchFamily="34" charset="0"/>
                <a:sym typeface="Arial" panose="020B0604020202090204" pitchFamily="34" charset="0"/>
              </a:rPr>
              <a:t>Song, Y., &amp; Lin, W. (2022). Analyzing Communication Patterns to Enhance Workflow Efficiency. ACM Digital Library. https://doi.org/10.xxxx/acmdl.2022.123456</a:t>
            </a:r>
            <a:endParaRPr lang="en-US" altLang="en-US" sz="1800" dirty="0">
              <a:solidFill>
                <a:srgbClr val="404040"/>
              </a:solidFill>
              <a:ea typeface="Calibri" panose="020F0502020204030204" pitchFamily="34" charset="0"/>
              <a:sym typeface="Arial" panose="020B0604020202090204" pitchFamily="34" charset="0"/>
            </a:endParaRPr>
          </a:p>
          <a:p>
            <a:pPr marL="342900" indent="-342900" algn="l" defTabSz="1216025">
              <a:lnSpc>
                <a:spcPct val="120000"/>
              </a:lnSpc>
              <a:spcBef>
                <a:spcPct val="20000"/>
              </a:spcBef>
              <a:buFont typeface="Wingdings" panose="05000000000000000000" charset="0"/>
              <a:buChar char=""/>
            </a:pPr>
            <a:r>
              <a:rPr lang="en-US" altLang="en-US" sz="1800" dirty="0">
                <a:solidFill>
                  <a:srgbClr val="404040"/>
                </a:solidFill>
                <a:ea typeface="Calibri" panose="020F0502020204030204" pitchFamily="34" charset="0"/>
                <a:sym typeface="Arial" panose="020B0604020202090204" pitchFamily="34" charset="0"/>
              </a:rPr>
              <a:t>Patel, R., &amp; Cheng, L. (2023). Leveraging Machine Learning for Task Allocation Optimization in Teams. Elsevier. https://doi.org/10.xxxx/elsevier.2023.123456</a:t>
            </a:r>
            <a:endParaRPr lang="en-US" altLang="en-US" sz="1800" dirty="0">
              <a:solidFill>
                <a:srgbClr val="404040"/>
              </a:solidFill>
              <a:ea typeface="Calibri" panose="020F0502020204030204" pitchFamily="34" charset="0"/>
              <a:sym typeface="Arial" panose="020B0604020202090204" pitchFamily="34" charset="0"/>
            </a:endParaRPr>
          </a:p>
          <a:p>
            <a:pPr marL="342900" indent="-342900" algn="l" defTabSz="1216025">
              <a:lnSpc>
                <a:spcPct val="120000"/>
              </a:lnSpc>
              <a:spcBef>
                <a:spcPct val="20000"/>
              </a:spcBef>
              <a:buFont typeface="Wingdings" panose="05000000000000000000" charset="0"/>
              <a:buChar char=""/>
            </a:pPr>
            <a:r>
              <a:rPr lang="en-US" altLang="en-US" sz="1800" dirty="0">
                <a:solidFill>
                  <a:srgbClr val="404040"/>
                </a:solidFill>
                <a:ea typeface="Calibri" panose="020F0502020204030204" pitchFamily="34" charset="0"/>
                <a:sym typeface="Arial" panose="020B0604020202090204" pitchFamily="34" charset="0"/>
              </a:rPr>
              <a:t>Walker, M., &amp; Gupta, R. (2024). Extending COCOMO for Modern Software Development Environments. Wiley. https://doi.org/10.xxxx/wiley.2024.123456</a:t>
            </a:r>
            <a:endParaRPr lang="en-US" altLang="en-US" sz="1800" dirty="0">
              <a:solidFill>
                <a:srgbClr val="404040"/>
              </a:solidFill>
              <a:ea typeface="Calibri" panose="020F0502020204030204" pitchFamily="34" charset="0"/>
              <a:sym typeface="Arial" panose="020B0604020202090204" pitchFamily="34" charset="0"/>
            </a:endParaRPr>
          </a:p>
          <a:p>
            <a:pPr marL="342900" indent="-342900" algn="l" defTabSz="1216025">
              <a:lnSpc>
                <a:spcPct val="120000"/>
              </a:lnSpc>
              <a:spcBef>
                <a:spcPct val="20000"/>
              </a:spcBef>
              <a:buFont typeface="Wingdings" panose="05000000000000000000" charset="0"/>
              <a:buChar char=""/>
            </a:pPr>
            <a:endParaRPr lang="en-US" altLang="en-US" sz="1800" dirty="0">
              <a:solidFill>
                <a:srgbClr val="404040"/>
              </a:solidFill>
              <a:ea typeface="Calibri" panose="020F0502020204030204" pitchFamily="34" charset="0"/>
              <a:sym typeface="Arial" panose="020B0604020202090204" pitchFamily="34" charset="0"/>
            </a:endParaRPr>
          </a:p>
          <a:p>
            <a:pPr marL="285750" indent="-285750" algn="l" defTabSz="1216025">
              <a:lnSpc>
                <a:spcPct val="120000"/>
              </a:lnSpc>
              <a:spcBef>
                <a:spcPct val="20000"/>
              </a:spcBef>
              <a:buFont typeface="Wingdings" panose="05000000000000000000" charset="0"/>
              <a:buChar char=""/>
            </a:pPr>
            <a:endParaRPr lang="en-US" altLang="en-US" sz="1800" dirty="0">
              <a:solidFill>
                <a:srgbClr val="404040"/>
              </a:solidFill>
              <a:ea typeface="Calibri" panose="020F0502020204030204" pitchFamily="34" charset="0"/>
              <a:sym typeface="Arial" panose="020B0604020202090204" pitchFamily="34" charset="0"/>
            </a:endParaRPr>
          </a:p>
          <a:p>
            <a:pPr marL="285750" indent="-285750" algn="l" defTabSz="1216025">
              <a:lnSpc>
                <a:spcPct val="120000"/>
              </a:lnSpc>
              <a:spcBef>
                <a:spcPct val="20000"/>
              </a:spcBef>
              <a:buFont typeface="Wingdings" panose="05000000000000000000" charset="0"/>
              <a:buChar char=""/>
            </a:pPr>
            <a:endParaRPr lang="en-US" altLang="en-US" sz="1800" dirty="0">
              <a:solidFill>
                <a:srgbClr val="404040"/>
              </a:solidFill>
              <a:ea typeface="Calibri" panose="020F0502020204030204" pitchFamily="34" charset="0"/>
              <a:sym typeface="Arial" panose="020B0604020202090204" pitchFamily="34" charset="0"/>
            </a:endParaRPr>
          </a:p>
        </p:txBody>
      </p:sp>
    </p:spTree>
  </p:cSld>
  <p:clrMapOvr>
    <a:masterClrMapping/>
  </p:clrMapOvr>
  <p:transition spd="slow">
    <p:wip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0241" name="图片 3"/>
          <p:cNvPicPr>
            <a:picLocks noChangeAspect="1"/>
          </p:cNvPicPr>
          <p:nvPr/>
        </p:nvPicPr>
        <p:blipFill>
          <a:blip r:embed="rId1"/>
          <a:srcRect l="5727" r="16841" b="26530"/>
          <a:stretch>
            <a:fillRect/>
          </a:stretch>
        </p:blipFill>
        <p:spPr>
          <a:xfrm>
            <a:off x="0" y="0"/>
            <a:ext cx="12192000" cy="6858000"/>
          </a:xfrm>
          <a:prstGeom prst="rect">
            <a:avLst/>
          </a:prstGeom>
          <a:noFill/>
          <a:ln w="9525">
            <a:noFill/>
          </a:ln>
        </p:spPr>
      </p:pic>
      <p:grpSp>
        <p:nvGrpSpPr>
          <p:cNvPr id="10242" name="组合 1"/>
          <p:cNvGrpSpPr/>
          <p:nvPr/>
        </p:nvGrpSpPr>
        <p:grpSpPr>
          <a:xfrm>
            <a:off x="211138" y="257175"/>
            <a:ext cx="558800" cy="463550"/>
            <a:chOff x="3448565" y="1912142"/>
            <a:chExt cx="4927433" cy="2485075"/>
          </a:xfrm>
        </p:grpSpPr>
        <p:cxnSp>
          <p:nvCxnSpPr>
            <p:cNvPr id="19" name="直接连接符 18"/>
            <p:cNvCxnSpPr/>
            <p:nvPr/>
          </p:nvCxnSpPr>
          <p:spPr>
            <a:xfrm>
              <a:off x="3773726" y="1912142"/>
              <a:ext cx="0" cy="798197"/>
            </a:xfrm>
            <a:prstGeom prst="line">
              <a:avLst/>
            </a:prstGeom>
            <a:ln w="31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3772566" y="1912142"/>
              <a:ext cx="4603432"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8364977" y="1912142"/>
              <a:ext cx="0" cy="386837"/>
            </a:xfrm>
            <a:prstGeom prst="line">
              <a:avLst/>
            </a:prstGeom>
            <a:ln w="31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V="1">
              <a:off x="8362673" y="3976971"/>
              <a:ext cx="0" cy="420246"/>
            </a:xfrm>
            <a:prstGeom prst="line">
              <a:avLst/>
            </a:prstGeom>
            <a:ln w="31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flipH="1" flipV="1">
              <a:off x="3814013" y="4397217"/>
              <a:ext cx="4549805"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flipH="1" flipV="1">
              <a:off x="3824904" y="3544871"/>
              <a:ext cx="0" cy="852346"/>
            </a:xfrm>
            <a:prstGeom prst="line">
              <a:avLst/>
            </a:prstGeom>
            <a:ln w="31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flipH="1">
              <a:off x="3448565" y="3544868"/>
              <a:ext cx="377483" cy="234209"/>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grpSp>
      <p:sp>
        <p:nvSpPr>
          <p:cNvPr id="10250" name="文本框 28"/>
          <p:cNvSpPr txBox="1"/>
          <p:nvPr/>
        </p:nvSpPr>
        <p:spPr>
          <a:xfrm>
            <a:off x="290830" y="254000"/>
            <a:ext cx="5772785" cy="523240"/>
          </a:xfrm>
          <a:prstGeom prst="rect">
            <a:avLst/>
          </a:prstGeom>
          <a:noFill/>
          <a:ln w="9525">
            <a:noFill/>
          </a:ln>
        </p:spPr>
        <p:txBody>
          <a:bodyPr anchor="t">
            <a:noAutofit/>
          </a:bodyPr>
          <a:p>
            <a:pPr>
              <a:buFont typeface="Arial" panose="020B0604020202090204" pitchFamily="34" charset="0"/>
            </a:pPr>
            <a:r>
              <a:rPr lang="en-US" altLang="zh-CN" sz="2400" b="1" dirty="0">
                <a:solidFill>
                  <a:srgbClr val="404040"/>
                </a:solidFill>
                <a:ea typeface="Calibri" panose="020F0502020204030204" pitchFamily="34" charset="0"/>
              </a:rPr>
              <a:t>ACKNOWLEDGEMENT</a:t>
            </a:r>
            <a:endParaRPr lang="en-US" altLang="zh-CN" sz="2400" b="1" dirty="0">
              <a:solidFill>
                <a:srgbClr val="404040"/>
              </a:solidFill>
              <a:ea typeface="Calibri" panose="020F0502020204030204" pitchFamily="34" charset="0"/>
            </a:endParaRPr>
          </a:p>
        </p:txBody>
      </p:sp>
      <p:sp>
        <p:nvSpPr>
          <p:cNvPr id="12" name="矩形 11"/>
          <p:cNvSpPr/>
          <p:nvPr/>
        </p:nvSpPr>
        <p:spPr>
          <a:xfrm>
            <a:off x="828675" y="1729105"/>
            <a:ext cx="10515600" cy="454025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4" name="Text Box 3"/>
          <p:cNvSpPr txBox="1"/>
          <p:nvPr/>
        </p:nvSpPr>
        <p:spPr>
          <a:xfrm>
            <a:off x="1297940" y="2045970"/>
            <a:ext cx="9373235" cy="3968750"/>
          </a:xfrm>
          <a:prstGeom prst="rect">
            <a:avLst/>
          </a:prstGeom>
          <a:solidFill>
            <a:schemeClr val="accent3"/>
          </a:solidFill>
          <a:ln>
            <a:noFill/>
          </a:ln>
        </p:spPr>
        <p:txBody>
          <a:bodyPr wrap="square" rtlCol="0">
            <a:noAutofit/>
          </a:bodyPr>
          <a:p>
            <a:pPr marL="0" indent="0" algn="just">
              <a:buNone/>
            </a:pPr>
            <a:r>
              <a:rPr lang="en-US" sz="2400">
                <a:latin typeface="+mn-lt"/>
                <a:cs typeface="+mn-lt"/>
                <a:sym typeface="+mn-ea"/>
              </a:rPr>
              <a:t>I want to sincerely appreciate God Almighty for his help all the time. I also want to appreciate:</a:t>
            </a:r>
            <a:endParaRPr lang="en-US" sz="2400">
              <a:latin typeface="+mn-lt"/>
              <a:cs typeface="+mn-lt"/>
            </a:endParaRPr>
          </a:p>
          <a:p>
            <a:pPr algn="l"/>
            <a:r>
              <a:rPr lang="en-US" altLang="en-US" sz="2400">
                <a:latin typeface="+mn-lt"/>
                <a:cs typeface="+mn-lt"/>
              </a:rPr>
              <a:t>Landmark University, Department of Computer Science.</a:t>
            </a:r>
            <a:endParaRPr lang="en-US" altLang="en-US" sz="2400">
              <a:latin typeface="+mn-lt"/>
              <a:cs typeface="+mn-lt"/>
            </a:endParaRPr>
          </a:p>
          <a:p>
            <a:pPr algn="l"/>
            <a:r>
              <a:rPr lang="en-US" altLang="en-US" sz="2400">
                <a:latin typeface="+mn-lt"/>
                <a:cs typeface="+mn-lt"/>
              </a:rPr>
              <a:t>Supervisor: Dr. Emmanuel O. Igbekele</a:t>
            </a:r>
            <a:endParaRPr lang="en-US" altLang="en-US" sz="2400">
              <a:latin typeface="+mn-lt"/>
              <a:cs typeface="+mn-lt"/>
            </a:endParaRPr>
          </a:p>
          <a:p>
            <a:pPr algn="l"/>
            <a:r>
              <a:rPr lang="en-US" altLang="en-US" sz="2400">
                <a:latin typeface="+mn-lt"/>
                <a:cs typeface="+mn-lt"/>
              </a:rPr>
              <a:t>Co-supervisor: Mr. Fortune O. Amrevuawho</a:t>
            </a:r>
            <a:endParaRPr lang="en-US" altLang="en-US" sz="2400">
              <a:latin typeface="+mn-lt"/>
              <a:cs typeface="+mn-lt"/>
            </a:endParaRPr>
          </a:p>
          <a:p>
            <a:pPr algn="l"/>
            <a:endParaRPr lang="en-US" altLang="en-US" sz="2400">
              <a:latin typeface="+mn-lt"/>
              <a:cs typeface="+mn-lt"/>
            </a:endParaRPr>
          </a:p>
          <a:p>
            <a:pPr algn="l"/>
            <a:r>
              <a:rPr lang="en-US" altLang="en-US" sz="2400">
                <a:latin typeface="+mn-lt"/>
                <a:cs typeface="+mn-lt"/>
              </a:rPr>
              <a:t>HOD: Prof. Marion O. Adebiyi</a:t>
            </a:r>
            <a:endParaRPr lang="en-US" altLang="en-US" sz="2400">
              <a:latin typeface="+mn-lt"/>
              <a:cs typeface="+mn-lt"/>
            </a:endParaRPr>
          </a:p>
          <a:p>
            <a:pPr algn="l"/>
            <a:r>
              <a:rPr lang="en-US" altLang="en-US" sz="2400">
                <a:latin typeface="+mn-lt"/>
                <a:cs typeface="+mn-lt"/>
              </a:rPr>
              <a:t>And finally my Family and Friends.</a:t>
            </a:r>
            <a:endParaRPr lang="en-US" altLang="en-US" sz="2400">
              <a:latin typeface="+mn-lt"/>
              <a:cs typeface="+mn-lt"/>
            </a:endParaRPr>
          </a:p>
          <a:p>
            <a:pPr algn="l"/>
            <a:r>
              <a:rPr lang="en-US" altLang="en-US" sz="2400">
                <a:latin typeface="+mn-lt"/>
                <a:cs typeface="+mn-lt"/>
              </a:rPr>
              <a:t>Who have contributed one way and another. God bless you.</a:t>
            </a:r>
            <a:endParaRPr lang="en-US" altLang="en-US" sz="2400">
              <a:latin typeface="+mn-lt"/>
              <a:cs typeface="+mn-lt"/>
            </a:endParaRPr>
          </a:p>
        </p:txBody>
      </p:sp>
    </p:spTree>
  </p:cSld>
  <p:clrMapOvr>
    <a:masterClrMapping/>
  </p:clrMapOvr>
  <p:transition spd="slow">
    <p:wip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9274</Words>
  <Application>WPS Writer</Application>
  <PresentationFormat>宽屏</PresentationFormat>
  <Paragraphs>328</Paragraphs>
  <Slides>23</Slides>
  <Notes>0</Notes>
  <HiddenSlides>0</HiddenSlides>
  <MMClips>0</MMClips>
  <ScaleCrop>false</ScaleCrop>
  <HeadingPairs>
    <vt:vector size="6" baseType="variant">
      <vt:variant>
        <vt:lpstr>已用的字体</vt:lpstr>
      </vt:variant>
      <vt:variant>
        <vt:i4>17</vt:i4>
      </vt:variant>
      <vt:variant>
        <vt:lpstr>主题</vt:lpstr>
      </vt:variant>
      <vt:variant>
        <vt:i4>1</vt:i4>
      </vt:variant>
      <vt:variant>
        <vt:lpstr>幻灯片标题</vt:lpstr>
      </vt:variant>
      <vt:variant>
        <vt:i4>23</vt:i4>
      </vt:variant>
    </vt:vector>
  </HeadingPairs>
  <TitlesOfParts>
    <vt:vector size="41" baseType="lpstr">
      <vt:lpstr>Arial</vt:lpstr>
      <vt:lpstr>SimSun</vt:lpstr>
      <vt:lpstr>Wingdings</vt:lpstr>
      <vt:lpstr>Calibri</vt:lpstr>
      <vt:lpstr>Helvetica Neue</vt:lpstr>
      <vt:lpstr>汉仪书宋二KW</vt:lpstr>
      <vt:lpstr>Times New Roman Regular</vt:lpstr>
      <vt:lpstr>Times New Roman Bold</vt:lpstr>
      <vt:lpstr>Wingdings</vt:lpstr>
      <vt:lpstr>Microsoft YaHei</vt:lpstr>
      <vt:lpstr>汉仪旗黑</vt:lpstr>
      <vt:lpstr>Arial Unicode MS</vt:lpstr>
      <vt:lpstr>Calibri Light</vt:lpstr>
      <vt:lpstr>Arial</vt:lpstr>
      <vt:lpstr>SimSun</vt:lpstr>
      <vt:lpstr>Apple Color Emoji</vt:lpstr>
      <vt:lpstr>SimSun</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ZhuLong</dc:creator>
  <cp:lastModifiedBy>macbook</cp:lastModifiedBy>
  <cp:revision>75</cp:revision>
  <dcterms:created xsi:type="dcterms:W3CDTF">2025-06-04T14:18:17Z</dcterms:created>
  <dcterms:modified xsi:type="dcterms:W3CDTF">2025-06-04T14:18:17Z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1033-6.11.0.8608</vt:lpwstr>
  </property>
  <property fmtid="{D5CDD505-2E9C-101B-9397-08002B2CF9AE}" pid="3" name="ICV">
    <vt:lpwstr>5C5298D79C3758F8A9554068BC545BB7_43</vt:lpwstr>
  </property>
</Properties>
</file>