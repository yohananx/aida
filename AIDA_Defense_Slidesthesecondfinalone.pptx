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5143500" cx="9144000"/>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 name="Google Shape;18;p1: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Introduce yourself: name, project title, what AIDA stands for. This is a second defense so the committee has seen the work. Briefly say: we have a working system evaluated on a 58-case test set.</a:t>
            </a:r>
            <a:endParaRPr b="0" sz="2000" u="none" strike="noStrike">
              <a:solidFill>
                <a:srgbClr val="000000"/>
              </a:solidFill>
              <a:latin typeface="Arial"/>
              <a:ea typeface="Arial"/>
              <a:cs typeface="Arial"/>
              <a:sym typeface="Arial"/>
            </a:endParaRPr>
          </a:p>
        </p:txBody>
      </p:sp>
      <p:sp>
        <p:nvSpPr>
          <p:cNvPr id="19" name="Google Shape;19;p1: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 name="Google Shape;35;p2: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Walk through the outline quickly. Tell them we have a working prototype and will show real evaluation data.</a:t>
            </a:r>
            <a:endParaRPr b="0" sz="2000" u="none" strike="noStrike">
              <a:solidFill>
                <a:srgbClr val="000000"/>
              </a:solidFill>
              <a:latin typeface="Arial"/>
              <a:ea typeface="Arial"/>
              <a:cs typeface="Arial"/>
              <a:sym typeface="Arial"/>
            </a:endParaRPr>
          </a:p>
        </p:txBody>
      </p:sp>
      <p:sp>
        <p:nvSpPr>
          <p:cNvPr id="36" name="Google Shape;36;p2: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3: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Nigeria has one of the worst mental health workforce gaps in the world. Chatbots exist but they treat each message as if the conversation just started. That's the gap we address</a:t>
            </a:r>
            <a:endParaRPr b="0" sz="2000" u="none" strike="noStrike">
              <a:solidFill>
                <a:srgbClr val="000000"/>
              </a:solidFill>
              <a:latin typeface="Arial"/>
              <a:ea typeface="Arial"/>
              <a:cs typeface="Arial"/>
              <a:sym typeface="Arial"/>
            </a:endParaRPr>
          </a:p>
        </p:txBody>
      </p:sp>
      <p:sp>
        <p:nvSpPr>
          <p:cNvPr id="74" name="Google Shape;74;p3: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eaf6faebf0_0_6:notes"/>
          <p:cNvSpPr/>
          <p:nvPr>
            <p:ph idx="2" type="sldImg"/>
          </p:nvPr>
        </p:nvSpPr>
        <p:spPr>
          <a:xfrm>
            <a:off x="685800" y="1143000"/>
            <a:ext cx="5485800" cy="3085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g3eaf6faebf0_0_6:notes"/>
          <p:cNvSpPr txBox="1"/>
          <p:nvPr>
            <p:ph idx="1" type="body"/>
          </p:nvPr>
        </p:nvSpPr>
        <p:spPr>
          <a:xfrm>
            <a:off x="685800" y="4400640"/>
            <a:ext cx="5485800" cy="359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Nigeria has one of the worst mental health workforce gaps in the world. Chatbots exist but they treat each message as if the conversation just started. That's the gap we address</a:t>
            </a:r>
            <a:endParaRPr b="0" sz="2000" u="none" strike="noStrike">
              <a:solidFill>
                <a:srgbClr val="000000"/>
              </a:solidFill>
              <a:latin typeface="Arial"/>
              <a:ea typeface="Arial"/>
              <a:cs typeface="Arial"/>
              <a:sym typeface="Arial"/>
            </a:endParaRPr>
          </a:p>
        </p:txBody>
      </p:sp>
      <p:sp>
        <p:nvSpPr>
          <p:cNvPr id="92" name="Google Shape;92;g3eaf6faebf0_0_6:notes"/>
          <p:cNvSpPr txBox="1"/>
          <p:nvPr>
            <p:ph idx="12" type="sldNum"/>
          </p:nvPr>
        </p:nvSpPr>
        <p:spPr>
          <a:xfrm>
            <a:off x="3884760" y="8685360"/>
            <a:ext cx="2971200" cy="4578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4: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Five concrete objectives. The most important is the controlled comparison — we built a parallel baseline pipeline with no trajectory or strategy, and ran both on the same inputs.</a:t>
            </a:r>
            <a:endParaRPr b="0" sz="2000" u="none" strike="noStrike">
              <a:solidFill>
                <a:srgbClr val="000000"/>
              </a:solidFill>
              <a:latin typeface="Arial"/>
              <a:ea typeface="Arial"/>
              <a:cs typeface="Arial"/>
              <a:sym typeface="Arial"/>
            </a:endParaRPr>
          </a:p>
        </p:txBody>
      </p:sp>
      <p:sp>
        <p:nvSpPr>
          <p:cNvPr id="105" name="Google Shape;105;p4: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af6faebf0_1_0: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eaf6faebf0_1_0: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8" name="Google Shape;128;g3eaf6faebf0_1_0: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5: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The pipeline processes every message left to right. Layer 1 (safety) is unconditional — if crisis detected, no other layer runs. Layers 4 and 5 are what distinguish AEIF from the baseline.</a:t>
            </a:r>
            <a:endParaRPr b="0" sz="2000" u="none" strike="noStrike">
              <a:solidFill>
                <a:srgbClr val="000000"/>
              </a:solidFill>
              <a:latin typeface="Arial"/>
              <a:ea typeface="Arial"/>
              <a:cs typeface="Arial"/>
              <a:sym typeface="Arial"/>
            </a:endParaRPr>
          </a:p>
        </p:txBody>
      </p:sp>
      <p:sp>
        <p:nvSpPr>
          <p:cNvPr id="135" name="Google Shape;135;p5: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6: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The pipeline processes every message left to right. Layer 1 (safety) is unconditional — if crisis detected, no other layer runs. Layers 4 and 5 are what distinguish AEIF from the baseline.</a:t>
            </a:r>
            <a:endParaRPr b="0" sz="2000" u="none" strike="noStrike">
              <a:solidFill>
                <a:srgbClr val="000000"/>
              </a:solidFill>
              <a:latin typeface="Arial"/>
              <a:ea typeface="Arial"/>
              <a:cs typeface="Arial"/>
              <a:sym typeface="Arial"/>
            </a:endParaRPr>
          </a:p>
        </p:txBody>
      </p:sp>
      <p:sp>
        <p:nvSpPr>
          <p:cNvPr id="179" name="Google Shape;179;p6: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8: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8: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Two-path architecture. The ambiguity pre-check is key — it catches messages like 'I got the job but I'm terrified' before the transformer misclassifies them. Nigerian Pidgin terms are hard-coded into the keyword lists.</a:t>
            </a:r>
            <a:endParaRPr b="0" sz="2000" u="none" strike="noStrike">
              <a:solidFill>
                <a:srgbClr val="000000"/>
              </a:solidFill>
              <a:latin typeface="Arial"/>
              <a:ea typeface="Arial"/>
              <a:cs typeface="Arial"/>
              <a:sym typeface="Arial"/>
            </a:endParaRPr>
          </a:p>
        </p:txBody>
      </p:sp>
      <p:sp>
        <p:nvSpPr>
          <p:cNvPr id="185" name="Google Shape;185;p8: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9: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 name="Google Shape;211;p9: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The severity scores are the core of the trend analyser. We take an unweighted arithmetic mean of the last 10 turns. The strategy lookup table has 12 conditions — 6 for when a trend is established, and 6 first-turn defaults based on the current emotion.</a:t>
            </a:r>
            <a:endParaRPr b="0" sz="2000" u="none" strike="noStrike">
              <a:solidFill>
                <a:srgbClr val="000000"/>
              </a:solidFill>
              <a:latin typeface="Arial"/>
              <a:ea typeface="Arial"/>
              <a:cs typeface="Arial"/>
              <a:sym typeface="Arial"/>
            </a:endParaRPr>
          </a:p>
        </p:txBody>
      </p:sp>
      <p:sp>
        <p:nvSpPr>
          <p:cNvPr id="212" name="Google Shape;212;p9: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eaf6faebf0_1_12:notes"/>
          <p:cNvSpPr/>
          <p:nvPr>
            <p:ph idx="2" type="sldImg"/>
          </p:nvPr>
        </p:nvSpPr>
        <p:spPr>
          <a:xfrm>
            <a:off x="685800" y="1143000"/>
            <a:ext cx="5485800" cy="3085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g3eaf6faebf0_1_12:notes"/>
          <p:cNvSpPr txBox="1"/>
          <p:nvPr>
            <p:ph idx="1" type="body"/>
          </p:nvPr>
        </p:nvSpPr>
        <p:spPr>
          <a:xfrm>
            <a:off x="685800" y="4400640"/>
            <a:ext cx="5485800" cy="359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The severity scores are the core of the trend analyser. We take an unweighted arithmetic mean of the last 10 turns. The strategy lookup table has 12 conditions — 6 for when a trend is established, and 6 first-turn defaults based on the current emotion.</a:t>
            </a:r>
            <a:endParaRPr b="0" sz="2000" u="none" strike="noStrike">
              <a:solidFill>
                <a:srgbClr val="000000"/>
              </a:solidFill>
              <a:latin typeface="Arial"/>
              <a:ea typeface="Arial"/>
              <a:cs typeface="Arial"/>
              <a:sym typeface="Arial"/>
            </a:endParaRPr>
          </a:p>
        </p:txBody>
      </p:sp>
      <p:sp>
        <p:nvSpPr>
          <p:cNvPr id="265" name="Google Shape;265;g3eaf6faebf0_1_12:notes"/>
          <p:cNvSpPr txBox="1"/>
          <p:nvPr>
            <p:ph idx="12" type="sldNum"/>
          </p:nvPr>
        </p:nvSpPr>
        <p:spPr>
          <a:xfrm>
            <a:off x="3884760" y="8685360"/>
            <a:ext cx="2971200" cy="4578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0: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p10: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77.1% sounds modest but the test set was deliberately hard. Crisis detection is 100% which is non-negotiable for a mental health system. AMBIGUOUS is the hardest cluster — emotionally contradictory language is genuinely hard to classify.</a:t>
            </a:r>
            <a:endParaRPr b="0" sz="2000" u="none" strike="noStrike">
              <a:solidFill>
                <a:srgbClr val="000000"/>
              </a:solidFill>
              <a:latin typeface="Arial"/>
              <a:ea typeface="Arial"/>
              <a:cs typeface="Arial"/>
              <a:sym typeface="Arial"/>
            </a:endParaRPr>
          </a:p>
        </p:txBody>
      </p:sp>
      <p:sp>
        <p:nvSpPr>
          <p:cNvPr id="281" name="Google Shape;281;p10: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2: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12: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Three key conclusions. The most important: trajectory-aware strategy selection is not just a technical elaboration — it produces qualitatively different and better responses. Future work: a real user study with Nigerian participants would make this even stronger.</a:t>
            </a:r>
            <a:endParaRPr b="0" sz="2000" u="none" strike="noStrike">
              <a:solidFill>
                <a:srgbClr val="000000"/>
              </a:solidFill>
              <a:latin typeface="Arial"/>
              <a:ea typeface="Arial"/>
              <a:cs typeface="Arial"/>
              <a:sym typeface="Arial"/>
            </a:endParaRPr>
          </a:p>
        </p:txBody>
      </p:sp>
      <p:sp>
        <p:nvSpPr>
          <p:cNvPr id="341" name="Google Shape;341;p12: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3: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p13: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Open the floor to questions. Key topics they might ask about: why 77% and not higher, what about clinical validation, how does the trend analyser handle very short conversations.</a:t>
            </a:r>
            <a:endParaRPr b="0" sz="2000" u="none" strike="noStrike">
              <a:solidFill>
                <a:srgbClr val="000000"/>
              </a:solidFill>
              <a:latin typeface="Arial"/>
              <a:ea typeface="Arial"/>
              <a:cs typeface="Arial"/>
              <a:sym typeface="Arial"/>
            </a:endParaRPr>
          </a:p>
        </p:txBody>
      </p:sp>
      <p:sp>
        <p:nvSpPr>
          <p:cNvPr id="363" name="Google Shape;363;p13: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type="title">
  <p:cSld name="TITLE">
    <p:spTree>
      <p:nvGrpSpPr>
        <p:cNvPr id="12" name="Shape 12"/>
        <p:cNvGrpSpPr/>
        <p:nvPr/>
      </p:nvGrpSpPr>
      <p:grpSpPr>
        <a:xfrm>
          <a:off x="0" y="0"/>
          <a:ext cx="0" cy="0"/>
          <a:chOff x="0" y="0"/>
          <a:chExt cx="0" cy="0"/>
        </a:xfrm>
      </p:grpSpPr>
      <p:sp>
        <p:nvSpPr>
          <p:cNvPr id="13" name="Google Shape;13;p2"/>
          <p:cNvSpPr txBox="1"/>
          <p:nvPr>
            <p:ph type="title"/>
          </p:nvPr>
        </p:nvSpPr>
        <p:spPr>
          <a:xfrm>
            <a:off x="457200" y="205200"/>
            <a:ext cx="8229240" cy="858600"/>
          </a:xfrm>
          <a:prstGeom prst="rect">
            <a:avLst/>
          </a:prstGeom>
          <a:noFill/>
          <a:ln>
            <a:noFill/>
          </a:ln>
        </p:spPr>
        <p:txBody>
          <a:bodyPr anchorCtr="0" anchor="ctr" bIns="0" lIns="0" spcFirstLastPara="1" rIns="0" wrap="square" tIns="0">
            <a:sp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spAutoFit/>
          </a:bodyPr>
          <a:lstStyle>
            <a:lvl1pPr lvl="0" algn="l">
              <a:spcBef>
                <a:spcPts val="1417"/>
              </a:spcBef>
              <a:spcAft>
                <a:spcPts val="0"/>
              </a:spcAft>
              <a:buSzPts val="810"/>
              <a:buChar char="●"/>
              <a:defRPr/>
            </a:lvl1pPr>
            <a:lvl2pPr lvl="1" algn="l">
              <a:spcBef>
                <a:spcPts val="1134"/>
              </a:spcBef>
              <a:spcAft>
                <a:spcPts val="0"/>
              </a:spcAft>
              <a:buSzPts val="1350"/>
              <a:buChar char="−"/>
              <a:defRPr/>
            </a:lvl2pPr>
            <a:lvl3pPr lvl="2" algn="l">
              <a:spcBef>
                <a:spcPts val="850"/>
              </a:spcBef>
              <a:spcAft>
                <a:spcPts val="0"/>
              </a:spcAft>
              <a:buSzPts val="810"/>
              <a:buChar char="●"/>
              <a:defRPr/>
            </a:lvl3pPr>
            <a:lvl4pPr lvl="3" algn="l">
              <a:spcBef>
                <a:spcPts val="567"/>
              </a:spcBef>
              <a:spcAft>
                <a:spcPts val="0"/>
              </a:spcAft>
              <a:buSzPts val="1350"/>
              <a:buChar char="−"/>
              <a:defRPr/>
            </a:lvl4pPr>
            <a:lvl5pPr lvl="4" algn="l">
              <a:spcBef>
                <a:spcPts val="283"/>
              </a:spcBef>
              <a:spcAft>
                <a:spcPts val="0"/>
              </a:spcAft>
              <a:buSzPts val="810"/>
              <a:buChar char="●"/>
              <a:defRPr/>
            </a:lvl5pPr>
            <a:lvl6pPr lvl="5" algn="l">
              <a:spcBef>
                <a:spcPts val="283"/>
              </a:spcBef>
              <a:spcAft>
                <a:spcPts val="0"/>
              </a:spcAft>
              <a:buSzPts val="810"/>
              <a:buChar char="●"/>
              <a:defRPr/>
            </a:lvl6pPr>
            <a:lvl7pPr lvl="6" algn="l">
              <a:spcBef>
                <a:spcPts val="283"/>
              </a:spcBef>
              <a:spcAft>
                <a:spcPts val="0"/>
              </a:spcAft>
              <a:buSzPts val="810"/>
              <a:buChar char="●"/>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type="blank">
  <p:cSld name="BLANK">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 name="Google Shape;11;p1"/>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320040" lvl="0" marL="457200" marR="0" rtl="0" algn="l">
              <a:spcBef>
                <a:spcPts val="1417"/>
              </a:spcBef>
              <a:spcAft>
                <a:spcPts val="0"/>
              </a:spcAft>
              <a:buClr>
                <a:srgbClr val="000000"/>
              </a:buClr>
              <a:buSzPts val="1440"/>
              <a:buFont typeface="Noto Sans Symbols"/>
              <a:buChar char="●"/>
              <a:defRPr b="0" i="0" sz="3200" u="none" cap="none" strike="noStrike">
                <a:solidFill>
                  <a:schemeClr val="dk1"/>
                </a:solidFill>
                <a:latin typeface="Calibri"/>
                <a:ea typeface="Calibri"/>
                <a:cs typeface="Calibri"/>
                <a:sym typeface="Calibri"/>
              </a:defRPr>
            </a:lvl1pPr>
            <a:lvl2pPr indent="-342900" lvl="1" marL="914400" marR="0" rtl="0" algn="l">
              <a:spcBef>
                <a:spcPts val="1134"/>
              </a:spcBef>
              <a:spcAft>
                <a:spcPts val="0"/>
              </a:spcAft>
              <a:buClr>
                <a:srgbClr val="000000"/>
              </a:buClr>
              <a:buSzPts val="1800"/>
              <a:buFont typeface="Noto Sans Symbols"/>
              <a:buChar char="−"/>
              <a:defRPr b="0" i="0" sz="2400" u="none" cap="none" strike="noStrike">
                <a:solidFill>
                  <a:schemeClr val="dk1"/>
                </a:solidFill>
                <a:latin typeface="Calibri"/>
                <a:ea typeface="Calibri"/>
                <a:cs typeface="Calibri"/>
                <a:sym typeface="Calibri"/>
              </a:defRPr>
            </a:lvl2pPr>
            <a:lvl3pPr indent="-285750" lvl="2" marL="1371600" marR="0" rtl="0" algn="l">
              <a:spcBef>
                <a:spcPts val="850"/>
              </a:spcBef>
              <a:spcAft>
                <a:spcPts val="0"/>
              </a:spcAft>
              <a:buClr>
                <a:srgbClr val="000000"/>
              </a:buClr>
              <a:buSzPts val="900"/>
              <a:buFont typeface="Noto Sans Symbols"/>
              <a:buChar char="●"/>
              <a:defRPr b="0" i="0" sz="2000" u="none" cap="none" strike="noStrike">
                <a:solidFill>
                  <a:schemeClr val="dk1"/>
                </a:solidFill>
                <a:latin typeface="Calibri"/>
                <a:ea typeface="Calibri"/>
                <a:cs typeface="Calibri"/>
                <a:sym typeface="Calibri"/>
              </a:defRPr>
            </a:lvl3pPr>
            <a:lvl4pPr indent="-323850" lvl="3" marL="1828800" marR="0" rtl="0" algn="l">
              <a:spcBef>
                <a:spcPts val="567"/>
              </a:spcBef>
              <a:spcAft>
                <a:spcPts val="0"/>
              </a:spcAft>
              <a:buClr>
                <a:srgbClr val="000000"/>
              </a:buClr>
              <a:buSzPts val="1500"/>
              <a:buFont typeface="Noto Sans Symbols"/>
              <a:buChar char="−"/>
              <a:defRPr b="0" i="0" sz="2000" u="none" cap="none" strike="noStrike">
                <a:solidFill>
                  <a:schemeClr val="dk1"/>
                </a:solidFill>
                <a:latin typeface="Calibri"/>
                <a:ea typeface="Calibri"/>
                <a:cs typeface="Calibri"/>
                <a:sym typeface="Calibri"/>
              </a:defRPr>
            </a:lvl4pPr>
            <a:lvl5pPr indent="-285750" lvl="4" marL="2286000" marR="0" rtl="0" algn="l">
              <a:spcBef>
                <a:spcPts val="283"/>
              </a:spcBef>
              <a:spcAft>
                <a:spcPts val="0"/>
              </a:spcAft>
              <a:buClr>
                <a:srgbClr val="000000"/>
              </a:buClr>
              <a:buSzPts val="900"/>
              <a:buFont typeface="Noto Sans Symbols"/>
              <a:buChar char="●"/>
              <a:defRPr b="0" i="0" sz="2000" u="none" cap="none" strike="noStrike">
                <a:solidFill>
                  <a:schemeClr val="dk1"/>
                </a:solidFill>
                <a:latin typeface="Calibri"/>
                <a:ea typeface="Calibri"/>
                <a:cs typeface="Calibri"/>
                <a:sym typeface="Calibri"/>
              </a:defRPr>
            </a:lvl5pPr>
            <a:lvl6pPr indent="-285750" lvl="5" marL="2743200" marR="0" rtl="0" algn="l">
              <a:spcBef>
                <a:spcPts val="283"/>
              </a:spcBef>
              <a:spcAft>
                <a:spcPts val="0"/>
              </a:spcAft>
              <a:buClr>
                <a:srgbClr val="000000"/>
              </a:buClr>
              <a:buSzPts val="900"/>
              <a:buFont typeface="Noto Sans Symbols"/>
              <a:buChar char="●"/>
              <a:defRPr b="0" i="0" sz="2000" u="none" cap="none" strike="noStrike">
                <a:solidFill>
                  <a:schemeClr val="dk1"/>
                </a:solidFill>
                <a:latin typeface="Calibri"/>
                <a:ea typeface="Calibri"/>
                <a:cs typeface="Calibri"/>
                <a:sym typeface="Calibri"/>
              </a:defRPr>
            </a:lvl6pPr>
            <a:lvl7pPr indent="-285750" lvl="6" marL="3200400" marR="0" rtl="0" algn="l">
              <a:spcBef>
                <a:spcPts val="283"/>
              </a:spcBef>
              <a:spcAft>
                <a:spcPts val="0"/>
              </a:spcAft>
              <a:buClr>
                <a:srgbClr val="000000"/>
              </a:buClr>
              <a:buSzPts val="900"/>
              <a:buFont typeface="Noto Sans Symbols"/>
              <a:buChar char="●"/>
              <a:defRPr b="0" i="0" sz="20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0" name="Shape 20"/>
        <p:cNvGrpSpPr/>
        <p:nvPr/>
      </p:nvGrpSpPr>
      <p:grpSpPr>
        <a:xfrm>
          <a:off x="0" y="0"/>
          <a:ext cx="0" cy="0"/>
          <a:chOff x="0" y="0"/>
          <a:chExt cx="0" cy="0"/>
        </a:xfrm>
      </p:grpSpPr>
      <p:sp>
        <p:nvSpPr>
          <p:cNvPr id="21" name="Google Shape;21;p4"/>
          <p:cNvSpPr/>
          <p:nvPr/>
        </p:nvSpPr>
        <p:spPr>
          <a:xfrm>
            <a:off x="0" y="0"/>
            <a:ext cx="9143280" cy="54000"/>
          </a:xfrm>
          <a:prstGeom prst="rect">
            <a:avLst/>
          </a:prstGeom>
          <a:solidFill>
            <a:srgbClr val="22A89A"/>
          </a:solidFill>
          <a:ln cap="flat" cmpd="sng" w="12600">
            <a:solidFill>
              <a:srgbClr val="22A89A"/>
            </a:solidFill>
            <a:prstDash val="solid"/>
            <a:round/>
            <a:headEnd len="sm" w="sm" type="none"/>
            <a:tailEnd len="sm" w="sm" type="none"/>
          </a:ln>
        </p:spPr>
        <p:txBody>
          <a:bodyPr anchorCtr="0" anchor="t" bIns="9700" lIns="90000" spcFirstLastPara="1" rIns="90000" wrap="square" tIns="97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2" name="Google Shape;22;p4"/>
          <p:cNvSpPr/>
          <p:nvPr/>
        </p:nvSpPr>
        <p:spPr>
          <a:xfrm>
            <a:off x="457200" y="228600"/>
            <a:ext cx="8228880" cy="2736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900" u="none" strike="noStrike">
                <a:solidFill>
                  <a:srgbClr val="22A89A"/>
                </a:solidFill>
                <a:latin typeface="Calibri"/>
                <a:ea typeface="Calibri"/>
                <a:cs typeface="Calibri"/>
                <a:sym typeface="Calibri"/>
              </a:rPr>
              <a:t>LANDMARK UNIVERSITY, OMU-ARAN</a:t>
            </a:r>
            <a:endParaRPr b="0" sz="900" u="none" strike="noStrike">
              <a:solidFill>
                <a:srgbClr val="FFFFFF"/>
              </a:solidFill>
              <a:latin typeface="Arial"/>
              <a:ea typeface="Arial"/>
              <a:cs typeface="Arial"/>
              <a:sym typeface="Arial"/>
            </a:endParaRPr>
          </a:p>
        </p:txBody>
      </p:sp>
      <p:sp>
        <p:nvSpPr>
          <p:cNvPr id="23" name="Google Shape;23;p4"/>
          <p:cNvSpPr/>
          <p:nvPr/>
        </p:nvSpPr>
        <p:spPr>
          <a:xfrm>
            <a:off x="457200" y="475560"/>
            <a:ext cx="8228880" cy="2278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8E99A4"/>
                </a:solidFill>
                <a:latin typeface="Calibri"/>
                <a:ea typeface="Calibri"/>
                <a:cs typeface="Calibri"/>
                <a:sym typeface="Calibri"/>
              </a:rPr>
              <a:t>DEPARTMENT OF COMPUTER SCIENCE</a:t>
            </a:r>
            <a:endParaRPr b="0" sz="800" u="none" strike="noStrike">
              <a:solidFill>
                <a:srgbClr val="FFFFFF"/>
              </a:solidFill>
              <a:latin typeface="Arial"/>
              <a:ea typeface="Arial"/>
              <a:cs typeface="Arial"/>
              <a:sym typeface="Arial"/>
            </a:endParaRPr>
          </a:p>
        </p:txBody>
      </p:sp>
      <p:sp>
        <p:nvSpPr>
          <p:cNvPr id="24" name="Google Shape;24;p4"/>
          <p:cNvSpPr/>
          <p:nvPr/>
        </p:nvSpPr>
        <p:spPr>
          <a:xfrm>
            <a:off x="457200" y="960120"/>
            <a:ext cx="8228880" cy="100512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7200" u="none" strike="noStrike">
                <a:solidFill>
                  <a:srgbClr val="FFFFFF"/>
                </a:solidFill>
                <a:latin typeface="Cambria"/>
                <a:ea typeface="Cambria"/>
                <a:cs typeface="Cambria"/>
                <a:sym typeface="Cambria"/>
              </a:rPr>
              <a:t>AIDA</a:t>
            </a:r>
            <a:endParaRPr b="0" sz="7200" u="none" strike="noStrike">
              <a:solidFill>
                <a:srgbClr val="FFFFFF"/>
              </a:solidFill>
              <a:latin typeface="Arial"/>
              <a:ea typeface="Arial"/>
              <a:cs typeface="Arial"/>
              <a:sym typeface="Arial"/>
            </a:endParaRPr>
          </a:p>
        </p:txBody>
      </p:sp>
      <p:sp>
        <p:nvSpPr>
          <p:cNvPr id="25" name="Google Shape;25;p4"/>
          <p:cNvSpPr/>
          <p:nvPr/>
        </p:nvSpPr>
        <p:spPr>
          <a:xfrm>
            <a:off x="457200" y="1828800"/>
            <a:ext cx="822888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1" lang="en-US" sz="2000" u="none" strike="noStrike">
                <a:solidFill>
                  <a:srgbClr val="22A89A"/>
                </a:solidFill>
                <a:latin typeface="Calibri"/>
                <a:ea typeface="Calibri"/>
                <a:cs typeface="Calibri"/>
                <a:sym typeface="Calibri"/>
              </a:rPr>
              <a:t>Affective Intelligent Dialogue Agent</a:t>
            </a:r>
            <a:endParaRPr b="0" sz="2000" u="none" strike="noStrike">
              <a:solidFill>
                <a:srgbClr val="FFFFFF"/>
              </a:solidFill>
              <a:latin typeface="Arial"/>
              <a:ea typeface="Arial"/>
              <a:cs typeface="Arial"/>
              <a:sym typeface="Arial"/>
            </a:endParaRPr>
          </a:p>
        </p:txBody>
      </p:sp>
      <p:sp>
        <p:nvSpPr>
          <p:cNvPr id="26" name="Google Shape;26;p4"/>
          <p:cNvSpPr/>
          <p:nvPr/>
        </p:nvSpPr>
        <p:spPr>
          <a:xfrm>
            <a:off x="457200" y="2286000"/>
            <a:ext cx="8228880" cy="383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1600" u="none" strike="noStrike">
                <a:solidFill>
                  <a:srgbClr val="D6DDE3"/>
                </a:solidFill>
                <a:latin typeface="Calibri"/>
                <a:ea typeface="Calibri"/>
                <a:cs typeface="Calibri"/>
                <a:sym typeface="Calibri"/>
              </a:rPr>
              <a:t>for Preliminary Mental Health Intervention</a:t>
            </a:r>
            <a:endParaRPr b="0" sz="1600" u="none" strike="noStrike">
              <a:solidFill>
                <a:srgbClr val="FFFFFF"/>
              </a:solidFill>
              <a:latin typeface="Arial"/>
              <a:ea typeface="Arial"/>
              <a:cs typeface="Arial"/>
              <a:sym typeface="Arial"/>
            </a:endParaRPr>
          </a:p>
        </p:txBody>
      </p:sp>
      <p:sp>
        <p:nvSpPr>
          <p:cNvPr id="27" name="Google Shape;27;p4"/>
          <p:cNvSpPr/>
          <p:nvPr/>
        </p:nvSpPr>
        <p:spPr>
          <a:xfrm>
            <a:off x="3200400" y="2816280"/>
            <a:ext cx="2742480" cy="36000"/>
          </a:xfrm>
          <a:prstGeom prst="rect">
            <a:avLst/>
          </a:prstGeom>
          <a:solidFill>
            <a:srgbClr val="E8A838"/>
          </a:solidFill>
          <a:ln cap="flat" cmpd="sng" w="12600">
            <a:solidFill>
              <a:srgbClr val="E8A838"/>
            </a:solidFill>
            <a:prstDash val="solid"/>
            <a:round/>
            <a:headEnd len="sm" w="sm" type="none"/>
            <a:tailEnd len="sm" w="sm" type="none"/>
          </a:ln>
        </p:spPr>
        <p:txBody>
          <a:bodyPr anchorCtr="0" anchor="t" bIns="0" lIns="90000" spcFirstLastPara="1" rIns="90000" wrap="square" tIns="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8" name="Google Shape;28;p4"/>
          <p:cNvSpPr/>
          <p:nvPr/>
        </p:nvSpPr>
        <p:spPr>
          <a:xfrm>
            <a:off x="457200" y="2999160"/>
            <a:ext cx="8228880" cy="2919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300" u="none" strike="noStrike">
                <a:solidFill>
                  <a:srgbClr val="FFFFFF"/>
                </a:solidFill>
                <a:latin typeface="Calibri"/>
                <a:ea typeface="Calibri"/>
                <a:cs typeface="Calibri"/>
                <a:sym typeface="Calibri"/>
              </a:rPr>
              <a:t>EMEKA, YOHANAN KAMSI</a:t>
            </a:r>
            <a:endParaRPr b="0" sz="1300" u="none" strike="noStrike">
              <a:solidFill>
                <a:srgbClr val="FFFFFF"/>
              </a:solidFill>
              <a:latin typeface="Arial"/>
              <a:ea typeface="Arial"/>
              <a:cs typeface="Arial"/>
              <a:sym typeface="Arial"/>
            </a:endParaRPr>
          </a:p>
        </p:txBody>
      </p:sp>
      <p:sp>
        <p:nvSpPr>
          <p:cNvPr id="29" name="Google Shape;29;p4"/>
          <p:cNvSpPr/>
          <p:nvPr/>
        </p:nvSpPr>
        <p:spPr>
          <a:xfrm>
            <a:off x="457200" y="3310200"/>
            <a:ext cx="8228880" cy="25524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1000" u="none" strike="noStrike">
                <a:solidFill>
                  <a:srgbClr val="8E99A4"/>
                </a:solidFill>
                <a:latin typeface="Calibri"/>
                <a:ea typeface="Calibri"/>
                <a:cs typeface="Calibri"/>
                <a:sym typeface="Calibri"/>
              </a:rPr>
              <a:t>Final Year Project  •  Second Defense  •  2026</a:t>
            </a:r>
            <a:endParaRPr b="0" sz="1000" u="none" strike="noStrike">
              <a:solidFill>
                <a:srgbClr val="FFFFFF"/>
              </a:solidFill>
              <a:latin typeface="Arial"/>
              <a:ea typeface="Arial"/>
              <a:cs typeface="Arial"/>
              <a:sym typeface="Arial"/>
            </a:endParaRPr>
          </a:p>
        </p:txBody>
      </p:sp>
      <p:sp>
        <p:nvSpPr>
          <p:cNvPr id="30" name="Google Shape;30;p4"/>
          <p:cNvSpPr/>
          <p:nvPr/>
        </p:nvSpPr>
        <p:spPr>
          <a:xfrm>
            <a:off x="0" y="4846320"/>
            <a:ext cx="9143280" cy="296640"/>
          </a:xfrm>
          <a:prstGeom prst="rect">
            <a:avLst/>
          </a:prstGeom>
          <a:solidFill>
            <a:srgbClr val="091320"/>
          </a:solidFill>
          <a:ln cap="flat" cmpd="sng" w="12600">
            <a:solidFill>
              <a:srgbClr val="091320"/>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1" name="Google Shape;31;p4"/>
          <p:cNvSpPr/>
          <p:nvPr/>
        </p:nvSpPr>
        <p:spPr>
          <a:xfrm>
            <a:off x="457200" y="4883040"/>
            <a:ext cx="8228880" cy="2368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900" u="none" strike="noStrike">
                <a:solidFill>
                  <a:srgbClr val="8E99A4"/>
                </a:solidFill>
                <a:latin typeface="Calibri"/>
                <a:ea typeface="Calibri"/>
                <a:cs typeface="Calibri"/>
                <a:sym typeface="Calibri"/>
              </a:rPr>
              <a:t>Supervisor: Dr. Emmanuel Igbekele   |   Co-Supervisor: Mr. Fortune Amrevuawho</a:t>
            </a:r>
            <a:endParaRPr b="0" sz="900" u="none" strike="noStrike">
              <a:solidFill>
                <a:srgbClr val="FFFFFF"/>
              </a:solidFill>
              <a:latin typeface="Arial"/>
              <a:ea typeface="Arial"/>
              <a:cs typeface="Arial"/>
              <a:sym typeface="Arial"/>
            </a:endParaRPr>
          </a:p>
        </p:txBody>
      </p:sp>
      <p:pic>
        <p:nvPicPr>
          <p:cNvPr id="32" name="Google Shape;32;p4"/>
          <p:cNvPicPr preferRelativeResize="0"/>
          <p:nvPr/>
        </p:nvPicPr>
        <p:blipFill>
          <a:blip r:embed="rId3">
            <a:alphaModFix/>
          </a:blip>
          <a:stretch>
            <a:fillRect/>
          </a:stretch>
        </p:blipFill>
        <p:spPr>
          <a:xfrm>
            <a:off x="369763" y="650525"/>
            <a:ext cx="1952625" cy="2200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7" name="Shape 37"/>
        <p:cNvGrpSpPr/>
        <p:nvPr/>
      </p:nvGrpSpPr>
      <p:grpSpPr>
        <a:xfrm>
          <a:off x="0" y="0"/>
          <a:ext cx="0" cy="0"/>
          <a:chOff x="0" y="0"/>
          <a:chExt cx="0" cy="0"/>
        </a:xfrm>
      </p:grpSpPr>
      <p:sp>
        <p:nvSpPr>
          <p:cNvPr id="38" name="Google Shape;38;p5"/>
          <p:cNvSpPr/>
          <p:nvPr/>
        </p:nvSpPr>
        <p:spPr>
          <a:xfrm>
            <a:off x="457200" y="255960"/>
            <a:ext cx="8228880" cy="4564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2800" u="none" strike="noStrike">
                <a:solidFill>
                  <a:srgbClr val="0D1B2A"/>
                </a:solidFill>
                <a:latin typeface="Cambria"/>
                <a:ea typeface="Cambria"/>
                <a:cs typeface="Cambria"/>
                <a:sym typeface="Cambria"/>
              </a:rPr>
              <a:t>OUTLINE</a:t>
            </a:r>
            <a:endParaRPr b="0" sz="2800" u="none" strike="noStrike">
              <a:solidFill>
                <a:srgbClr val="000000"/>
              </a:solidFill>
              <a:latin typeface="Arial"/>
              <a:ea typeface="Arial"/>
              <a:cs typeface="Arial"/>
              <a:sym typeface="Arial"/>
            </a:endParaRPr>
          </a:p>
        </p:txBody>
      </p:sp>
      <p:sp>
        <p:nvSpPr>
          <p:cNvPr id="39" name="Google Shape;39;p5"/>
          <p:cNvSpPr/>
          <p:nvPr/>
        </p:nvSpPr>
        <p:spPr>
          <a:xfrm>
            <a:off x="457200" y="960120"/>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0" name="Google Shape;40;p5"/>
          <p:cNvSpPr/>
          <p:nvPr/>
        </p:nvSpPr>
        <p:spPr>
          <a:xfrm>
            <a:off x="567000" y="1115640"/>
            <a:ext cx="419760" cy="41976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1" name="Google Shape;41;p5"/>
          <p:cNvSpPr/>
          <p:nvPr/>
        </p:nvSpPr>
        <p:spPr>
          <a:xfrm>
            <a:off x="567000" y="1115640"/>
            <a:ext cx="419760" cy="4197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01</a:t>
            </a:r>
            <a:endParaRPr b="0" sz="1100" u="none" strike="noStrike">
              <a:solidFill>
                <a:srgbClr val="000000"/>
              </a:solidFill>
              <a:latin typeface="Arial"/>
              <a:ea typeface="Arial"/>
              <a:cs typeface="Arial"/>
              <a:sym typeface="Arial"/>
            </a:endParaRPr>
          </a:p>
        </p:txBody>
      </p:sp>
      <p:sp>
        <p:nvSpPr>
          <p:cNvPr id="42" name="Google Shape;42;p5"/>
          <p:cNvSpPr/>
          <p:nvPr/>
        </p:nvSpPr>
        <p:spPr>
          <a:xfrm>
            <a:off x="1115640" y="1106280"/>
            <a:ext cx="3382560" cy="43812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300" u="none" strike="noStrike">
                <a:solidFill>
                  <a:srgbClr val="0D1B2A"/>
                </a:solidFill>
                <a:latin typeface="Calibri"/>
                <a:ea typeface="Calibri"/>
                <a:cs typeface="Calibri"/>
                <a:sym typeface="Calibri"/>
              </a:rPr>
              <a:t>Background &amp; Problem Statement</a:t>
            </a:r>
            <a:endParaRPr b="0" sz="1300" u="none" strike="noStrike">
              <a:solidFill>
                <a:srgbClr val="000000"/>
              </a:solidFill>
              <a:latin typeface="Arial"/>
              <a:ea typeface="Arial"/>
              <a:cs typeface="Arial"/>
              <a:sym typeface="Arial"/>
            </a:endParaRPr>
          </a:p>
        </p:txBody>
      </p:sp>
      <p:sp>
        <p:nvSpPr>
          <p:cNvPr id="43" name="Google Shape;43;p5"/>
          <p:cNvSpPr/>
          <p:nvPr/>
        </p:nvSpPr>
        <p:spPr>
          <a:xfrm>
            <a:off x="457200" y="1847160"/>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4" name="Google Shape;44;p5"/>
          <p:cNvSpPr/>
          <p:nvPr/>
        </p:nvSpPr>
        <p:spPr>
          <a:xfrm>
            <a:off x="567000" y="2002680"/>
            <a:ext cx="419760" cy="41976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5" name="Google Shape;45;p5"/>
          <p:cNvSpPr/>
          <p:nvPr/>
        </p:nvSpPr>
        <p:spPr>
          <a:xfrm>
            <a:off x="567000" y="2002680"/>
            <a:ext cx="419760" cy="4197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02</a:t>
            </a:r>
            <a:endParaRPr b="0" sz="1100" u="none" strike="noStrike">
              <a:solidFill>
                <a:srgbClr val="000000"/>
              </a:solidFill>
              <a:latin typeface="Arial"/>
              <a:ea typeface="Arial"/>
              <a:cs typeface="Arial"/>
              <a:sym typeface="Arial"/>
            </a:endParaRPr>
          </a:p>
        </p:txBody>
      </p:sp>
      <p:sp>
        <p:nvSpPr>
          <p:cNvPr id="46" name="Google Shape;46;p5"/>
          <p:cNvSpPr/>
          <p:nvPr/>
        </p:nvSpPr>
        <p:spPr>
          <a:xfrm>
            <a:off x="1115640" y="1993320"/>
            <a:ext cx="3382560" cy="43812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300" u="none" strike="noStrike">
                <a:solidFill>
                  <a:srgbClr val="0D1B2A"/>
                </a:solidFill>
                <a:latin typeface="Calibri"/>
                <a:ea typeface="Calibri"/>
                <a:cs typeface="Calibri"/>
                <a:sym typeface="Calibri"/>
              </a:rPr>
              <a:t>Aim &amp; Objectives</a:t>
            </a:r>
            <a:endParaRPr b="0" sz="1300" u="none" strike="noStrike">
              <a:solidFill>
                <a:srgbClr val="000000"/>
              </a:solidFill>
              <a:latin typeface="Arial"/>
              <a:ea typeface="Arial"/>
              <a:cs typeface="Arial"/>
              <a:sym typeface="Arial"/>
            </a:endParaRPr>
          </a:p>
        </p:txBody>
      </p:sp>
      <p:sp>
        <p:nvSpPr>
          <p:cNvPr id="47" name="Google Shape;47;p5"/>
          <p:cNvSpPr/>
          <p:nvPr/>
        </p:nvSpPr>
        <p:spPr>
          <a:xfrm>
            <a:off x="457200" y="2734200"/>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8" name="Google Shape;48;p5"/>
          <p:cNvSpPr/>
          <p:nvPr/>
        </p:nvSpPr>
        <p:spPr>
          <a:xfrm>
            <a:off x="567000" y="2889360"/>
            <a:ext cx="419760" cy="41976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9" name="Google Shape;49;p5"/>
          <p:cNvSpPr/>
          <p:nvPr/>
        </p:nvSpPr>
        <p:spPr>
          <a:xfrm>
            <a:off x="567000" y="2889360"/>
            <a:ext cx="419760" cy="4197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03</a:t>
            </a:r>
            <a:endParaRPr b="0" sz="1100" u="none" strike="noStrike">
              <a:solidFill>
                <a:srgbClr val="000000"/>
              </a:solidFill>
              <a:latin typeface="Arial"/>
              <a:ea typeface="Arial"/>
              <a:cs typeface="Arial"/>
              <a:sym typeface="Arial"/>
            </a:endParaRPr>
          </a:p>
        </p:txBody>
      </p:sp>
      <p:sp>
        <p:nvSpPr>
          <p:cNvPr id="50" name="Google Shape;50;p5"/>
          <p:cNvSpPr/>
          <p:nvPr/>
        </p:nvSpPr>
        <p:spPr>
          <a:xfrm>
            <a:off x="1115640" y="2880360"/>
            <a:ext cx="3382560" cy="43812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300" u="none" strike="noStrike">
                <a:solidFill>
                  <a:srgbClr val="0D1B2A"/>
                </a:solidFill>
                <a:latin typeface="Calibri"/>
                <a:ea typeface="Calibri"/>
                <a:cs typeface="Calibri"/>
                <a:sym typeface="Calibri"/>
              </a:rPr>
              <a:t>The AEIF Framework</a:t>
            </a:r>
            <a:endParaRPr b="0" sz="1300" u="none" strike="noStrike">
              <a:solidFill>
                <a:srgbClr val="000000"/>
              </a:solidFill>
              <a:latin typeface="Arial"/>
              <a:ea typeface="Arial"/>
              <a:cs typeface="Arial"/>
              <a:sym typeface="Arial"/>
            </a:endParaRPr>
          </a:p>
        </p:txBody>
      </p:sp>
      <p:sp>
        <p:nvSpPr>
          <p:cNvPr id="51" name="Google Shape;51;p5"/>
          <p:cNvSpPr/>
          <p:nvPr/>
        </p:nvSpPr>
        <p:spPr>
          <a:xfrm>
            <a:off x="457200" y="3620880"/>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2" name="Google Shape;52;p5"/>
          <p:cNvSpPr/>
          <p:nvPr/>
        </p:nvSpPr>
        <p:spPr>
          <a:xfrm>
            <a:off x="567000" y="3776400"/>
            <a:ext cx="419760" cy="41976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53" name="Google Shape;53;p5"/>
          <p:cNvSpPr/>
          <p:nvPr/>
        </p:nvSpPr>
        <p:spPr>
          <a:xfrm>
            <a:off x="567000" y="3776400"/>
            <a:ext cx="419760" cy="4197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04</a:t>
            </a:r>
            <a:endParaRPr b="0" sz="1100" u="none" strike="noStrike">
              <a:solidFill>
                <a:srgbClr val="000000"/>
              </a:solidFill>
              <a:latin typeface="Arial"/>
              <a:ea typeface="Arial"/>
              <a:cs typeface="Arial"/>
              <a:sym typeface="Arial"/>
            </a:endParaRPr>
          </a:p>
        </p:txBody>
      </p:sp>
      <p:sp>
        <p:nvSpPr>
          <p:cNvPr id="54" name="Google Shape;54;p5"/>
          <p:cNvSpPr/>
          <p:nvPr/>
        </p:nvSpPr>
        <p:spPr>
          <a:xfrm>
            <a:off x="1115640" y="3767400"/>
            <a:ext cx="3382560" cy="43812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300" u="none" strike="noStrike">
                <a:solidFill>
                  <a:srgbClr val="0D1B2A"/>
                </a:solidFill>
                <a:latin typeface="Calibri"/>
                <a:ea typeface="Calibri"/>
                <a:cs typeface="Calibri"/>
                <a:sym typeface="Calibri"/>
              </a:rPr>
              <a:t>System Architecture</a:t>
            </a:r>
            <a:endParaRPr b="0" sz="1300" u="none" strike="noStrike">
              <a:solidFill>
                <a:srgbClr val="000000"/>
              </a:solidFill>
              <a:latin typeface="Arial"/>
              <a:ea typeface="Arial"/>
              <a:cs typeface="Arial"/>
              <a:sym typeface="Arial"/>
            </a:endParaRPr>
          </a:p>
        </p:txBody>
      </p:sp>
      <p:sp>
        <p:nvSpPr>
          <p:cNvPr id="55" name="Google Shape;55;p5"/>
          <p:cNvSpPr/>
          <p:nvPr/>
        </p:nvSpPr>
        <p:spPr>
          <a:xfrm>
            <a:off x="4892040" y="960120"/>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6" name="Google Shape;56;p5"/>
          <p:cNvSpPr/>
          <p:nvPr/>
        </p:nvSpPr>
        <p:spPr>
          <a:xfrm>
            <a:off x="5001840" y="1115640"/>
            <a:ext cx="419760" cy="41976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57" name="Google Shape;57;p5"/>
          <p:cNvSpPr/>
          <p:nvPr/>
        </p:nvSpPr>
        <p:spPr>
          <a:xfrm>
            <a:off x="5001840" y="1115640"/>
            <a:ext cx="419760" cy="4197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05</a:t>
            </a:r>
            <a:endParaRPr b="0" sz="1100" u="none" strike="noStrike">
              <a:solidFill>
                <a:srgbClr val="000000"/>
              </a:solidFill>
              <a:latin typeface="Arial"/>
              <a:ea typeface="Arial"/>
              <a:cs typeface="Arial"/>
              <a:sym typeface="Arial"/>
            </a:endParaRPr>
          </a:p>
        </p:txBody>
      </p:sp>
      <p:sp>
        <p:nvSpPr>
          <p:cNvPr id="58" name="Google Shape;58;p5"/>
          <p:cNvSpPr/>
          <p:nvPr/>
        </p:nvSpPr>
        <p:spPr>
          <a:xfrm>
            <a:off x="5550480" y="1106280"/>
            <a:ext cx="3382560" cy="43812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300" u="none" strike="noStrike">
                <a:solidFill>
                  <a:srgbClr val="0D1B2A"/>
                </a:solidFill>
                <a:latin typeface="Calibri"/>
                <a:ea typeface="Calibri"/>
                <a:cs typeface="Calibri"/>
                <a:sym typeface="Calibri"/>
              </a:rPr>
              <a:t>Implementation</a:t>
            </a:r>
            <a:endParaRPr b="0" sz="1300" u="none" strike="noStrike">
              <a:solidFill>
                <a:srgbClr val="000000"/>
              </a:solidFill>
              <a:latin typeface="Arial"/>
              <a:ea typeface="Arial"/>
              <a:cs typeface="Arial"/>
              <a:sym typeface="Arial"/>
            </a:endParaRPr>
          </a:p>
        </p:txBody>
      </p:sp>
      <p:sp>
        <p:nvSpPr>
          <p:cNvPr id="59" name="Google Shape;59;p5"/>
          <p:cNvSpPr/>
          <p:nvPr/>
        </p:nvSpPr>
        <p:spPr>
          <a:xfrm>
            <a:off x="4892040" y="1847160"/>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0" name="Google Shape;60;p5"/>
          <p:cNvSpPr/>
          <p:nvPr/>
        </p:nvSpPr>
        <p:spPr>
          <a:xfrm>
            <a:off x="5001840" y="2002680"/>
            <a:ext cx="419760" cy="41976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61" name="Google Shape;61;p5"/>
          <p:cNvSpPr/>
          <p:nvPr/>
        </p:nvSpPr>
        <p:spPr>
          <a:xfrm>
            <a:off x="5001840" y="2002680"/>
            <a:ext cx="419760" cy="4197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06</a:t>
            </a:r>
            <a:endParaRPr b="0" sz="1100" u="none" strike="noStrike">
              <a:solidFill>
                <a:srgbClr val="000000"/>
              </a:solidFill>
              <a:latin typeface="Arial"/>
              <a:ea typeface="Arial"/>
              <a:cs typeface="Arial"/>
              <a:sym typeface="Arial"/>
            </a:endParaRPr>
          </a:p>
        </p:txBody>
      </p:sp>
      <p:sp>
        <p:nvSpPr>
          <p:cNvPr id="62" name="Google Shape;62;p5"/>
          <p:cNvSpPr/>
          <p:nvPr/>
        </p:nvSpPr>
        <p:spPr>
          <a:xfrm>
            <a:off x="5550480" y="1993320"/>
            <a:ext cx="3382560" cy="43812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300" u="none" strike="noStrike">
                <a:solidFill>
                  <a:srgbClr val="0D1B2A"/>
                </a:solidFill>
                <a:latin typeface="Calibri"/>
                <a:ea typeface="Calibri"/>
                <a:cs typeface="Calibri"/>
                <a:sym typeface="Calibri"/>
              </a:rPr>
              <a:t>Evaluation Results</a:t>
            </a:r>
            <a:endParaRPr b="0" sz="1300" u="none" strike="noStrike">
              <a:solidFill>
                <a:srgbClr val="000000"/>
              </a:solidFill>
              <a:latin typeface="Arial"/>
              <a:ea typeface="Arial"/>
              <a:cs typeface="Arial"/>
              <a:sym typeface="Arial"/>
            </a:endParaRPr>
          </a:p>
        </p:txBody>
      </p:sp>
      <p:sp>
        <p:nvSpPr>
          <p:cNvPr id="63" name="Google Shape;63;p5"/>
          <p:cNvSpPr/>
          <p:nvPr/>
        </p:nvSpPr>
        <p:spPr>
          <a:xfrm>
            <a:off x="4892040" y="2734200"/>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4" name="Google Shape;64;p5"/>
          <p:cNvSpPr/>
          <p:nvPr/>
        </p:nvSpPr>
        <p:spPr>
          <a:xfrm>
            <a:off x="5001840" y="2889360"/>
            <a:ext cx="419760" cy="41976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65" name="Google Shape;65;p5"/>
          <p:cNvSpPr/>
          <p:nvPr/>
        </p:nvSpPr>
        <p:spPr>
          <a:xfrm>
            <a:off x="5001840" y="2889360"/>
            <a:ext cx="419760" cy="4197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07</a:t>
            </a:r>
            <a:endParaRPr b="0" sz="1100" u="none" strike="noStrike">
              <a:solidFill>
                <a:srgbClr val="000000"/>
              </a:solidFill>
              <a:latin typeface="Arial"/>
              <a:ea typeface="Arial"/>
              <a:cs typeface="Arial"/>
              <a:sym typeface="Arial"/>
            </a:endParaRPr>
          </a:p>
        </p:txBody>
      </p:sp>
      <p:sp>
        <p:nvSpPr>
          <p:cNvPr id="66" name="Google Shape;66;p5"/>
          <p:cNvSpPr/>
          <p:nvPr/>
        </p:nvSpPr>
        <p:spPr>
          <a:xfrm>
            <a:off x="5550480" y="2880360"/>
            <a:ext cx="3382560" cy="43812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300" u="none" strike="noStrike">
                <a:solidFill>
                  <a:srgbClr val="0D1B2A"/>
                </a:solidFill>
                <a:latin typeface="Calibri"/>
                <a:ea typeface="Calibri"/>
                <a:cs typeface="Calibri"/>
                <a:sym typeface="Calibri"/>
              </a:rPr>
              <a:t>AEIF vs. Baseline Comparison</a:t>
            </a:r>
            <a:endParaRPr b="0" sz="1300" u="none" strike="noStrike">
              <a:solidFill>
                <a:srgbClr val="000000"/>
              </a:solidFill>
              <a:latin typeface="Arial"/>
              <a:ea typeface="Arial"/>
              <a:cs typeface="Arial"/>
              <a:sym typeface="Arial"/>
            </a:endParaRPr>
          </a:p>
        </p:txBody>
      </p:sp>
      <p:sp>
        <p:nvSpPr>
          <p:cNvPr id="67" name="Google Shape;67;p5"/>
          <p:cNvSpPr/>
          <p:nvPr/>
        </p:nvSpPr>
        <p:spPr>
          <a:xfrm>
            <a:off x="4892040" y="3620880"/>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8" name="Google Shape;68;p5"/>
          <p:cNvSpPr/>
          <p:nvPr/>
        </p:nvSpPr>
        <p:spPr>
          <a:xfrm>
            <a:off x="5001840" y="3776400"/>
            <a:ext cx="419760" cy="41976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69" name="Google Shape;69;p5"/>
          <p:cNvSpPr/>
          <p:nvPr/>
        </p:nvSpPr>
        <p:spPr>
          <a:xfrm>
            <a:off x="5001840" y="3776400"/>
            <a:ext cx="419760" cy="4197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08</a:t>
            </a:r>
            <a:endParaRPr b="0" sz="1100" u="none" strike="noStrike">
              <a:solidFill>
                <a:srgbClr val="000000"/>
              </a:solidFill>
              <a:latin typeface="Arial"/>
              <a:ea typeface="Arial"/>
              <a:cs typeface="Arial"/>
              <a:sym typeface="Arial"/>
            </a:endParaRPr>
          </a:p>
        </p:txBody>
      </p:sp>
      <p:sp>
        <p:nvSpPr>
          <p:cNvPr id="70" name="Google Shape;70;p5"/>
          <p:cNvSpPr/>
          <p:nvPr/>
        </p:nvSpPr>
        <p:spPr>
          <a:xfrm>
            <a:off x="5550480" y="3767400"/>
            <a:ext cx="3382560" cy="43812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300" u="none" strike="noStrike">
                <a:solidFill>
                  <a:srgbClr val="0D1B2A"/>
                </a:solidFill>
                <a:latin typeface="Calibri"/>
                <a:ea typeface="Calibri"/>
                <a:cs typeface="Calibri"/>
                <a:sym typeface="Calibri"/>
              </a:rPr>
              <a:t>Conclusion &amp; Future Work</a:t>
            </a:r>
            <a:endParaRPr b="0" sz="1300" u="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 name="Shape 75"/>
        <p:cNvGrpSpPr/>
        <p:nvPr/>
      </p:nvGrpSpPr>
      <p:grpSpPr>
        <a:xfrm>
          <a:off x="0" y="0"/>
          <a:ext cx="0" cy="0"/>
          <a:chOff x="0" y="0"/>
          <a:chExt cx="0" cy="0"/>
        </a:xfrm>
      </p:grpSpPr>
      <p:sp>
        <p:nvSpPr>
          <p:cNvPr id="76" name="Google Shape;76;p6"/>
          <p:cNvSpPr/>
          <p:nvPr/>
        </p:nvSpPr>
        <p:spPr>
          <a:xfrm>
            <a:off x="0" y="0"/>
            <a:ext cx="9143280" cy="959400"/>
          </a:xfrm>
          <a:prstGeom prst="rect">
            <a:avLst/>
          </a:prstGeom>
          <a:solidFill>
            <a:srgbClr val="0D1B2A"/>
          </a:solidFill>
          <a:ln cap="flat" cmpd="sng" w="12600">
            <a:solidFill>
              <a:srgbClr val="0D1B2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77" name="Google Shape;77;p6"/>
          <p:cNvSpPr/>
          <p:nvPr/>
        </p:nvSpPr>
        <p:spPr>
          <a:xfrm>
            <a:off x="365760" y="1188720"/>
            <a:ext cx="2468160" cy="913680"/>
          </a:xfrm>
          <a:prstGeom prst="roundRect">
            <a:avLst>
              <a:gd fmla="val 10000" name="adj"/>
            </a:avLst>
          </a:prstGeom>
          <a:solidFill>
            <a:srgbClr val="0D1B2A"/>
          </a:solidFill>
          <a:ln cap="flat" cmpd="sng" w="12600">
            <a:solidFill>
              <a:srgbClr val="0D1B2A"/>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78" name="Google Shape;78;p6"/>
          <p:cNvSpPr/>
          <p:nvPr/>
        </p:nvSpPr>
        <p:spPr>
          <a:xfrm>
            <a:off x="365760" y="1234440"/>
            <a:ext cx="2468160" cy="4564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2800" u="none" strike="noStrike">
                <a:solidFill>
                  <a:srgbClr val="E8A838"/>
                </a:solidFill>
                <a:latin typeface="Cambria"/>
                <a:ea typeface="Cambria"/>
                <a:cs typeface="Cambria"/>
                <a:sym typeface="Cambria"/>
              </a:rPr>
              <a:t>1 in 4</a:t>
            </a:r>
            <a:endParaRPr b="0" sz="2800" u="none" strike="noStrike">
              <a:solidFill>
                <a:srgbClr val="000000"/>
              </a:solidFill>
              <a:latin typeface="Arial"/>
              <a:ea typeface="Arial"/>
              <a:cs typeface="Arial"/>
              <a:sym typeface="Arial"/>
            </a:endParaRPr>
          </a:p>
        </p:txBody>
      </p:sp>
      <p:sp>
        <p:nvSpPr>
          <p:cNvPr id="79" name="Google Shape;79;p6"/>
          <p:cNvSpPr/>
          <p:nvPr/>
        </p:nvSpPr>
        <p:spPr>
          <a:xfrm>
            <a:off x="365760" y="1664280"/>
            <a:ext cx="2468160" cy="383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950" u="none" strike="noStrike">
                <a:solidFill>
                  <a:srgbClr val="D6DDE3"/>
                </a:solidFill>
                <a:latin typeface="Calibri"/>
                <a:ea typeface="Calibri"/>
                <a:cs typeface="Calibri"/>
                <a:sym typeface="Calibri"/>
              </a:rPr>
              <a:t>Nigerians affected by a mental</a:t>
            </a:r>
            <a:endParaRPr b="0" sz="9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n-US" sz="950" u="none" strike="noStrike">
                <a:solidFill>
                  <a:srgbClr val="D6DDE3"/>
                </a:solidFill>
                <a:latin typeface="Calibri"/>
                <a:ea typeface="Calibri"/>
                <a:cs typeface="Calibri"/>
                <a:sym typeface="Calibri"/>
              </a:rPr>
              <a:t>health condition (WHO)</a:t>
            </a:r>
            <a:endParaRPr b="0" sz="950" u="none" strike="noStrike">
              <a:solidFill>
                <a:srgbClr val="000000"/>
              </a:solidFill>
              <a:latin typeface="Arial"/>
              <a:ea typeface="Arial"/>
              <a:cs typeface="Arial"/>
              <a:sym typeface="Arial"/>
            </a:endParaRPr>
          </a:p>
        </p:txBody>
      </p:sp>
      <p:sp>
        <p:nvSpPr>
          <p:cNvPr id="80" name="Google Shape;80;p6"/>
          <p:cNvSpPr/>
          <p:nvPr/>
        </p:nvSpPr>
        <p:spPr>
          <a:xfrm>
            <a:off x="365760" y="2286000"/>
            <a:ext cx="2468160" cy="913680"/>
          </a:xfrm>
          <a:prstGeom prst="roundRect">
            <a:avLst>
              <a:gd fmla="val 10000" name="adj"/>
            </a:avLst>
          </a:prstGeom>
          <a:solidFill>
            <a:srgbClr val="0D1B2A"/>
          </a:solidFill>
          <a:ln cap="flat" cmpd="sng" w="12600">
            <a:solidFill>
              <a:srgbClr val="0D1B2A"/>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81" name="Google Shape;81;p6"/>
          <p:cNvSpPr/>
          <p:nvPr/>
        </p:nvSpPr>
        <p:spPr>
          <a:xfrm>
            <a:off x="365760" y="2331720"/>
            <a:ext cx="2468160" cy="4564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2800" u="none" strike="noStrike">
                <a:solidFill>
                  <a:srgbClr val="E8A838"/>
                </a:solidFill>
                <a:latin typeface="Cambria"/>
                <a:ea typeface="Cambria"/>
                <a:cs typeface="Cambria"/>
                <a:sym typeface="Cambria"/>
              </a:rPr>
              <a:t>&lt; 300</a:t>
            </a:r>
            <a:endParaRPr b="0" sz="2800" u="none" strike="noStrike">
              <a:solidFill>
                <a:srgbClr val="000000"/>
              </a:solidFill>
              <a:latin typeface="Arial"/>
              <a:ea typeface="Arial"/>
              <a:cs typeface="Arial"/>
              <a:sym typeface="Arial"/>
            </a:endParaRPr>
          </a:p>
        </p:txBody>
      </p:sp>
      <p:sp>
        <p:nvSpPr>
          <p:cNvPr id="82" name="Google Shape;82;p6"/>
          <p:cNvSpPr/>
          <p:nvPr/>
        </p:nvSpPr>
        <p:spPr>
          <a:xfrm>
            <a:off x="365760" y="2761560"/>
            <a:ext cx="2468160" cy="383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950" u="none" strike="noStrike">
                <a:solidFill>
                  <a:srgbClr val="D6DDE3"/>
                </a:solidFill>
                <a:latin typeface="Calibri"/>
                <a:ea typeface="Calibri"/>
                <a:cs typeface="Calibri"/>
                <a:sym typeface="Calibri"/>
              </a:rPr>
              <a:t>Psychiatrists for 200M+ population</a:t>
            </a:r>
            <a:endParaRPr b="0" sz="950" u="none" strike="noStrike">
              <a:solidFill>
                <a:srgbClr val="000000"/>
              </a:solidFill>
              <a:latin typeface="Arial"/>
              <a:ea typeface="Arial"/>
              <a:cs typeface="Arial"/>
              <a:sym typeface="Arial"/>
            </a:endParaRPr>
          </a:p>
        </p:txBody>
      </p:sp>
      <p:sp>
        <p:nvSpPr>
          <p:cNvPr id="83" name="Google Shape;83;p6"/>
          <p:cNvSpPr/>
          <p:nvPr/>
        </p:nvSpPr>
        <p:spPr>
          <a:xfrm>
            <a:off x="365760" y="3383280"/>
            <a:ext cx="2468160" cy="913680"/>
          </a:xfrm>
          <a:prstGeom prst="roundRect">
            <a:avLst>
              <a:gd fmla="val 10000" name="adj"/>
            </a:avLst>
          </a:prstGeom>
          <a:solidFill>
            <a:srgbClr val="0D1B2A"/>
          </a:solidFill>
          <a:ln cap="flat" cmpd="sng" w="12600">
            <a:solidFill>
              <a:srgbClr val="0D1B2A"/>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84" name="Google Shape;84;p6"/>
          <p:cNvSpPr/>
          <p:nvPr/>
        </p:nvSpPr>
        <p:spPr>
          <a:xfrm>
            <a:off x="365760" y="3429000"/>
            <a:ext cx="2468160" cy="4564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2800" u="none" strike="noStrike">
                <a:solidFill>
                  <a:srgbClr val="E8A838"/>
                </a:solidFill>
                <a:latin typeface="Cambria"/>
                <a:ea typeface="Cambria"/>
                <a:cs typeface="Cambria"/>
                <a:sym typeface="Cambria"/>
              </a:rPr>
              <a:t>&gt; 90%</a:t>
            </a:r>
            <a:endParaRPr b="0" sz="2800" u="none" strike="noStrike">
              <a:solidFill>
                <a:srgbClr val="000000"/>
              </a:solidFill>
              <a:latin typeface="Arial"/>
              <a:ea typeface="Arial"/>
              <a:cs typeface="Arial"/>
              <a:sym typeface="Arial"/>
            </a:endParaRPr>
          </a:p>
        </p:txBody>
      </p:sp>
      <p:sp>
        <p:nvSpPr>
          <p:cNvPr id="85" name="Google Shape;85;p6"/>
          <p:cNvSpPr/>
          <p:nvPr/>
        </p:nvSpPr>
        <p:spPr>
          <a:xfrm>
            <a:off x="365760" y="3858840"/>
            <a:ext cx="2468160" cy="383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950" u="none" strike="noStrike">
                <a:solidFill>
                  <a:srgbClr val="D6DDE3"/>
                </a:solidFill>
                <a:latin typeface="Calibri"/>
                <a:ea typeface="Calibri"/>
                <a:cs typeface="Calibri"/>
                <a:sym typeface="Calibri"/>
              </a:rPr>
              <a:t>Mental health treatment gap</a:t>
            </a:r>
            <a:endParaRPr b="0" sz="9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n-US" sz="950" u="none" strike="noStrike">
                <a:solidFill>
                  <a:srgbClr val="D6DDE3"/>
                </a:solidFill>
                <a:latin typeface="Calibri"/>
                <a:ea typeface="Calibri"/>
                <a:cs typeface="Calibri"/>
                <a:sym typeface="Calibri"/>
              </a:rPr>
              <a:t>in sub-Saharan Africa</a:t>
            </a:r>
            <a:endParaRPr b="0" sz="950" u="none" strike="noStrike">
              <a:solidFill>
                <a:srgbClr val="000000"/>
              </a:solidFill>
              <a:latin typeface="Arial"/>
              <a:ea typeface="Arial"/>
              <a:cs typeface="Arial"/>
              <a:sym typeface="Arial"/>
            </a:endParaRPr>
          </a:p>
        </p:txBody>
      </p:sp>
      <p:sp>
        <p:nvSpPr>
          <p:cNvPr id="86" name="Google Shape;86;p6"/>
          <p:cNvSpPr/>
          <p:nvPr/>
        </p:nvSpPr>
        <p:spPr>
          <a:xfrm>
            <a:off x="3063240" y="1170360"/>
            <a:ext cx="5714400" cy="3547200"/>
          </a:xfrm>
          <a:prstGeom prst="roundRect">
            <a:avLst>
              <a:gd fmla="val 2577" name="adj"/>
            </a:avLst>
          </a:prstGeom>
          <a:solidFill>
            <a:srgbClr val="F9F7F4"/>
          </a:solidFill>
          <a:ln cap="flat" cmpd="sng" w="12600">
            <a:solidFill>
              <a:srgbClr val="D6DDE3"/>
            </a:solidFill>
            <a:prstDash val="solid"/>
            <a:round/>
            <a:headEnd len="sm" w="sm" type="none"/>
            <a:tailEnd len="sm" w="sm" type="none"/>
          </a:ln>
          <a:effectLst>
            <a:outerShdw blurRad="101520" rotWithShape="0" dir="2700000" dist="37674">
              <a:srgbClr val="000000">
                <a:alpha val="18040"/>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87" name="Google Shape;87;p6"/>
          <p:cNvSpPr/>
          <p:nvPr/>
        </p:nvSpPr>
        <p:spPr>
          <a:xfrm>
            <a:off x="413275" y="213330"/>
            <a:ext cx="5394300" cy="6393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rPr b="1" lang="en-US" sz="1800">
                <a:solidFill>
                  <a:schemeClr val="lt1"/>
                </a:solidFill>
                <a:latin typeface="Calibri"/>
                <a:ea typeface="Calibri"/>
                <a:cs typeface="Calibri"/>
                <a:sym typeface="Calibri"/>
              </a:rPr>
              <a:t>INTRODUCTION</a:t>
            </a:r>
            <a:endParaRPr sz="2350">
              <a:solidFill>
                <a:srgbClr val="D6DDE3"/>
              </a:solidFill>
              <a:latin typeface="Calibri"/>
              <a:ea typeface="Calibri"/>
              <a:cs typeface="Calibri"/>
              <a:sym typeface="Calibri"/>
            </a:endParaRPr>
          </a:p>
        </p:txBody>
      </p:sp>
      <p:sp>
        <p:nvSpPr>
          <p:cNvPr id="88" name="Google Shape;88;p6"/>
          <p:cNvSpPr/>
          <p:nvPr/>
        </p:nvSpPr>
        <p:spPr>
          <a:xfrm>
            <a:off x="3246125" y="1338425"/>
            <a:ext cx="5348400" cy="31368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Clr>
                <a:schemeClr val="dk1"/>
              </a:buClr>
              <a:buFont typeface="Arial"/>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en-US" sz="1500">
                <a:solidFill>
                  <a:schemeClr val="dk1"/>
                </a:solidFill>
                <a:latin typeface="Calibri"/>
                <a:ea typeface="Calibri"/>
                <a:cs typeface="Calibri"/>
                <a:sym typeface="Calibri"/>
              </a:rPr>
              <a:t>Mental health disorders affect 1 in 8 people globally (WHO, 2022); in Nigeria, fewer than 10% of those affected access care.</a:t>
            </a:r>
            <a:endParaRPr sz="1500">
              <a:solidFill>
                <a:schemeClr val="dk1"/>
              </a:solidFill>
              <a:latin typeface="Calibri"/>
              <a:ea typeface="Calibri"/>
              <a:cs typeface="Calibri"/>
              <a:sym typeface="Calibri"/>
            </a:endParaRPr>
          </a:p>
          <a:p>
            <a:pPr indent="0" lvl="0" marL="0" rtl="0" algn="l">
              <a:spcBef>
                <a:spcPts val="800"/>
              </a:spcBef>
              <a:spcAft>
                <a:spcPts val="0"/>
              </a:spcAft>
              <a:buClr>
                <a:schemeClr val="dk1"/>
              </a:buClr>
              <a:buFont typeface="Arial"/>
              <a:buNone/>
            </a:pPr>
            <a:r>
              <a:rPr lang="en-US" sz="1500">
                <a:solidFill>
                  <a:schemeClr val="dk1"/>
                </a:solidFill>
                <a:latin typeface="Calibri"/>
                <a:ea typeface="Calibri"/>
                <a:cs typeface="Calibri"/>
                <a:sym typeface="Calibri"/>
              </a:rPr>
              <a:t>AI-powered chatbots (e.g. Woebot, Wysa, Tess) have shown efficacy in reducing depression and anxiety symptoms through CBT-aligned conversation</a:t>
            </a:r>
            <a:endParaRPr sz="1500">
              <a:solidFill>
                <a:schemeClr val="dk1"/>
              </a:solidFill>
              <a:latin typeface="Calibri"/>
              <a:ea typeface="Calibri"/>
              <a:cs typeface="Calibri"/>
              <a:sym typeface="Calibri"/>
            </a:endParaRPr>
          </a:p>
          <a:p>
            <a:pPr indent="0" lvl="0" marL="0" rtl="0" algn="l">
              <a:spcBef>
                <a:spcPts val="800"/>
              </a:spcBef>
              <a:spcAft>
                <a:spcPts val="0"/>
              </a:spcAft>
              <a:buClr>
                <a:schemeClr val="dk1"/>
              </a:buClr>
              <a:buFont typeface="Arial"/>
              <a:buNone/>
            </a:pPr>
            <a:r>
              <a:rPr lang="en-US" sz="1500">
                <a:solidFill>
                  <a:schemeClr val="dk1"/>
                </a:solidFill>
                <a:latin typeface="Calibri"/>
                <a:ea typeface="Calibri"/>
                <a:cs typeface="Calibri"/>
                <a:sym typeface="Calibri"/>
              </a:rPr>
              <a:t>Existing chatbots detect current emotion but lack trajectory awareness they cannot distinguish between transient distress and escalating crisis</a:t>
            </a:r>
            <a:endParaRPr sz="1500">
              <a:solidFill>
                <a:schemeClr val="dk1"/>
              </a:solidFill>
              <a:latin typeface="Calibri"/>
              <a:ea typeface="Calibri"/>
              <a:cs typeface="Calibri"/>
              <a:sym typeface="Calibri"/>
            </a:endParaRPr>
          </a:p>
          <a:p>
            <a:pPr indent="0" lvl="0" marL="0" rtl="0" algn="l">
              <a:spcBef>
                <a:spcPts val="800"/>
              </a:spcBef>
              <a:spcAft>
                <a:spcPts val="0"/>
              </a:spcAft>
              <a:buClr>
                <a:schemeClr val="dk1"/>
              </a:buClr>
              <a:buFont typeface="Arial"/>
              <a:buNone/>
            </a:pPr>
            <a:r>
              <a:rPr lang="en-US" sz="1500">
                <a:solidFill>
                  <a:schemeClr val="dk1"/>
                </a:solidFill>
                <a:latin typeface="Calibri"/>
                <a:ea typeface="Calibri"/>
                <a:cs typeface="Calibri"/>
                <a:sym typeface="Calibri"/>
              </a:rPr>
              <a:t>AIDA addresses this gap through the Adaptive Emotion-Aware Intervention Framework (AEIF), a 6-layer pipeline that integrates emotion detection, trend analysis, and strategy selection.</a:t>
            </a:r>
            <a:endParaRPr sz="15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1" sz="1500">
              <a:solidFill>
                <a:srgbClr val="1B6B6B"/>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 name="Shape 93"/>
        <p:cNvGrpSpPr/>
        <p:nvPr/>
      </p:nvGrpSpPr>
      <p:grpSpPr>
        <a:xfrm>
          <a:off x="0" y="0"/>
          <a:ext cx="0" cy="0"/>
          <a:chOff x="0" y="0"/>
          <a:chExt cx="0" cy="0"/>
        </a:xfrm>
      </p:grpSpPr>
      <p:sp>
        <p:nvSpPr>
          <p:cNvPr id="94" name="Google Shape;94;p7"/>
          <p:cNvSpPr/>
          <p:nvPr/>
        </p:nvSpPr>
        <p:spPr>
          <a:xfrm>
            <a:off x="0" y="0"/>
            <a:ext cx="9143400" cy="959400"/>
          </a:xfrm>
          <a:prstGeom prst="rect">
            <a:avLst/>
          </a:prstGeom>
          <a:solidFill>
            <a:srgbClr val="0D1B2A"/>
          </a:solidFill>
          <a:ln cap="flat" cmpd="sng" w="12600">
            <a:solidFill>
              <a:srgbClr val="0D1B2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95" name="Google Shape;95;p7"/>
          <p:cNvSpPr/>
          <p:nvPr/>
        </p:nvSpPr>
        <p:spPr>
          <a:xfrm>
            <a:off x="457200" y="274320"/>
            <a:ext cx="8229000" cy="4107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800">
                <a:solidFill>
                  <a:srgbClr val="FFFFFF"/>
                </a:solidFill>
                <a:latin typeface="Calibri"/>
                <a:ea typeface="Calibri"/>
                <a:cs typeface="Calibri"/>
                <a:sym typeface="Calibri"/>
              </a:rPr>
              <a:t>STATEMENT OF PROBLEM</a:t>
            </a:r>
            <a:endParaRPr b="0" sz="1800" u="none" strike="noStrike">
              <a:solidFill>
                <a:srgbClr val="000000"/>
              </a:solidFill>
              <a:latin typeface="Arial"/>
              <a:ea typeface="Arial"/>
              <a:cs typeface="Arial"/>
              <a:sym typeface="Arial"/>
            </a:endParaRPr>
          </a:p>
        </p:txBody>
      </p:sp>
      <p:sp>
        <p:nvSpPr>
          <p:cNvPr id="96" name="Google Shape;96;p7"/>
          <p:cNvSpPr/>
          <p:nvPr/>
        </p:nvSpPr>
        <p:spPr>
          <a:xfrm>
            <a:off x="928915" y="1179800"/>
            <a:ext cx="7120200" cy="3785400"/>
          </a:xfrm>
          <a:prstGeom prst="roundRect">
            <a:avLst>
              <a:gd fmla="val 2577" name="adj"/>
            </a:avLst>
          </a:prstGeom>
          <a:solidFill>
            <a:srgbClr val="F9F7F4"/>
          </a:solidFill>
          <a:ln cap="flat" cmpd="sng" w="12600">
            <a:solidFill>
              <a:srgbClr val="D6DDE3"/>
            </a:solidFill>
            <a:prstDash val="solid"/>
            <a:round/>
            <a:headEnd len="sm" w="sm" type="none"/>
            <a:tailEnd len="sm" w="sm" type="none"/>
          </a:ln>
          <a:effectLst>
            <a:outerShdw blurRad="101520" rotWithShape="0" dir="2700000" dist="37674">
              <a:srgbClr val="000000">
                <a:alpha val="18040"/>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97" name="Google Shape;97;p7"/>
          <p:cNvSpPr/>
          <p:nvPr/>
        </p:nvSpPr>
        <p:spPr>
          <a:xfrm>
            <a:off x="1152511" y="2105104"/>
            <a:ext cx="6712500" cy="596100"/>
          </a:xfrm>
          <a:prstGeom prst="rect">
            <a:avLst/>
          </a:prstGeom>
          <a:noFill/>
          <a:ln>
            <a:noFill/>
          </a:ln>
        </p:spPr>
        <p:txBody>
          <a:bodyPr anchorCtr="0" anchor="ctr" bIns="56475" lIns="112950" spcFirstLastPara="1" rIns="112950" wrap="square" tIns="56475">
            <a:noAutofit/>
          </a:bodyPr>
          <a:lstStyle/>
          <a:p>
            <a:pPr indent="0" lvl="0" marL="0" marR="0" rtl="0" algn="l">
              <a:lnSpc>
                <a:spcPct val="100000"/>
              </a:lnSpc>
              <a:spcBef>
                <a:spcPts val="0"/>
              </a:spcBef>
              <a:spcAft>
                <a:spcPts val="0"/>
              </a:spcAft>
              <a:buNone/>
            </a:pPr>
            <a:r>
              <a:rPr b="1" lang="en-US" sz="1381" u="none" strike="noStrike">
                <a:solidFill>
                  <a:srgbClr val="1B6B6B"/>
                </a:solidFill>
                <a:latin typeface="Calibri"/>
                <a:ea typeface="Calibri"/>
                <a:cs typeface="Calibri"/>
                <a:sym typeface="Calibri"/>
              </a:rPr>
              <a:t>• </a:t>
            </a:r>
            <a:r>
              <a:rPr lang="en-US" sz="1381">
                <a:solidFill>
                  <a:srgbClr val="0D1B2A"/>
                </a:solidFill>
                <a:latin typeface="Calibri"/>
                <a:ea typeface="Calibri"/>
                <a:cs typeface="Calibri"/>
                <a:sym typeface="Calibri"/>
              </a:rPr>
              <a:t>Existing mental health chatbots detect a user’s current emotional state, but do not model emotional trajectory over time.</a:t>
            </a:r>
            <a:endParaRPr b="0" sz="1381" u="none" strike="noStrike">
              <a:solidFill>
                <a:srgbClr val="000000"/>
              </a:solidFill>
              <a:latin typeface="Arial"/>
              <a:ea typeface="Arial"/>
              <a:cs typeface="Arial"/>
              <a:sym typeface="Arial"/>
            </a:endParaRPr>
          </a:p>
        </p:txBody>
      </p:sp>
      <p:sp>
        <p:nvSpPr>
          <p:cNvPr id="98" name="Google Shape;98;p7"/>
          <p:cNvSpPr/>
          <p:nvPr/>
        </p:nvSpPr>
        <p:spPr>
          <a:xfrm>
            <a:off x="1152511" y="2793664"/>
            <a:ext cx="6712500" cy="596100"/>
          </a:xfrm>
          <a:prstGeom prst="rect">
            <a:avLst/>
          </a:prstGeom>
          <a:noFill/>
          <a:ln>
            <a:noFill/>
          </a:ln>
        </p:spPr>
        <p:txBody>
          <a:bodyPr anchorCtr="0" anchor="ctr" bIns="56475" lIns="112950" spcFirstLastPara="1" rIns="112950" wrap="square" tIns="56475">
            <a:noAutofit/>
          </a:bodyPr>
          <a:lstStyle/>
          <a:p>
            <a:pPr indent="0" lvl="0" marL="0" marR="0" rtl="0" algn="l">
              <a:lnSpc>
                <a:spcPct val="100000"/>
              </a:lnSpc>
              <a:spcBef>
                <a:spcPts val="0"/>
              </a:spcBef>
              <a:spcAft>
                <a:spcPts val="0"/>
              </a:spcAft>
              <a:buNone/>
            </a:pPr>
            <a:r>
              <a:rPr b="1" lang="en-US" sz="1381" u="none" strike="noStrike">
                <a:solidFill>
                  <a:srgbClr val="1B6B6B"/>
                </a:solidFill>
                <a:latin typeface="Calibri"/>
                <a:ea typeface="Calibri"/>
                <a:cs typeface="Calibri"/>
                <a:sym typeface="Calibri"/>
              </a:rPr>
              <a:t>• </a:t>
            </a:r>
            <a:r>
              <a:rPr lang="en-US" sz="1381">
                <a:solidFill>
                  <a:srgbClr val="0D1B2A"/>
                </a:solidFill>
                <a:latin typeface="Calibri"/>
                <a:ea typeface="Calibri"/>
                <a:cs typeface="Calibri"/>
                <a:sym typeface="Calibri"/>
              </a:rPr>
              <a:t>Without trend awareness, chatbots can’t differentiate between a user who is persistently distressed and a user who is improving.</a:t>
            </a:r>
            <a:endParaRPr b="0" sz="1381" u="none" strike="noStrike">
              <a:solidFill>
                <a:srgbClr val="000000"/>
              </a:solidFill>
              <a:latin typeface="Arial"/>
              <a:ea typeface="Arial"/>
              <a:cs typeface="Arial"/>
              <a:sym typeface="Arial"/>
            </a:endParaRPr>
          </a:p>
        </p:txBody>
      </p:sp>
      <p:sp>
        <p:nvSpPr>
          <p:cNvPr id="99" name="Google Shape;99;p7"/>
          <p:cNvSpPr/>
          <p:nvPr/>
        </p:nvSpPr>
        <p:spPr>
          <a:xfrm>
            <a:off x="1152511" y="3447133"/>
            <a:ext cx="6712500" cy="596100"/>
          </a:xfrm>
          <a:prstGeom prst="rect">
            <a:avLst/>
          </a:prstGeom>
          <a:noFill/>
          <a:ln>
            <a:noFill/>
          </a:ln>
        </p:spPr>
        <p:txBody>
          <a:bodyPr anchorCtr="0" anchor="ctr" bIns="56475" lIns="112950" spcFirstLastPara="1" rIns="112950" wrap="square" tIns="56475">
            <a:noAutofit/>
          </a:bodyPr>
          <a:lstStyle/>
          <a:p>
            <a:pPr indent="0" lvl="0" marL="0" marR="0" rtl="0" algn="l">
              <a:lnSpc>
                <a:spcPct val="100000"/>
              </a:lnSpc>
              <a:spcBef>
                <a:spcPts val="0"/>
              </a:spcBef>
              <a:spcAft>
                <a:spcPts val="0"/>
              </a:spcAft>
              <a:buNone/>
            </a:pPr>
            <a:r>
              <a:rPr b="1" lang="en-US" sz="1381" u="none" strike="noStrike">
                <a:solidFill>
                  <a:srgbClr val="1B6B6B"/>
                </a:solidFill>
                <a:latin typeface="Calibri"/>
                <a:ea typeface="Calibri"/>
                <a:cs typeface="Calibri"/>
                <a:sym typeface="Calibri"/>
              </a:rPr>
              <a:t>• </a:t>
            </a:r>
            <a:r>
              <a:rPr b="0" lang="en-US" sz="1381" u="none" strike="noStrike">
                <a:solidFill>
                  <a:srgbClr val="0D1B2A"/>
                </a:solidFill>
                <a:latin typeface="Calibri"/>
                <a:ea typeface="Calibri"/>
                <a:cs typeface="Calibri"/>
                <a:sym typeface="Calibri"/>
              </a:rPr>
              <a:t>Nigerian Pidgin English is entirely absent from emotion classification datasets.</a:t>
            </a:r>
            <a:endParaRPr b="0" sz="1381" u="none" strike="noStrike">
              <a:solidFill>
                <a:srgbClr val="000000"/>
              </a:solidFill>
              <a:latin typeface="Arial"/>
              <a:ea typeface="Arial"/>
              <a:cs typeface="Arial"/>
              <a:sym typeface="Arial"/>
            </a:endParaRPr>
          </a:p>
        </p:txBody>
      </p:sp>
      <p:sp>
        <p:nvSpPr>
          <p:cNvPr id="100" name="Google Shape;100;p7"/>
          <p:cNvSpPr/>
          <p:nvPr/>
        </p:nvSpPr>
        <p:spPr>
          <a:xfrm>
            <a:off x="1152511" y="4148275"/>
            <a:ext cx="6712500" cy="596100"/>
          </a:xfrm>
          <a:prstGeom prst="rect">
            <a:avLst/>
          </a:prstGeom>
          <a:noFill/>
          <a:ln>
            <a:noFill/>
          </a:ln>
        </p:spPr>
        <p:txBody>
          <a:bodyPr anchorCtr="0" anchor="ctr" bIns="56475" lIns="112950" spcFirstLastPara="1" rIns="112950" wrap="square" tIns="56475">
            <a:noAutofit/>
          </a:bodyPr>
          <a:lstStyle/>
          <a:p>
            <a:pPr indent="0" lvl="0" marL="0" marR="0" rtl="0" algn="l">
              <a:lnSpc>
                <a:spcPct val="100000"/>
              </a:lnSpc>
              <a:spcBef>
                <a:spcPts val="0"/>
              </a:spcBef>
              <a:spcAft>
                <a:spcPts val="0"/>
              </a:spcAft>
              <a:buNone/>
            </a:pPr>
            <a:r>
              <a:rPr b="1" lang="en-US" sz="1381" u="none" strike="noStrike">
                <a:solidFill>
                  <a:srgbClr val="1B6B6B"/>
                </a:solidFill>
                <a:latin typeface="Calibri"/>
                <a:ea typeface="Calibri"/>
                <a:cs typeface="Calibri"/>
                <a:sym typeface="Calibri"/>
              </a:rPr>
              <a:t>• </a:t>
            </a:r>
            <a:r>
              <a:rPr lang="en-US" sz="1381">
                <a:solidFill>
                  <a:srgbClr val="0D1B2A"/>
                </a:solidFill>
                <a:latin typeface="Calibri"/>
                <a:ea typeface="Calibri"/>
                <a:cs typeface="Calibri"/>
                <a:sym typeface="Calibri"/>
              </a:rPr>
              <a:t>Strategy selection in existing systems is not driven by trajectory data, limiting response quality in multi-turn conversations</a:t>
            </a:r>
            <a:endParaRPr sz="1381">
              <a:solidFill>
                <a:srgbClr val="0D1B2A"/>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381">
              <a:solidFill>
                <a:srgbClr val="0D1B2A"/>
              </a:solidFill>
              <a:latin typeface="Calibri"/>
              <a:ea typeface="Calibri"/>
              <a:cs typeface="Calibri"/>
              <a:sym typeface="Calibri"/>
            </a:endParaRPr>
          </a:p>
        </p:txBody>
      </p:sp>
      <p:sp>
        <p:nvSpPr>
          <p:cNvPr id="101" name="Google Shape;101;p7"/>
          <p:cNvSpPr/>
          <p:nvPr/>
        </p:nvSpPr>
        <p:spPr>
          <a:xfrm>
            <a:off x="1152511" y="1450735"/>
            <a:ext cx="6712500" cy="596100"/>
          </a:xfrm>
          <a:prstGeom prst="rect">
            <a:avLst/>
          </a:prstGeom>
          <a:noFill/>
          <a:ln>
            <a:noFill/>
          </a:ln>
        </p:spPr>
        <p:txBody>
          <a:bodyPr anchorCtr="0" anchor="ctr" bIns="56475" lIns="112950" spcFirstLastPara="1" rIns="112950" wrap="square" tIns="56475">
            <a:noAutofit/>
          </a:bodyPr>
          <a:lstStyle/>
          <a:p>
            <a:pPr indent="0" lvl="0" marL="0" marR="0" rtl="0" algn="l">
              <a:lnSpc>
                <a:spcPct val="100000"/>
              </a:lnSpc>
              <a:spcBef>
                <a:spcPts val="0"/>
              </a:spcBef>
              <a:spcAft>
                <a:spcPts val="0"/>
              </a:spcAft>
              <a:buNone/>
            </a:pPr>
            <a:r>
              <a:rPr b="1" lang="en-US" sz="1350" u="none" strike="noStrike">
                <a:solidFill>
                  <a:srgbClr val="0D1B2A"/>
                </a:solidFill>
                <a:latin typeface="Calibri"/>
                <a:ea typeface="Calibri"/>
                <a:cs typeface="Calibri"/>
                <a:sym typeface="Calibri"/>
              </a:rPr>
              <a:t>• </a:t>
            </a:r>
            <a:r>
              <a:rPr lang="en-US" sz="1350">
                <a:solidFill>
                  <a:srgbClr val="0D1B2A"/>
                </a:solidFill>
                <a:latin typeface="Calibri"/>
                <a:ea typeface="Calibri"/>
                <a:cs typeface="Calibri"/>
                <a:sym typeface="Calibri"/>
              </a:rPr>
              <a:t>Calculations done by the Association of Psychiatrists in Nigeria (APN) has revealed that Nigeria has a psychiatrist-to-population ratio of approximately 1:1 million, leaving millions without access to mental health support</a:t>
            </a:r>
            <a:endParaRPr sz="1350">
              <a:solidFill>
                <a:srgbClr val="0D1B2A"/>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350">
              <a:solidFill>
                <a:srgbClr val="0D1B2A"/>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06" name="Shape 106"/>
        <p:cNvGrpSpPr/>
        <p:nvPr/>
      </p:nvGrpSpPr>
      <p:grpSpPr>
        <a:xfrm>
          <a:off x="0" y="0"/>
          <a:ext cx="0" cy="0"/>
          <a:chOff x="0" y="0"/>
          <a:chExt cx="0" cy="0"/>
        </a:xfrm>
      </p:grpSpPr>
      <p:sp>
        <p:nvSpPr>
          <p:cNvPr id="107" name="Google Shape;107;p8"/>
          <p:cNvSpPr/>
          <p:nvPr/>
        </p:nvSpPr>
        <p:spPr>
          <a:xfrm>
            <a:off x="457200" y="255960"/>
            <a:ext cx="8228880" cy="4564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2800" u="none" strike="noStrike">
                <a:solidFill>
                  <a:srgbClr val="0D1B2A"/>
                </a:solidFill>
                <a:latin typeface="Cambria"/>
                <a:ea typeface="Cambria"/>
                <a:cs typeface="Cambria"/>
                <a:sym typeface="Cambria"/>
              </a:rPr>
              <a:t>AIM &amp; OBJECTIVES</a:t>
            </a:r>
            <a:endParaRPr b="0" sz="2800" u="none" strike="noStrike">
              <a:solidFill>
                <a:srgbClr val="000000"/>
              </a:solidFill>
              <a:latin typeface="Arial"/>
              <a:ea typeface="Arial"/>
              <a:cs typeface="Arial"/>
              <a:sym typeface="Arial"/>
            </a:endParaRPr>
          </a:p>
        </p:txBody>
      </p:sp>
      <p:sp>
        <p:nvSpPr>
          <p:cNvPr id="108" name="Google Shape;108;p8"/>
          <p:cNvSpPr/>
          <p:nvPr/>
        </p:nvSpPr>
        <p:spPr>
          <a:xfrm>
            <a:off x="365760" y="841320"/>
            <a:ext cx="8411760" cy="803880"/>
          </a:xfrm>
          <a:prstGeom prst="roundRect">
            <a:avLst>
              <a:gd fmla="val 11364" name="adj"/>
            </a:avLst>
          </a:prstGeom>
          <a:solidFill>
            <a:srgbClr val="1B6B6B"/>
          </a:solidFill>
          <a:ln cap="flat" cmpd="sng" w="12600">
            <a:solidFill>
              <a:srgbClr val="1B6B6B"/>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09" name="Google Shape;109;p8"/>
          <p:cNvSpPr/>
          <p:nvPr/>
        </p:nvSpPr>
        <p:spPr>
          <a:xfrm>
            <a:off x="548640" y="896040"/>
            <a:ext cx="63936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22A89A"/>
                </a:solidFill>
                <a:latin typeface="Calibri"/>
                <a:ea typeface="Calibri"/>
                <a:cs typeface="Calibri"/>
                <a:sym typeface="Calibri"/>
              </a:rPr>
              <a:t>AIM</a:t>
            </a:r>
            <a:endParaRPr b="0" sz="900" u="none" strike="noStrike">
              <a:solidFill>
                <a:srgbClr val="000000"/>
              </a:solidFill>
              <a:latin typeface="Arial"/>
              <a:ea typeface="Arial"/>
              <a:cs typeface="Arial"/>
              <a:sym typeface="Arial"/>
            </a:endParaRPr>
          </a:p>
        </p:txBody>
      </p:sp>
      <p:sp>
        <p:nvSpPr>
          <p:cNvPr id="110" name="Google Shape;110;p8"/>
          <p:cNvSpPr/>
          <p:nvPr/>
        </p:nvSpPr>
        <p:spPr>
          <a:xfrm>
            <a:off x="548640" y="1161360"/>
            <a:ext cx="8091720" cy="4197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100" u="none" strike="noStrike">
                <a:solidFill>
                  <a:srgbClr val="FFFFFF"/>
                </a:solidFill>
                <a:latin typeface="Calibri"/>
                <a:ea typeface="Calibri"/>
                <a:cs typeface="Calibri"/>
                <a:sym typeface="Calibri"/>
              </a:rPr>
              <a:t>To design, implement and evaluate </a:t>
            </a:r>
            <a:r>
              <a:rPr lang="en-US" sz="1100">
                <a:solidFill>
                  <a:srgbClr val="FFFFFF"/>
                </a:solidFill>
                <a:latin typeface="Calibri"/>
                <a:ea typeface="Calibri"/>
                <a:cs typeface="Calibri"/>
                <a:sym typeface="Calibri"/>
              </a:rPr>
              <a:t>the Adaptive Intelligent Dialogue Agent using the Adaptive Emotion-Aware Intervention Framework</a:t>
            </a:r>
            <a:endParaRPr b="0" sz="1100" u="none" strike="noStrike">
              <a:solidFill>
                <a:srgbClr val="000000"/>
              </a:solidFill>
              <a:latin typeface="Arial"/>
              <a:ea typeface="Arial"/>
              <a:cs typeface="Arial"/>
              <a:sym typeface="Arial"/>
            </a:endParaRPr>
          </a:p>
        </p:txBody>
      </p:sp>
      <p:sp>
        <p:nvSpPr>
          <p:cNvPr id="111" name="Google Shape;111;p8"/>
          <p:cNvSpPr/>
          <p:nvPr/>
        </p:nvSpPr>
        <p:spPr>
          <a:xfrm>
            <a:off x="365760" y="1810440"/>
            <a:ext cx="8411760" cy="547920"/>
          </a:xfrm>
          <a:prstGeom prst="roundRect">
            <a:avLst>
              <a:gd fmla="val 13333"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12" name="Google Shape;112;p8"/>
          <p:cNvSpPr/>
          <p:nvPr/>
        </p:nvSpPr>
        <p:spPr>
          <a:xfrm>
            <a:off x="502920" y="1883520"/>
            <a:ext cx="392400" cy="392400"/>
          </a:xfrm>
          <a:prstGeom prst="ellipse">
            <a:avLst/>
          </a:prstGeom>
          <a:solidFill>
            <a:srgbClr val="E8A838"/>
          </a:solidFill>
          <a:ln cap="flat" cmpd="sng" w="12600">
            <a:solidFill>
              <a:srgbClr val="E8A83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13" name="Google Shape;113;p8"/>
          <p:cNvSpPr/>
          <p:nvPr/>
        </p:nvSpPr>
        <p:spPr>
          <a:xfrm>
            <a:off x="502920" y="1883520"/>
            <a:ext cx="392400" cy="392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000" u="none" strike="noStrike">
                <a:solidFill>
                  <a:srgbClr val="FFFFFF"/>
                </a:solidFill>
                <a:latin typeface="Calibri"/>
                <a:ea typeface="Calibri"/>
                <a:cs typeface="Calibri"/>
                <a:sym typeface="Calibri"/>
              </a:rPr>
              <a:t>01</a:t>
            </a:r>
            <a:endParaRPr b="0" sz="1000" u="none" strike="noStrike">
              <a:solidFill>
                <a:srgbClr val="000000"/>
              </a:solidFill>
              <a:latin typeface="Arial"/>
              <a:ea typeface="Arial"/>
              <a:cs typeface="Arial"/>
              <a:sym typeface="Arial"/>
            </a:endParaRPr>
          </a:p>
        </p:txBody>
      </p:sp>
      <p:sp>
        <p:nvSpPr>
          <p:cNvPr id="114" name="Google Shape;114;p8"/>
          <p:cNvSpPr/>
          <p:nvPr/>
        </p:nvSpPr>
        <p:spPr>
          <a:xfrm>
            <a:off x="1051560" y="1901880"/>
            <a:ext cx="7588800" cy="383400"/>
          </a:xfrm>
          <a:prstGeom prst="rect">
            <a:avLst/>
          </a:prstGeom>
          <a:noFill/>
          <a:ln>
            <a:noFill/>
          </a:ln>
        </p:spPr>
        <p:txBody>
          <a:bodyPr anchorCtr="0" anchor="ctr" bIns="45000" lIns="90000" spcFirstLastPara="1" rIns="90000" wrap="square" tIns="45000">
            <a:noAutofit/>
          </a:bodyPr>
          <a:lstStyle/>
          <a:p>
            <a:pPr indent="0" lvl="0" marL="0" rtl="0" algn="l">
              <a:spcBef>
                <a:spcPts val="800"/>
              </a:spcBef>
              <a:spcAft>
                <a:spcPts val="0"/>
              </a:spcAft>
              <a:buClr>
                <a:schemeClr val="dk1"/>
              </a:buClr>
              <a:buFont typeface="Arial"/>
              <a:buNone/>
            </a:pPr>
            <a:r>
              <a:rPr lang="en-US" sz="1100">
                <a:solidFill>
                  <a:schemeClr val="dk1"/>
                </a:solidFill>
                <a:latin typeface="Times New Roman"/>
                <a:ea typeface="Times New Roman"/>
                <a:cs typeface="Times New Roman"/>
                <a:sym typeface="Times New Roman"/>
              </a:rPr>
              <a:t>Design the 6-layer AEIF framework, integrating emotion classification, trend analysis, and strategy selection.</a:t>
            </a:r>
            <a:endParaRPr b="0" sz="1100" u="none" strike="noStrike">
              <a:solidFill>
                <a:srgbClr val="000000"/>
              </a:solidFill>
              <a:latin typeface="Arial"/>
              <a:ea typeface="Arial"/>
              <a:cs typeface="Arial"/>
              <a:sym typeface="Arial"/>
            </a:endParaRPr>
          </a:p>
        </p:txBody>
      </p:sp>
      <p:sp>
        <p:nvSpPr>
          <p:cNvPr id="115" name="Google Shape;115;p8"/>
          <p:cNvSpPr/>
          <p:nvPr/>
        </p:nvSpPr>
        <p:spPr>
          <a:xfrm>
            <a:off x="365760" y="2432160"/>
            <a:ext cx="8411760" cy="547920"/>
          </a:xfrm>
          <a:prstGeom prst="roundRect">
            <a:avLst>
              <a:gd fmla="val 13333"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16" name="Google Shape;116;p8"/>
          <p:cNvSpPr/>
          <p:nvPr/>
        </p:nvSpPr>
        <p:spPr>
          <a:xfrm>
            <a:off x="502920" y="2505600"/>
            <a:ext cx="392400" cy="392400"/>
          </a:xfrm>
          <a:prstGeom prst="ellipse">
            <a:avLst/>
          </a:prstGeom>
          <a:solidFill>
            <a:srgbClr val="E8A838"/>
          </a:solidFill>
          <a:ln cap="flat" cmpd="sng" w="12600">
            <a:solidFill>
              <a:srgbClr val="E8A83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17" name="Google Shape;117;p8"/>
          <p:cNvSpPr/>
          <p:nvPr/>
        </p:nvSpPr>
        <p:spPr>
          <a:xfrm>
            <a:off x="502920" y="2505600"/>
            <a:ext cx="392400" cy="392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000" u="none" strike="noStrike">
                <a:solidFill>
                  <a:srgbClr val="FFFFFF"/>
                </a:solidFill>
                <a:latin typeface="Calibri"/>
                <a:ea typeface="Calibri"/>
                <a:cs typeface="Calibri"/>
                <a:sym typeface="Calibri"/>
              </a:rPr>
              <a:t>02</a:t>
            </a:r>
            <a:endParaRPr b="0" sz="1000" u="none" strike="noStrike">
              <a:solidFill>
                <a:srgbClr val="000000"/>
              </a:solidFill>
              <a:latin typeface="Arial"/>
              <a:ea typeface="Arial"/>
              <a:cs typeface="Arial"/>
              <a:sym typeface="Arial"/>
            </a:endParaRPr>
          </a:p>
        </p:txBody>
      </p:sp>
      <p:sp>
        <p:nvSpPr>
          <p:cNvPr id="118" name="Google Shape;118;p8"/>
          <p:cNvSpPr/>
          <p:nvPr/>
        </p:nvSpPr>
        <p:spPr>
          <a:xfrm>
            <a:off x="1051560" y="2523600"/>
            <a:ext cx="7588800" cy="383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150" u="none" strike="noStrike">
                <a:solidFill>
                  <a:srgbClr val="0D1B2A"/>
                </a:solidFill>
                <a:latin typeface="Calibri"/>
                <a:ea typeface="Calibri"/>
                <a:cs typeface="Calibri"/>
                <a:sym typeface="Calibri"/>
              </a:rPr>
              <a:t>Build an emotional trend analyser that derives 7 trajectory types from session history</a:t>
            </a:r>
            <a:endParaRPr b="0" sz="1150" u="none" strike="noStrike">
              <a:solidFill>
                <a:srgbClr val="000000"/>
              </a:solidFill>
              <a:latin typeface="Arial"/>
              <a:ea typeface="Arial"/>
              <a:cs typeface="Arial"/>
              <a:sym typeface="Arial"/>
            </a:endParaRPr>
          </a:p>
        </p:txBody>
      </p:sp>
      <p:sp>
        <p:nvSpPr>
          <p:cNvPr id="119" name="Google Shape;119;p8"/>
          <p:cNvSpPr/>
          <p:nvPr/>
        </p:nvSpPr>
        <p:spPr>
          <a:xfrm>
            <a:off x="365760" y="3054240"/>
            <a:ext cx="8411760" cy="547920"/>
          </a:xfrm>
          <a:prstGeom prst="roundRect">
            <a:avLst>
              <a:gd fmla="val 13333"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20" name="Google Shape;120;p8"/>
          <p:cNvSpPr/>
          <p:nvPr/>
        </p:nvSpPr>
        <p:spPr>
          <a:xfrm>
            <a:off x="502920" y="3127320"/>
            <a:ext cx="392400" cy="392400"/>
          </a:xfrm>
          <a:prstGeom prst="ellipse">
            <a:avLst/>
          </a:prstGeom>
          <a:solidFill>
            <a:srgbClr val="E8A838"/>
          </a:solidFill>
          <a:ln cap="flat" cmpd="sng" w="12600">
            <a:solidFill>
              <a:srgbClr val="E8A83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21" name="Google Shape;121;p8"/>
          <p:cNvSpPr/>
          <p:nvPr/>
        </p:nvSpPr>
        <p:spPr>
          <a:xfrm>
            <a:off x="502920" y="3127320"/>
            <a:ext cx="392400" cy="392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000" u="none" strike="noStrike">
                <a:solidFill>
                  <a:srgbClr val="FFFFFF"/>
                </a:solidFill>
                <a:latin typeface="Calibri"/>
                <a:ea typeface="Calibri"/>
                <a:cs typeface="Calibri"/>
                <a:sym typeface="Calibri"/>
              </a:rPr>
              <a:t>03</a:t>
            </a:r>
            <a:endParaRPr b="0" sz="1000" u="none" strike="noStrike">
              <a:solidFill>
                <a:srgbClr val="000000"/>
              </a:solidFill>
              <a:latin typeface="Arial"/>
              <a:ea typeface="Arial"/>
              <a:cs typeface="Arial"/>
              <a:sym typeface="Arial"/>
            </a:endParaRPr>
          </a:p>
        </p:txBody>
      </p:sp>
      <p:sp>
        <p:nvSpPr>
          <p:cNvPr id="122" name="Google Shape;122;p8"/>
          <p:cNvSpPr/>
          <p:nvPr/>
        </p:nvSpPr>
        <p:spPr>
          <a:xfrm>
            <a:off x="1051560" y="3145680"/>
            <a:ext cx="7588800" cy="383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1150">
                <a:solidFill>
                  <a:srgbClr val="091320"/>
                </a:solidFill>
              </a:rPr>
              <a:t>Evaluate the system using au</a:t>
            </a:r>
            <a:r>
              <a:rPr lang="en-US" sz="1150">
                <a:solidFill>
                  <a:srgbClr val="091320"/>
                </a:solidFill>
              </a:rPr>
              <a:t>tomated metrics: emotion detection accuracy, trend accuracy, and crisis detection accuracy</a:t>
            </a:r>
            <a:endParaRPr b="0" sz="1150" u="none" strike="noStrike">
              <a:solidFill>
                <a:srgbClr val="000000"/>
              </a:solidFill>
              <a:latin typeface="Arial"/>
              <a:ea typeface="Arial"/>
              <a:cs typeface="Arial"/>
              <a:sym typeface="Arial"/>
            </a:endParaRPr>
          </a:p>
        </p:txBody>
      </p:sp>
      <p:sp>
        <p:nvSpPr>
          <p:cNvPr id="123" name="Google Shape;123;p8"/>
          <p:cNvSpPr/>
          <p:nvPr/>
        </p:nvSpPr>
        <p:spPr>
          <a:xfrm>
            <a:off x="388622" y="3749390"/>
            <a:ext cx="8411700" cy="547800"/>
          </a:xfrm>
          <a:prstGeom prst="roundRect">
            <a:avLst>
              <a:gd fmla="val 13333"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40"/>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24" name="Google Shape;124;p8"/>
          <p:cNvSpPr/>
          <p:nvPr/>
        </p:nvSpPr>
        <p:spPr>
          <a:xfrm>
            <a:off x="1051922" y="3849455"/>
            <a:ext cx="7588800" cy="383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1150">
                <a:solidFill>
                  <a:srgbClr val="091320"/>
                </a:solidFill>
              </a:rPr>
              <a:t>Evaluate the system using automated metrics: emotion detection accuracy, trend accuracy, and crisis detection accuracy</a:t>
            </a:r>
            <a:endParaRPr b="0" sz="1150" u="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9"/>
          <p:cNvSpPr/>
          <p:nvPr/>
        </p:nvSpPr>
        <p:spPr>
          <a:xfrm>
            <a:off x="90425" y="735475"/>
            <a:ext cx="8982300" cy="4340700"/>
          </a:xfrm>
          <a:prstGeom prst="roundRect">
            <a:avLst>
              <a:gd fmla="val 2577" name="adj"/>
            </a:avLst>
          </a:prstGeom>
          <a:solidFill>
            <a:srgbClr val="F9F7F4"/>
          </a:solidFill>
          <a:ln cap="flat" cmpd="sng" w="12600">
            <a:solidFill>
              <a:srgbClr val="D6DDE3"/>
            </a:solidFill>
            <a:prstDash val="solid"/>
            <a:round/>
            <a:headEnd len="sm" w="sm" type="none"/>
            <a:tailEnd len="sm" w="sm" type="none"/>
          </a:ln>
          <a:effectLst>
            <a:outerShdw blurRad="101520" rotWithShape="0" dir="2700000" dist="37674">
              <a:srgbClr val="000000">
                <a:alpha val="18040"/>
              </a:srgbClr>
            </a:outerShdw>
          </a:effectLst>
        </p:spPr>
        <p:txBody>
          <a:bodyPr anchorCtr="0" anchor="t" bIns="45000" lIns="90000" spcFirstLastPara="1" rIns="90000" wrap="square" tIns="45000">
            <a:noAutofit/>
          </a:bodyPr>
          <a:lstStyle/>
          <a:p>
            <a:pPr indent="0" lvl="0" marL="0" rtl="0" algn="l">
              <a:spcBef>
                <a:spcPts val="0"/>
              </a:spcBef>
              <a:spcAft>
                <a:spcPts val="0"/>
              </a:spcAft>
              <a:buClr>
                <a:schemeClr val="dk1"/>
              </a:buClr>
              <a:buFont typeface="Arial"/>
              <a:buNone/>
            </a:pPr>
            <a:r>
              <a:rPr lang="en-US" sz="1200">
                <a:solidFill>
                  <a:schemeClr val="dk1"/>
                </a:solidFill>
              </a:rPr>
              <a:t>Woebot (Fitzpatrick et al., 2017) — RCT showing significant depression reduction using CBT-based chatbot, but no emotion trajectory tracking</a:t>
            </a:r>
            <a:endParaRPr sz="1200">
              <a:solidFill>
                <a:schemeClr val="dk1"/>
              </a:solidFill>
            </a:endParaRPr>
          </a:p>
          <a:p>
            <a:pPr indent="0" lvl="0" marL="0" rtl="0" algn="l">
              <a:spcBef>
                <a:spcPts val="800"/>
              </a:spcBef>
              <a:spcAft>
                <a:spcPts val="0"/>
              </a:spcAft>
              <a:buClr>
                <a:schemeClr val="dk1"/>
              </a:buClr>
              <a:buFont typeface="Arial"/>
              <a:buNone/>
            </a:pPr>
            <a:r>
              <a:rPr lang="en-US" sz="1200">
                <a:solidFill>
                  <a:schemeClr val="dk1"/>
                </a:solidFill>
              </a:rPr>
              <a:t>Wysa (Inkster et al., 2018) — Empathy-driven conversational agent with demonstrated real-world impact, but limited to single-turn emotion detection</a:t>
            </a:r>
            <a:endParaRPr sz="1200">
              <a:solidFill>
                <a:schemeClr val="dk1"/>
              </a:solidFill>
            </a:endParaRPr>
          </a:p>
          <a:p>
            <a:pPr indent="0" lvl="0" marL="0" rtl="0" algn="l">
              <a:spcBef>
                <a:spcPts val="800"/>
              </a:spcBef>
              <a:spcAft>
                <a:spcPts val="0"/>
              </a:spcAft>
              <a:buClr>
                <a:schemeClr val="dk1"/>
              </a:buClr>
              <a:buFont typeface="Arial"/>
              <a:buNone/>
            </a:pPr>
            <a:r>
              <a:rPr lang="en-US" sz="1200">
                <a:solidFill>
                  <a:schemeClr val="dk1"/>
                </a:solidFill>
              </a:rPr>
              <a:t>Emotional Support Conversation framework (Liu et al., 2021) — Proposed multi-strategy approach for ESC, but no trajectory-to-strategy mapping</a:t>
            </a:r>
            <a:endParaRPr sz="1200">
              <a:solidFill>
                <a:schemeClr val="dk1"/>
              </a:solidFill>
            </a:endParaRPr>
          </a:p>
          <a:p>
            <a:pPr indent="0" lvl="0" marL="0" rtl="0" algn="l">
              <a:spcBef>
                <a:spcPts val="800"/>
              </a:spcBef>
              <a:spcAft>
                <a:spcPts val="0"/>
              </a:spcAft>
              <a:buClr>
                <a:schemeClr val="dk1"/>
              </a:buClr>
              <a:buFont typeface="Arial"/>
              <a:buNone/>
            </a:pPr>
            <a:r>
              <a:rPr lang="en-US" sz="1200">
                <a:solidFill>
                  <a:schemeClr val="dk1"/>
                </a:solidFill>
              </a:rPr>
              <a:t>GoEmotions dataset (Demszky et al., 2020) — 27 fine-grained emotion categories, basis for AEIF's 6-cluster taxonomy</a:t>
            </a:r>
            <a:endParaRPr sz="1200">
              <a:solidFill>
                <a:schemeClr val="dk1"/>
              </a:solidFill>
            </a:endParaRPr>
          </a:p>
          <a:p>
            <a:pPr indent="0" lvl="0" marL="0" rtl="0" algn="l">
              <a:spcBef>
                <a:spcPts val="800"/>
              </a:spcBef>
              <a:spcAft>
                <a:spcPts val="0"/>
              </a:spcAft>
              <a:buClr>
                <a:schemeClr val="dk1"/>
              </a:buClr>
              <a:buFont typeface="Arial"/>
              <a:buNone/>
            </a:pPr>
            <a:r>
              <a:rPr lang="en-US" sz="1200">
                <a:solidFill>
                  <a:schemeClr val="dk1"/>
                </a:solidFill>
              </a:rPr>
              <a:t>Key gap: No existing system integrates emotion trajectory analysis directly into strategy selection for mental health chatbots</a:t>
            </a:r>
            <a:endParaRPr sz="1200">
              <a:solidFill>
                <a:schemeClr val="dk1"/>
              </a:solidFill>
            </a:endParaRPr>
          </a:p>
        </p:txBody>
      </p:sp>
      <p:sp>
        <p:nvSpPr>
          <p:cNvPr id="131" name="Google Shape;131;p9"/>
          <p:cNvSpPr txBox="1"/>
          <p:nvPr/>
        </p:nvSpPr>
        <p:spPr>
          <a:xfrm>
            <a:off x="90426" y="178525"/>
            <a:ext cx="85725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0000"/>
                </a:solidFill>
                <a:latin typeface="Times New Roman"/>
                <a:ea typeface="Times New Roman"/>
                <a:cs typeface="Times New Roman"/>
                <a:sym typeface="Times New Roman"/>
              </a:rPr>
              <a:t>LITERATURE REVIEW</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36" name="Shape 136"/>
        <p:cNvGrpSpPr/>
        <p:nvPr/>
      </p:nvGrpSpPr>
      <p:grpSpPr>
        <a:xfrm>
          <a:off x="0" y="0"/>
          <a:ext cx="0" cy="0"/>
          <a:chOff x="0" y="0"/>
          <a:chExt cx="0" cy="0"/>
        </a:xfrm>
      </p:grpSpPr>
      <p:sp>
        <p:nvSpPr>
          <p:cNvPr id="137" name="Google Shape;137;p10"/>
          <p:cNvSpPr/>
          <p:nvPr/>
        </p:nvSpPr>
        <p:spPr>
          <a:xfrm>
            <a:off x="457200" y="201240"/>
            <a:ext cx="8228880" cy="4107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2200">
                <a:solidFill>
                  <a:srgbClr val="FFFFFF"/>
                </a:solidFill>
                <a:latin typeface="Cambria"/>
                <a:ea typeface="Cambria"/>
                <a:cs typeface="Cambria"/>
                <a:sym typeface="Cambria"/>
              </a:rPr>
              <a:t>METHODOLOGY: </a:t>
            </a:r>
            <a:r>
              <a:rPr b="1" lang="en-US" sz="2200" u="none" strike="noStrike">
                <a:solidFill>
                  <a:srgbClr val="FFFFFF"/>
                </a:solidFill>
                <a:latin typeface="Cambria"/>
                <a:ea typeface="Cambria"/>
                <a:cs typeface="Cambria"/>
                <a:sym typeface="Cambria"/>
              </a:rPr>
              <a:t>AEIF FRAMEWORK</a:t>
            </a:r>
            <a:endParaRPr b="0" sz="2200" u="none" strike="noStrike">
              <a:solidFill>
                <a:srgbClr val="FFFFFF"/>
              </a:solidFill>
              <a:latin typeface="Arial"/>
              <a:ea typeface="Arial"/>
              <a:cs typeface="Arial"/>
              <a:sym typeface="Arial"/>
            </a:endParaRPr>
          </a:p>
        </p:txBody>
      </p:sp>
      <p:sp>
        <p:nvSpPr>
          <p:cNvPr id="138" name="Google Shape;138;p10"/>
          <p:cNvSpPr/>
          <p:nvPr/>
        </p:nvSpPr>
        <p:spPr>
          <a:xfrm>
            <a:off x="457200" y="585360"/>
            <a:ext cx="822888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1100" u="none" strike="noStrike">
                <a:solidFill>
                  <a:srgbClr val="22A89A"/>
                </a:solidFill>
                <a:latin typeface="Calibri"/>
                <a:ea typeface="Calibri"/>
                <a:cs typeface="Calibri"/>
                <a:sym typeface="Calibri"/>
              </a:rPr>
              <a:t>Adaptive Emotion-Aware Intervention Framework — 6-Layer Pipeline</a:t>
            </a:r>
            <a:endParaRPr b="0" sz="1100" u="none" strike="noStrike">
              <a:solidFill>
                <a:srgbClr val="FFFFFF"/>
              </a:solidFill>
              <a:latin typeface="Arial"/>
              <a:ea typeface="Arial"/>
              <a:cs typeface="Arial"/>
              <a:sym typeface="Arial"/>
            </a:endParaRPr>
          </a:p>
        </p:txBody>
      </p:sp>
      <p:sp>
        <p:nvSpPr>
          <p:cNvPr id="139" name="Google Shape;139;p10"/>
          <p:cNvSpPr/>
          <p:nvPr/>
        </p:nvSpPr>
        <p:spPr>
          <a:xfrm>
            <a:off x="274320" y="1051560"/>
            <a:ext cx="1325160" cy="3199680"/>
          </a:xfrm>
          <a:prstGeom prst="roundRect">
            <a:avLst>
              <a:gd fmla="val 6897" name="adj"/>
            </a:avLst>
          </a:prstGeom>
          <a:solidFill>
            <a:srgbClr val="1A2F44"/>
          </a:solidFill>
          <a:ln cap="flat" cmpd="sng" w="12600">
            <a:solidFill>
              <a:srgbClr val="C0392B"/>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40" name="Google Shape;140;p10"/>
          <p:cNvSpPr/>
          <p:nvPr/>
        </p:nvSpPr>
        <p:spPr>
          <a:xfrm>
            <a:off x="685800" y="1161360"/>
            <a:ext cx="502200" cy="502200"/>
          </a:xfrm>
          <a:prstGeom prst="ellipse">
            <a:avLst/>
          </a:prstGeom>
          <a:solidFill>
            <a:srgbClr val="C0392B"/>
          </a:solidFill>
          <a:ln cap="flat" cmpd="sng" w="12600">
            <a:solidFill>
              <a:srgbClr val="C0392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41" name="Google Shape;141;p10"/>
          <p:cNvSpPr/>
          <p:nvPr/>
        </p:nvSpPr>
        <p:spPr>
          <a:xfrm>
            <a:off x="685800" y="1161360"/>
            <a:ext cx="50220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500" u="none" strike="noStrike">
                <a:solidFill>
                  <a:srgbClr val="FFFFFF"/>
                </a:solidFill>
                <a:latin typeface="Calibri"/>
                <a:ea typeface="Calibri"/>
                <a:cs typeface="Calibri"/>
                <a:sym typeface="Calibri"/>
              </a:rPr>
              <a:t>1</a:t>
            </a:r>
            <a:endParaRPr b="0" sz="1500" u="none" strike="noStrike">
              <a:solidFill>
                <a:srgbClr val="FFFFFF"/>
              </a:solidFill>
              <a:latin typeface="Arial"/>
              <a:ea typeface="Arial"/>
              <a:cs typeface="Arial"/>
              <a:sym typeface="Arial"/>
            </a:endParaRPr>
          </a:p>
        </p:txBody>
      </p:sp>
      <p:sp>
        <p:nvSpPr>
          <p:cNvPr id="142" name="Google Shape;142;p10"/>
          <p:cNvSpPr/>
          <p:nvPr/>
        </p:nvSpPr>
        <p:spPr>
          <a:xfrm>
            <a:off x="329040" y="1783080"/>
            <a:ext cx="121536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950" u="none" strike="noStrike">
                <a:solidFill>
                  <a:srgbClr val="C0392B"/>
                </a:solidFill>
                <a:latin typeface="Calibri"/>
                <a:ea typeface="Calibri"/>
                <a:cs typeface="Calibri"/>
                <a:sym typeface="Calibri"/>
              </a:rPr>
              <a:t>Safety Detection</a:t>
            </a:r>
            <a:endParaRPr b="0" sz="950" u="none" strike="noStrike">
              <a:solidFill>
                <a:srgbClr val="FFFFFF"/>
              </a:solidFill>
              <a:latin typeface="Arial"/>
              <a:ea typeface="Arial"/>
              <a:cs typeface="Arial"/>
              <a:sym typeface="Arial"/>
            </a:endParaRPr>
          </a:p>
        </p:txBody>
      </p:sp>
      <p:sp>
        <p:nvSpPr>
          <p:cNvPr id="143" name="Google Shape;143;p10"/>
          <p:cNvSpPr/>
          <p:nvPr/>
        </p:nvSpPr>
        <p:spPr>
          <a:xfrm>
            <a:off x="329040" y="2350080"/>
            <a:ext cx="1215360" cy="18280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D6DDE3"/>
                </a:solidFill>
                <a:latin typeface="Calibri"/>
                <a:ea typeface="Calibri"/>
                <a:cs typeface="Calibri"/>
                <a:sym typeface="Calibri"/>
              </a:rPr>
              <a:t>If crisis is detected in input → immediate helpline response,</a:t>
            </a:r>
            <a:endParaRPr b="0" sz="800" u="none" strike="noStrike">
              <a:solidFill>
                <a:srgbClr val="FFFFFF"/>
              </a:solidFill>
              <a:latin typeface="Arial"/>
              <a:ea typeface="Arial"/>
              <a:cs typeface="Arial"/>
              <a:sym typeface="Arial"/>
            </a:endParaRPr>
          </a:p>
        </p:txBody>
      </p:sp>
      <p:sp>
        <p:nvSpPr>
          <p:cNvPr id="144" name="Google Shape;144;p10"/>
          <p:cNvSpPr/>
          <p:nvPr/>
        </p:nvSpPr>
        <p:spPr>
          <a:xfrm>
            <a:off x="1618560" y="2468880"/>
            <a:ext cx="109080" cy="273600"/>
          </a:xfrm>
          <a:prstGeom prst="rect">
            <a:avLst/>
          </a:prstGeom>
          <a:noFill/>
          <a:ln>
            <a:noFill/>
          </a:ln>
        </p:spPr>
        <p:txBody>
          <a:bodyPr anchorCtr="0" anchor="ctr" bIns="45000" lIns="54700" spcFirstLastPara="1" rIns="54700" wrap="square" tIns="45000">
            <a:noAutofit/>
          </a:bodyPr>
          <a:lstStyle/>
          <a:p>
            <a:pPr indent="0" lvl="0" marL="0" marR="0" rtl="0" algn="ctr">
              <a:lnSpc>
                <a:spcPct val="100000"/>
              </a:lnSpc>
              <a:spcBef>
                <a:spcPts val="0"/>
              </a:spcBef>
              <a:spcAft>
                <a:spcPts val="0"/>
              </a:spcAft>
              <a:buNone/>
            </a:pPr>
            <a:r>
              <a:rPr b="0" lang="en-US" sz="1000" u="none" strike="noStrike">
                <a:solidFill>
                  <a:srgbClr val="22A89A"/>
                </a:solidFill>
                <a:latin typeface="Calibri"/>
                <a:ea typeface="Calibri"/>
                <a:cs typeface="Calibri"/>
                <a:sym typeface="Calibri"/>
              </a:rPr>
              <a:t>▶</a:t>
            </a:r>
            <a:endParaRPr b="0" sz="1000" u="none" strike="noStrike">
              <a:solidFill>
                <a:srgbClr val="FFFFFF"/>
              </a:solidFill>
              <a:latin typeface="Arial"/>
              <a:ea typeface="Arial"/>
              <a:cs typeface="Arial"/>
              <a:sym typeface="Arial"/>
            </a:endParaRPr>
          </a:p>
        </p:txBody>
      </p:sp>
      <p:sp>
        <p:nvSpPr>
          <p:cNvPr id="145" name="Google Shape;145;p10"/>
          <p:cNvSpPr/>
          <p:nvPr/>
        </p:nvSpPr>
        <p:spPr>
          <a:xfrm>
            <a:off x="1737360" y="1051560"/>
            <a:ext cx="1325160" cy="3199680"/>
          </a:xfrm>
          <a:prstGeom prst="roundRect">
            <a:avLst>
              <a:gd fmla="val 6897" name="adj"/>
            </a:avLst>
          </a:prstGeom>
          <a:solidFill>
            <a:srgbClr val="1A2F44"/>
          </a:solidFill>
          <a:ln cap="flat" cmpd="sng" w="12600">
            <a:solidFill>
              <a:srgbClr val="E8852E"/>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46" name="Google Shape;146;p10"/>
          <p:cNvSpPr/>
          <p:nvPr/>
        </p:nvSpPr>
        <p:spPr>
          <a:xfrm>
            <a:off x="2148840" y="1161360"/>
            <a:ext cx="502200" cy="502200"/>
          </a:xfrm>
          <a:prstGeom prst="ellipse">
            <a:avLst/>
          </a:prstGeom>
          <a:solidFill>
            <a:srgbClr val="E8852E"/>
          </a:solidFill>
          <a:ln cap="flat" cmpd="sng" w="12600">
            <a:solidFill>
              <a:srgbClr val="E8852E"/>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47" name="Google Shape;147;p10"/>
          <p:cNvSpPr/>
          <p:nvPr/>
        </p:nvSpPr>
        <p:spPr>
          <a:xfrm>
            <a:off x="2148840" y="1161360"/>
            <a:ext cx="50220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500" u="none" strike="noStrike">
                <a:solidFill>
                  <a:srgbClr val="FFFFFF"/>
                </a:solidFill>
                <a:latin typeface="Calibri"/>
                <a:ea typeface="Calibri"/>
                <a:cs typeface="Calibri"/>
                <a:sym typeface="Calibri"/>
              </a:rPr>
              <a:t>2</a:t>
            </a:r>
            <a:endParaRPr b="0" sz="1500" u="none" strike="noStrike">
              <a:solidFill>
                <a:srgbClr val="FFFFFF"/>
              </a:solidFill>
              <a:latin typeface="Arial"/>
              <a:ea typeface="Arial"/>
              <a:cs typeface="Arial"/>
              <a:sym typeface="Arial"/>
            </a:endParaRPr>
          </a:p>
        </p:txBody>
      </p:sp>
      <p:sp>
        <p:nvSpPr>
          <p:cNvPr id="148" name="Google Shape;148;p10"/>
          <p:cNvSpPr/>
          <p:nvPr/>
        </p:nvSpPr>
        <p:spPr>
          <a:xfrm>
            <a:off x="1792080" y="1783080"/>
            <a:ext cx="121536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950" u="none" strike="noStrike">
                <a:solidFill>
                  <a:srgbClr val="E8852E"/>
                </a:solidFill>
                <a:latin typeface="Calibri"/>
                <a:ea typeface="Calibri"/>
                <a:cs typeface="Calibri"/>
                <a:sym typeface="Calibri"/>
              </a:rPr>
              <a:t>Emotion Classification</a:t>
            </a:r>
            <a:endParaRPr b="0" sz="950" u="none" strike="noStrike">
              <a:solidFill>
                <a:srgbClr val="FFFFFF"/>
              </a:solidFill>
              <a:latin typeface="Arial"/>
              <a:ea typeface="Arial"/>
              <a:cs typeface="Arial"/>
              <a:sym typeface="Arial"/>
            </a:endParaRPr>
          </a:p>
        </p:txBody>
      </p:sp>
      <p:sp>
        <p:nvSpPr>
          <p:cNvPr id="149" name="Google Shape;149;p10"/>
          <p:cNvSpPr/>
          <p:nvPr/>
        </p:nvSpPr>
        <p:spPr>
          <a:xfrm>
            <a:off x="1792080" y="2350080"/>
            <a:ext cx="1215360" cy="18280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D6DDE3"/>
                </a:solidFill>
                <a:latin typeface="Calibri"/>
                <a:ea typeface="Calibri"/>
                <a:cs typeface="Calibri"/>
                <a:sym typeface="Calibri"/>
              </a:rPr>
              <a:t>j-hartmann/distilroberta → 6 clusters: POSITIVE, SADNESS, ANXIETY, ANGER, NEUTRAL, AMBIGUOUS</a:t>
            </a:r>
            <a:endParaRPr b="0" sz="800" u="none" strike="noStrike">
              <a:solidFill>
                <a:srgbClr val="FFFFFF"/>
              </a:solidFill>
              <a:latin typeface="Arial"/>
              <a:ea typeface="Arial"/>
              <a:cs typeface="Arial"/>
              <a:sym typeface="Arial"/>
            </a:endParaRPr>
          </a:p>
        </p:txBody>
      </p:sp>
      <p:sp>
        <p:nvSpPr>
          <p:cNvPr id="150" name="Google Shape;150;p10"/>
          <p:cNvSpPr/>
          <p:nvPr/>
        </p:nvSpPr>
        <p:spPr>
          <a:xfrm>
            <a:off x="3081600" y="2468880"/>
            <a:ext cx="109080" cy="273600"/>
          </a:xfrm>
          <a:prstGeom prst="rect">
            <a:avLst/>
          </a:prstGeom>
          <a:noFill/>
          <a:ln>
            <a:noFill/>
          </a:ln>
        </p:spPr>
        <p:txBody>
          <a:bodyPr anchorCtr="0" anchor="ctr" bIns="45000" lIns="54700" spcFirstLastPara="1" rIns="54700" wrap="square" tIns="45000">
            <a:noAutofit/>
          </a:bodyPr>
          <a:lstStyle/>
          <a:p>
            <a:pPr indent="0" lvl="0" marL="0" marR="0" rtl="0" algn="ctr">
              <a:lnSpc>
                <a:spcPct val="100000"/>
              </a:lnSpc>
              <a:spcBef>
                <a:spcPts val="0"/>
              </a:spcBef>
              <a:spcAft>
                <a:spcPts val="0"/>
              </a:spcAft>
              <a:buNone/>
            </a:pPr>
            <a:r>
              <a:rPr b="0" lang="en-US" sz="1000" u="none" strike="noStrike">
                <a:solidFill>
                  <a:srgbClr val="22A89A"/>
                </a:solidFill>
                <a:latin typeface="Calibri"/>
                <a:ea typeface="Calibri"/>
                <a:cs typeface="Calibri"/>
                <a:sym typeface="Calibri"/>
              </a:rPr>
              <a:t>▶</a:t>
            </a:r>
            <a:endParaRPr b="0" sz="1000" u="none" strike="noStrike">
              <a:solidFill>
                <a:srgbClr val="FFFFFF"/>
              </a:solidFill>
              <a:latin typeface="Arial"/>
              <a:ea typeface="Arial"/>
              <a:cs typeface="Arial"/>
              <a:sym typeface="Arial"/>
            </a:endParaRPr>
          </a:p>
        </p:txBody>
      </p:sp>
      <p:sp>
        <p:nvSpPr>
          <p:cNvPr id="151" name="Google Shape;151;p10"/>
          <p:cNvSpPr/>
          <p:nvPr/>
        </p:nvSpPr>
        <p:spPr>
          <a:xfrm>
            <a:off x="3200400" y="1051560"/>
            <a:ext cx="1325160" cy="3199680"/>
          </a:xfrm>
          <a:prstGeom prst="roundRect">
            <a:avLst>
              <a:gd fmla="val 6897" name="adj"/>
            </a:avLst>
          </a:prstGeom>
          <a:solidFill>
            <a:srgbClr val="1A2F44"/>
          </a:solidFill>
          <a:ln cap="flat" cmpd="sng" w="12600">
            <a:solidFill>
              <a:srgbClr val="E8A838"/>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52" name="Google Shape;152;p10"/>
          <p:cNvSpPr/>
          <p:nvPr/>
        </p:nvSpPr>
        <p:spPr>
          <a:xfrm>
            <a:off x="3611880" y="1161360"/>
            <a:ext cx="502200" cy="502200"/>
          </a:xfrm>
          <a:prstGeom prst="ellipse">
            <a:avLst/>
          </a:prstGeom>
          <a:solidFill>
            <a:srgbClr val="E8A838"/>
          </a:solidFill>
          <a:ln cap="flat" cmpd="sng" w="12600">
            <a:solidFill>
              <a:srgbClr val="E8A83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53" name="Google Shape;153;p10"/>
          <p:cNvSpPr/>
          <p:nvPr/>
        </p:nvSpPr>
        <p:spPr>
          <a:xfrm>
            <a:off x="3611880" y="1161360"/>
            <a:ext cx="50220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500" u="none" strike="noStrike">
                <a:solidFill>
                  <a:srgbClr val="FFFFFF"/>
                </a:solidFill>
                <a:latin typeface="Calibri"/>
                <a:ea typeface="Calibri"/>
                <a:cs typeface="Calibri"/>
                <a:sym typeface="Calibri"/>
              </a:rPr>
              <a:t>3</a:t>
            </a:r>
            <a:endParaRPr b="0" sz="1500" u="none" strike="noStrike">
              <a:solidFill>
                <a:srgbClr val="FFFFFF"/>
              </a:solidFill>
              <a:latin typeface="Arial"/>
              <a:ea typeface="Arial"/>
              <a:cs typeface="Arial"/>
              <a:sym typeface="Arial"/>
            </a:endParaRPr>
          </a:p>
        </p:txBody>
      </p:sp>
      <p:sp>
        <p:nvSpPr>
          <p:cNvPr id="154" name="Google Shape;154;p10"/>
          <p:cNvSpPr/>
          <p:nvPr/>
        </p:nvSpPr>
        <p:spPr>
          <a:xfrm>
            <a:off x="3255120" y="1783080"/>
            <a:ext cx="121536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950" u="none" strike="noStrike">
                <a:solidFill>
                  <a:srgbClr val="E8A838"/>
                </a:solidFill>
                <a:latin typeface="Calibri"/>
                <a:ea typeface="Calibri"/>
                <a:cs typeface="Calibri"/>
                <a:sym typeface="Calibri"/>
              </a:rPr>
              <a:t>Memory (Session Store)</a:t>
            </a:r>
            <a:endParaRPr b="0" sz="950" u="none" strike="noStrike">
              <a:solidFill>
                <a:srgbClr val="FFFFFF"/>
              </a:solidFill>
              <a:latin typeface="Arial"/>
              <a:ea typeface="Arial"/>
              <a:cs typeface="Arial"/>
              <a:sym typeface="Arial"/>
            </a:endParaRPr>
          </a:p>
        </p:txBody>
      </p:sp>
      <p:sp>
        <p:nvSpPr>
          <p:cNvPr id="155" name="Google Shape;155;p10"/>
          <p:cNvSpPr/>
          <p:nvPr/>
        </p:nvSpPr>
        <p:spPr>
          <a:xfrm>
            <a:off x="3255120" y="2350080"/>
            <a:ext cx="1215360" cy="18280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D6DDE3"/>
                </a:solidFill>
                <a:latin typeface="Calibri"/>
                <a:ea typeface="Calibri"/>
                <a:cs typeface="Calibri"/>
                <a:sym typeface="Calibri"/>
              </a:rPr>
              <a:t>In-memory conversation history (20-turn cap)</a:t>
            </a:r>
            <a:endParaRPr b="0" sz="800" u="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None/>
            </a:pPr>
            <a:r>
              <a:rPr b="0" lang="en-US" sz="800" u="none" strike="noStrike">
                <a:solidFill>
                  <a:srgbClr val="D6DDE3"/>
                </a:solidFill>
                <a:latin typeface="Calibri"/>
                <a:ea typeface="Calibri"/>
                <a:cs typeface="Calibri"/>
                <a:sym typeface="Calibri"/>
              </a:rPr>
              <a:t>Stores role, text, emotion, confidence, strategy per turn</a:t>
            </a:r>
            <a:endParaRPr b="0" sz="800" u="none" strike="noStrike">
              <a:solidFill>
                <a:srgbClr val="FFFFFF"/>
              </a:solidFill>
              <a:latin typeface="Arial"/>
              <a:ea typeface="Arial"/>
              <a:cs typeface="Arial"/>
              <a:sym typeface="Arial"/>
            </a:endParaRPr>
          </a:p>
        </p:txBody>
      </p:sp>
      <p:sp>
        <p:nvSpPr>
          <p:cNvPr id="156" name="Google Shape;156;p10"/>
          <p:cNvSpPr/>
          <p:nvPr/>
        </p:nvSpPr>
        <p:spPr>
          <a:xfrm>
            <a:off x="4544640" y="2468880"/>
            <a:ext cx="109080" cy="273600"/>
          </a:xfrm>
          <a:prstGeom prst="rect">
            <a:avLst/>
          </a:prstGeom>
          <a:noFill/>
          <a:ln>
            <a:noFill/>
          </a:ln>
        </p:spPr>
        <p:txBody>
          <a:bodyPr anchorCtr="0" anchor="ctr" bIns="45000" lIns="54700" spcFirstLastPara="1" rIns="54700" wrap="square" tIns="45000">
            <a:noAutofit/>
          </a:bodyPr>
          <a:lstStyle/>
          <a:p>
            <a:pPr indent="0" lvl="0" marL="0" marR="0" rtl="0" algn="ctr">
              <a:lnSpc>
                <a:spcPct val="100000"/>
              </a:lnSpc>
              <a:spcBef>
                <a:spcPts val="0"/>
              </a:spcBef>
              <a:spcAft>
                <a:spcPts val="0"/>
              </a:spcAft>
              <a:buNone/>
            </a:pPr>
            <a:r>
              <a:rPr b="0" lang="en-US" sz="1000" u="none" strike="noStrike">
                <a:solidFill>
                  <a:srgbClr val="22A89A"/>
                </a:solidFill>
                <a:latin typeface="Calibri"/>
                <a:ea typeface="Calibri"/>
                <a:cs typeface="Calibri"/>
                <a:sym typeface="Calibri"/>
              </a:rPr>
              <a:t>▶</a:t>
            </a:r>
            <a:endParaRPr b="0" sz="1000" u="none" strike="noStrike">
              <a:solidFill>
                <a:srgbClr val="FFFFFF"/>
              </a:solidFill>
              <a:latin typeface="Arial"/>
              <a:ea typeface="Arial"/>
              <a:cs typeface="Arial"/>
              <a:sym typeface="Arial"/>
            </a:endParaRPr>
          </a:p>
        </p:txBody>
      </p:sp>
      <p:sp>
        <p:nvSpPr>
          <p:cNvPr id="157" name="Google Shape;157;p10"/>
          <p:cNvSpPr/>
          <p:nvPr/>
        </p:nvSpPr>
        <p:spPr>
          <a:xfrm>
            <a:off x="4663440" y="1051560"/>
            <a:ext cx="1325160" cy="3199680"/>
          </a:xfrm>
          <a:prstGeom prst="roundRect">
            <a:avLst>
              <a:gd fmla="val 6897" name="adj"/>
            </a:avLst>
          </a:prstGeom>
          <a:solidFill>
            <a:srgbClr val="1A2F44"/>
          </a:solidFill>
          <a:ln cap="flat" cmpd="sng" w="12600">
            <a:solidFill>
              <a:srgbClr val="22A89A"/>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58" name="Google Shape;158;p10"/>
          <p:cNvSpPr/>
          <p:nvPr/>
        </p:nvSpPr>
        <p:spPr>
          <a:xfrm>
            <a:off x="5074920" y="1161360"/>
            <a:ext cx="502200" cy="502200"/>
          </a:xfrm>
          <a:prstGeom prst="ellipse">
            <a:avLst/>
          </a:prstGeom>
          <a:solidFill>
            <a:srgbClr val="22A89A"/>
          </a:solidFill>
          <a:ln cap="flat" cmpd="sng" w="12600">
            <a:solidFill>
              <a:srgbClr val="22A89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59" name="Google Shape;159;p10"/>
          <p:cNvSpPr/>
          <p:nvPr/>
        </p:nvSpPr>
        <p:spPr>
          <a:xfrm>
            <a:off x="5074920" y="1161360"/>
            <a:ext cx="50220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500" u="none" strike="noStrike">
                <a:solidFill>
                  <a:srgbClr val="FFFFFF"/>
                </a:solidFill>
                <a:latin typeface="Calibri"/>
                <a:ea typeface="Calibri"/>
                <a:cs typeface="Calibri"/>
                <a:sym typeface="Calibri"/>
              </a:rPr>
              <a:t>4</a:t>
            </a:r>
            <a:endParaRPr b="0" sz="1500" u="none" strike="noStrike">
              <a:solidFill>
                <a:srgbClr val="FFFFFF"/>
              </a:solidFill>
              <a:latin typeface="Arial"/>
              <a:ea typeface="Arial"/>
              <a:cs typeface="Arial"/>
              <a:sym typeface="Arial"/>
            </a:endParaRPr>
          </a:p>
        </p:txBody>
      </p:sp>
      <p:sp>
        <p:nvSpPr>
          <p:cNvPr id="160" name="Google Shape;160;p10"/>
          <p:cNvSpPr/>
          <p:nvPr/>
        </p:nvSpPr>
        <p:spPr>
          <a:xfrm>
            <a:off x="4718160" y="1783080"/>
            <a:ext cx="121536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950" u="none" strike="noStrike">
                <a:solidFill>
                  <a:srgbClr val="22A89A"/>
                </a:solidFill>
                <a:latin typeface="Calibri"/>
                <a:ea typeface="Calibri"/>
                <a:cs typeface="Calibri"/>
                <a:sym typeface="Calibri"/>
              </a:rPr>
              <a:t>Trend Analysis</a:t>
            </a:r>
            <a:endParaRPr b="0" sz="950" u="none" strike="noStrike">
              <a:solidFill>
                <a:srgbClr val="FFFFFF"/>
              </a:solidFill>
              <a:latin typeface="Arial"/>
              <a:ea typeface="Arial"/>
              <a:cs typeface="Arial"/>
              <a:sym typeface="Arial"/>
            </a:endParaRPr>
          </a:p>
        </p:txBody>
      </p:sp>
      <p:sp>
        <p:nvSpPr>
          <p:cNvPr id="161" name="Google Shape;161;p10"/>
          <p:cNvSpPr/>
          <p:nvPr/>
        </p:nvSpPr>
        <p:spPr>
          <a:xfrm>
            <a:off x="4718160" y="2350080"/>
            <a:ext cx="1215360" cy="18280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D6DDE3"/>
                </a:solidFill>
                <a:latin typeface="Calibri"/>
                <a:ea typeface="Calibri"/>
                <a:cs typeface="Calibri"/>
                <a:sym typeface="Calibri"/>
              </a:rPr>
              <a:t>Weighted severity scoring over last 10 turns → 7 trajectory types</a:t>
            </a:r>
            <a:endParaRPr b="0" sz="800" u="none" strike="noStrike">
              <a:solidFill>
                <a:srgbClr val="FFFFFF"/>
              </a:solidFill>
              <a:latin typeface="Arial"/>
              <a:ea typeface="Arial"/>
              <a:cs typeface="Arial"/>
              <a:sym typeface="Arial"/>
            </a:endParaRPr>
          </a:p>
        </p:txBody>
      </p:sp>
      <p:sp>
        <p:nvSpPr>
          <p:cNvPr id="162" name="Google Shape;162;p10"/>
          <p:cNvSpPr/>
          <p:nvPr/>
        </p:nvSpPr>
        <p:spPr>
          <a:xfrm>
            <a:off x="6007680" y="2468880"/>
            <a:ext cx="109080" cy="273600"/>
          </a:xfrm>
          <a:prstGeom prst="rect">
            <a:avLst/>
          </a:prstGeom>
          <a:noFill/>
          <a:ln>
            <a:noFill/>
          </a:ln>
        </p:spPr>
        <p:txBody>
          <a:bodyPr anchorCtr="0" anchor="ctr" bIns="45000" lIns="54700" spcFirstLastPara="1" rIns="54700" wrap="square" tIns="45000">
            <a:noAutofit/>
          </a:bodyPr>
          <a:lstStyle/>
          <a:p>
            <a:pPr indent="0" lvl="0" marL="0" marR="0" rtl="0" algn="ctr">
              <a:lnSpc>
                <a:spcPct val="100000"/>
              </a:lnSpc>
              <a:spcBef>
                <a:spcPts val="0"/>
              </a:spcBef>
              <a:spcAft>
                <a:spcPts val="0"/>
              </a:spcAft>
              <a:buNone/>
            </a:pPr>
            <a:r>
              <a:rPr b="0" lang="en-US" sz="1000" u="none" strike="noStrike">
                <a:solidFill>
                  <a:srgbClr val="22A89A"/>
                </a:solidFill>
                <a:latin typeface="Calibri"/>
                <a:ea typeface="Calibri"/>
                <a:cs typeface="Calibri"/>
                <a:sym typeface="Calibri"/>
              </a:rPr>
              <a:t>▶</a:t>
            </a:r>
            <a:endParaRPr b="0" sz="1000" u="none" strike="noStrike">
              <a:solidFill>
                <a:srgbClr val="FFFFFF"/>
              </a:solidFill>
              <a:latin typeface="Arial"/>
              <a:ea typeface="Arial"/>
              <a:cs typeface="Arial"/>
              <a:sym typeface="Arial"/>
            </a:endParaRPr>
          </a:p>
        </p:txBody>
      </p:sp>
      <p:sp>
        <p:nvSpPr>
          <p:cNvPr id="163" name="Google Shape;163;p10"/>
          <p:cNvSpPr/>
          <p:nvPr/>
        </p:nvSpPr>
        <p:spPr>
          <a:xfrm>
            <a:off x="6126480" y="1051560"/>
            <a:ext cx="1325160" cy="3199680"/>
          </a:xfrm>
          <a:prstGeom prst="roundRect">
            <a:avLst>
              <a:gd fmla="val 6897" name="adj"/>
            </a:avLst>
          </a:prstGeom>
          <a:solidFill>
            <a:srgbClr val="1A2F44"/>
          </a:solidFill>
          <a:ln cap="flat" cmpd="sng" w="12600">
            <a:solidFill>
              <a:srgbClr val="27AE60"/>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64" name="Google Shape;164;p10"/>
          <p:cNvSpPr/>
          <p:nvPr/>
        </p:nvSpPr>
        <p:spPr>
          <a:xfrm>
            <a:off x="6537960" y="1161360"/>
            <a:ext cx="502200" cy="502200"/>
          </a:xfrm>
          <a:prstGeom prst="ellipse">
            <a:avLst/>
          </a:prstGeom>
          <a:solidFill>
            <a:srgbClr val="27AE60"/>
          </a:solidFill>
          <a:ln cap="flat" cmpd="sng" w="12600">
            <a:solidFill>
              <a:srgbClr val="27AE60"/>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65" name="Google Shape;165;p10"/>
          <p:cNvSpPr/>
          <p:nvPr/>
        </p:nvSpPr>
        <p:spPr>
          <a:xfrm>
            <a:off x="6537960" y="1161360"/>
            <a:ext cx="50220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500" u="none" strike="noStrike">
                <a:solidFill>
                  <a:srgbClr val="FFFFFF"/>
                </a:solidFill>
                <a:latin typeface="Calibri"/>
                <a:ea typeface="Calibri"/>
                <a:cs typeface="Calibri"/>
                <a:sym typeface="Calibri"/>
              </a:rPr>
              <a:t>5</a:t>
            </a:r>
            <a:endParaRPr b="0" sz="1500" u="none" strike="noStrike">
              <a:solidFill>
                <a:srgbClr val="FFFFFF"/>
              </a:solidFill>
              <a:latin typeface="Arial"/>
              <a:ea typeface="Arial"/>
              <a:cs typeface="Arial"/>
              <a:sym typeface="Arial"/>
            </a:endParaRPr>
          </a:p>
        </p:txBody>
      </p:sp>
      <p:sp>
        <p:nvSpPr>
          <p:cNvPr id="166" name="Google Shape;166;p10"/>
          <p:cNvSpPr/>
          <p:nvPr/>
        </p:nvSpPr>
        <p:spPr>
          <a:xfrm>
            <a:off x="6181200" y="1783080"/>
            <a:ext cx="121536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950" u="none" strike="noStrike">
                <a:solidFill>
                  <a:srgbClr val="27AE60"/>
                </a:solidFill>
                <a:latin typeface="Calibri"/>
                <a:ea typeface="Calibri"/>
                <a:cs typeface="Calibri"/>
                <a:sym typeface="Calibri"/>
              </a:rPr>
              <a:t>Strategy Selection</a:t>
            </a:r>
            <a:endParaRPr b="0" sz="950" u="none" strike="noStrike">
              <a:solidFill>
                <a:srgbClr val="FFFFFF"/>
              </a:solidFill>
              <a:latin typeface="Arial"/>
              <a:ea typeface="Arial"/>
              <a:cs typeface="Arial"/>
              <a:sym typeface="Arial"/>
            </a:endParaRPr>
          </a:p>
        </p:txBody>
      </p:sp>
      <p:sp>
        <p:nvSpPr>
          <p:cNvPr id="167" name="Google Shape;167;p10"/>
          <p:cNvSpPr/>
          <p:nvPr/>
        </p:nvSpPr>
        <p:spPr>
          <a:xfrm>
            <a:off x="6181200" y="2350080"/>
            <a:ext cx="1215360" cy="18280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D6DDE3"/>
                </a:solidFill>
                <a:latin typeface="Calibri"/>
                <a:ea typeface="Calibri"/>
                <a:cs typeface="Calibri"/>
                <a:sym typeface="Calibri"/>
              </a:rPr>
              <a:t>12-condition lookup: trend + emotion → one of 9 CBT-aligned strategies</a:t>
            </a:r>
            <a:endParaRPr b="0" sz="800" u="none" strike="noStrike">
              <a:solidFill>
                <a:srgbClr val="FFFFFF"/>
              </a:solidFill>
              <a:latin typeface="Arial"/>
              <a:ea typeface="Arial"/>
              <a:cs typeface="Arial"/>
              <a:sym typeface="Arial"/>
            </a:endParaRPr>
          </a:p>
        </p:txBody>
      </p:sp>
      <p:sp>
        <p:nvSpPr>
          <p:cNvPr id="168" name="Google Shape;168;p10"/>
          <p:cNvSpPr/>
          <p:nvPr/>
        </p:nvSpPr>
        <p:spPr>
          <a:xfrm>
            <a:off x="7470720" y="2468880"/>
            <a:ext cx="109080" cy="273600"/>
          </a:xfrm>
          <a:prstGeom prst="rect">
            <a:avLst/>
          </a:prstGeom>
          <a:noFill/>
          <a:ln>
            <a:noFill/>
          </a:ln>
        </p:spPr>
        <p:txBody>
          <a:bodyPr anchorCtr="0" anchor="ctr" bIns="45000" lIns="54700" spcFirstLastPara="1" rIns="54700" wrap="square" tIns="45000">
            <a:noAutofit/>
          </a:bodyPr>
          <a:lstStyle/>
          <a:p>
            <a:pPr indent="0" lvl="0" marL="0" marR="0" rtl="0" algn="ctr">
              <a:lnSpc>
                <a:spcPct val="100000"/>
              </a:lnSpc>
              <a:spcBef>
                <a:spcPts val="0"/>
              </a:spcBef>
              <a:spcAft>
                <a:spcPts val="0"/>
              </a:spcAft>
              <a:buNone/>
            </a:pPr>
            <a:r>
              <a:rPr b="0" lang="en-US" sz="1000" u="none" strike="noStrike">
                <a:solidFill>
                  <a:srgbClr val="22A89A"/>
                </a:solidFill>
                <a:latin typeface="Calibri"/>
                <a:ea typeface="Calibri"/>
                <a:cs typeface="Calibri"/>
                <a:sym typeface="Calibri"/>
              </a:rPr>
              <a:t>▶</a:t>
            </a:r>
            <a:endParaRPr b="0" sz="1000" u="none" strike="noStrike">
              <a:solidFill>
                <a:srgbClr val="FFFFFF"/>
              </a:solidFill>
              <a:latin typeface="Arial"/>
              <a:ea typeface="Arial"/>
              <a:cs typeface="Arial"/>
              <a:sym typeface="Arial"/>
            </a:endParaRPr>
          </a:p>
        </p:txBody>
      </p:sp>
      <p:sp>
        <p:nvSpPr>
          <p:cNvPr id="169" name="Google Shape;169;p10"/>
          <p:cNvSpPr/>
          <p:nvPr/>
        </p:nvSpPr>
        <p:spPr>
          <a:xfrm>
            <a:off x="7589520" y="1051560"/>
            <a:ext cx="1325160" cy="3199680"/>
          </a:xfrm>
          <a:prstGeom prst="roundRect">
            <a:avLst>
              <a:gd fmla="val 6897" name="adj"/>
            </a:avLst>
          </a:prstGeom>
          <a:solidFill>
            <a:srgbClr val="1A2F44"/>
          </a:solidFill>
          <a:ln cap="flat" cmpd="sng" w="12600">
            <a:solidFill>
              <a:srgbClr val="7B9ED9"/>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70" name="Google Shape;170;p10"/>
          <p:cNvSpPr/>
          <p:nvPr/>
        </p:nvSpPr>
        <p:spPr>
          <a:xfrm>
            <a:off x="8001000" y="1161360"/>
            <a:ext cx="502200" cy="502200"/>
          </a:xfrm>
          <a:prstGeom prst="ellipse">
            <a:avLst/>
          </a:prstGeom>
          <a:solidFill>
            <a:srgbClr val="7B9ED9"/>
          </a:solidFill>
          <a:ln cap="flat" cmpd="sng" w="12600">
            <a:solidFill>
              <a:srgbClr val="7B9ED9"/>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71" name="Google Shape;171;p10"/>
          <p:cNvSpPr/>
          <p:nvPr/>
        </p:nvSpPr>
        <p:spPr>
          <a:xfrm>
            <a:off x="8001000" y="1161360"/>
            <a:ext cx="50220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500" u="none" strike="noStrike">
                <a:solidFill>
                  <a:srgbClr val="FFFFFF"/>
                </a:solidFill>
                <a:latin typeface="Calibri"/>
                <a:ea typeface="Calibri"/>
                <a:cs typeface="Calibri"/>
                <a:sym typeface="Calibri"/>
              </a:rPr>
              <a:t>6</a:t>
            </a:r>
            <a:endParaRPr b="0" sz="1500" u="none" strike="noStrike">
              <a:solidFill>
                <a:srgbClr val="FFFFFF"/>
              </a:solidFill>
              <a:latin typeface="Arial"/>
              <a:ea typeface="Arial"/>
              <a:cs typeface="Arial"/>
              <a:sym typeface="Arial"/>
            </a:endParaRPr>
          </a:p>
        </p:txBody>
      </p:sp>
      <p:sp>
        <p:nvSpPr>
          <p:cNvPr id="172" name="Google Shape;172;p10"/>
          <p:cNvSpPr/>
          <p:nvPr/>
        </p:nvSpPr>
        <p:spPr>
          <a:xfrm>
            <a:off x="7644240" y="1783080"/>
            <a:ext cx="121536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950" u="none" strike="noStrike">
                <a:solidFill>
                  <a:srgbClr val="7B9ED9"/>
                </a:solidFill>
                <a:latin typeface="Calibri"/>
                <a:ea typeface="Calibri"/>
                <a:cs typeface="Calibri"/>
                <a:sym typeface="Calibri"/>
              </a:rPr>
              <a:t>Response Generation</a:t>
            </a:r>
            <a:endParaRPr b="0" sz="950" u="none" strike="noStrike">
              <a:solidFill>
                <a:srgbClr val="FFFFFF"/>
              </a:solidFill>
              <a:latin typeface="Arial"/>
              <a:ea typeface="Arial"/>
              <a:cs typeface="Arial"/>
              <a:sym typeface="Arial"/>
            </a:endParaRPr>
          </a:p>
        </p:txBody>
      </p:sp>
      <p:sp>
        <p:nvSpPr>
          <p:cNvPr id="173" name="Google Shape;173;p10"/>
          <p:cNvSpPr/>
          <p:nvPr/>
        </p:nvSpPr>
        <p:spPr>
          <a:xfrm>
            <a:off x="7644240" y="2350080"/>
            <a:ext cx="1215360" cy="18280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D6DDE3"/>
                </a:solidFill>
                <a:latin typeface="Calibri"/>
                <a:ea typeface="Calibri"/>
                <a:cs typeface="Calibri"/>
                <a:sym typeface="Calibri"/>
              </a:rPr>
              <a:t>Groq API → LLaMA-3.3-70b-versatile with strategy-specific system prompt</a:t>
            </a:r>
            <a:endParaRPr b="0" sz="800" u="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None/>
            </a:pPr>
            <a:r>
              <a:rPr b="0" lang="en-US" sz="800" u="none" strike="noStrike">
                <a:solidFill>
                  <a:srgbClr val="D6DDE3"/>
                </a:solidFill>
                <a:latin typeface="Calibri"/>
                <a:ea typeface="Calibri"/>
                <a:cs typeface="Calibri"/>
                <a:sym typeface="Calibri"/>
              </a:rPr>
              <a:t>Baseline mode: same model, no trend/strategy in prompt</a:t>
            </a:r>
            <a:endParaRPr b="0" sz="800" u="none" strike="noStrike">
              <a:solidFill>
                <a:srgbClr val="FFFFFF"/>
              </a:solidFill>
              <a:latin typeface="Arial"/>
              <a:ea typeface="Arial"/>
              <a:cs typeface="Arial"/>
              <a:sym typeface="Arial"/>
            </a:endParaRPr>
          </a:p>
        </p:txBody>
      </p:sp>
      <p:sp>
        <p:nvSpPr>
          <p:cNvPr id="174" name="Google Shape;174;p10"/>
          <p:cNvSpPr/>
          <p:nvPr/>
        </p:nvSpPr>
        <p:spPr>
          <a:xfrm>
            <a:off x="274320" y="4434840"/>
            <a:ext cx="1325160" cy="2736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8E99A4"/>
                </a:solidFill>
                <a:latin typeface="Calibri"/>
                <a:ea typeface="Calibri"/>
                <a:cs typeface="Calibri"/>
                <a:sym typeface="Calibri"/>
              </a:rPr>
              <a:t>← User Message</a:t>
            </a:r>
            <a:endParaRPr b="0" sz="800" u="none" strike="noStrike">
              <a:solidFill>
                <a:srgbClr val="FFFFFF"/>
              </a:solidFill>
              <a:latin typeface="Arial"/>
              <a:ea typeface="Arial"/>
              <a:cs typeface="Arial"/>
              <a:sym typeface="Arial"/>
            </a:endParaRPr>
          </a:p>
        </p:txBody>
      </p:sp>
      <p:sp>
        <p:nvSpPr>
          <p:cNvPr id="175" name="Google Shape;175;p10"/>
          <p:cNvSpPr/>
          <p:nvPr/>
        </p:nvSpPr>
        <p:spPr>
          <a:xfrm>
            <a:off x="7955280" y="4434840"/>
            <a:ext cx="913680" cy="2736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8E99A4"/>
                </a:solidFill>
                <a:latin typeface="Calibri"/>
                <a:ea typeface="Calibri"/>
                <a:cs typeface="Calibri"/>
                <a:sym typeface="Calibri"/>
              </a:rPr>
              <a:t>Response →</a:t>
            </a:r>
            <a:endParaRPr b="0" sz="800" u="none" strike="noStrike">
              <a:solidFill>
                <a:srgbClr val="FFFFFF"/>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80" name="Shape 180"/>
        <p:cNvGrpSpPr/>
        <p:nvPr/>
      </p:nvGrpSpPr>
      <p:grpSpPr>
        <a:xfrm>
          <a:off x="0" y="0"/>
          <a:ext cx="0" cy="0"/>
          <a:chOff x="0" y="0"/>
          <a:chExt cx="0" cy="0"/>
        </a:xfrm>
      </p:grpSpPr>
      <p:pic>
        <p:nvPicPr>
          <p:cNvPr id="181" name="Google Shape;181;p11"/>
          <p:cNvPicPr preferRelativeResize="0"/>
          <p:nvPr/>
        </p:nvPicPr>
        <p:blipFill rotWithShape="1">
          <a:blip r:embed="rId3">
            <a:alphaModFix/>
          </a:blip>
          <a:srcRect b="0" l="0" r="0" t="0"/>
          <a:stretch/>
        </p:blipFill>
        <p:spPr>
          <a:xfrm>
            <a:off x="1440000" y="0"/>
            <a:ext cx="6480000" cy="514368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86" name="Shape 186"/>
        <p:cNvGrpSpPr/>
        <p:nvPr/>
      </p:nvGrpSpPr>
      <p:grpSpPr>
        <a:xfrm>
          <a:off x="0" y="0"/>
          <a:ext cx="0" cy="0"/>
          <a:chOff x="0" y="0"/>
          <a:chExt cx="0" cy="0"/>
        </a:xfrm>
      </p:grpSpPr>
      <p:sp>
        <p:nvSpPr>
          <p:cNvPr id="187" name="Google Shape;187;p12"/>
          <p:cNvSpPr/>
          <p:nvPr/>
        </p:nvSpPr>
        <p:spPr>
          <a:xfrm>
            <a:off x="457200" y="255960"/>
            <a:ext cx="8228880" cy="4564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2600">
                <a:solidFill>
                  <a:srgbClr val="0D1B2A"/>
                </a:solidFill>
                <a:latin typeface="Cambria"/>
                <a:ea typeface="Cambria"/>
                <a:cs typeface="Cambria"/>
                <a:sym typeface="Cambria"/>
              </a:rPr>
              <a:t>METHODOLOGY: </a:t>
            </a:r>
            <a:r>
              <a:rPr b="1" lang="en-US" sz="2600" u="none" strike="noStrike">
                <a:solidFill>
                  <a:srgbClr val="0D1B2A"/>
                </a:solidFill>
                <a:latin typeface="Cambria"/>
                <a:ea typeface="Cambria"/>
                <a:cs typeface="Cambria"/>
                <a:sym typeface="Cambria"/>
              </a:rPr>
              <a:t>EMOTION CLASSIFICATION</a:t>
            </a:r>
            <a:endParaRPr b="0" sz="2600" u="none" strike="noStrike">
              <a:solidFill>
                <a:srgbClr val="000000"/>
              </a:solidFill>
              <a:latin typeface="Arial"/>
              <a:ea typeface="Arial"/>
              <a:cs typeface="Arial"/>
              <a:sym typeface="Arial"/>
            </a:endParaRPr>
          </a:p>
        </p:txBody>
      </p:sp>
      <p:sp>
        <p:nvSpPr>
          <p:cNvPr id="188" name="Google Shape;188;p12"/>
          <p:cNvSpPr/>
          <p:nvPr/>
        </p:nvSpPr>
        <p:spPr>
          <a:xfrm>
            <a:off x="151275" y="850325"/>
            <a:ext cx="6147000" cy="4125900"/>
          </a:xfrm>
          <a:prstGeom prst="roundRect">
            <a:avLst>
              <a:gd fmla="val 241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89" name="Google Shape;189;p12"/>
          <p:cNvSpPr/>
          <p:nvPr/>
        </p:nvSpPr>
        <p:spPr>
          <a:xfrm>
            <a:off x="386685" y="3548545"/>
            <a:ext cx="4114200" cy="2553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100" u="none" strike="noStrike">
                <a:solidFill>
                  <a:srgbClr val="1B6B6B"/>
                </a:solidFill>
                <a:latin typeface="Calibri"/>
                <a:ea typeface="Calibri"/>
                <a:cs typeface="Calibri"/>
                <a:sym typeface="Calibri"/>
              </a:rPr>
              <a:t>Ambiguity Pre-check:</a:t>
            </a:r>
            <a:endParaRPr b="0" sz="1100" u="none" strike="noStrike">
              <a:solidFill>
                <a:srgbClr val="000000"/>
              </a:solidFill>
              <a:latin typeface="Arial"/>
              <a:ea typeface="Arial"/>
              <a:cs typeface="Arial"/>
              <a:sym typeface="Arial"/>
            </a:endParaRPr>
          </a:p>
        </p:txBody>
      </p:sp>
      <p:sp>
        <p:nvSpPr>
          <p:cNvPr id="190" name="Google Shape;190;p12"/>
          <p:cNvSpPr/>
          <p:nvPr/>
        </p:nvSpPr>
        <p:spPr>
          <a:xfrm>
            <a:off x="386675" y="3795375"/>
            <a:ext cx="3984900" cy="456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00" u="none" strike="noStrike">
                <a:solidFill>
                  <a:srgbClr val="0D1B2A"/>
                </a:solidFill>
                <a:latin typeface="Calibri"/>
                <a:ea typeface="Calibri"/>
                <a:cs typeface="Calibri"/>
                <a:sym typeface="Calibri"/>
              </a:rPr>
              <a:t>If message has contrastive conjunction (but, though) AND both positive + negative keywords → AMBIGUOUS</a:t>
            </a:r>
            <a:endParaRPr b="0" sz="1000" u="none" strike="noStrike">
              <a:solidFill>
                <a:srgbClr val="000000"/>
              </a:solidFill>
              <a:latin typeface="Arial"/>
              <a:ea typeface="Arial"/>
              <a:cs typeface="Arial"/>
              <a:sym typeface="Arial"/>
            </a:endParaRPr>
          </a:p>
        </p:txBody>
      </p:sp>
      <p:sp>
        <p:nvSpPr>
          <p:cNvPr id="191" name="Google Shape;191;p12"/>
          <p:cNvSpPr/>
          <p:nvPr/>
        </p:nvSpPr>
        <p:spPr>
          <a:xfrm>
            <a:off x="269500" y="1109003"/>
            <a:ext cx="5596800" cy="24996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Clr>
                <a:schemeClr val="dk1"/>
              </a:buClr>
              <a:buFont typeface="Arial"/>
              <a:buNone/>
            </a:pPr>
            <a:r>
              <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US" sz="1000">
                <a:solidFill>
                  <a:schemeClr val="dk1"/>
                </a:solidFill>
                <a:latin typeface="Times New Roman"/>
                <a:ea typeface="Times New Roman"/>
                <a:cs typeface="Times New Roman"/>
                <a:sym typeface="Times New Roman"/>
              </a:rPr>
              <a:t>AEIF defines 6 mutually exclusive emotion clusters mapped from HuggingFace and GoEmotions labels:</a:t>
            </a:r>
            <a:endParaRPr sz="1000">
              <a:solidFill>
                <a:schemeClr val="dk1"/>
              </a:solidFill>
              <a:latin typeface="Times New Roman"/>
              <a:ea typeface="Times New Roman"/>
              <a:cs typeface="Times New Roman"/>
              <a:sym typeface="Times New Roman"/>
            </a:endParaRPr>
          </a:p>
          <a:p>
            <a:pPr indent="0" lvl="0" marL="0" rtl="0" algn="l">
              <a:spcBef>
                <a:spcPts val="800"/>
              </a:spcBef>
              <a:spcAft>
                <a:spcPts val="0"/>
              </a:spcAft>
              <a:buNone/>
            </a:pPr>
            <a:r>
              <a:rPr lang="en-US" sz="1000">
                <a:solidFill>
                  <a:schemeClr val="dk1"/>
                </a:solidFill>
                <a:latin typeface="Times New Roman"/>
                <a:ea typeface="Times New Roman"/>
                <a:cs typeface="Times New Roman"/>
                <a:sym typeface="Times New Roman"/>
              </a:rPr>
              <a:t>  POSITIVE (0.0) — joy, love, gratitude, optimism, relief</a:t>
            </a:r>
            <a:endParaRPr sz="1000">
              <a:solidFill>
                <a:schemeClr val="dk1"/>
              </a:solidFill>
              <a:latin typeface="Times New Roman"/>
              <a:ea typeface="Times New Roman"/>
              <a:cs typeface="Times New Roman"/>
              <a:sym typeface="Times New Roman"/>
            </a:endParaRPr>
          </a:p>
          <a:p>
            <a:pPr indent="0" lvl="0" marL="0" rtl="0" algn="l">
              <a:spcBef>
                <a:spcPts val="800"/>
              </a:spcBef>
              <a:spcAft>
                <a:spcPts val="0"/>
              </a:spcAft>
              <a:buNone/>
            </a:pPr>
            <a:r>
              <a:rPr lang="en-US" sz="1000">
                <a:solidFill>
                  <a:schemeClr val="dk1"/>
                </a:solidFill>
                <a:latin typeface="Times New Roman"/>
                <a:ea typeface="Times New Roman"/>
                <a:cs typeface="Times New Roman"/>
                <a:sym typeface="Times New Roman"/>
              </a:rPr>
              <a:t>  NEUTRAL (0.3) — neutral statements, factual content</a:t>
            </a:r>
            <a:endParaRPr sz="1000">
              <a:solidFill>
                <a:schemeClr val="dk1"/>
              </a:solidFill>
            </a:endParaRPr>
          </a:p>
          <a:p>
            <a:pPr indent="0" lvl="0" marL="0" rtl="0" algn="l">
              <a:spcBef>
                <a:spcPts val="800"/>
              </a:spcBef>
              <a:spcAft>
                <a:spcPts val="0"/>
              </a:spcAft>
              <a:buNone/>
            </a:pPr>
            <a:r>
              <a:rPr lang="en-US" sz="1000">
                <a:solidFill>
                  <a:schemeClr val="dk1"/>
                </a:solidFill>
                <a:latin typeface="Times New Roman"/>
                <a:ea typeface="Times New Roman"/>
                <a:cs typeface="Times New Roman"/>
                <a:sym typeface="Times New Roman"/>
              </a:rPr>
              <a:t>  AMBIGUOUS (0.4) — confusion, surprise, contradictory expressions</a:t>
            </a:r>
            <a:endParaRPr sz="1000">
              <a:solidFill>
                <a:schemeClr val="dk1"/>
              </a:solidFill>
            </a:endParaRPr>
          </a:p>
          <a:p>
            <a:pPr indent="0" lvl="0" marL="0" rtl="0" algn="l">
              <a:spcBef>
                <a:spcPts val="800"/>
              </a:spcBef>
              <a:spcAft>
                <a:spcPts val="0"/>
              </a:spcAft>
              <a:buNone/>
            </a:pPr>
            <a:r>
              <a:rPr lang="en-US" sz="1000">
                <a:solidFill>
                  <a:schemeClr val="dk1"/>
                </a:solidFill>
                <a:latin typeface="Times New Roman"/>
                <a:ea typeface="Times New Roman"/>
                <a:cs typeface="Times New Roman"/>
                <a:sym typeface="Times New Roman"/>
              </a:rPr>
              <a:t>  ANXIETY (0.6) — fear, nervousness, worry, dread</a:t>
            </a:r>
            <a:endParaRPr sz="1000">
              <a:solidFill>
                <a:schemeClr val="dk1"/>
              </a:solidFill>
            </a:endParaRPr>
          </a:p>
          <a:p>
            <a:pPr indent="0" lvl="0" marL="0" rtl="0" algn="l">
              <a:spcBef>
                <a:spcPts val="800"/>
              </a:spcBef>
              <a:spcAft>
                <a:spcPts val="0"/>
              </a:spcAft>
              <a:buNone/>
            </a:pPr>
            <a:r>
              <a:rPr lang="en-US" sz="1000">
                <a:solidFill>
                  <a:schemeClr val="dk1"/>
                </a:solidFill>
                <a:latin typeface="Times New Roman"/>
                <a:ea typeface="Times New Roman"/>
                <a:cs typeface="Times New Roman"/>
                <a:sym typeface="Times New Roman"/>
              </a:rPr>
              <a:t>  ANGER (0.7) — anger, annoyance, disgust, frustration</a:t>
            </a:r>
            <a:endParaRPr sz="1000">
              <a:solidFill>
                <a:schemeClr val="dk1"/>
              </a:solidFill>
            </a:endParaRPr>
          </a:p>
          <a:p>
            <a:pPr indent="0" lvl="0" marL="0" rtl="0" algn="l">
              <a:spcBef>
                <a:spcPts val="800"/>
              </a:spcBef>
              <a:spcAft>
                <a:spcPts val="0"/>
              </a:spcAft>
              <a:buNone/>
            </a:pPr>
            <a:r>
              <a:rPr lang="en-US" sz="1000">
                <a:solidFill>
                  <a:schemeClr val="dk1"/>
                </a:solidFill>
                <a:latin typeface="Times New Roman"/>
                <a:ea typeface="Times New Roman"/>
                <a:cs typeface="Times New Roman"/>
                <a:sym typeface="Times New Roman"/>
              </a:rPr>
              <a:t>  SADNESS (0.8) — sadness, grief, disappointment, hopelessness</a:t>
            </a:r>
            <a:endParaRPr sz="1000">
              <a:solidFill>
                <a:schemeClr val="dk1"/>
              </a:solidFill>
            </a:endParaRPr>
          </a:p>
          <a:p>
            <a:pPr indent="0" lvl="0" marL="0" rtl="0" algn="l">
              <a:spcBef>
                <a:spcPts val="800"/>
              </a:spcBef>
              <a:spcAft>
                <a:spcPts val="0"/>
              </a:spcAft>
              <a:buNone/>
            </a:pPr>
            <a:r>
              <a:rPr lang="en-US" sz="1000">
                <a:solidFill>
                  <a:schemeClr val="dk1"/>
                </a:solidFill>
                <a:latin typeface="Times New Roman"/>
                <a:ea typeface="Times New Roman"/>
                <a:cs typeface="Times New Roman"/>
                <a:sym typeface="Times New Roman"/>
              </a:rPr>
              <a:t>  CRISIS (1.0) — detected by safety layer before emotion classification</a:t>
            </a:r>
            <a:endParaRPr sz="1000">
              <a:solidFill>
                <a:schemeClr val="dk1"/>
              </a:solidFill>
            </a:endParaRPr>
          </a:p>
          <a:p>
            <a:pPr indent="0" lvl="0" marL="0" marR="0" rtl="0" algn="l">
              <a:lnSpc>
                <a:spcPct val="100000"/>
              </a:lnSpc>
              <a:spcBef>
                <a:spcPts val="0"/>
              </a:spcBef>
              <a:spcAft>
                <a:spcPts val="0"/>
              </a:spcAft>
              <a:buNone/>
            </a:pPr>
            <a:r>
              <a:t/>
            </a:r>
            <a:endParaRPr b="0" sz="1000" u="none" strike="noStrike">
              <a:solidFill>
                <a:srgbClr val="000000"/>
              </a:solidFill>
              <a:latin typeface="Arial"/>
              <a:ea typeface="Arial"/>
              <a:cs typeface="Arial"/>
              <a:sym typeface="Arial"/>
            </a:endParaRPr>
          </a:p>
        </p:txBody>
      </p:sp>
      <p:sp>
        <p:nvSpPr>
          <p:cNvPr id="192" name="Google Shape;192;p12"/>
          <p:cNvSpPr/>
          <p:nvPr/>
        </p:nvSpPr>
        <p:spPr>
          <a:xfrm>
            <a:off x="6489449" y="850325"/>
            <a:ext cx="2527800" cy="3794100"/>
          </a:xfrm>
          <a:prstGeom prst="roundRect">
            <a:avLst>
              <a:gd fmla="val 2439"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93" name="Google Shape;193;p12"/>
          <p:cNvSpPr/>
          <p:nvPr/>
        </p:nvSpPr>
        <p:spPr>
          <a:xfrm>
            <a:off x="6581952" y="960125"/>
            <a:ext cx="2342700" cy="3192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300" u="none" strike="noStrike">
                <a:solidFill>
                  <a:srgbClr val="0D1B2A"/>
                </a:solidFill>
                <a:latin typeface="Cambria"/>
                <a:ea typeface="Cambria"/>
                <a:cs typeface="Cambria"/>
                <a:sym typeface="Cambria"/>
              </a:rPr>
              <a:t>Example Classifications</a:t>
            </a:r>
            <a:endParaRPr b="0" sz="1300" u="none" strike="noStrike">
              <a:solidFill>
                <a:srgbClr val="000000"/>
              </a:solidFill>
              <a:latin typeface="Arial"/>
              <a:ea typeface="Arial"/>
              <a:cs typeface="Arial"/>
              <a:sym typeface="Arial"/>
            </a:endParaRPr>
          </a:p>
        </p:txBody>
      </p:sp>
      <p:sp>
        <p:nvSpPr>
          <p:cNvPr id="194" name="Google Shape;194;p12"/>
          <p:cNvSpPr/>
          <p:nvPr/>
        </p:nvSpPr>
        <p:spPr>
          <a:xfrm>
            <a:off x="6551118" y="1417325"/>
            <a:ext cx="2373900" cy="547800"/>
          </a:xfrm>
          <a:prstGeom prst="roundRect">
            <a:avLst>
              <a:gd fmla="val 11667" name="adj"/>
            </a:avLst>
          </a:prstGeom>
          <a:solidFill>
            <a:srgbClr val="F9F9F9"/>
          </a:solidFill>
          <a:ln cap="flat" cmpd="sng" w="12600">
            <a:solidFill>
              <a:srgbClr val="D6DDE3"/>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95" name="Google Shape;195;p12"/>
          <p:cNvSpPr/>
          <p:nvPr/>
        </p:nvSpPr>
        <p:spPr>
          <a:xfrm>
            <a:off x="6612786" y="1435685"/>
            <a:ext cx="22503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900" u="none" strike="noStrike">
                <a:solidFill>
                  <a:srgbClr val="0D1B2A"/>
                </a:solidFill>
                <a:latin typeface="Calibri"/>
                <a:ea typeface="Calibri"/>
                <a:cs typeface="Calibri"/>
                <a:sym typeface="Calibri"/>
              </a:rPr>
              <a:t>"I feel so worthless and tired"</a:t>
            </a:r>
            <a:endParaRPr b="0" sz="900" u="none" strike="noStrike">
              <a:solidFill>
                <a:srgbClr val="000000"/>
              </a:solidFill>
              <a:latin typeface="Arial"/>
              <a:ea typeface="Arial"/>
              <a:cs typeface="Arial"/>
              <a:sym typeface="Arial"/>
            </a:endParaRPr>
          </a:p>
        </p:txBody>
      </p:sp>
      <p:sp>
        <p:nvSpPr>
          <p:cNvPr id="196" name="Google Shape;196;p12"/>
          <p:cNvSpPr/>
          <p:nvPr/>
        </p:nvSpPr>
        <p:spPr>
          <a:xfrm>
            <a:off x="6612786" y="1691645"/>
            <a:ext cx="22503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C0392B"/>
                </a:solidFill>
                <a:latin typeface="Calibri"/>
                <a:ea typeface="Calibri"/>
                <a:cs typeface="Calibri"/>
                <a:sym typeface="Calibri"/>
              </a:rPr>
              <a:t>→ SADNESS (98%)</a:t>
            </a:r>
            <a:endParaRPr b="0" sz="950" u="none" strike="noStrike">
              <a:solidFill>
                <a:srgbClr val="000000"/>
              </a:solidFill>
              <a:latin typeface="Arial"/>
              <a:ea typeface="Arial"/>
              <a:cs typeface="Arial"/>
              <a:sym typeface="Arial"/>
            </a:endParaRPr>
          </a:p>
        </p:txBody>
      </p:sp>
      <p:sp>
        <p:nvSpPr>
          <p:cNvPr id="197" name="Google Shape;197;p12"/>
          <p:cNvSpPr/>
          <p:nvPr/>
        </p:nvSpPr>
        <p:spPr>
          <a:xfrm>
            <a:off x="6551118" y="2057405"/>
            <a:ext cx="2373900" cy="547800"/>
          </a:xfrm>
          <a:prstGeom prst="roundRect">
            <a:avLst>
              <a:gd fmla="val 11667" name="adj"/>
            </a:avLst>
          </a:prstGeom>
          <a:solidFill>
            <a:srgbClr val="F9F9F9"/>
          </a:solidFill>
          <a:ln cap="flat" cmpd="sng" w="12600">
            <a:solidFill>
              <a:srgbClr val="D6DDE3"/>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98" name="Google Shape;198;p12"/>
          <p:cNvSpPr/>
          <p:nvPr/>
        </p:nvSpPr>
        <p:spPr>
          <a:xfrm>
            <a:off x="6612786" y="2075765"/>
            <a:ext cx="22503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900" u="none" strike="noStrike">
                <a:solidFill>
                  <a:srgbClr val="0D1B2A"/>
                </a:solidFill>
                <a:latin typeface="Calibri"/>
                <a:ea typeface="Calibri"/>
                <a:cs typeface="Calibri"/>
                <a:sym typeface="Calibri"/>
              </a:rPr>
              <a:t>"I got the job but I'm terrified"</a:t>
            </a:r>
            <a:endParaRPr b="0" sz="900" u="none" strike="noStrike">
              <a:solidFill>
                <a:srgbClr val="000000"/>
              </a:solidFill>
              <a:latin typeface="Arial"/>
              <a:ea typeface="Arial"/>
              <a:cs typeface="Arial"/>
              <a:sym typeface="Arial"/>
            </a:endParaRPr>
          </a:p>
        </p:txBody>
      </p:sp>
      <p:sp>
        <p:nvSpPr>
          <p:cNvPr id="199" name="Google Shape;199;p12"/>
          <p:cNvSpPr/>
          <p:nvPr/>
        </p:nvSpPr>
        <p:spPr>
          <a:xfrm>
            <a:off x="6612786" y="2331725"/>
            <a:ext cx="22503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7B5EA7"/>
                </a:solidFill>
                <a:latin typeface="Calibri"/>
                <a:ea typeface="Calibri"/>
                <a:cs typeface="Calibri"/>
                <a:sym typeface="Calibri"/>
              </a:rPr>
              <a:t>→ AMBIGUOUS (pre-check)</a:t>
            </a:r>
            <a:endParaRPr b="0" sz="950" u="none" strike="noStrike">
              <a:solidFill>
                <a:srgbClr val="000000"/>
              </a:solidFill>
              <a:latin typeface="Arial"/>
              <a:ea typeface="Arial"/>
              <a:cs typeface="Arial"/>
              <a:sym typeface="Arial"/>
            </a:endParaRPr>
          </a:p>
        </p:txBody>
      </p:sp>
      <p:sp>
        <p:nvSpPr>
          <p:cNvPr id="200" name="Google Shape;200;p12"/>
          <p:cNvSpPr/>
          <p:nvPr/>
        </p:nvSpPr>
        <p:spPr>
          <a:xfrm>
            <a:off x="6551118" y="2697485"/>
            <a:ext cx="2373900" cy="547800"/>
          </a:xfrm>
          <a:prstGeom prst="roundRect">
            <a:avLst>
              <a:gd fmla="val 11667" name="adj"/>
            </a:avLst>
          </a:prstGeom>
          <a:solidFill>
            <a:srgbClr val="F9F9F9"/>
          </a:solidFill>
          <a:ln cap="flat" cmpd="sng" w="12600">
            <a:solidFill>
              <a:srgbClr val="D6DDE3"/>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01" name="Google Shape;201;p12"/>
          <p:cNvSpPr/>
          <p:nvPr/>
        </p:nvSpPr>
        <p:spPr>
          <a:xfrm>
            <a:off x="6612786" y="2715845"/>
            <a:ext cx="22503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900" u="none" strike="noStrike">
                <a:solidFill>
                  <a:srgbClr val="0D1B2A"/>
                </a:solidFill>
                <a:latin typeface="Calibri"/>
                <a:ea typeface="Calibri"/>
                <a:cs typeface="Calibri"/>
                <a:sym typeface="Calibri"/>
              </a:rPr>
              <a:t>"E be like say nobody dey for me"</a:t>
            </a:r>
            <a:endParaRPr b="0" sz="900" u="none" strike="noStrike">
              <a:solidFill>
                <a:srgbClr val="000000"/>
              </a:solidFill>
              <a:latin typeface="Arial"/>
              <a:ea typeface="Arial"/>
              <a:cs typeface="Arial"/>
              <a:sym typeface="Arial"/>
            </a:endParaRPr>
          </a:p>
        </p:txBody>
      </p:sp>
      <p:sp>
        <p:nvSpPr>
          <p:cNvPr id="202" name="Google Shape;202;p12"/>
          <p:cNvSpPr/>
          <p:nvPr/>
        </p:nvSpPr>
        <p:spPr>
          <a:xfrm>
            <a:off x="6612786" y="2971805"/>
            <a:ext cx="22503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C0392B"/>
                </a:solidFill>
                <a:latin typeface="Calibri"/>
                <a:ea typeface="Calibri"/>
                <a:cs typeface="Calibri"/>
                <a:sym typeface="Calibri"/>
              </a:rPr>
              <a:t>→ SADNESS (Pidgin fallback)</a:t>
            </a:r>
            <a:endParaRPr b="0" sz="950" u="none" strike="noStrike">
              <a:solidFill>
                <a:srgbClr val="000000"/>
              </a:solidFill>
              <a:latin typeface="Arial"/>
              <a:ea typeface="Arial"/>
              <a:cs typeface="Arial"/>
              <a:sym typeface="Arial"/>
            </a:endParaRPr>
          </a:p>
        </p:txBody>
      </p:sp>
      <p:sp>
        <p:nvSpPr>
          <p:cNvPr id="203" name="Google Shape;203;p12"/>
          <p:cNvSpPr/>
          <p:nvPr/>
        </p:nvSpPr>
        <p:spPr>
          <a:xfrm>
            <a:off x="6551118" y="3337565"/>
            <a:ext cx="2373900" cy="547800"/>
          </a:xfrm>
          <a:prstGeom prst="roundRect">
            <a:avLst>
              <a:gd fmla="val 11667" name="adj"/>
            </a:avLst>
          </a:prstGeom>
          <a:solidFill>
            <a:srgbClr val="F9F9F9"/>
          </a:solidFill>
          <a:ln cap="flat" cmpd="sng" w="12600">
            <a:solidFill>
              <a:srgbClr val="D6DDE3"/>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04" name="Google Shape;204;p12"/>
          <p:cNvSpPr/>
          <p:nvPr/>
        </p:nvSpPr>
        <p:spPr>
          <a:xfrm>
            <a:off x="6612786" y="3355925"/>
            <a:ext cx="22503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900" u="none" strike="noStrike">
                <a:solidFill>
                  <a:srgbClr val="0D1B2A"/>
                </a:solidFill>
                <a:latin typeface="Calibri"/>
                <a:ea typeface="Calibri"/>
                <a:cs typeface="Calibri"/>
                <a:sym typeface="Calibri"/>
              </a:rPr>
              <a:t>"I think I finally passed!"</a:t>
            </a:r>
            <a:endParaRPr b="0" sz="900" u="none" strike="noStrike">
              <a:solidFill>
                <a:srgbClr val="000000"/>
              </a:solidFill>
              <a:latin typeface="Arial"/>
              <a:ea typeface="Arial"/>
              <a:cs typeface="Arial"/>
              <a:sym typeface="Arial"/>
            </a:endParaRPr>
          </a:p>
        </p:txBody>
      </p:sp>
      <p:sp>
        <p:nvSpPr>
          <p:cNvPr id="205" name="Google Shape;205;p12"/>
          <p:cNvSpPr/>
          <p:nvPr/>
        </p:nvSpPr>
        <p:spPr>
          <a:xfrm>
            <a:off x="6612786" y="3611885"/>
            <a:ext cx="22503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27AE60"/>
                </a:solidFill>
                <a:latin typeface="Calibri"/>
                <a:ea typeface="Calibri"/>
                <a:cs typeface="Calibri"/>
                <a:sym typeface="Calibri"/>
              </a:rPr>
              <a:t>→ POSITIVE (91%)</a:t>
            </a:r>
            <a:endParaRPr b="0" sz="950" u="none" strike="noStrike">
              <a:solidFill>
                <a:srgbClr val="000000"/>
              </a:solidFill>
              <a:latin typeface="Arial"/>
              <a:ea typeface="Arial"/>
              <a:cs typeface="Arial"/>
              <a:sym typeface="Arial"/>
            </a:endParaRPr>
          </a:p>
        </p:txBody>
      </p:sp>
      <p:sp>
        <p:nvSpPr>
          <p:cNvPr id="206" name="Google Shape;206;p12"/>
          <p:cNvSpPr/>
          <p:nvPr/>
        </p:nvSpPr>
        <p:spPr>
          <a:xfrm>
            <a:off x="6551118" y="3977645"/>
            <a:ext cx="2373900" cy="547800"/>
          </a:xfrm>
          <a:prstGeom prst="roundRect">
            <a:avLst>
              <a:gd fmla="val 11667" name="adj"/>
            </a:avLst>
          </a:prstGeom>
          <a:solidFill>
            <a:srgbClr val="F9F9F9"/>
          </a:solidFill>
          <a:ln cap="flat" cmpd="sng" w="12600">
            <a:solidFill>
              <a:srgbClr val="D6DDE3"/>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07" name="Google Shape;207;p12"/>
          <p:cNvSpPr/>
          <p:nvPr/>
        </p:nvSpPr>
        <p:spPr>
          <a:xfrm>
            <a:off x="6612786" y="3996005"/>
            <a:ext cx="22503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900" u="none" strike="noStrike">
                <a:solidFill>
                  <a:srgbClr val="0D1B2A"/>
                </a:solidFill>
                <a:latin typeface="Calibri"/>
                <a:ea typeface="Calibri"/>
                <a:cs typeface="Calibri"/>
                <a:sym typeface="Calibri"/>
              </a:rPr>
              <a:t>"I can't stop worrying about it"</a:t>
            </a:r>
            <a:endParaRPr b="0" sz="900" u="none" strike="noStrike">
              <a:solidFill>
                <a:srgbClr val="000000"/>
              </a:solidFill>
              <a:latin typeface="Arial"/>
              <a:ea typeface="Arial"/>
              <a:cs typeface="Arial"/>
              <a:sym typeface="Arial"/>
            </a:endParaRPr>
          </a:p>
        </p:txBody>
      </p:sp>
      <p:sp>
        <p:nvSpPr>
          <p:cNvPr id="208" name="Google Shape;208;p12"/>
          <p:cNvSpPr/>
          <p:nvPr/>
        </p:nvSpPr>
        <p:spPr>
          <a:xfrm>
            <a:off x="6612786" y="4251965"/>
            <a:ext cx="22503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E8852E"/>
                </a:solidFill>
                <a:latin typeface="Calibri"/>
                <a:ea typeface="Calibri"/>
                <a:cs typeface="Calibri"/>
                <a:sym typeface="Calibri"/>
              </a:rPr>
              <a:t>→ ANXIETY (83%)</a:t>
            </a:r>
            <a:endParaRPr b="0" sz="950" u="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 name="Shape 213"/>
        <p:cNvGrpSpPr/>
        <p:nvPr/>
      </p:nvGrpSpPr>
      <p:grpSpPr>
        <a:xfrm>
          <a:off x="0" y="0"/>
          <a:ext cx="0" cy="0"/>
          <a:chOff x="0" y="0"/>
          <a:chExt cx="0" cy="0"/>
        </a:xfrm>
      </p:grpSpPr>
      <p:sp>
        <p:nvSpPr>
          <p:cNvPr id="214" name="Google Shape;214;p13"/>
          <p:cNvSpPr/>
          <p:nvPr/>
        </p:nvSpPr>
        <p:spPr>
          <a:xfrm>
            <a:off x="0" y="0"/>
            <a:ext cx="9143280" cy="913680"/>
          </a:xfrm>
          <a:prstGeom prst="rect">
            <a:avLst/>
          </a:prstGeom>
          <a:solidFill>
            <a:srgbClr val="0D1B2A"/>
          </a:solidFill>
          <a:ln cap="flat" cmpd="sng" w="12600">
            <a:solidFill>
              <a:srgbClr val="0D1B2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15" name="Google Shape;215;p13"/>
          <p:cNvSpPr/>
          <p:nvPr/>
        </p:nvSpPr>
        <p:spPr>
          <a:xfrm>
            <a:off x="457200" y="274320"/>
            <a:ext cx="8228880" cy="383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800" u="none" strike="noStrike">
                <a:solidFill>
                  <a:srgbClr val="FFFFFF"/>
                </a:solidFill>
                <a:latin typeface="Calibri"/>
                <a:ea typeface="Calibri"/>
                <a:cs typeface="Calibri"/>
                <a:sym typeface="Calibri"/>
              </a:rPr>
              <a:t>TREND ANALYSIS &amp; STRATEGY SELECTION</a:t>
            </a:r>
            <a:endParaRPr b="0" sz="1800" u="none" strike="noStrike">
              <a:solidFill>
                <a:srgbClr val="000000"/>
              </a:solidFill>
              <a:latin typeface="Arial"/>
              <a:ea typeface="Arial"/>
              <a:cs typeface="Arial"/>
              <a:sym typeface="Arial"/>
            </a:endParaRPr>
          </a:p>
        </p:txBody>
      </p:sp>
      <p:sp>
        <p:nvSpPr>
          <p:cNvPr id="216" name="Google Shape;216;p13"/>
          <p:cNvSpPr/>
          <p:nvPr/>
        </p:nvSpPr>
        <p:spPr>
          <a:xfrm>
            <a:off x="365760" y="1005840"/>
            <a:ext cx="4114080" cy="31932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400" u="none" strike="noStrike">
                <a:solidFill>
                  <a:srgbClr val="0D1B2A"/>
                </a:solidFill>
                <a:latin typeface="Cambria"/>
                <a:ea typeface="Cambria"/>
                <a:cs typeface="Cambria"/>
                <a:sym typeface="Cambria"/>
              </a:rPr>
              <a:t>7 Trend Types</a:t>
            </a:r>
            <a:endParaRPr b="0" sz="1400" u="none" strike="noStrike">
              <a:solidFill>
                <a:srgbClr val="000000"/>
              </a:solidFill>
              <a:latin typeface="Arial"/>
              <a:ea typeface="Arial"/>
              <a:cs typeface="Arial"/>
              <a:sym typeface="Arial"/>
            </a:endParaRPr>
          </a:p>
        </p:txBody>
      </p:sp>
      <p:sp>
        <p:nvSpPr>
          <p:cNvPr id="217" name="Google Shape;217;p13"/>
          <p:cNvSpPr/>
          <p:nvPr/>
        </p:nvSpPr>
        <p:spPr>
          <a:xfrm>
            <a:off x="365760" y="1472040"/>
            <a:ext cx="200520" cy="319320"/>
          </a:xfrm>
          <a:prstGeom prst="rect">
            <a:avLst/>
          </a:prstGeom>
          <a:solidFill>
            <a:srgbClr val="C0392B"/>
          </a:solidFill>
          <a:ln cap="flat" cmpd="sng" w="12600">
            <a:solidFill>
              <a:srgbClr val="C0392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18" name="Google Shape;218;p13"/>
          <p:cNvSpPr/>
          <p:nvPr/>
        </p:nvSpPr>
        <p:spPr>
          <a:xfrm>
            <a:off x="685800" y="1417320"/>
            <a:ext cx="329112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0D1B2A"/>
                </a:solidFill>
                <a:latin typeface="Calibri"/>
                <a:ea typeface="Calibri"/>
                <a:cs typeface="Calibri"/>
                <a:sym typeface="Calibri"/>
              </a:rPr>
              <a:t>PERSISTENT_DISTRESS</a:t>
            </a:r>
            <a:endParaRPr b="0" sz="950" u="none" strike="noStrike">
              <a:solidFill>
                <a:srgbClr val="000000"/>
              </a:solidFill>
              <a:latin typeface="Arial"/>
              <a:ea typeface="Arial"/>
              <a:cs typeface="Arial"/>
              <a:sym typeface="Arial"/>
            </a:endParaRPr>
          </a:p>
        </p:txBody>
      </p:sp>
      <p:sp>
        <p:nvSpPr>
          <p:cNvPr id="219" name="Google Shape;219;p13"/>
          <p:cNvSpPr/>
          <p:nvPr/>
        </p:nvSpPr>
        <p:spPr>
          <a:xfrm>
            <a:off x="685800" y="1673280"/>
            <a:ext cx="3291120" cy="218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Mean severity &gt; 0.55</a:t>
            </a:r>
            <a:endParaRPr b="0" sz="850" u="none" strike="noStrike">
              <a:solidFill>
                <a:srgbClr val="000000"/>
              </a:solidFill>
              <a:latin typeface="Arial"/>
              <a:ea typeface="Arial"/>
              <a:cs typeface="Arial"/>
              <a:sym typeface="Arial"/>
            </a:endParaRPr>
          </a:p>
        </p:txBody>
      </p:sp>
      <p:sp>
        <p:nvSpPr>
          <p:cNvPr id="220" name="Google Shape;220;p13"/>
          <p:cNvSpPr/>
          <p:nvPr/>
        </p:nvSpPr>
        <p:spPr>
          <a:xfrm>
            <a:off x="365760" y="1965960"/>
            <a:ext cx="200520" cy="319320"/>
          </a:xfrm>
          <a:prstGeom prst="rect">
            <a:avLst/>
          </a:prstGeom>
          <a:solidFill>
            <a:srgbClr val="E06030"/>
          </a:solidFill>
          <a:ln cap="flat" cmpd="sng" w="12600">
            <a:solidFill>
              <a:srgbClr val="E06030"/>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21" name="Google Shape;221;p13"/>
          <p:cNvSpPr/>
          <p:nvPr/>
        </p:nvSpPr>
        <p:spPr>
          <a:xfrm>
            <a:off x="685800" y="1911240"/>
            <a:ext cx="329112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0D1B2A"/>
                </a:solidFill>
                <a:latin typeface="Calibri"/>
                <a:ea typeface="Calibri"/>
                <a:cs typeface="Calibri"/>
                <a:sym typeface="Calibri"/>
              </a:rPr>
              <a:t>ESCALATING_DISTRESS</a:t>
            </a:r>
            <a:endParaRPr b="0" sz="950" u="none" strike="noStrike">
              <a:solidFill>
                <a:srgbClr val="000000"/>
              </a:solidFill>
              <a:latin typeface="Arial"/>
              <a:ea typeface="Arial"/>
              <a:cs typeface="Arial"/>
              <a:sym typeface="Arial"/>
            </a:endParaRPr>
          </a:p>
        </p:txBody>
      </p:sp>
      <p:sp>
        <p:nvSpPr>
          <p:cNvPr id="222" name="Google Shape;222;p13"/>
          <p:cNvSpPr/>
          <p:nvPr/>
        </p:nvSpPr>
        <p:spPr>
          <a:xfrm>
            <a:off x="685800" y="2167200"/>
            <a:ext cx="3291120" cy="218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Strictly increasing severity scores</a:t>
            </a:r>
            <a:endParaRPr b="0" sz="850" u="none" strike="noStrike">
              <a:solidFill>
                <a:srgbClr val="000000"/>
              </a:solidFill>
              <a:latin typeface="Arial"/>
              <a:ea typeface="Arial"/>
              <a:cs typeface="Arial"/>
              <a:sym typeface="Arial"/>
            </a:endParaRPr>
          </a:p>
        </p:txBody>
      </p:sp>
      <p:sp>
        <p:nvSpPr>
          <p:cNvPr id="223" name="Google Shape;223;p13"/>
          <p:cNvSpPr/>
          <p:nvPr/>
        </p:nvSpPr>
        <p:spPr>
          <a:xfrm>
            <a:off x="365760" y="2459880"/>
            <a:ext cx="200520" cy="319320"/>
          </a:xfrm>
          <a:prstGeom prst="rect">
            <a:avLst/>
          </a:prstGeom>
          <a:solidFill>
            <a:srgbClr val="C04040"/>
          </a:solidFill>
          <a:ln cap="flat" cmpd="sng" w="12600">
            <a:solidFill>
              <a:srgbClr val="C04040"/>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24" name="Google Shape;224;p13"/>
          <p:cNvSpPr/>
          <p:nvPr/>
        </p:nvSpPr>
        <p:spPr>
          <a:xfrm>
            <a:off x="685800" y="2404800"/>
            <a:ext cx="329112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0D1B2A"/>
                </a:solidFill>
                <a:latin typeface="Calibri"/>
                <a:ea typeface="Calibri"/>
                <a:cs typeface="Calibri"/>
                <a:sym typeface="Calibri"/>
              </a:rPr>
              <a:t>ELEVATED_ANGER</a:t>
            </a:r>
            <a:endParaRPr b="0" sz="950" u="none" strike="noStrike">
              <a:solidFill>
                <a:srgbClr val="000000"/>
              </a:solidFill>
              <a:latin typeface="Arial"/>
              <a:ea typeface="Arial"/>
              <a:cs typeface="Arial"/>
              <a:sym typeface="Arial"/>
            </a:endParaRPr>
          </a:p>
        </p:txBody>
      </p:sp>
      <p:sp>
        <p:nvSpPr>
          <p:cNvPr id="225" name="Google Shape;225;p13"/>
          <p:cNvSpPr/>
          <p:nvPr/>
        </p:nvSpPr>
        <p:spPr>
          <a:xfrm>
            <a:off x="685800" y="2660760"/>
            <a:ext cx="3291120" cy="218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2+ consecutive ANGER turns</a:t>
            </a:r>
            <a:endParaRPr b="0" sz="850" u="none" strike="noStrike">
              <a:solidFill>
                <a:srgbClr val="000000"/>
              </a:solidFill>
              <a:latin typeface="Arial"/>
              <a:ea typeface="Arial"/>
              <a:cs typeface="Arial"/>
              <a:sym typeface="Arial"/>
            </a:endParaRPr>
          </a:p>
        </p:txBody>
      </p:sp>
      <p:sp>
        <p:nvSpPr>
          <p:cNvPr id="226" name="Google Shape;226;p13"/>
          <p:cNvSpPr/>
          <p:nvPr/>
        </p:nvSpPr>
        <p:spPr>
          <a:xfrm>
            <a:off x="365760" y="2953440"/>
            <a:ext cx="200520" cy="319320"/>
          </a:xfrm>
          <a:prstGeom prst="rect">
            <a:avLst/>
          </a:prstGeom>
          <a:solidFill>
            <a:srgbClr val="27AE60"/>
          </a:solidFill>
          <a:ln cap="flat" cmpd="sng" w="12600">
            <a:solidFill>
              <a:srgbClr val="27AE60"/>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27" name="Google Shape;227;p13"/>
          <p:cNvSpPr/>
          <p:nvPr/>
        </p:nvSpPr>
        <p:spPr>
          <a:xfrm>
            <a:off x="685800" y="2898720"/>
            <a:ext cx="329112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0D1B2A"/>
                </a:solidFill>
                <a:latin typeface="Calibri"/>
                <a:ea typeface="Calibri"/>
                <a:cs typeface="Calibri"/>
                <a:sym typeface="Calibri"/>
              </a:rPr>
              <a:t>IMPROVING</a:t>
            </a:r>
            <a:endParaRPr b="0" sz="950" u="none" strike="noStrike">
              <a:solidFill>
                <a:srgbClr val="000000"/>
              </a:solidFill>
              <a:latin typeface="Arial"/>
              <a:ea typeface="Arial"/>
              <a:cs typeface="Arial"/>
              <a:sym typeface="Arial"/>
            </a:endParaRPr>
          </a:p>
        </p:txBody>
      </p:sp>
      <p:sp>
        <p:nvSpPr>
          <p:cNvPr id="228" name="Google Shape;228;p13"/>
          <p:cNvSpPr/>
          <p:nvPr/>
        </p:nvSpPr>
        <p:spPr>
          <a:xfrm>
            <a:off x="685800" y="3154680"/>
            <a:ext cx="3291120" cy="218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Strictly decreasing + started negative</a:t>
            </a:r>
            <a:endParaRPr b="0" sz="850" u="none" strike="noStrike">
              <a:solidFill>
                <a:srgbClr val="000000"/>
              </a:solidFill>
              <a:latin typeface="Arial"/>
              <a:ea typeface="Arial"/>
              <a:cs typeface="Arial"/>
              <a:sym typeface="Arial"/>
            </a:endParaRPr>
          </a:p>
        </p:txBody>
      </p:sp>
      <p:sp>
        <p:nvSpPr>
          <p:cNvPr id="229" name="Google Shape;229;p13"/>
          <p:cNvSpPr/>
          <p:nvPr/>
        </p:nvSpPr>
        <p:spPr>
          <a:xfrm>
            <a:off x="365760" y="3447360"/>
            <a:ext cx="200520" cy="319320"/>
          </a:xfrm>
          <a:prstGeom prst="rect">
            <a:avLst/>
          </a:prstGeom>
          <a:solidFill>
            <a:srgbClr val="2E8B57"/>
          </a:solidFill>
          <a:ln cap="flat" cmpd="sng" w="12600">
            <a:solidFill>
              <a:srgbClr val="2E8B57"/>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30" name="Google Shape;230;p13"/>
          <p:cNvSpPr/>
          <p:nvPr/>
        </p:nvSpPr>
        <p:spPr>
          <a:xfrm>
            <a:off x="685800" y="3392280"/>
            <a:ext cx="329112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0D1B2A"/>
                </a:solidFill>
                <a:latin typeface="Calibri"/>
                <a:ea typeface="Calibri"/>
                <a:cs typeface="Calibri"/>
                <a:sym typeface="Calibri"/>
              </a:rPr>
              <a:t>STABLE_POSITIVE</a:t>
            </a:r>
            <a:endParaRPr b="0" sz="950" u="none" strike="noStrike">
              <a:solidFill>
                <a:srgbClr val="000000"/>
              </a:solidFill>
              <a:latin typeface="Arial"/>
              <a:ea typeface="Arial"/>
              <a:cs typeface="Arial"/>
              <a:sym typeface="Arial"/>
            </a:endParaRPr>
          </a:p>
        </p:txBody>
      </p:sp>
      <p:sp>
        <p:nvSpPr>
          <p:cNvPr id="231" name="Google Shape;231;p13"/>
          <p:cNvSpPr/>
          <p:nvPr/>
        </p:nvSpPr>
        <p:spPr>
          <a:xfrm>
            <a:off x="685800" y="3648600"/>
            <a:ext cx="3291120" cy="218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Mean ≤ 0.2, recent POSITIVE turn</a:t>
            </a:r>
            <a:endParaRPr b="0" sz="850" u="none" strike="noStrike">
              <a:solidFill>
                <a:srgbClr val="000000"/>
              </a:solidFill>
              <a:latin typeface="Arial"/>
              <a:ea typeface="Arial"/>
              <a:cs typeface="Arial"/>
              <a:sym typeface="Arial"/>
            </a:endParaRPr>
          </a:p>
        </p:txBody>
      </p:sp>
      <p:sp>
        <p:nvSpPr>
          <p:cNvPr id="232" name="Google Shape;232;p13"/>
          <p:cNvSpPr/>
          <p:nvPr/>
        </p:nvSpPr>
        <p:spPr>
          <a:xfrm>
            <a:off x="365760" y="3940920"/>
            <a:ext cx="200520" cy="319320"/>
          </a:xfrm>
          <a:prstGeom prst="rect">
            <a:avLst/>
          </a:prstGeom>
          <a:solidFill>
            <a:srgbClr val="E8A838"/>
          </a:solidFill>
          <a:ln cap="flat" cmpd="sng" w="12600">
            <a:solidFill>
              <a:srgbClr val="E8A83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33" name="Google Shape;233;p13"/>
          <p:cNvSpPr/>
          <p:nvPr/>
        </p:nvSpPr>
        <p:spPr>
          <a:xfrm>
            <a:off x="685800" y="3886200"/>
            <a:ext cx="329112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0D1B2A"/>
                </a:solidFill>
                <a:latin typeface="Calibri"/>
                <a:ea typeface="Calibri"/>
                <a:cs typeface="Calibri"/>
                <a:sym typeface="Calibri"/>
              </a:rPr>
              <a:t>FLUCTUATING</a:t>
            </a:r>
            <a:endParaRPr b="0" sz="950" u="none" strike="noStrike">
              <a:solidFill>
                <a:srgbClr val="000000"/>
              </a:solidFill>
              <a:latin typeface="Arial"/>
              <a:ea typeface="Arial"/>
              <a:cs typeface="Arial"/>
              <a:sym typeface="Arial"/>
            </a:endParaRPr>
          </a:p>
        </p:txBody>
      </p:sp>
      <p:sp>
        <p:nvSpPr>
          <p:cNvPr id="234" name="Google Shape;234;p13"/>
          <p:cNvSpPr/>
          <p:nvPr/>
        </p:nvSpPr>
        <p:spPr>
          <a:xfrm>
            <a:off x="685800" y="4142160"/>
            <a:ext cx="3291120" cy="218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One or more direction reversals</a:t>
            </a:r>
            <a:endParaRPr b="0" sz="850" u="none" strike="noStrike">
              <a:solidFill>
                <a:srgbClr val="000000"/>
              </a:solidFill>
              <a:latin typeface="Arial"/>
              <a:ea typeface="Arial"/>
              <a:cs typeface="Arial"/>
              <a:sym typeface="Arial"/>
            </a:endParaRPr>
          </a:p>
        </p:txBody>
      </p:sp>
      <p:sp>
        <p:nvSpPr>
          <p:cNvPr id="235" name="Google Shape;235;p13"/>
          <p:cNvSpPr/>
          <p:nvPr/>
        </p:nvSpPr>
        <p:spPr>
          <a:xfrm>
            <a:off x="365760" y="4434840"/>
            <a:ext cx="200520" cy="319320"/>
          </a:xfrm>
          <a:prstGeom prst="rect">
            <a:avLst/>
          </a:prstGeom>
          <a:solidFill>
            <a:srgbClr val="8E99A4"/>
          </a:solidFill>
          <a:ln cap="flat" cmpd="sng" w="12600">
            <a:solidFill>
              <a:srgbClr val="8E99A4"/>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36" name="Google Shape;236;p13"/>
          <p:cNvSpPr/>
          <p:nvPr/>
        </p:nvSpPr>
        <p:spPr>
          <a:xfrm>
            <a:off x="685800" y="4380120"/>
            <a:ext cx="329112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0D1B2A"/>
                </a:solidFill>
                <a:latin typeface="Calibri"/>
                <a:ea typeface="Calibri"/>
                <a:cs typeface="Calibri"/>
                <a:sym typeface="Calibri"/>
              </a:rPr>
              <a:t>INSUFFICIENT_DATA</a:t>
            </a:r>
            <a:endParaRPr b="0" sz="950" u="none" strike="noStrike">
              <a:solidFill>
                <a:srgbClr val="000000"/>
              </a:solidFill>
              <a:latin typeface="Arial"/>
              <a:ea typeface="Arial"/>
              <a:cs typeface="Arial"/>
              <a:sym typeface="Arial"/>
            </a:endParaRPr>
          </a:p>
        </p:txBody>
      </p:sp>
      <p:sp>
        <p:nvSpPr>
          <p:cNvPr id="237" name="Google Shape;237;p13"/>
          <p:cNvSpPr/>
          <p:nvPr/>
        </p:nvSpPr>
        <p:spPr>
          <a:xfrm>
            <a:off x="685800" y="4636080"/>
            <a:ext cx="3291120" cy="218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Fewer than 3 turns</a:t>
            </a:r>
            <a:endParaRPr b="0" sz="850" u="none" strike="noStrike">
              <a:solidFill>
                <a:srgbClr val="000000"/>
              </a:solidFill>
              <a:latin typeface="Arial"/>
              <a:ea typeface="Arial"/>
              <a:cs typeface="Arial"/>
              <a:sym typeface="Arial"/>
            </a:endParaRPr>
          </a:p>
        </p:txBody>
      </p:sp>
      <p:sp>
        <p:nvSpPr>
          <p:cNvPr id="238" name="Google Shape;238;p13"/>
          <p:cNvSpPr/>
          <p:nvPr/>
        </p:nvSpPr>
        <p:spPr>
          <a:xfrm>
            <a:off x="4536853" y="1005850"/>
            <a:ext cx="4388400" cy="2193900"/>
          </a:xfrm>
          <a:prstGeom prst="roundRect">
            <a:avLst>
              <a:gd fmla="val 4167" name="adj"/>
            </a:avLst>
          </a:prstGeom>
          <a:solidFill>
            <a:srgbClr val="F8F4FF"/>
          </a:solidFill>
          <a:ln cap="flat" cmpd="sng" w="12600">
            <a:solidFill>
              <a:srgbClr val="D6DDE3"/>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39" name="Google Shape;239;p13"/>
          <p:cNvSpPr/>
          <p:nvPr/>
        </p:nvSpPr>
        <p:spPr>
          <a:xfrm>
            <a:off x="4674007" y="1078920"/>
            <a:ext cx="3839700" cy="2919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300" u="none" strike="noStrike">
                <a:solidFill>
                  <a:srgbClr val="0D1B2A"/>
                </a:solidFill>
                <a:latin typeface="Cambria"/>
                <a:ea typeface="Cambria"/>
                <a:cs typeface="Cambria"/>
                <a:sym typeface="Cambria"/>
              </a:rPr>
              <a:t>Severity Scoring</a:t>
            </a:r>
            <a:endParaRPr b="0" sz="1300" u="none" strike="noStrike">
              <a:solidFill>
                <a:srgbClr val="000000"/>
              </a:solidFill>
              <a:latin typeface="Arial"/>
              <a:ea typeface="Arial"/>
              <a:cs typeface="Arial"/>
              <a:sym typeface="Arial"/>
            </a:endParaRPr>
          </a:p>
        </p:txBody>
      </p:sp>
      <p:sp>
        <p:nvSpPr>
          <p:cNvPr id="240" name="Google Shape;240;p13"/>
          <p:cNvSpPr/>
          <p:nvPr/>
        </p:nvSpPr>
        <p:spPr>
          <a:xfrm>
            <a:off x="4674007" y="1444680"/>
            <a:ext cx="18282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27AE60"/>
                </a:solidFill>
                <a:latin typeface="Calibri"/>
                <a:ea typeface="Calibri"/>
                <a:cs typeface="Calibri"/>
                <a:sym typeface="Calibri"/>
              </a:rPr>
              <a:t>POSITIVE</a:t>
            </a:r>
            <a:endParaRPr b="0" sz="950" u="none" strike="noStrike">
              <a:solidFill>
                <a:srgbClr val="000000"/>
              </a:solidFill>
              <a:latin typeface="Arial"/>
              <a:ea typeface="Arial"/>
              <a:cs typeface="Arial"/>
              <a:sym typeface="Arial"/>
            </a:endParaRPr>
          </a:p>
        </p:txBody>
      </p:sp>
      <p:sp>
        <p:nvSpPr>
          <p:cNvPr id="241" name="Google Shape;241;p13"/>
          <p:cNvSpPr/>
          <p:nvPr/>
        </p:nvSpPr>
        <p:spPr>
          <a:xfrm>
            <a:off x="6260189" y="1490400"/>
            <a:ext cx="136500" cy="145500"/>
          </a:xfrm>
          <a:prstGeom prst="rect">
            <a:avLst/>
          </a:prstGeom>
          <a:solidFill>
            <a:srgbClr val="27AE60"/>
          </a:solidFill>
          <a:ln cap="flat" cmpd="sng" w="12600">
            <a:solidFill>
              <a:srgbClr val="27AE60"/>
            </a:solidFill>
            <a:prstDash val="solid"/>
            <a:round/>
            <a:headEnd len="sm" w="sm" type="none"/>
            <a:tailEnd len="sm" w="sm" type="none"/>
          </a:ln>
        </p:spPr>
        <p:txBody>
          <a:bodyPr anchorCtr="0" anchor="t" bIns="45000" lIns="68400" spcFirstLastPara="1" rIns="684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42" name="Google Shape;242;p13"/>
          <p:cNvSpPr/>
          <p:nvPr/>
        </p:nvSpPr>
        <p:spPr>
          <a:xfrm>
            <a:off x="8450796" y="1444680"/>
            <a:ext cx="456600" cy="21900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900" u="none" strike="noStrike">
                <a:solidFill>
                  <a:srgbClr val="27AE60"/>
                </a:solidFill>
                <a:latin typeface="Calibri"/>
                <a:ea typeface="Calibri"/>
                <a:cs typeface="Calibri"/>
                <a:sym typeface="Calibri"/>
              </a:rPr>
              <a:t>0.0</a:t>
            </a:r>
            <a:endParaRPr b="0" sz="900" u="none" strike="noStrike">
              <a:solidFill>
                <a:srgbClr val="000000"/>
              </a:solidFill>
              <a:latin typeface="Arial"/>
              <a:ea typeface="Arial"/>
              <a:cs typeface="Arial"/>
              <a:sym typeface="Arial"/>
            </a:endParaRPr>
          </a:p>
        </p:txBody>
      </p:sp>
      <p:sp>
        <p:nvSpPr>
          <p:cNvPr id="243" name="Google Shape;243;p13"/>
          <p:cNvSpPr/>
          <p:nvPr/>
        </p:nvSpPr>
        <p:spPr>
          <a:xfrm>
            <a:off x="4674007" y="1691640"/>
            <a:ext cx="18282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8E99A4"/>
                </a:solidFill>
                <a:latin typeface="Calibri"/>
                <a:ea typeface="Calibri"/>
                <a:cs typeface="Calibri"/>
                <a:sym typeface="Calibri"/>
              </a:rPr>
              <a:t>NEUTRAL</a:t>
            </a:r>
            <a:endParaRPr b="0" sz="950" u="none" strike="noStrike">
              <a:solidFill>
                <a:srgbClr val="000000"/>
              </a:solidFill>
              <a:latin typeface="Arial"/>
              <a:ea typeface="Arial"/>
              <a:cs typeface="Arial"/>
              <a:sym typeface="Arial"/>
            </a:endParaRPr>
          </a:p>
        </p:txBody>
      </p:sp>
      <p:sp>
        <p:nvSpPr>
          <p:cNvPr id="244" name="Google Shape;244;p13"/>
          <p:cNvSpPr/>
          <p:nvPr/>
        </p:nvSpPr>
        <p:spPr>
          <a:xfrm>
            <a:off x="6260189" y="1737360"/>
            <a:ext cx="685200" cy="145500"/>
          </a:xfrm>
          <a:prstGeom prst="rect">
            <a:avLst/>
          </a:prstGeom>
          <a:solidFill>
            <a:srgbClr val="8E99A4"/>
          </a:solidFill>
          <a:ln cap="flat" cmpd="sng" w="12600">
            <a:solidFill>
              <a:srgbClr val="8E99A4"/>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45" name="Google Shape;245;p13"/>
          <p:cNvSpPr/>
          <p:nvPr/>
        </p:nvSpPr>
        <p:spPr>
          <a:xfrm>
            <a:off x="8450796" y="1691640"/>
            <a:ext cx="456600" cy="21900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900" u="none" strike="noStrike">
                <a:solidFill>
                  <a:srgbClr val="8E99A4"/>
                </a:solidFill>
                <a:latin typeface="Calibri"/>
                <a:ea typeface="Calibri"/>
                <a:cs typeface="Calibri"/>
                <a:sym typeface="Calibri"/>
              </a:rPr>
              <a:t>0.3</a:t>
            </a:r>
            <a:endParaRPr b="0" sz="900" u="none" strike="noStrike">
              <a:solidFill>
                <a:srgbClr val="000000"/>
              </a:solidFill>
              <a:latin typeface="Arial"/>
              <a:ea typeface="Arial"/>
              <a:cs typeface="Arial"/>
              <a:sym typeface="Arial"/>
            </a:endParaRPr>
          </a:p>
        </p:txBody>
      </p:sp>
      <p:sp>
        <p:nvSpPr>
          <p:cNvPr id="246" name="Google Shape;246;p13"/>
          <p:cNvSpPr/>
          <p:nvPr/>
        </p:nvSpPr>
        <p:spPr>
          <a:xfrm>
            <a:off x="4674007" y="1938600"/>
            <a:ext cx="18282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7B5EA7"/>
                </a:solidFill>
                <a:latin typeface="Calibri"/>
                <a:ea typeface="Calibri"/>
                <a:cs typeface="Calibri"/>
                <a:sym typeface="Calibri"/>
              </a:rPr>
              <a:t>AMBIGUOUS</a:t>
            </a:r>
            <a:endParaRPr b="0" sz="950" u="none" strike="noStrike">
              <a:solidFill>
                <a:srgbClr val="000000"/>
              </a:solidFill>
              <a:latin typeface="Arial"/>
              <a:ea typeface="Arial"/>
              <a:cs typeface="Arial"/>
              <a:sym typeface="Arial"/>
            </a:endParaRPr>
          </a:p>
        </p:txBody>
      </p:sp>
      <p:sp>
        <p:nvSpPr>
          <p:cNvPr id="247" name="Google Shape;247;p13"/>
          <p:cNvSpPr/>
          <p:nvPr/>
        </p:nvSpPr>
        <p:spPr>
          <a:xfrm>
            <a:off x="6260189" y="1984320"/>
            <a:ext cx="913800" cy="145500"/>
          </a:xfrm>
          <a:prstGeom prst="rect">
            <a:avLst/>
          </a:prstGeom>
          <a:solidFill>
            <a:srgbClr val="7B5EA7"/>
          </a:solidFill>
          <a:ln cap="flat" cmpd="sng" w="12600">
            <a:solidFill>
              <a:srgbClr val="7B5EA7"/>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48" name="Google Shape;248;p13"/>
          <p:cNvSpPr/>
          <p:nvPr/>
        </p:nvSpPr>
        <p:spPr>
          <a:xfrm>
            <a:off x="8450796" y="1938600"/>
            <a:ext cx="456600" cy="21900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900" u="none" strike="noStrike">
                <a:solidFill>
                  <a:srgbClr val="7B5EA7"/>
                </a:solidFill>
                <a:latin typeface="Calibri"/>
                <a:ea typeface="Calibri"/>
                <a:cs typeface="Calibri"/>
                <a:sym typeface="Calibri"/>
              </a:rPr>
              <a:t>0.4</a:t>
            </a:r>
            <a:endParaRPr b="0" sz="900" u="none" strike="noStrike">
              <a:solidFill>
                <a:srgbClr val="000000"/>
              </a:solidFill>
              <a:latin typeface="Arial"/>
              <a:ea typeface="Arial"/>
              <a:cs typeface="Arial"/>
              <a:sym typeface="Arial"/>
            </a:endParaRPr>
          </a:p>
        </p:txBody>
      </p:sp>
      <p:sp>
        <p:nvSpPr>
          <p:cNvPr id="249" name="Google Shape;249;p13"/>
          <p:cNvSpPr/>
          <p:nvPr/>
        </p:nvSpPr>
        <p:spPr>
          <a:xfrm>
            <a:off x="4674007" y="2185560"/>
            <a:ext cx="18282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E8852E"/>
                </a:solidFill>
                <a:latin typeface="Calibri"/>
                <a:ea typeface="Calibri"/>
                <a:cs typeface="Calibri"/>
                <a:sym typeface="Calibri"/>
              </a:rPr>
              <a:t>ANXIETY</a:t>
            </a:r>
            <a:endParaRPr b="0" sz="950" u="none" strike="noStrike">
              <a:solidFill>
                <a:srgbClr val="000000"/>
              </a:solidFill>
              <a:latin typeface="Arial"/>
              <a:ea typeface="Arial"/>
              <a:cs typeface="Arial"/>
              <a:sym typeface="Arial"/>
            </a:endParaRPr>
          </a:p>
        </p:txBody>
      </p:sp>
      <p:sp>
        <p:nvSpPr>
          <p:cNvPr id="250" name="Google Shape;250;p13"/>
          <p:cNvSpPr/>
          <p:nvPr/>
        </p:nvSpPr>
        <p:spPr>
          <a:xfrm>
            <a:off x="6260189" y="2231280"/>
            <a:ext cx="1371000" cy="145500"/>
          </a:xfrm>
          <a:prstGeom prst="rect">
            <a:avLst/>
          </a:prstGeom>
          <a:solidFill>
            <a:srgbClr val="E8852E"/>
          </a:solidFill>
          <a:ln cap="flat" cmpd="sng" w="12600">
            <a:solidFill>
              <a:srgbClr val="E8852E"/>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51" name="Google Shape;251;p13"/>
          <p:cNvSpPr/>
          <p:nvPr/>
        </p:nvSpPr>
        <p:spPr>
          <a:xfrm>
            <a:off x="8450796" y="2185560"/>
            <a:ext cx="456600" cy="21900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900" u="none" strike="noStrike">
                <a:solidFill>
                  <a:srgbClr val="E8852E"/>
                </a:solidFill>
                <a:latin typeface="Calibri"/>
                <a:ea typeface="Calibri"/>
                <a:cs typeface="Calibri"/>
                <a:sym typeface="Calibri"/>
              </a:rPr>
              <a:t>0.6</a:t>
            </a:r>
            <a:endParaRPr b="0" sz="900" u="none" strike="noStrike">
              <a:solidFill>
                <a:srgbClr val="000000"/>
              </a:solidFill>
              <a:latin typeface="Arial"/>
              <a:ea typeface="Arial"/>
              <a:cs typeface="Arial"/>
              <a:sym typeface="Arial"/>
            </a:endParaRPr>
          </a:p>
        </p:txBody>
      </p:sp>
      <p:sp>
        <p:nvSpPr>
          <p:cNvPr id="252" name="Google Shape;252;p13"/>
          <p:cNvSpPr/>
          <p:nvPr/>
        </p:nvSpPr>
        <p:spPr>
          <a:xfrm>
            <a:off x="4674007" y="2432160"/>
            <a:ext cx="18282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C0392B"/>
                </a:solidFill>
                <a:latin typeface="Calibri"/>
                <a:ea typeface="Calibri"/>
                <a:cs typeface="Calibri"/>
                <a:sym typeface="Calibri"/>
              </a:rPr>
              <a:t>ANGER</a:t>
            </a:r>
            <a:endParaRPr b="0" sz="950" u="none" strike="noStrike">
              <a:solidFill>
                <a:srgbClr val="000000"/>
              </a:solidFill>
              <a:latin typeface="Arial"/>
              <a:ea typeface="Arial"/>
              <a:cs typeface="Arial"/>
              <a:sym typeface="Arial"/>
            </a:endParaRPr>
          </a:p>
        </p:txBody>
      </p:sp>
      <p:sp>
        <p:nvSpPr>
          <p:cNvPr id="253" name="Google Shape;253;p13"/>
          <p:cNvSpPr/>
          <p:nvPr/>
        </p:nvSpPr>
        <p:spPr>
          <a:xfrm>
            <a:off x="6260189" y="2477880"/>
            <a:ext cx="1599600" cy="145500"/>
          </a:xfrm>
          <a:prstGeom prst="rect">
            <a:avLst/>
          </a:prstGeom>
          <a:solidFill>
            <a:srgbClr val="C0392B"/>
          </a:solidFill>
          <a:ln cap="flat" cmpd="sng" w="12600">
            <a:solidFill>
              <a:srgbClr val="C0392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54" name="Google Shape;254;p13"/>
          <p:cNvSpPr/>
          <p:nvPr/>
        </p:nvSpPr>
        <p:spPr>
          <a:xfrm>
            <a:off x="8450796" y="2432160"/>
            <a:ext cx="456600" cy="21900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900" u="none" strike="noStrike">
                <a:solidFill>
                  <a:srgbClr val="C0392B"/>
                </a:solidFill>
                <a:latin typeface="Calibri"/>
                <a:ea typeface="Calibri"/>
                <a:cs typeface="Calibri"/>
                <a:sym typeface="Calibri"/>
              </a:rPr>
              <a:t>0.7</a:t>
            </a:r>
            <a:endParaRPr b="0" sz="900" u="none" strike="noStrike">
              <a:solidFill>
                <a:srgbClr val="000000"/>
              </a:solidFill>
              <a:latin typeface="Arial"/>
              <a:ea typeface="Arial"/>
              <a:cs typeface="Arial"/>
              <a:sym typeface="Arial"/>
            </a:endParaRPr>
          </a:p>
        </p:txBody>
      </p:sp>
      <p:sp>
        <p:nvSpPr>
          <p:cNvPr id="255" name="Google Shape;255;p13"/>
          <p:cNvSpPr/>
          <p:nvPr/>
        </p:nvSpPr>
        <p:spPr>
          <a:xfrm>
            <a:off x="4674007" y="2679120"/>
            <a:ext cx="18282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5B6DC7"/>
                </a:solidFill>
                <a:latin typeface="Calibri"/>
                <a:ea typeface="Calibri"/>
                <a:cs typeface="Calibri"/>
                <a:sym typeface="Calibri"/>
              </a:rPr>
              <a:t>SADNESS</a:t>
            </a:r>
            <a:endParaRPr b="0" sz="950" u="none" strike="noStrike">
              <a:solidFill>
                <a:srgbClr val="000000"/>
              </a:solidFill>
              <a:latin typeface="Arial"/>
              <a:ea typeface="Arial"/>
              <a:cs typeface="Arial"/>
              <a:sym typeface="Arial"/>
            </a:endParaRPr>
          </a:p>
        </p:txBody>
      </p:sp>
      <p:sp>
        <p:nvSpPr>
          <p:cNvPr id="256" name="Google Shape;256;p13"/>
          <p:cNvSpPr/>
          <p:nvPr/>
        </p:nvSpPr>
        <p:spPr>
          <a:xfrm>
            <a:off x="6260189" y="2724840"/>
            <a:ext cx="1828200" cy="145500"/>
          </a:xfrm>
          <a:prstGeom prst="rect">
            <a:avLst/>
          </a:prstGeom>
          <a:solidFill>
            <a:srgbClr val="5B6DC7"/>
          </a:solidFill>
          <a:ln cap="flat" cmpd="sng" w="12600">
            <a:solidFill>
              <a:srgbClr val="5B6DC7"/>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57" name="Google Shape;257;p13"/>
          <p:cNvSpPr/>
          <p:nvPr/>
        </p:nvSpPr>
        <p:spPr>
          <a:xfrm>
            <a:off x="8450796" y="2679120"/>
            <a:ext cx="456600" cy="21900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900" u="none" strike="noStrike">
                <a:solidFill>
                  <a:srgbClr val="5B6DC7"/>
                </a:solidFill>
                <a:latin typeface="Calibri"/>
                <a:ea typeface="Calibri"/>
                <a:cs typeface="Calibri"/>
                <a:sym typeface="Calibri"/>
              </a:rPr>
              <a:t>0.8</a:t>
            </a:r>
            <a:endParaRPr b="0" sz="900" u="none" strike="noStrike">
              <a:solidFill>
                <a:srgbClr val="000000"/>
              </a:solidFill>
              <a:latin typeface="Arial"/>
              <a:ea typeface="Arial"/>
              <a:cs typeface="Arial"/>
              <a:sym typeface="Arial"/>
            </a:endParaRPr>
          </a:p>
        </p:txBody>
      </p:sp>
      <p:sp>
        <p:nvSpPr>
          <p:cNvPr id="258" name="Google Shape;258;p13"/>
          <p:cNvSpPr/>
          <p:nvPr/>
        </p:nvSpPr>
        <p:spPr>
          <a:xfrm>
            <a:off x="4674007" y="2926080"/>
            <a:ext cx="18282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C0392B"/>
                </a:solidFill>
                <a:latin typeface="Calibri"/>
                <a:ea typeface="Calibri"/>
                <a:cs typeface="Calibri"/>
                <a:sym typeface="Calibri"/>
              </a:rPr>
              <a:t>CRISIS</a:t>
            </a:r>
            <a:endParaRPr b="0" sz="950" u="none" strike="noStrike">
              <a:solidFill>
                <a:srgbClr val="000000"/>
              </a:solidFill>
              <a:latin typeface="Arial"/>
              <a:ea typeface="Arial"/>
              <a:cs typeface="Arial"/>
              <a:sym typeface="Arial"/>
            </a:endParaRPr>
          </a:p>
        </p:txBody>
      </p:sp>
      <p:sp>
        <p:nvSpPr>
          <p:cNvPr id="259" name="Google Shape;259;p13"/>
          <p:cNvSpPr/>
          <p:nvPr/>
        </p:nvSpPr>
        <p:spPr>
          <a:xfrm>
            <a:off x="6260189" y="2971800"/>
            <a:ext cx="2285400" cy="145500"/>
          </a:xfrm>
          <a:prstGeom prst="rect">
            <a:avLst/>
          </a:prstGeom>
          <a:solidFill>
            <a:srgbClr val="C0392B"/>
          </a:solidFill>
          <a:ln cap="flat" cmpd="sng" w="12600">
            <a:solidFill>
              <a:srgbClr val="C0392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60" name="Google Shape;260;p13"/>
          <p:cNvSpPr/>
          <p:nvPr/>
        </p:nvSpPr>
        <p:spPr>
          <a:xfrm>
            <a:off x="8450796" y="2926080"/>
            <a:ext cx="456600" cy="21900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900" u="none" strike="noStrike">
                <a:solidFill>
                  <a:srgbClr val="C0392B"/>
                </a:solidFill>
                <a:latin typeface="Calibri"/>
                <a:ea typeface="Calibri"/>
                <a:cs typeface="Calibri"/>
                <a:sym typeface="Calibri"/>
              </a:rPr>
              <a:t>1.0</a:t>
            </a:r>
            <a:endParaRPr b="0" sz="900" u="none" strike="noStrike">
              <a:solidFill>
                <a:srgbClr val="000000"/>
              </a:solidFill>
              <a:latin typeface="Arial"/>
              <a:ea typeface="Arial"/>
              <a:cs typeface="Arial"/>
              <a:sym typeface="Arial"/>
            </a:endParaRPr>
          </a:p>
        </p:txBody>
      </p:sp>
      <p:sp>
        <p:nvSpPr>
          <p:cNvPr id="261" name="Google Shape;261;p13"/>
          <p:cNvSpPr/>
          <p:nvPr/>
        </p:nvSpPr>
        <p:spPr>
          <a:xfrm>
            <a:off x="4707575" y="3547875"/>
            <a:ext cx="3707700" cy="832200"/>
          </a:xfrm>
          <a:prstGeom prst="roundRect">
            <a:avLst>
              <a:gd fmla="val 6452" name="adj"/>
            </a:avLst>
          </a:prstGeom>
          <a:solidFill>
            <a:srgbClr val="F0FAF5"/>
          </a:solidFill>
          <a:ln cap="flat" cmpd="sng" w="12600">
            <a:solidFill>
              <a:srgbClr val="D6DDE3"/>
            </a:solidFill>
            <a:prstDash val="solid"/>
            <a:round/>
            <a:headEnd len="sm" w="sm" type="none"/>
            <a:tailEnd len="sm" w="sm" type="none"/>
          </a:ln>
          <a:effectLst>
            <a:outerShdw blurRad="101520" rotWithShape="0" dir="2700000" dist="37674">
              <a:srgbClr val="000000">
                <a:alpha val="18040"/>
              </a:srgbClr>
            </a:outerShdw>
          </a:effectLst>
        </p:spPr>
        <p:txBody>
          <a:bodyPr anchorCtr="0" anchor="t" bIns="45000" lIns="90000" spcFirstLastPara="1" rIns="90000" wrap="square" tIns="45000">
            <a:noAutofit/>
          </a:bodyPr>
          <a:lstStyle/>
          <a:p>
            <a:pPr indent="0" lvl="0" marL="0" rtl="0" algn="l">
              <a:spcBef>
                <a:spcPts val="0"/>
              </a:spcBef>
              <a:spcAft>
                <a:spcPts val="0"/>
              </a:spcAft>
              <a:buClr>
                <a:schemeClr val="dk1"/>
              </a:buClr>
              <a:buFont typeface="Arial"/>
              <a:buNone/>
            </a:pPr>
            <a:r>
              <a:rPr lang="en-US" sz="1100">
                <a:solidFill>
                  <a:schemeClr val="dk1"/>
                </a:solidFill>
                <a:latin typeface="Calibri"/>
                <a:ea typeface="Calibri"/>
                <a:cs typeface="Calibri"/>
                <a:sym typeface="Calibri"/>
              </a:rPr>
              <a:t>Trend Analysis is calculated using the unweighted arithmetic mean of severity scores over sliding window (max 10 entries)</a:t>
            </a:r>
            <a:endParaRPr sz="1100">
              <a:solidFill>
                <a:schemeClr val="dk1"/>
              </a:solidFill>
              <a:latin typeface="Calibri"/>
              <a:ea typeface="Calibri"/>
              <a:cs typeface="Calibri"/>
              <a:sym typeface="Calibri"/>
            </a:endParaRPr>
          </a:p>
          <a:p>
            <a:pPr indent="0" lvl="0" marL="0" rtl="0" algn="l">
              <a:spcBef>
                <a:spcPts val="800"/>
              </a:spcBef>
              <a:spcAft>
                <a:spcPts val="0"/>
              </a:spcAft>
              <a:buClr>
                <a:schemeClr val="dk1"/>
              </a:buClr>
              <a:buFont typeface="Arial"/>
              <a:buNone/>
            </a:pPr>
            <a:r>
              <a:rPr lang="en-US" sz="1100">
                <a:solidFill>
                  <a:schemeClr val="dk1"/>
                </a:solidFill>
                <a:latin typeface="Calibri"/>
                <a:ea typeface="Calibri"/>
                <a:cs typeface="Calibri"/>
                <a:sym typeface="Calibri"/>
              </a:rPr>
              <a:t>Minimum 3 turns required before trend is derived</a:t>
            </a:r>
            <a:endParaRPr sz="1100">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6" name="Shape 266"/>
        <p:cNvGrpSpPr/>
        <p:nvPr/>
      </p:nvGrpSpPr>
      <p:grpSpPr>
        <a:xfrm>
          <a:off x="0" y="0"/>
          <a:ext cx="0" cy="0"/>
          <a:chOff x="0" y="0"/>
          <a:chExt cx="0" cy="0"/>
        </a:xfrm>
      </p:grpSpPr>
      <p:sp>
        <p:nvSpPr>
          <p:cNvPr id="267" name="Google Shape;267;p14"/>
          <p:cNvSpPr/>
          <p:nvPr/>
        </p:nvSpPr>
        <p:spPr>
          <a:xfrm>
            <a:off x="0" y="0"/>
            <a:ext cx="9143400" cy="913800"/>
          </a:xfrm>
          <a:prstGeom prst="rect">
            <a:avLst/>
          </a:prstGeom>
          <a:solidFill>
            <a:srgbClr val="0D1B2A"/>
          </a:solidFill>
          <a:ln cap="flat" cmpd="sng" w="12600">
            <a:solidFill>
              <a:srgbClr val="0D1B2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68" name="Google Shape;268;p14"/>
          <p:cNvSpPr/>
          <p:nvPr/>
        </p:nvSpPr>
        <p:spPr>
          <a:xfrm>
            <a:off x="457200" y="274320"/>
            <a:ext cx="8229000" cy="383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800" u="none" strike="noStrike">
                <a:solidFill>
                  <a:srgbClr val="FFFFFF"/>
                </a:solidFill>
                <a:latin typeface="Calibri"/>
                <a:ea typeface="Calibri"/>
                <a:cs typeface="Calibri"/>
                <a:sym typeface="Calibri"/>
              </a:rPr>
              <a:t>TREND ANALYSIS &amp; STRATEGY SELECTION</a:t>
            </a:r>
            <a:endParaRPr b="0" sz="1800" u="none" strike="noStrike">
              <a:solidFill>
                <a:srgbClr val="000000"/>
              </a:solidFill>
              <a:latin typeface="Arial"/>
              <a:ea typeface="Arial"/>
              <a:cs typeface="Arial"/>
              <a:sym typeface="Arial"/>
            </a:endParaRPr>
          </a:p>
        </p:txBody>
      </p:sp>
      <p:sp>
        <p:nvSpPr>
          <p:cNvPr id="269" name="Google Shape;269;p14"/>
          <p:cNvSpPr/>
          <p:nvPr/>
        </p:nvSpPr>
        <p:spPr>
          <a:xfrm>
            <a:off x="160735" y="1308786"/>
            <a:ext cx="4159800" cy="2766300"/>
          </a:xfrm>
          <a:prstGeom prst="roundRect">
            <a:avLst>
              <a:gd fmla="val 6452" name="adj"/>
            </a:avLst>
          </a:prstGeom>
          <a:solidFill>
            <a:srgbClr val="F0FAF5"/>
          </a:solidFill>
          <a:ln cap="flat" cmpd="sng" w="12600">
            <a:solidFill>
              <a:srgbClr val="D6DDE3"/>
            </a:solidFill>
            <a:prstDash val="solid"/>
            <a:round/>
            <a:headEnd len="sm" w="sm" type="none"/>
            <a:tailEnd len="sm" w="sm" type="none"/>
          </a:ln>
          <a:effectLst>
            <a:outerShdw blurRad="101520" rotWithShape="0" dir="2700000" dist="37674">
              <a:srgbClr val="000000">
                <a:alpha val="18040"/>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70" name="Google Shape;270;p14"/>
          <p:cNvSpPr/>
          <p:nvPr/>
        </p:nvSpPr>
        <p:spPr>
          <a:xfrm>
            <a:off x="297890" y="1372888"/>
            <a:ext cx="39312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200" u="none" strike="noStrike">
                <a:solidFill>
                  <a:srgbClr val="0D1B2A"/>
                </a:solidFill>
                <a:latin typeface="Cambria"/>
                <a:ea typeface="Cambria"/>
                <a:cs typeface="Cambria"/>
                <a:sym typeface="Cambria"/>
              </a:rPr>
              <a:t>Strategy Mapping</a:t>
            </a:r>
            <a:endParaRPr b="0" sz="1200" u="none" strike="noStrike">
              <a:solidFill>
                <a:srgbClr val="000000"/>
              </a:solidFill>
              <a:latin typeface="Arial"/>
              <a:ea typeface="Arial"/>
              <a:cs typeface="Arial"/>
              <a:sym typeface="Arial"/>
            </a:endParaRPr>
          </a:p>
        </p:txBody>
      </p:sp>
      <p:sp>
        <p:nvSpPr>
          <p:cNvPr id="271" name="Google Shape;271;p14"/>
          <p:cNvSpPr/>
          <p:nvPr/>
        </p:nvSpPr>
        <p:spPr>
          <a:xfrm>
            <a:off x="297893" y="1720285"/>
            <a:ext cx="3931200" cy="3807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u="none" strike="noStrike">
                <a:solidFill>
                  <a:srgbClr val="0D1B2A"/>
                </a:solidFill>
                <a:latin typeface="Calibri"/>
                <a:ea typeface="Calibri"/>
                <a:cs typeface="Calibri"/>
                <a:sym typeface="Calibri"/>
              </a:rPr>
              <a:t>PERSISTENT_DISTRESS → VALIDATION</a:t>
            </a:r>
            <a:r>
              <a:rPr lang="en-US">
                <a:solidFill>
                  <a:srgbClr val="0D1B2A"/>
                </a:solidFill>
                <a:latin typeface="Calibri"/>
                <a:ea typeface="Calibri"/>
                <a:cs typeface="Calibri"/>
                <a:sym typeface="Calibri"/>
              </a:rPr>
              <a:t> </a:t>
            </a:r>
            <a:r>
              <a:rPr b="0" lang="en-US" u="none" strike="noStrike">
                <a:solidFill>
                  <a:srgbClr val="0D1B2A"/>
                </a:solidFill>
                <a:latin typeface="Calibri"/>
                <a:ea typeface="Calibri"/>
                <a:cs typeface="Calibri"/>
                <a:sym typeface="Calibri"/>
              </a:rPr>
              <a:t>AND</a:t>
            </a:r>
            <a:r>
              <a:rPr lang="en-US">
                <a:solidFill>
                  <a:srgbClr val="0D1B2A"/>
                </a:solidFill>
                <a:latin typeface="Calibri"/>
                <a:ea typeface="Calibri"/>
                <a:cs typeface="Calibri"/>
                <a:sym typeface="Calibri"/>
              </a:rPr>
              <a:t> </a:t>
            </a:r>
            <a:r>
              <a:rPr b="0" lang="en-US" u="none" strike="noStrike">
                <a:solidFill>
                  <a:srgbClr val="0D1B2A"/>
                </a:solidFill>
                <a:latin typeface="Calibri"/>
                <a:ea typeface="Calibri"/>
                <a:cs typeface="Calibri"/>
                <a:sym typeface="Calibri"/>
              </a:rPr>
              <a:t>REFLECTION</a:t>
            </a:r>
            <a:endParaRPr b="0" u="none" strike="noStrike">
              <a:solidFill>
                <a:srgbClr val="000000"/>
              </a:solidFill>
              <a:latin typeface="Arial"/>
              <a:ea typeface="Arial"/>
              <a:cs typeface="Arial"/>
              <a:sym typeface="Arial"/>
            </a:endParaRPr>
          </a:p>
        </p:txBody>
      </p:sp>
      <p:sp>
        <p:nvSpPr>
          <p:cNvPr id="272" name="Google Shape;272;p14"/>
          <p:cNvSpPr/>
          <p:nvPr/>
        </p:nvSpPr>
        <p:spPr>
          <a:xfrm>
            <a:off x="297893" y="2102664"/>
            <a:ext cx="3931200" cy="3807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u="none" strike="noStrike">
                <a:solidFill>
                  <a:srgbClr val="0D1B2A"/>
                </a:solidFill>
                <a:latin typeface="Calibri"/>
                <a:ea typeface="Calibri"/>
                <a:cs typeface="Calibri"/>
                <a:sym typeface="Calibri"/>
              </a:rPr>
              <a:t>ESCALATING_DISTRESS → GROUNDING</a:t>
            </a:r>
            <a:endParaRPr b="0" u="none" strike="noStrike">
              <a:solidFill>
                <a:srgbClr val="000000"/>
              </a:solidFill>
              <a:latin typeface="Arial"/>
              <a:ea typeface="Arial"/>
              <a:cs typeface="Arial"/>
              <a:sym typeface="Arial"/>
            </a:endParaRPr>
          </a:p>
        </p:txBody>
      </p:sp>
      <p:sp>
        <p:nvSpPr>
          <p:cNvPr id="273" name="Google Shape;273;p14"/>
          <p:cNvSpPr/>
          <p:nvPr/>
        </p:nvSpPr>
        <p:spPr>
          <a:xfrm>
            <a:off x="297893" y="2485042"/>
            <a:ext cx="3931200" cy="3807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u="none" strike="noStrike">
                <a:solidFill>
                  <a:srgbClr val="0D1B2A"/>
                </a:solidFill>
                <a:latin typeface="Calibri"/>
                <a:ea typeface="Calibri"/>
                <a:cs typeface="Calibri"/>
                <a:sym typeface="Calibri"/>
              </a:rPr>
              <a:t>IMPROVING → ENCOURAGEMENT</a:t>
            </a:r>
            <a:endParaRPr b="0" u="none" strike="noStrike">
              <a:solidFill>
                <a:srgbClr val="000000"/>
              </a:solidFill>
              <a:latin typeface="Arial"/>
              <a:ea typeface="Arial"/>
              <a:cs typeface="Arial"/>
              <a:sym typeface="Arial"/>
            </a:endParaRPr>
          </a:p>
        </p:txBody>
      </p:sp>
      <p:sp>
        <p:nvSpPr>
          <p:cNvPr id="274" name="Google Shape;274;p14"/>
          <p:cNvSpPr/>
          <p:nvPr/>
        </p:nvSpPr>
        <p:spPr>
          <a:xfrm>
            <a:off x="297893" y="2866737"/>
            <a:ext cx="3931200" cy="3807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u="none" strike="noStrike">
                <a:solidFill>
                  <a:srgbClr val="0D1B2A"/>
                </a:solidFill>
                <a:latin typeface="Calibri"/>
                <a:ea typeface="Calibri"/>
                <a:cs typeface="Calibri"/>
                <a:sym typeface="Calibri"/>
              </a:rPr>
              <a:t>STABLE_POSITIVE → POSITIVE</a:t>
            </a:r>
            <a:r>
              <a:rPr lang="en-US">
                <a:solidFill>
                  <a:srgbClr val="0D1B2A"/>
                </a:solidFill>
                <a:latin typeface="Calibri"/>
                <a:ea typeface="Calibri"/>
                <a:cs typeface="Calibri"/>
                <a:sym typeface="Calibri"/>
              </a:rPr>
              <a:t> </a:t>
            </a:r>
            <a:r>
              <a:rPr b="0" lang="en-US" u="none" strike="noStrike">
                <a:solidFill>
                  <a:srgbClr val="0D1B2A"/>
                </a:solidFill>
                <a:latin typeface="Calibri"/>
                <a:ea typeface="Calibri"/>
                <a:cs typeface="Calibri"/>
                <a:sym typeface="Calibri"/>
              </a:rPr>
              <a:t>REINFORCEMENT</a:t>
            </a:r>
            <a:endParaRPr b="0" u="none" strike="noStrike">
              <a:solidFill>
                <a:srgbClr val="000000"/>
              </a:solidFill>
              <a:latin typeface="Arial"/>
              <a:ea typeface="Arial"/>
              <a:cs typeface="Arial"/>
              <a:sym typeface="Arial"/>
            </a:endParaRPr>
          </a:p>
        </p:txBody>
      </p:sp>
      <p:sp>
        <p:nvSpPr>
          <p:cNvPr id="275" name="Google Shape;275;p14"/>
          <p:cNvSpPr/>
          <p:nvPr/>
        </p:nvSpPr>
        <p:spPr>
          <a:xfrm>
            <a:off x="297893" y="3249115"/>
            <a:ext cx="3931200" cy="3807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u="none" strike="noStrike">
                <a:solidFill>
                  <a:srgbClr val="0D1B2A"/>
                </a:solidFill>
                <a:latin typeface="Calibri"/>
                <a:ea typeface="Calibri"/>
                <a:cs typeface="Calibri"/>
                <a:sym typeface="Calibri"/>
              </a:rPr>
              <a:t>FLUCTUATING → EXPLORATORY</a:t>
            </a:r>
            <a:r>
              <a:rPr lang="en-US">
                <a:solidFill>
                  <a:srgbClr val="0D1B2A"/>
                </a:solidFill>
                <a:latin typeface="Calibri"/>
                <a:ea typeface="Calibri"/>
                <a:cs typeface="Calibri"/>
                <a:sym typeface="Calibri"/>
              </a:rPr>
              <a:t> </a:t>
            </a:r>
            <a:r>
              <a:rPr b="0" lang="en-US" u="none" strike="noStrike">
                <a:solidFill>
                  <a:srgbClr val="0D1B2A"/>
                </a:solidFill>
                <a:latin typeface="Calibri"/>
                <a:ea typeface="Calibri"/>
                <a:cs typeface="Calibri"/>
                <a:sym typeface="Calibri"/>
              </a:rPr>
              <a:t>INQUIRY</a:t>
            </a:r>
            <a:endParaRPr b="0" u="none" strike="noStrike">
              <a:solidFill>
                <a:srgbClr val="000000"/>
              </a:solidFill>
              <a:latin typeface="Arial"/>
              <a:ea typeface="Arial"/>
              <a:cs typeface="Arial"/>
              <a:sym typeface="Arial"/>
            </a:endParaRPr>
          </a:p>
        </p:txBody>
      </p:sp>
      <p:sp>
        <p:nvSpPr>
          <p:cNvPr id="276" name="Google Shape;276;p14"/>
          <p:cNvSpPr/>
          <p:nvPr/>
        </p:nvSpPr>
        <p:spPr>
          <a:xfrm>
            <a:off x="297110" y="3631465"/>
            <a:ext cx="3931200" cy="3807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a:solidFill>
                  <a:srgbClr val="0D1B2A"/>
                </a:solidFill>
                <a:latin typeface="Calibri"/>
                <a:ea typeface="Calibri"/>
                <a:cs typeface="Calibri"/>
                <a:sym typeface="Calibri"/>
              </a:rPr>
              <a:t>ELEVATING ANGER</a:t>
            </a:r>
            <a:r>
              <a:rPr b="0" lang="en-US" u="none" strike="noStrike">
                <a:solidFill>
                  <a:srgbClr val="0D1B2A"/>
                </a:solidFill>
                <a:latin typeface="Calibri"/>
                <a:ea typeface="Calibri"/>
                <a:cs typeface="Calibri"/>
                <a:sym typeface="Calibri"/>
              </a:rPr>
              <a:t> → </a:t>
            </a:r>
            <a:r>
              <a:rPr lang="en-US">
                <a:solidFill>
                  <a:srgbClr val="0D1B2A"/>
                </a:solidFill>
                <a:latin typeface="Calibri"/>
                <a:ea typeface="Calibri"/>
                <a:cs typeface="Calibri"/>
                <a:sym typeface="Calibri"/>
              </a:rPr>
              <a:t>CALM REFLECTION</a:t>
            </a:r>
            <a:endParaRPr b="0" u="none" strike="noStrike">
              <a:solidFill>
                <a:srgbClr val="000000"/>
              </a:solidFill>
              <a:latin typeface="Arial"/>
              <a:ea typeface="Arial"/>
              <a:cs typeface="Arial"/>
              <a:sym typeface="Arial"/>
            </a:endParaRPr>
          </a:p>
        </p:txBody>
      </p:sp>
      <p:sp>
        <p:nvSpPr>
          <p:cNvPr id="277" name="Google Shape;277;p14"/>
          <p:cNvSpPr/>
          <p:nvPr/>
        </p:nvSpPr>
        <p:spPr>
          <a:xfrm>
            <a:off x="4429503" y="1372885"/>
            <a:ext cx="4524900" cy="2639400"/>
          </a:xfrm>
          <a:prstGeom prst="roundRect">
            <a:avLst>
              <a:gd fmla="val 6452" name="adj"/>
            </a:avLst>
          </a:prstGeom>
          <a:solidFill>
            <a:srgbClr val="F0FAF5"/>
          </a:solidFill>
          <a:ln cap="flat" cmpd="sng" w="12600">
            <a:solidFill>
              <a:srgbClr val="D6DDE3"/>
            </a:solidFill>
            <a:prstDash val="solid"/>
            <a:round/>
            <a:headEnd len="sm" w="sm" type="none"/>
            <a:tailEnd len="sm" w="sm" type="none"/>
          </a:ln>
          <a:effectLst>
            <a:outerShdw blurRad="101520" rotWithShape="0" dir="2700000" dist="37674">
              <a:srgbClr val="000000">
                <a:alpha val="18040"/>
              </a:srgbClr>
            </a:outerShdw>
          </a:effectLst>
        </p:spPr>
        <p:txBody>
          <a:bodyPr anchorCtr="0" anchor="t" bIns="45000" lIns="90000" spcFirstLastPara="1" rIns="90000" wrap="square" tIns="45000">
            <a:noAutofit/>
          </a:bodyPr>
          <a:lstStyle/>
          <a:p>
            <a:pPr indent="0" lvl="0" marL="0" rtl="0" algn="l">
              <a:spcBef>
                <a:spcPts val="8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The System prompt contains the AEIF persona declaration,</a:t>
            </a:r>
            <a:endParaRPr sz="1200">
              <a:solidFill>
                <a:schemeClr val="dk1"/>
              </a:solidFill>
              <a:latin typeface="Times New Roman"/>
              <a:ea typeface="Times New Roman"/>
              <a:cs typeface="Times New Roman"/>
              <a:sym typeface="Times New Roman"/>
            </a:endParaRPr>
          </a:p>
          <a:p>
            <a:pPr indent="0" lvl="0" marL="0" rtl="0" algn="l">
              <a:spcBef>
                <a:spcPts val="8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the current emotion cluster, the emotional trend, the selected strategy label, the full strategy</a:t>
            </a:r>
            <a:endParaRPr sz="1200">
              <a:solidFill>
                <a:schemeClr val="dk1"/>
              </a:solidFill>
              <a:latin typeface="Times New Roman"/>
              <a:ea typeface="Times New Roman"/>
              <a:cs typeface="Times New Roman"/>
              <a:sym typeface="Times New Roman"/>
            </a:endParaRPr>
          </a:p>
          <a:p>
            <a:pPr indent="0" lvl="0" marL="0" rtl="0" algn="l">
              <a:spcBef>
                <a:spcPts val="8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instruction corresponding to that label, the last ten turns of conversation history formatted</a:t>
            </a:r>
            <a:endParaRPr sz="1200">
              <a:solidFill>
                <a:schemeClr val="dk1"/>
              </a:solidFill>
              <a:latin typeface="Times New Roman"/>
              <a:ea typeface="Times New Roman"/>
              <a:cs typeface="Times New Roman"/>
              <a:sym typeface="Times New Roman"/>
            </a:endParaRPr>
          </a:p>
          <a:p>
            <a:pPr indent="0" lvl="0" marL="0" rtl="0" algn="l">
              <a:spcBef>
                <a:spcPts val="800"/>
              </a:spcBef>
              <a:spcAft>
                <a:spcPts val="0"/>
              </a:spcAft>
              <a:buSzPts val="1100"/>
              <a:buNone/>
            </a:pPr>
            <a:r>
              <a:rPr lang="en-US" sz="1200">
                <a:solidFill>
                  <a:schemeClr val="dk1"/>
                </a:solidFill>
                <a:latin typeface="Times New Roman"/>
                <a:ea typeface="Times New Roman"/>
                <a:cs typeface="Times New Roman"/>
                <a:sym typeface="Times New Roman"/>
              </a:rPr>
              <a:t>with role and emotion labels, and six hard rules constraining the LLMs output: </a:t>
            </a:r>
            <a:r>
              <a:rPr lang="en-US" sz="1200">
                <a:solidFill>
                  <a:schemeClr val="dk1"/>
                </a:solidFill>
                <a:latin typeface="Times New Roman"/>
                <a:ea typeface="Times New Roman"/>
                <a:cs typeface="Times New Roman"/>
                <a:sym typeface="Times New Roman"/>
              </a:rPr>
              <a:t>(</a:t>
            </a:r>
            <a:r>
              <a:rPr lang="en-US" sz="1200">
                <a:solidFill>
                  <a:schemeClr val="dk1"/>
                </a:solidFill>
                <a:latin typeface="Times New Roman"/>
                <a:ea typeface="Times New Roman"/>
                <a:cs typeface="Times New Roman"/>
                <a:sym typeface="Times New Roman"/>
              </a:rPr>
              <a:t>maximum</a:t>
            </a:r>
            <a:endParaRPr sz="1200">
              <a:solidFill>
                <a:schemeClr val="dk1"/>
              </a:solidFill>
              <a:latin typeface="Times New Roman"/>
              <a:ea typeface="Times New Roman"/>
              <a:cs typeface="Times New Roman"/>
              <a:sym typeface="Times New Roman"/>
            </a:endParaRPr>
          </a:p>
          <a:p>
            <a:pPr indent="0" lvl="0" marL="0" rtl="0" algn="l">
              <a:spcBef>
                <a:spcPts val="8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four sentences</a:t>
            </a:r>
            <a:r>
              <a:rPr lang="en-US" sz="1200">
                <a:solidFill>
                  <a:schemeClr val="dk1"/>
                </a:solidFill>
                <a:latin typeface="Times New Roman"/>
                <a:ea typeface="Times New Roman"/>
                <a:cs typeface="Times New Roman"/>
                <a:sym typeface="Times New Roman"/>
              </a:rPr>
              <a:t>,</a:t>
            </a:r>
            <a:r>
              <a:rPr lang="en-US" sz="1200">
                <a:solidFill>
                  <a:schemeClr val="dk1"/>
                </a:solidFill>
                <a:latin typeface="Times New Roman"/>
                <a:ea typeface="Times New Roman"/>
                <a:cs typeface="Times New Roman"/>
                <a:sym typeface="Times New Roman"/>
              </a:rPr>
              <a:t> exactly one open question</a:t>
            </a:r>
            <a:r>
              <a:rPr lang="en-US" sz="1200">
                <a:solidFill>
                  <a:schemeClr val="dk1"/>
                </a:solidFill>
                <a:latin typeface="Times New Roman"/>
                <a:ea typeface="Times New Roman"/>
                <a:cs typeface="Times New Roman"/>
                <a:sym typeface="Times New Roman"/>
              </a:rPr>
              <a:t>, </a:t>
            </a:r>
            <a:r>
              <a:rPr lang="en-US" sz="1200">
                <a:solidFill>
                  <a:schemeClr val="dk1"/>
                </a:solidFill>
                <a:latin typeface="Times New Roman"/>
                <a:ea typeface="Times New Roman"/>
                <a:cs typeface="Times New Roman"/>
                <a:sym typeface="Times New Roman"/>
              </a:rPr>
              <a:t>no clinical vocabulary</a:t>
            </a:r>
            <a:r>
              <a:rPr lang="en-US" sz="1200">
                <a:solidFill>
                  <a:schemeClr val="dk1"/>
                </a:solidFill>
                <a:latin typeface="Times New Roman"/>
                <a:ea typeface="Times New Roman"/>
                <a:cs typeface="Times New Roman"/>
                <a:sym typeface="Times New Roman"/>
              </a:rPr>
              <a:t>, </a:t>
            </a:r>
            <a:r>
              <a:rPr lang="en-US" sz="1200">
                <a:solidFill>
                  <a:schemeClr val="dk1"/>
                </a:solidFill>
                <a:latin typeface="Times New Roman"/>
                <a:ea typeface="Times New Roman"/>
                <a:cs typeface="Times New Roman"/>
                <a:sym typeface="Times New Roman"/>
              </a:rPr>
              <a:t>no diagnosis or</a:t>
            </a:r>
            <a:endParaRPr sz="1200">
              <a:solidFill>
                <a:schemeClr val="dk1"/>
              </a:solidFill>
              <a:latin typeface="Times New Roman"/>
              <a:ea typeface="Times New Roman"/>
              <a:cs typeface="Times New Roman"/>
              <a:sym typeface="Times New Roman"/>
            </a:endParaRPr>
          </a:p>
          <a:p>
            <a:pPr indent="0" lvl="0" marL="0" rtl="0" algn="l">
              <a:spcBef>
                <a:spcPts val="800"/>
              </a:spcBef>
              <a:spcAft>
                <a:spcPts val="0"/>
              </a:spcAft>
              <a:buNone/>
            </a:pPr>
            <a:r>
              <a:rPr lang="en-US" sz="1200">
                <a:solidFill>
                  <a:schemeClr val="dk1"/>
                </a:solidFill>
                <a:latin typeface="Times New Roman"/>
                <a:ea typeface="Times New Roman"/>
                <a:cs typeface="Times New Roman"/>
                <a:sym typeface="Times New Roman"/>
              </a:rPr>
              <a:t>prescription, no clinical advice, tone specification).</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82" name="Shape 282"/>
        <p:cNvGrpSpPr/>
        <p:nvPr/>
      </p:nvGrpSpPr>
      <p:grpSpPr>
        <a:xfrm>
          <a:off x="0" y="0"/>
          <a:ext cx="0" cy="0"/>
          <a:chOff x="0" y="0"/>
          <a:chExt cx="0" cy="0"/>
        </a:xfrm>
      </p:grpSpPr>
      <p:sp>
        <p:nvSpPr>
          <p:cNvPr id="283" name="Google Shape;283;p15"/>
          <p:cNvSpPr/>
          <p:nvPr/>
        </p:nvSpPr>
        <p:spPr>
          <a:xfrm>
            <a:off x="457200" y="255960"/>
            <a:ext cx="8228880" cy="4564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2600" u="none" strike="noStrike">
                <a:solidFill>
                  <a:srgbClr val="0D1B2A"/>
                </a:solidFill>
                <a:latin typeface="Cambria"/>
                <a:ea typeface="Cambria"/>
                <a:cs typeface="Cambria"/>
                <a:sym typeface="Cambria"/>
              </a:rPr>
              <a:t>EVALUATION RESULTS</a:t>
            </a:r>
            <a:endParaRPr b="0" sz="2600" u="none" strike="noStrike">
              <a:solidFill>
                <a:srgbClr val="000000"/>
              </a:solidFill>
              <a:latin typeface="Arial"/>
              <a:ea typeface="Arial"/>
              <a:cs typeface="Arial"/>
              <a:sym typeface="Arial"/>
            </a:endParaRPr>
          </a:p>
        </p:txBody>
      </p:sp>
      <p:sp>
        <p:nvSpPr>
          <p:cNvPr id="284" name="Google Shape;284;p15"/>
          <p:cNvSpPr/>
          <p:nvPr/>
        </p:nvSpPr>
        <p:spPr>
          <a:xfrm>
            <a:off x="457200" y="694800"/>
            <a:ext cx="8228880" cy="25524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1100" u="none" strike="noStrike">
                <a:solidFill>
                  <a:srgbClr val="8E99A4"/>
                </a:solidFill>
                <a:latin typeface="Calibri"/>
                <a:ea typeface="Calibri"/>
                <a:cs typeface="Calibri"/>
                <a:sym typeface="Calibri"/>
              </a:rPr>
              <a:t>Automated testing on 58-case annotated test set</a:t>
            </a:r>
            <a:endParaRPr b="0" sz="1100" u="none" strike="noStrike">
              <a:solidFill>
                <a:srgbClr val="000000"/>
              </a:solidFill>
              <a:latin typeface="Arial"/>
              <a:ea typeface="Arial"/>
              <a:cs typeface="Arial"/>
              <a:sym typeface="Arial"/>
            </a:endParaRPr>
          </a:p>
        </p:txBody>
      </p:sp>
      <p:sp>
        <p:nvSpPr>
          <p:cNvPr id="285" name="Google Shape;285;p15"/>
          <p:cNvSpPr/>
          <p:nvPr/>
        </p:nvSpPr>
        <p:spPr>
          <a:xfrm>
            <a:off x="365760" y="1007045"/>
            <a:ext cx="1965300" cy="1828200"/>
          </a:xfrm>
          <a:prstGeom prst="roundRect">
            <a:avLst>
              <a:gd fmla="val 6000" name="adj"/>
            </a:avLst>
          </a:prstGeom>
          <a:solidFill>
            <a:srgbClr val="FFFFFF"/>
          </a:solidFill>
          <a:ln cap="flat" cmpd="sng" w="12600">
            <a:solidFill>
              <a:srgbClr val="1B6B6B"/>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86" name="Google Shape;286;p15"/>
          <p:cNvSpPr/>
          <p:nvPr/>
        </p:nvSpPr>
        <p:spPr>
          <a:xfrm>
            <a:off x="365760" y="1098485"/>
            <a:ext cx="1965300" cy="6576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3600" u="none" strike="noStrike">
                <a:solidFill>
                  <a:srgbClr val="1B6B6B"/>
                </a:solidFill>
                <a:latin typeface="Cambria"/>
                <a:ea typeface="Cambria"/>
                <a:cs typeface="Cambria"/>
                <a:sym typeface="Cambria"/>
              </a:rPr>
              <a:t>77.1%</a:t>
            </a:r>
            <a:endParaRPr b="0" sz="3600" u="none" strike="noStrike">
              <a:solidFill>
                <a:srgbClr val="000000"/>
              </a:solidFill>
              <a:latin typeface="Arial"/>
              <a:ea typeface="Arial"/>
              <a:cs typeface="Arial"/>
              <a:sym typeface="Arial"/>
            </a:endParaRPr>
          </a:p>
        </p:txBody>
      </p:sp>
      <p:sp>
        <p:nvSpPr>
          <p:cNvPr id="287" name="Google Shape;287;p15"/>
          <p:cNvSpPr/>
          <p:nvPr/>
        </p:nvSpPr>
        <p:spPr>
          <a:xfrm>
            <a:off x="365760" y="1711205"/>
            <a:ext cx="1965300" cy="438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Emotion</a:t>
            </a:r>
            <a:endParaRPr b="0" sz="11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Accuracy</a:t>
            </a:r>
            <a:endParaRPr b="0" sz="1100" u="none" strike="noStrike">
              <a:solidFill>
                <a:srgbClr val="000000"/>
              </a:solidFill>
              <a:latin typeface="Arial"/>
              <a:ea typeface="Arial"/>
              <a:cs typeface="Arial"/>
              <a:sym typeface="Arial"/>
            </a:endParaRPr>
          </a:p>
        </p:txBody>
      </p:sp>
      <p:sp>
        <p:nvSpPr>
          <p:cNvPr id="288" name="Google Shape;288;p15"/>
          <p:cNvSpPr/>
          <p:nvPr/>
        </p:nvSpPr>
        <p:spPr>
          <a:xfrm>
            <a:off x="438840" y="2141045"/>
            <a:ext cx="1819200" cy="621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on 58 cases incl. Pidgin</a:t>
            </a:r>
            <a:endParaRPr b="0" sz="8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&amp; ambiguous inputs</a:t>
            </a:r>
            <a:endParaRPr b="0" sz="850" u="none" strike="noStrike">
              <a:solidFill>
                <a:srgbClr val="000000"/>
              </a:solidFill>
              <a:latin typeface="Arial"/>
              <a:ea typeface="Arial"/>
              <a:cs typeface="Arial"/>
              <a:sym typeface="Arial"/>
            </a:endParaRPr>
          </a:p>
        </p:txBody>
      </p:sp>
      <p:sp>
        <p:nvSpPr>
          <p:cNvPr id="289" name="Google Shape;289;p15"/>
          <p:cNvSpPr/>
          <p:nvPr/>
        </p:nvSpPr>
        <p:spPr>
          <a:xfrm>
            <a:off x="2496240" y="1007045"/>
            <a:ext cx="1965300" cy="1828200"/>
          </a:xfrm>
          <a:prstGeom prst="roundRect">
            <a:avLst>
              <a:gd fmla="val 6000" name="adj"/>
            </a:avLst>
          </a:prstGeom>
          <a:solidFill>
            <a:srgbClr val="FFFFFF"/>
          </a:solidFill>
          <a:ln cap="flat" cmpd="sng" w="12600">
            <a:solidFill>
              <a:srgbClr val="C0392B"/>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90" name="Google Shape;290;p15"/>
          <p:cNvSpPr/>
          <p:nvPr/>
        </p:nvSpPr>
        <p:spPr>
          <a:xfrm>
            <a:off x="2496240" y="1098485"/>
            <a:ext cx="1965300" cy="6576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3600" u="none" strike="noStrike">
                <a:solidFill>
                  <a:srgbClr val="C0392B"/>
                </a:solidFill>
                <a:latin typeface="Cambria"/>
                <a:ea typeface="Cambria"/>
                <a:cs typeface="Cambria"/>
                <a:sym typeface="Cambria"/>
              </a:rPr>
              <a:t>100%</a:t>
            </a:r>
            <a:endParaRPr b="0" sz="3600" u="none" strike="noStrike">
              <a:solidFill>
                <a:srgbClr val="000000"/>
              </a:solidFill>
              <a:latin typeface="Arial"/>
              <a:ea typeface="Arial"/>
              <a:cs typeface="Arial"/>
              <a:sym typeface="Arial"/>
            </a:endParaRPr>
          </a:p>
        </p:txBody>
      </p:sp>
      <p:sp>
        <p:nvSpPr>
          <p:cNvPr id="291" name="Google Shape;291;p15"/>
          <p:cNvSpPr/>
          <p:nvPr/>
        </p:nvSpPr>
        <p:spPr>
          <a:xfrm>
            <a:off x="2496240" y="1711205"/>
            <a:ext cx="1965300" cy="438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Crisis</a:t>
            </a:r>
            <a:endParaRPr b="0" sz="11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Detection</a:t>
            </a:r>
            <a:endParaRPr b="0" sz="1100" u="none" strike="noStrike">
              <a:solidFill>
                <a:srgbClr val="000000"/>
              </a:solidFill>
              <a:latin typeface="Arial"/>
              <a:ea typeface="Arial"/>
              <a:cs typeface="Arial"/>
              <a:sym typeface="Arial"/>
            </a:endParaRPr>
          </a:p>
        </p:txBody>
      </p:sp>
      <p:sp>
        <p:nvSpPr>
          <p:cNvPr id="292" name="Google Shape;292;p15"/>
          <p:cNvSpPr/>
          <p:nvPr/>
        </p:nvSpPr>
        <p:spPr>
          <a:xfrm>
            <a:off x="2569320" y="2141045"/>
            <a:ext cx="1819200" cy="621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10/10 cases — non-negotiable</a:t>
            </a:r>
            <a:endParaRPr b="0" sz="8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safety threshold</a:t>
            </a:r>
            <a:endParaRPr b="0" sz="850" u="none" strike="noStrike">
              <a:solidFill>
                <a:srgbClr val="000000"/>
              </a:solidFill>
              <a:latin typeface="Arial"/>
              <a:ea typeface="Arial"/>
              <a:cs typeface="Arial"/>
              <a:sym typeface="Arial"/>
            </a:endParaRPr>
          </a:p>
        </p:txBody>
      </p:sp>
      <p:sp>
        <p:nvSpPr>
          <p:cNvPr id="293" name="Google Shape;293;p15"/>
          <p:cNvSpPr/>
          <p:nvPr/>
        </p:nvSpPr>
        <p:spPr>
          <a:xfrm>
            <a:off x="4626720" y="1007045"/>
            <a:ext cx="1965300" cy="1828200"/>
          </a:xfrm>
          <a:prstGeom prst="roundRect">
            <a:avLst>
              <a:gd fmla="val 6000" name="adj"/>
            </a:avLst>
          </a:prstGeom>
          <a:solidFill>
            <a:srgbClr val="FFFFFF"/>
          </a:solidFill>
          <a:ln cap="flat" cmpd="sng" w="12600">
            <a:solidFill>
              <a:srgbClr val="27AE60"/>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94" name="Google Shape;294;p15"/>
          <p:cNvSpPr/>
          <p:nvPr/>
        </p:nvSpPr>
        <p:spPr>
          <a:xfrm>
            <a:off x="4626720" y="1098485"/>
            <a:ext cx="1965300" cy="6576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3600" u="none" strike="noStrike">
                <a:solidFill>
                  <a:srgbClr val="27AE60"/>
                </a:solidFill>
                <a:latin typeface="Cambria"/>
                <a:ea typeface="Cambria"/>
                <a:cs typeface="Cambria"/>
                <a:sym typeface="Cambria"/>
              </a:rPr>
              <a:t>100%</a:t>
            </a:r>
            <a:endParaRPr b="0" sz="3600" u="none" strike="noStrike">
              <a:solidFill>
                <a:srgbClr val="000000"/>
              </a:solidFill>
              <a:latin typeface="Arial"/>
              <a:ea typeface="Arial"/>
              <a:cs typeface="Arial"/>
              <a:sym typeface="Arial"/>
            </a:endParaRPr>
          </a:p>
        </p:txBody>
      </p:sp>
      <p:sp>
        <p:nvSpPr>
          <p:cNvPr id="295" name="Google Shape;295;p15"/>
          <p:cNvSpPr/>
          <p:nvPr/>
        </p:nvSpPr>
        <p:spPr>
          <a:xfrm>
            <a:off x="4626720" y="1711205"/>
            <a:ext cx="1965300" cy="438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Trend</a:t>
            </a:r>
            <a:endParaRPr b="0" sz="11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Accuracy</a:t>
            </a:r>
            <a:endParaRPr b="0" sz="1100" u="none" strike="noStrike">
              <a:solidFill>
                <a:srgbClr val="000000"/>
              </a:solidFill>
              <a:latin typeface="Arial"/>
              <a:ea typeface="Arial"/>
              <a:cs typeface="Arial"/>
              <a:sym typeface="Arial"/>
            </a:endParaRPr>
          </a:p>
        </p:txBody>
      </p:sp>
      <p:sp>
        <p:nvSpPr>
          <p:cNvPr id="296" name="Google Shape;296;p15"/>
          <p:cNvSpPr/>
          <p:nvPr/>
        </p:nvSpPr>
        <p:spPr>
          <a:xfrm>
            <a:off x="4700160" y="2141045"/>
            <a:ext cx="1819200" cy="621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7/7 scripted multi-turn</a:t>
            </a:r>
            <a:endParaRPr b="0" sz="8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sequences</a:t>
            </a:r>
            <a:endParaRPr b="0" sz="850" u="none" strike="noStrike">
              <a:solidFill>
                <a:srgbClr val="000000"/>
              </a:solidFill>
              <a:latin typeface="Arial"/>
              <a:ea typeface="Arial"/>
              <a:cs typeface="Arial"/>
              <a:sym typeface="Arial"/>
            </a:endParaRPr>
          </a:p>
        </p:txBody>
      </p:sp>
      <p:sp>
        <p:nvSpPr>
          <p:cNvPr id="297" name="Google Shape;297;p15"/>
          <p:cNvSpPr/>
          <p:nvPr/>
        </p:nvSpPr>
        <p:spPr>
          <a:xfrm>
            <a:off x="6757560" y="1007045"/>
            <a:ext cx="1965300" cy="1828200"/>
          </a:xfrm>
          <a:prstGeom prst="roundRect">
            <a:avLst>
              <a:gd fmla="val 6000" name="adj"/>
            </a:avLst>
          </a:prstGeom>
          <a:solidFill>
            <a:srgbClr val="FFFFFF"/>
          </a:solidFill>
          <a:ln cap="flat" cmpd="sng" w="12600">
            <a:solidFill>
              <a:srgbClr val="7B9ED9"/>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98" name="Google Shape;298;p15"/>
          <p:cNvSpPr/>
          <p:nvPr/>
        </p:nvSpPr>
        <p:spPr>
          <a:xfrm>
            <a:off x="6757560" y="1098485"/>
            <a:ext cx="1965300" cy="6576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3600" u="none" strike="noStrike">
                <a:solidFill>
                  <a:srgbClr val="7B9ED9"/>
                </a:solidFill>
                <a:latin typeface="Cambria"/>
                <a:ea typeface="Cambria"/>
                <a:cs typeface="Cambria"/>
                <a:sym typeface="Cambria"/>
              </a:rPr>
              <a:t>31/31</a:t>
            </a:r>
            <a:endParaRPr b="0" sz="3600" u="none" strike="noStrike">
              <a:solidFill>
                <a:srgbClr val="000000"/>
              </a:solidFill>
              <a:latin typeface="Arial"/>
              <a:ea typeface="Arial"/>
              <a:cs typeface="Arial"/>
              <a:sym typeface="Arial"/>
            </a:endParaRPr>
          </a:p>
        </p:txBody>
      </p:sp>
      <p:sp>
        <p:nvSpPr>
          <p:cNvPr id="299" name="Google Shape;299;p15"/>
          <p:cNvSpPr/>
          <p:nvPr/>
        </p:nvSpPr>
        <p:spPr>
          <a:xfrm>
            <a:off x="6757560" y="1711205"/>
            <a:ext cx="1965300" cy="438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Unit Tests</a:t>
            </a:r>
            <a:endParaRPr b="0" sz="11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Passing</a:t>
            </a:r>
            <a:endParaRPr b="0" sz="1100" u="none" strike="noStrike">
              <a:solidFill>
                <a:srgbClr val="000000"/>
              </a:solidFill>
              <a:latin typeface="Arial"/>
              <a:ea typeface="Arial"/>
              <a:cs typeface="Arial"/>
              <a:sym typeface="Arial"/>
            </a:endParaRPr>
          </a:p>
        </p:txBody>
      </p:sp>
      <p:sp>
        <p:nvSpPr>
          <p:cNvPr id="300" name="Google Shape;300;p15"/>
          <p:cNvSpPr/>
          <p:nvPr/>
        </p:nvSpPr>
        <p:spPr>
          <a:xfrm>
            <a:off x="6830640" y="2141045"/>
            <a:ext cx="1819200" cy="621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Crisis, emotion, trend,</a:t>
            </a:r>
            <a:endParaRPr b="0" sz="8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strategy, pipeline</a:t>
            </a:r>
            <a:endParaRPr b="0" sz="850" u="none" strike="noStrike">
              <a:solidFill>
                <a:srgbClr val="000000"/>
              </a:solidFill>
              <a:latin typeface="Arial"/>
              <a:ea typeface="Arial"/>
              <a:cs typeface="Arial"/>
              <a:sym typeface="Arial"/>
            </a:endParaRPr>
          </a:p>
        </p:txBody>
      </p:sp>
      <p:sp>
        <p:nvSpPr>
          <p:cNvPr id="301" name="Google Shape;301;p15"/>
          <p:cNvSpPr/>
          <p:nvPr/>
        </p:nvSpPr>
        <p:spPr>
          <a:xfrm>
            <a:off x="365750" y="2964000"/>
            <a:ext cx="5211300" cy="2099400"/>
          </a:xfrm>
          <a:prstGeom prst="roundRect">
            <a:avLst>
              <a:gd fmla="val 5319"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02" name="Google Shape;302;p15"/>
          <p:cNvSpPr/>
          <p:nvPr/>
        </p:nvSpPr>
        <p:spPr>
          <a:xfrm>
            <a:off x="502920" y="3037085"/>
            <a:ext cx="49371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100" u="none" strike="noStrike">
                <a:solidFill>
                  <a:srgbClr val="0D1B2A"/>
                </a:solidFill>
                <a:latin typeface="Cambria"/>
                <a:ea typeface="Cambria"/>
                <a:cs typeface="Cambria"/>
                <a:sym typeface="Cambria"/>
              </a:rPr>
              <a:t>Emotion Classification — By Cluster</a:t>
            </a:r>
            <a:endParaRPr b="0" sz="1100" u="none" strike="noStrike">
              <a:solidFill>
                <a:srgbClr val="000000"/>
              </a:solidFill>
              <a:latin typeface="Arial"/>
              <a:ea typeface="Arial"/>
              <a:cs typeface="Arial"/>
              <a:sym typeface="Arial"/>
            </a:endParaRPr>
          </a:p>
        </p:txBody>
      </p:sp>
      <p:sp>
        <p:nvSpPr>
          <p:cNvPr id="303" name="Google Shape;303;p15"/>
          <p:cNvSpPr/>
          <p:nvPr/>
        </p:nvSpPr>
        <p:spPr>
          <a:xfrm>
            <a:off x="502920" y="3338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1B6B6B"/>
                </a:solidFill>
                <a:latin typeface="Calibri"/>
                <a:ea typeface="Calibri"/>
                <a:cs typeface="Calibri"/>
                <a:sym typeface="Calibri"/>
              </a:rPr>
              <a:t>Cluster</a:t>
            </a:r>
            <a:endParaRPr b="0" sz="900" u="none" strike="noStrike">
              <a:solidFill>
                <a:srgbClr val="000000"/>
              </a:solidFill>
              <a:latin typeface="Arial"/>
              <a:ea typeface="Arial"/>
              <a:cs typeface="Arial"/>
              <a:sym typeface="Arial"/>
            </a:endParaRPr>
          </a:p>
        </p:txBody>
      </p:sp>
      <p:sp>
        <p:nvSpPr>
          <p:cNvPr id="304" name="Google Shape;304;p15"/>
          <p:cNvSpPr/>
          <p:nvPr/>
        </p:nvSpPr>
        <p:spPr>
          <a:xfrm>
            <a:off x="1719000" y="3338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1B6B6B"/>
                </a:solidFill>
                <a:latin typeface="Calibri"/>
                <a:ea typeface="Calibri"/>
                <a:cs typeface="Calibri"/>
                <a:sym typeface="Calibri"/>
              </a:rPr>
              <a:t>Prec.</a:t>
            </a:r>
            <a:endParaRPr b="0" sz="900" u="none" strike="noStrike">
              <a:solidFill>
                <a:srgbClr val="000000"/>
              </a:solidFill>
              <a:latin typeface="Arial"/>
              <a:ea typeface="Arial"/>
              <a:cs typeface="Arial"/>
              <a:sym typeface="Arial"/>
            </a:endParaRPr>
          </a:p>
        </p:txBody>
      </p:sp>
      <p:sp>
        <p:nvSpPr>
          <p:cNvPr id="305" name="Google Shape;305;p15"/>
          <p:cNvSpPr/>
          <p:nvPr/>
        </p:nvSpPr>
        <p:spPr>
          <a:xfrm>
            <a:off x="2935080" y="3338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1B6B6B"/>
                </a:solidFill>
                <a:latin typeface="Calibri"/>
                <a:ea typeface="Calibri"/>
                <a:cs typeface="Calibri"/>
                <a:sym typeface="Calibri"/>
              </a:rPr>
              <a:t>Recall</a:t>
            </a:r>
            <a:endParaRPr b="0" sz="900" u="none" strike="noStrike">
              <a:solidFill>
                <a:srgbClr val="000000"/>
              </a:solidFill>
              <a:latin typeface="Arial"/>
              <a:ea typeface="Arial"/>
              <a:cs typeface="Arial"/>
              <a:sym typeface="Arial"/>
            </a:endParaRPr>
          </a:p>
        </p:txBody>
      </p:sp>
      <p:sp>
        <p:nvSpPr>
          <p:cNvPr id="306" name="Google Shape;306;p15"/>
          <p:cNvSpPr/>
          <p:nvPr/>
        </p:nvSpPr>
        <p:spPr>
          <a:xfrm>
            <a:off x="4151520" y="3338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1B6B6B"/>
                </a:solidFill>
                <a:latin typeface="Calibri"/>
                <a:ea typeface="Calibri"/>
                <a:cs typeface="Calibri"/>
                <a:sym typeface="Calibri"/>
              </a:rPr>
              <a:t>F1</a:t>
            </a:r>
            <a:endParaRPr b="0" sz="900" u="none" strike="noStrike">
              <a:solidFill>
                <a:srgbClr val="000000"/>
              </a:solidFill>
              <a:latin typeface="Arial"/>
              <a:ea typeface="Arial"/>
              <a:cs typeface="Arial"/>
              <a:sym typeface="Arial"/>
            </a:endParaRPr>
          </a:p>
        </p:txBody>
      </p:sp>
      <p:sp>
        <p:nvSpPr>
          <p:cNvPr id="307" name="Google Shape;307;p15"/>
          <p:cNvSpPr/>
          <p:nvPr/>
        </p:nvSpPr>
        <p:spPr>
          <a:xfrm>
            <a:off x="502920" y="3710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POSITIVE</a:t>
            </a:r>
            <a:endParaRPr b="0" sz="900" u="none" strike="noStrike">
              <a:solidFill>
                <a:srgbClr val="000000"/>
              </a:solidFill>
              <a:latin typeface="Arial"/>
              <a:ea typeface="Arial"/>
              <a:cs typeface="Arial"/>
              <a:sym typeface="Arial"/>
            </a:endParaRPr>
          </a:p>
        </p:txBody>
      </p:sp>
      <p:sp>
        <p:nvSpPr>
          <p:cNvPr id="308" name="Google Shape;308;p15"/>
          <p:cNvSpPr/>
          <p:nvPr/>
        </p:nvSpPr>
        <p:spPr>
          <a:xfrm>
            <a:off x="1719000" y="3710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900">
                <a:solidFill>
                  <a:srgbClr val="0D1B2A"/>
                </a:solidFill>
                <a:latin typeface="Calibri"/>
                <a:ea typeface="Calibri"/>
                <a:cs typeface="Calibri"/>
                <a:sym typeface="Calibri"/>
              </a:rPr>
              <a:t>1.00</a:t>
            </a:r>
            <a:endParaRPr b="0" sz="900" u="none" strike="noStrike">
              <a:solidFill>
                <a:srgbClr val="000000"/>
              </a:solidFill>
              <a:latin typeface="Arial"/>
              <a:ea typeface="Arial"/>
              <a:cs typeface="Arial"/>
              <a:sym typeface="Arial"/>
            </a:endParaRPr>
          </a:p>
        </p:txBody>
      </p:sp>
      <p:sp>
        <p:nvSpPr>
          <p:cNvPr id="309" name="Google Shape;309;p15"/>
          <p:cNvSpPr/>
          <p:nvPr/>
        </p:nvSpPr>
        <p:spPr>
          <a:xfrm>
            <a:off x="2935080" y="3710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0.89</a:t>
            </a:r>
            <a:endParaRPr b="0" sz="900" u="none" strike="noStrike">
              <a:solidFill>
                <a:srgbClr val="000000"/>
              </a:solidFill>
              <a:latin typeface="Arial"/>
              <a:ea typeface="Arial"/>
              <a:cs typeface="Arial"/>
              <a:sym typeface="Arial"/>
            </a:endParaRPr>
          </a:p>
        </p:txBody>
      </p:sp>
      <p:sp>
        <p:nvSpPr>
          <p:cNvPr id="310" name="Google Shape;310;p15"/>
          <p:cNvSpPr/>
          <p:nvPr/>
        </p:nvSpPr>
        <p:spPr>
          <a:xfrm>
            <a:off x="4151520" y="3710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94</a:t>
            </a:r>
            <a:endParaRPr b="0" sz="900" u="none" strike="noStrike">
              <a:solidFill>
                <a:srgbClr val="000000"/>
              </a:solidFill>
              <a:latin typeface="Arial"/>
              <a:ea typeface="Arial"/>
              <a:cs typeface="Arial"/>
              <a:sym typeface="Arial"/>
            </a:endParaRPr>
          </a:p>
        </p:txBody>
      </p:sp>
      <p:sp>
        <p:nvSpPr>
          <p:cNvPr id="311" name="Google Shape;311;p15"/>
          <p:cNvSpPr/>
          <p:nvPr/>
        </p:nvSpPr>
        <p:spPr>
          <a:xfrm>
            <a:off x="502920" y="39300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SADNESS</a:t>
            </a:r>
            <a:endParaRPr b="0" sz="900" u="none" strike="noStrike">
              <a:solidFill>
                <a:srgbClr val="000000"/>
              </a:solidFill>
              <a:latin typeface="Arial"/>
              <a:ea typeface="Arial"/>
              <a:cs typeface="Arial"/>
              <a:sym typeface="Arial"/>
            </a:endParaRPr>
          </a:p>
        </p:txBody>
      </p:sp>
      <p:sp>
        <p:nvSpPr>
          <p:cNvPr id="312" name="Google Shape;312;p15"/>
          <p:cNvSpPr/>
          <p:nvPr/>
        </p:nvSpPr>
        <p:spPr>
          <a:xfrm>
            <a:off x="1719000" y="39300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900">
                <a:solidFill>
                  <a:srgbClr val="0D1B2A"/>
                </a:solidFill>
                <a:latin typeface="Calibri"/>
                <a:ea typeface="Calibri"/>
                <a:cs typeface="Calibri"/>
                <a:sym typeface="Calibri"/>
              </a:rPr>
              <a:t>1.00</a:t>
            </a:r>
            <a:endParaRPr b="0" sz="900" u="none" strike="noStrike">
              <a:solidFill>
                <a:srgbClr val="000000"/>
              </a:solidFill>
              <a:latin typeface="Arial"/>
              <a:ea typeface="Arial"/>
              <a:cs typeface="Arial"/>
              <a:sym typeface="Arial"/>
            </a:endParaRPr>
          </a:p>
        </p:txBody>
      </p:sp>
      <p:sp>
        <p:nvSpPr>
          <p:cNvPr id="313" name="Google Shape;313;p15"/>
          <p:cNvSpPr/>
          <p:nvPr/>
        </p:nvSpPr>
        <p:spPr>
          <a:xfrm>
            <a:off x="2935080" y="39300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0.80</a:t>
            </a:r>
            <a:endParaRPr b="0" sz="900" u="none" strike="noStrike">
              <a:solidFill>
                <a:srgbClr val="000000"/>
              </a:solidFill>
              <a:latin typeface="Arial"/>
              <a:ea typeface="Arial"/>
              <a:cs typeface="Arial"/>
              <a:sym typeface="Arial"/>
            </a:endParaRPr>
          </a:p>
        </p:txBody>
      </p:sp>
      <p:sp>
        <p:nvSpPr>
          <p:cNvPr id="314" name="Google Shape;314;p15"/>
          <p:cNvSpPr/>
          <p:nvPr/>
        </p:nvSpPr>
        <p:spPr>
          <a:xfrm>
            <a:off x="4151520" y="39300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89</a:t>
            </a:r>
            <a:endParaRPr b="0" sz="900" u="none" strike="noStrike">
              <a:solidFill>
                <a:srgbClr val="000000"/>
              </a:solidFill>
              <a:latin typeface="Arial"/>
              <a:ea typeface="Arial"/>
              <a:cs typeface="Arial"/>
              <a:sym typeface="Arial"/>
            </a:endParaRPr>
          </a:p>
        </p:txBody>
      </p:sp>
      <p:sp>
        <p:nvSpPr>
          <p:cNvPr id="315" name="Google Shape;315;p15"/>
          <p:cNvSpPr/>
          <p:nvPr/>
        </p:nvSpPr>
        <p:spPr>
          <a:xfrm>
            <a:off x="502920" y="41496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ANXIETY</a:t>
            </a:r>
            <a:endParaRPr b="0" sz="900" u="none" strike="noStrike">
              <a:solidFill>
                <a:srgbClr val="000000"/>
              </a:solidFill>
              <a:latin typeface="Arial"/>
              <a:ea typeface="Arial"/>
              <a:cs typeface="Arial"/>
              <a:sym typeface="Arial"/>
            </a:endParaRPr>
          </a:p>
        </p:txBody>
      </p:sp>
      <p:sp>
        <p:nvSpPr>
          <p:cNvPr id="316" name="Google Shape;316;p15"/>
          <p:cNvSpPr/>
          <p:nvPr/>
        </p:nvSpPr>
        <p:spPr>
          <a:xfrm>
            <a:off x="1719000" y="41496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8</a:t>
            </a:r>
            <a:endParaRPr b="0" sz="900" u="none" strike="noStrike">
              <a:solidFill>
                <a:srgbClr val="000000"/>
              </a:solidFill>
              <a:latin typeface="Arial"/>
              <a:ea typeface="Arial"/>
              <a:cs typeface="Arial"/>
              <a:sym typeface="Arial"/>
            </a:endParaRPr>
          </a:p>
        </p:txBody>
      </p:sp>
      <p:sp>
        <p:nvSpPr>
          <p:cNvPr id="317" name="Google Shape;317;p15"/>
          <p:cNvSpPr/>
          <p:nvPr/>
        </p:nvSpPr>
        <p:spPr>
          <a:xfrm>
            <a:off x="2935080" y="41496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8</a:t>
            </a:r>
            <a:r>
              <a:rPr b="0" lang="en-US" sz="900" u="none" strike="noStrike">
                <a:solidFill>
                  <a:srgbClr val="0D1B2A"/>
                </a:solidFill>
                <a:latin typeface="Calibri"/>
                <a:ea typeface="Calibri"/>
                <a:cs typeface="Calibri"/>
                <a:sym typeface="Calibri"/>
              </a:rPr>
              <a:t>0</a:t>
            </a:r>
            <a:endParaRPr b="0" sz="900" u="none" strike="noStrike">
              <a:solidFill>
                <a:srgbClr val="000000"/>
              </a:solidFill>
              <a:latin typeface="Arial"/>
              <a:ea typeface="Arial"/>
              <a:cs typeface="Arial"/>
              <a:sym typeface="Arial"/>
            </a:endParaRPr>
          </a:p>
        </p:txBody>
      </p:sp>
      <p:sp>
        <p:nvSpPr>
          <p:cNvPr id="318" name="Google Shape;318;p15"/>
          <p:cNvSpPr/>
          <p:nvPr/>
        </p:nvSpPr>
        <p:spPr>
          <a:xfrm>
            <a:off x="4151520" y="41496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8</a:t>
            </a:r>
            <a:endParaRPr b="0" sz="900" u="none" strike="noStrike">
              <a:solidFill>
                <a:srgbClr val="000000"/>
              </a:solidFill>
              <a:latin typeface="Arial"/>
              <a:ea typeface="Arial"/>
              <a:cs typeface="Arial"/>
              <a:sym typeface="Arial"/>
            </a:endParaRPr>
          </a:p>
        </p:txBody>
      </p:sp>
      <p:sp>
        <p:nvSpPr>
          <p:cNvPr id="319" name="Google Shape;319;p15"/>
          <p:cNvSpPr/>
          <p:nvPr/>
        </p:nvSpPr>
        <p:spPr>
          <a:xfrm>
            <a:off x="502920" y="43692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NEUTRAL</a:t>
            </a:r>
            <a:endParaRPr b="0" sz="900" u="none" strike="noStrike">
              <a:solidFill>
                <a:srgbClr val="000000"/>
              </a:solidFill>
              <a:latin typeface="Arial"/>
              <a:ea typeface="Arial"/>
              <a:cs typeface="Arial"/>
              <a:sym typeface="Arial"/>
            </a:endParaRPr>
          </a:p>
        </p:txBody>
      </p:sp>
      <p:sp>
        <p:nvSpPr>
          <p:cNvPr id="320" name="Google Shape;320;p15"/>
          <p:cNvSpPr/>
          <p:nvPr/>
        </p:nvSpPr>
        <p:spPr>
          <a:xfrm>
            <a:off x="1719000" y="43692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5</a:t>
            </a:r>
            <a:endParaRPr b="0" sz="900" u="none" strike="noStrike">
              <a:solidFill>
                <a:srgbClr val="000000"/>
              </a:solidFill>
              <a:latin typeface="Arial"/>
              <a:ea typeface="Arial"/>
              <a:cs typeface="Arial"/>
              <a:sym typeface="Arial"/>
            </a:endParaRPr>
          </a:p>
        </p:txBody>
      </p:sp>
      <p:sp>
        <p:nvSpPr>
          <p:cNvPr id="321" name="Google Shape;321;p15"/>
          <p:cNvSpPr/>
          <p:nvPr/>
        </p:nvSpPr>
        <p:spPr>
          <a:xfrm>
            <a:off x="2935080" y="43692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0.90</a:t>
            </a:r>
            <a:endParaRPr b="0" sz="900" u="none" strike="noStrike">
              <a:solidFill>
                <a:srgbClr val="000000"/>
              </a:solidFill>
              <a:latin typeface="Arial"/>
              <a:ea typeface="Arial"/>
              <a:cs typeface="Arial"/>
              <a:sym typeface="Arial"/>
            </a:endParaRPr>
          </a:p>
        </p:txBody>
      </p:sp>
      <p:sp>
        <p:nvSpPr>
          <p:cNvPr id="322" name="Google Shape;322;p15"/>
          <p:cNvSpPr/>
          <p:nvPr/>
        </p:nvSpPr>
        <p:spPr>
          <a:xfrm>
            <a:off x="4151520" y="43692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64</a:t>
            </a:r>
            <a:endParaRPr b="0" sz="900" u="none" strike="noStrike">
              <a:solidFill>
                <a:srgbClr val="000000"/>
              </a:solidFill>
              <a:latin typeface="Arial"/>
              <a:ea typeface="Arial"/>
              <a:cs typeface="Arial"/>
              <a:sym typeface="Arial"/>
            </a:endParaRPr>
          </a:p>
        </p:txBody>
      </p:sp>
      <p:sp>
        <p:nvSpPr>
          <p:cNvPr id="323" name="Google Shape;323;p15"/>
          <p:cNvSpPr/>
          <p:nvPr/>
        </p:nvSpPr>
        <p:spPr>
          <a:xfrm>
            <a:off x="502920" y="45884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AMBIGUOUS</a:t>
            </a:r>
            <a:endParaRPr b="0" sz="900" u="none" strike="noStrike">
              <a:solidFill>
                <a:srgbClr val="000000"/>
              </a:solidFill>
              <a:latin typeface="Arial"/>
              <a:ea typeface="Arial"/>
              <a:cs typeface="Arial"/>
              <a:sym typeface="Arial"/>
            </a:endParaRPr>
          </a:p>
        </p:txBody>
      </p:sp>
      <p:sp>
        <p:nvSpPr>
          <p:cNvPr id="324" name="Google Shape;324;p15"/>
          <p:cNvSpPr/>
          <p:nvPr/>
        </p:nvSpPr>
        <p:spPr>
          <a:xfrm>
            <a:off x="1719000" y="45884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900">
                <a:solidFill>
                  <a:srgbClr val="0D1B2A"/>
                </a:solidFill>
                <a:latin typeface="Calibri"/>
                <a:ea typeface="Calibri"/>
                <a:cs typeface="Calibri"/>
                <a:sym typeface="Calibri"/>
              </a:rPr>
              <a:t>1.00</a:t>
            </a:r>
            <a:endParaRPr b="0" sz="900" u="none" strike="noStrike">
              <a:solidFill>
                <a:srgbClr val="000000"/>
              </a:solidFill>
              <a:latin typeface="Arial"/>
              <a:ea typeface="Arial"/>
              <a:cs typeface="Arial"/>
              <a:sym typeface="Arial"/>
            </a:endParaRPr>
          </a:p>
        </p:txBody>
      </p:sp>
      <p:sp>
        <p:nvSpPr>
          <p:cNvPr id="325" name="Google Shape;325;p15"/>
          <p:cNvSpPr/>
          <p:nvPr/>
        </p:nvSpPr>
        <p:spPr>
          <a:xfrm>
            <a:off x="2935080" y="45884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4</a:t>
            </a:r>
            <a:r>
              <a:rPr b="0" lang="en-US" sz="900" u="none" strike="noStrike">
                <a:solidFill>
                  <a:srgbClr val="0D1B2A"/>
                </a:solidFill>
                <a:latin typeface="Calibri"/>
                <a:ea typeface="Calibri"/>
                <a:cs typeface="Calibri"/>
                <a:sym typeface="Calibri"/>
              </a:rPr>
              <a:t>0</a:t>
            </a:r>
            <a:endParaRPr b="0" sz="900" u="none" strike="noStrike">
              <a:solidFill>
                <a:srgbClr val="000000"/>
              </a:solidFill>
              <a:latin typeface="Arial"/>
              <a:ea typeface="Arial"/>
              <a:cs typeface="Arial"/>
              <a:sym typeface="Arial"/>
            </a:endParaRPr>
          </a:p>
        </p:txBody>
      </p:sp>
      <p:sp>
        <p:nvSpPr>
          <p:cNvPr id="326" name="Google Shape;326;p15"/>
          <p:cNvSpPr/>
          <p:nvPr/>
        </p:nvSpPr>
        <p:spPr>
          <a:xfrm>
            <a:off x="4151520" y="45884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57</a:t>
            </a:r>
            <a:endParaRPr b="0" sz="900" u="none" strike="noStrike">
              <a:solidFill>
                <a:srgbClr val="000000"/>
              </a:solidFill>
              <a:latin typeface="Arial"/>
              <a:ea typeface="Arial"/>
              <a:cs typeface="Arial"/>
              <a:sym typeface="Arial"/>
            </a:endParaRPr>
          </a:p>
        </p:txBody>
      </p:sp>
      <p:sp>
        <p:nvSpPr>
          <p:cNvPr id="327" name="Google Shape;327;p15"/>
          <p:cNvSpPr/>
          <p:nvPr/>
        </p:nvSpPr>
        <p:spPr>
          <a:xfrm>
            <a:off x="502920" y="48080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27AE60"/>
                </a:solidFill>
                <a:latin typeface="Calibri"/>
                <a:ea typeface="Calibri"/>
                <a:cs typeface="Calibri"/>
                <a:sym typeface="Calibri"/>
              </a:rPr>
              <a:t>CRISIS</a:t>
            </a:r>
            <a:endParaRPr b="0" sz="900" u="none" strike="noStrike">
              <a:solidFill>
                <a:srgbClr val="000000"/>
              </a:solidFill>
              <a:latin typeface="Arial"/>
              <a:ea typeface="Arial"/>
              <a:cs typeface="Arial"/>
              <a:sym typeface="Arial"/>
            </a:endParaRPr>
          </a:p>
        </p:txBody>
      </p:sp>
      <p:sp>
        <p:nvSpPr>
          <p:cNvPr id="328" name="Google Shape;328;p15"/>
          <p:cNvSpPr/>
          <p:nvPr/>
        </p:nvSpPr>
        <p:spPr>
          <a:xfrm>
            <a:off x="1719000" y="48080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27AE60"/>
                </a:solidFill>
                <a:latin typeface="Calibri"/>
                <a:ea typeface="Calibri"/>
                <a:cs typeface="Calibri"/>
                <a:sym typeface="Calibri"/>
              </a:rPr>
              <a:t>1.00</a:t>
            </a:r>
            <a:endParaRPr b="0" sz="900" u="none" strike="noStrike">
              <a:solidFill>
                <a:srgbClr val="000000"/>
              </a:solidFill>
              <a:latin typeface="Arial"/>
              <a:ea typeface="Arial"/>
              <a:cs typeface="Arial"/>
              <a:sym typeface="Arial"/>
            </a:endParaRPr>
          </a:p>
        </p:txBody>
      </p:sp>
      <p:sp>
        <p:nvSpPr>
          <p:cNvPr id="329" name="Google Shape;329;p15"/>
          <p:cNvSpPr/>
          <p:nvPr/>
        </p:nvSpPr>
        <p:spPr>
          <a:xfrm>
            <a:off x="2935080" y="48080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27AE60"/>
                </a:solidFill>
                <a:latin typeface="Calibri"/>
                <a:ea typeface="Calibri"/>
                <a:cs typeface="Calibri"/>
                <a:sym typeface="Calibri"/>
              </a:rPr>
              <a:t>1.00</a:t>
            </a:r>
            <a:endParaRPr b="0" sz="900" u="none" strike="noStrike">
              <a:solidFill>
                <a:srgbClr val="000000"/>
              </a:solidFill>
              <a:latin typeface="Arial"/>
              <a:ea typeface="Arial"/>
              <a:cs typeface="Arial"/>
              <a:sym typeface="Arial"/>
            </a:endParaRPr>
          </a:p>
        </p:txBody>
      </p:sp>
      <p:sp>
        <p:nvSpPr>
          <p:cNvPr id="330" name="Google Shape;330;p15"/>
          <p:cNvSpPr/>
          <p:nvPr/>
        </p:nvSpPr>
        <p:spPr>
          <a:xfrm>
            <a:off x="4151520" y="48080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27AE60"/>
                </a:solidFill>
                <a:latin typeface="Calibri"/>
                <a:ea typeface="Calibri"/>
                <a:cs typeface="Calibri"/>
                <a:sym typeface="Calibri"/>
              </a:rPr>
              <a:t>1.00</a:t>
            </a:r>
            <a:endParaRPr b="0" sz="900" u="none" strike="noStrike">
              <a:solidFill>
                <a:srgbClr val="000000"/>
              </a:solidFill>
              <a:latin typeface="Arial"/>
              <a:ea typeface="Arial"/>
              <a:cs typeface="Arial"/>
              <a:sym typeface="Arial"/>
            </a:endParaRPr>
          </a:p>
        </p:txBody>
      </p:sp>
      <p:sp>
        <p:nvSpPr>
          <p:cNvPr id="331" name="Google Shape;331;p15"/>
          <p:cNvSpPr/>
          <p:nvPr/>
        </p:nvSpPr>
        <p:spPr>
          <a:xfrm>
            <a:off x="5760720" y="2964005"/>
            <a:ext cx="3016800" cy="1718400"/>
          </a:xfrm>
          <a:prstGeom prst="roundRect">
            <a:avLst>
              <a:gd fmla="val 5319" name="adj"/>
            </a:avLst>
          </a:prstGeom>
          <a:solidFill>
            <a:srgbClr val="FFF8EC"/>
          </a:solidFill>
          <a:ln cap="flat" cmpd="sng" w="12600">
            <a:solidFill>
              <a:srgbClr val="E8A838"/>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32" name="Google Shape;332;p15"/>
          <p:cNvSpPr/>
          <p:nvPr/>
        </p:nvSpPr>
        <p:spPr>
          <a:xfrm>
            <a:off x="5897880" y="3037085"/>
            <a:ext cx="27426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100" u="none" strike="noStrike">
                <a:solidFill>
                  <a:srgbClr val="0D1B2A"/>
                </a:solidFill>
                <a:latin typeface="Cambria"/>
                <a:ea typeface="Cambria"/>
                <a:cs typeface="Cambria"/>
                <a:sym typeface="Cambria"/>
              </a:rPr>
              <a:t>Context on 77.1%</a:t>
            </a:r>
            <a:endParaRPr b="0" sz="1100" u="none" strike="noStrike">
              <a:solidFill>
                <a:srgbClr val="000000"/>
              </a:solidFill>
              <a:latin typeface="Arial"/>
              <a:ea typeface="Arial"/>
              <a:cs typeface="Arial"/>
              <a:sym typeface="Arial"/>
            </a:endParaRPr>
          </a:p>
        </p:txBody>
      </p:sp>
      <p:sp>
        <p:nvSpPr>
          <p:cNvPr id="333" name="Google Shape;333;p15"/>
          <p:cNvSpPr/>
          <p:nvPr/>
        </p:nvSpPr>
        <p:spPr>
          <a:xfrm>
            <a:off x="5897880" y="3366125"/>
            <a:ext cx="2742600" cy="1242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On a plain English test set (no Pidgin, no ambiguous inputs)</a:t>
            </a:r>
            <a:r>
              <a:rPr lang="en-US" sz="900">
                <a:solidFill>
                  <a:srgbClr val="0D1B2A"/>
                </a:solidFill>
                <a:latin typeface="Calibri"/>
                <a:ea typeface="Calibri"/>
                <a:cs typeface="Calibri"/>
                <a:sym typeface="Calibri"/>
              </a:rPr>
              <a:t>, </a:t>
            </a:r>
            <a:r>
              <a:rPr b="0" lang="en-US" sz="900" u="none" strike="noStrike">
                <a:solidFill>
                  <a:srgbClr val="0D1B2A"/>
                </a:solidFill>
                <a:latin typeface="Calibri"/>
                <a:ea typeface="Calibri"/>
                <a:cs typeface="Calibri"/>
                <a:sym typeface="Calibri"/>
              </a:rPr>
              <a:t>the system scored 100%.</a:t>
            </a:r>
            <a:endParaRPr b="0" sz="9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9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The 77.1% reflects genuine challenge: 8 ambiguous cases, 6 Pidgin cases, 4 context-contradicting cases.</a:t>
            </a:r>
            <a:endParaRPr b="0" sz="9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9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Most difficult: AMBIGUOUS cluster (F1 = 0.61).</a:t>
            </a:r>
            <a:endParaRPr b="0" sz="900" u="none" strike="noStrike">
              <a:solidFill>
                <a:srgbClr val="000000"/>
              </a:solidFill>
              <a:latin typeface="Arial"/>
              <a:ea typeface="Arial"/>
              <a:cs typeface="Arial"/>
              <a:sym typeface="Arial"/>
            </a:endParaRPr>
          </a:p>
        </p:txBody>
      </p:sp>
      <p:sp>
        <p:nvSpPr>
          <p:cNvPr id="334" name="Google Shape;334;p15"/>
          <p:cNvSpPr/>
          <p:nvPr/>
        </p:nvSpPr>
        <p:spPr>
          <a:xfrm>
            <a:off x="502920" y="3510828"/>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900">
                <a:solidFill>
                  <a:srgbClr val="0D1B2A"/>
                </a:solidFill>
                <a:latin typeface="Calibri"/>
                <a:ea typeface="Calibri"/>
                <a:cs typeface="Calibri"/>
                <a:sym typeface="Calibri"/>
              </a:rPr>
              <a:t>ANGER</a:t>
            </a:r>
            <a:endParaRPr b="0" sz="900" u="none" strike="noStrike">
              <a:solidFill>
                <a:srgbClr val="000000"/>
              </a:solidFill>
              <a:latin typeface="Arial"/>
              <a:ea typeface="Arial"/>
              <a:cs typeface="Arial"/>
              <a:sym typeface="Arial"/>
            </a:endParaRPr>
          </a:p>
        </p:txBody>
      </p:sp>
      <p:sp>
        <p:nvSpPr>
          <p:cNvPr id="335" name="Google Shape;335;p15"/>
          <p:cNvSpPr/>
          <p:nvPr/>
        </p:nvSpPr>
        <p:spPr>
          <a:xfrm>
            <a:off x="1719000" y="3510828"/>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0.80</a:t>
            </a:r>
            <a:endParaRPr b="0" sz="900" u="none" strike="noStrike">
              <a:solidFill>
                <a:srgbClr val="000000"/>
              </a:solidFill>
              <a:latin typeface="Arial"/>
              <a:ea typeface="Arial"/>
              <a:cs typeface="Arial"/>
              <a:sym typeface="Arial"/>
            </a:endParaRPr>
          </a:p>
        </p:txBody>
      </p:sp>
      <p:sp>
        <p:nvSpPr>
          <p:cNvPr id="336" name="Google Shape;336;p15"/>
          <p:cNvSpPr/>
          <p:nvPr/>
        </p:nvSpPr>
        <p:spPr>
          <a:xfrm>
            <a:off x="2935080" y="3510828"/>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900">
                <a:solidFill>
                  <a:srgbClr val="0D1B2A"/>
                </a:solidFill>
                <a:latin typeface="Calibri"/>
                <a:ea typeface="Calibri"/>
                <a:cs typeface="Calibri"/>
                <a:sym typeface="Calibri"/>
              </a:rPr>
              <a:t>1</a:t>
            </a:r>
            <a:r>
              <a:rPr lang="en-US" sz="900">
                <a:solidFill>
                  <a:srgbClr val="0D1B2A"/>
                </a:solidFill>
                <a:latin typeface="Calibri"/>
                <a:ea typeface="Calibri"/>
                <a:cs typeface="Calibri"/>
                <a:sym typeface="Calibri"/>
              </a:rPr>
              <a:t>.</a:t>
            </a:r>
            <a:r>
              <a:rPr lang="en-US" sz="900">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0</a:t>
            </a:r>
            <a:endParaRPr b="0" sz="900" u="none" strike="noStrike">
              <a:solidFill>
                <a:srgbClr val="000000"/>
              </a:solidFill>
              <a:latin typeface="Arial"/>
              <a:ea typeface="Arial"/>
              <a:cs typeface="Arial"/>
              <a:sym typeface="Arial"/>
            </a:endParaRPr>
          </a:p>
        </p:txBody>
      </p:sp>
      <p:sp>
        <p:nvSpPr>
          <p:cNvPr id="337" name="Google Shape;337;p15"/>
          <p:cNvSpPr/>
          <p:nvPr/>
        </p:nvSpPr>
        <p:spPr>
          <a:xfrm>
            <a:off x="4151520" y="3510828"/>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89</a:t>
            </a:r>
            <a:endParaRPr b="0" sz="900" u="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342" name="Shape 342"/>
        <p:cNvGrpSpPr/>
        <p:nvPr/>
      </p:nvGrpSpPr>
      <p:grpSpPr>
        <a:xfrm>
          <a:off x="0" y="0"/>
          <a:ext cx="0" cy="0"/>
          <a:chOff x="0" y="0"/>
          <a:chExt cx="0" cy="0"/>
        </a:xfrm>
      </p:grpSpPr>
      <p:sp>
        <p:nvSpPr>
          <p:cNvPr id="343" name="Google Shape;343;p16"/>
          <p:cNvSpPr/>
          <p:nvPr/>
        </p:nvSpPr>
        <p:spPr>
          <a:xfrm>
            <a:off x="0" y="0"/>
            <a:ext cx="9143280" cy="54000"/>
          </a:xfrm>
          <a:prstGeom prst="rect">
            <a:avLst/>
          </a:prstGeom>
          <a:solidFill>
            <a:srgbClr val="22A89A"/>
          </a:solidFill>
          <a:ln cap="flat" cmpd="sng" w="12600">
            <a:solidFill>
              <a:srgbClr val="22A89A"/>
            </a:solidFill>
            <a:prstDash val="solid"/>
            <a:round/>
            <a:headEnd len="sm" w="sm" type="none"/>
            <a:tailEnd len="sm" w="sm" type="none"/>
          </a:ln>
        </p:spPr>
        <p:txBody>
          <a:bodyPr anchorCtr="0" anchor="t" bIns="9700" lIns="90000" spcFirstLastPara="1" rIns="90000" wrap="square" tIns="97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44" name="Google Shape;344;p16"/>
          <p:cNvSpPr/>
          <p:nvPr/>
        </p:nvSpPr>
        <p:spPr>
          <a:xfrm>
            <a:off x="457200" y="320040"/>
            <a:ext cx="8228880" cy="47484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2600" u="none" strike="noStrike">
                <a:solidFill>
                  <a:srgbClr val="FFFFFF"/>
                </a:solidFill>
                <a:latin typeface="Cambria"/>
                <a:ea typeface="Cambria"/>
                <a:cs typeface="Cambria"/>
                <a:sym typeface="Cambria"/>
              </a:rPr>
              <a:t>CONCLUSION &amp; FUTURE WORK</a:t>
            </a:r>
            <a:endParaRPr b="0" sz="2600" u="none" strike="noStrike">
              <a:solidFill>
                <a:srgbClr val="FFFFFF"/>
              </a:solidFill>
              <a:latin typeface="Arial"/>
              <a:ea typeface="Arial"/>
              <a:cs typeface="Arial"/>
              <a:sym typeface="Arial"/>
            </a:endParaRPr>
          </a:p>
        </p:txBody>
      </p:sp>
      <p:sp>
        <p:nvSpPr>
          <p:cNvPr id="345" name="Google Shape;345;p16"/>
          <p:cNvSpPr/>
          <p:nvPr/>
        </p:nvSpPr>
        <p:spPr>
          <a:xfrm>
            <a:off x="365760" y="960120"/>
            <a:ext cx="8411760" cy="657720"/>
          </a:xfrm>
          <a:prstGeom prst="roundRect">
            <a:avLst>
              <a:gd fmla="val 13889" name="adj"/>
            </a:avLst>
          </a:prstGeom>
          <a:solidFill>
            <a:srgbClr val="1A2F44"/>
          </a:solidFill>
          <a:ln cap="flat" cmpd="sng" w="12600">
            <a:solidFill>
              <a:srgbClr val="253F57"/>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46" name="Google Shape;346;p16"/>
          <p:cNvSpPr/>
          <p:nvPr/>
        </p:nvSpPr>
        <p:spPr>
          <a:xfrm>
            <a:off x="502920" y="1033200"/>
            <a:ext cx="365040" cy="4107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600" u="none" strike="noStrike">
                <a:solidFill>
                  <a:srgbClr val="22A89A"/>
                </a:solidFill>
                <a:latin typeface="Calibri"/>
                <a:ea typeface="Calibri"/>
                <a:cs typeface="Calibri"/>
                <a:sym typeface="Calibri"/>
              </a:rPr>
              <a:t>✓</a:t>
            </a:r>
            <a:endParaRPr b="0" sz="1600" u="none" strike="noStrike">
              <a:solidFill>
                <a:srgbClr val="FFFFFF"/>
              </a:solidFill>
              <a:latin typeface="Arial"/>
              <a:ea typeface="Arial"/>
              <a:cs typeface="Arial"/>
              <a:sym typeface="Arial"/>
            </a:endParaRPr>
          </a:p>
        </p:txBody>
      </p:sp>
      <p:sp>
        <p:nvSpPr>
          <p:cNvPr id="347" name="Google Shape;347;p16"/>
          <p:cNvSpPr/>
          <p:nvPr/>
        </p:nvSpPr>
        <p:spPr>
          <a:xfrm>
            <a:off x="987480" y="1024200"/>
            <a:ext cx="7634520" cy="4564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50" u="none" strike="noStrike">
                <a:solidFill>
                  <a:srgbClr val="D6DDE3"/>
                </a:solidFill>
                <a:latin typeface="Calibri"/>
                <a:ea typeface="Calibri"/>
                <a:cs typeface="Calibri"/>
                <a:sym typeface="Calibri"/>
              </a:rPr>
              <a:t>AEIF achieves 77.1% emotion accuracy, 100% crisis detection, 100% trend accuracy on a challenging, culturally diverse 58-case test set.</a:t>
            </a:r>
            <a:endParaRPr b="0" sz="1050" u="none" strike="noStrike">
              <a:solidFill>
                <a:srgbClr val="FFFFFF"/>
              </a:solidFill>
              <a:latin typeface="Arial"/>
              <a:ea typeface="Arial"/>
              <a:cs typeface="Arial"/>
              <a:sym typeface="Arial"/>
            </a:endParaRPr>
          </a:p>
        </p:txBody>
      </p:sp>
      <p:sp>
        <p:nvSpPr>
          <p:cNvPr id="348" name="Google Shape;348;p16"/>
          <p:cNvSpPr/>
          <p:nvPr/>
        </p:nvSpPr>
        <p:spPr>
          <a:xfrm>
            <a:off x="365760" y="1728360"/>
            <a:ext cx="8411760" cy="657720"/>
          </a:xfrm>
          <a:prstGeom prst="roundRect">
            <a:avLst>
              <a:gd fmla="val 13889" name="adj"/>
            </a:avLst>
          </a:prstGeom>
          <a:solidFill>
            <a:srgbClr val="1A2F44"/>
          </a:solidFill>
          <a:ln cap="flat" cmpd="sng" w="12600">
            <a:solidFill>
              <a:srgbClr val="253F57"/>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49" name="Google Shape;349;p16"/>
          <p:cNvSpPr/>
          <p:nvPr/>
        </p:nvSpPr>
        <p:spPr>
          <a:xfrm>
            <a:off x="502920" y="1801440"/>
            <a:ext cx="365040" cy="4107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600" u="none" strike="noStrike">
                <a:solidFill>
                  <a:srgbClr val="22A89A"/>
                </a:solidFill>
                <a:latin typeface="Calibri"/>
                <a:ea typeface="Calibri"/>
                <a:cs typeface="Calibri"/>
                <a:sym typeface="Calibri"/>
              </a:rPr>
              <a:t>✓</a:t>
            </a:r>
            <a:endParaRPr b="0" sz="1600" u="none" strike="noStrike">
              <a:solidFill>
                <a:srgbClr val="FFFFFF"/>
              </a:solidFill>
              <a:latin typeface="Arial"/>
              <a:ea typeface="Arial"/>
              <a:cs typeface="Arial"/>
              <a:sym typeface="Arial"/>
            </a:endParaRPr>
          </a:p>
        </p:txBody>
      </p:sp>
      <p:sp>
        <p:nvSpPr>
          <p:cNvPr id="350" name="Google Shape;350;p16"/>
          <p:cNvSpPr/>
          <p:nvPr/>
        </p:nvSpPr>
        <p:spPr>
          <a:xfrm>
            <a:off x="987480" y="1792080"/>
            <a:ext cx="7634520" cy="4564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50" u="none" strike="noStrike">
                <a:solidFill>
                  <a:srgbClr val="D6DDE3"/>
                </a:solidFill>
                <a:latin typeface="Calibri"/>
                <a:ea typeface="Calibri"/>
                <a:cs typeface="Calibri"/>
                <a:sym typeface="Calibri"/>
              </a:rPr>
              <a:t>Strategy-aware response generation produces qualitatively superior empathetic alignment versus an unguided baseline — demonstrated across 3 scripted scenarios.</a:t>
            </a:r>
            <a:endParaRPr b="0" sz="1050" u="none" strike="noStrike">
              <a:solidFill>
                <a:srgbClr val="FFFFFF"/>
              </a:solidFill>
              <a:latin typeface="Arial"/>
              <a:ea typeface="Arial"/>
              <a:cs typeface="Arial"/>
              <a:sym typeface="Arial"/>
            </a:endParaRPr>
          </a:p>
        </p:txBody>
      </p:sp>
      <p:sp>
        <p:nvSpPr>
          <p:cNvPr id="351" name="Google Shape;351;p16"/>
          <p:cNvSpPr/>
          <p:nvPr/>
        </p:nvSpPr>
        <p:spPr>
          <a:xfrm>
            <a:off x="365760" y="2496240"/>
            <a:ext cx="8411760" cy="657720"/>
          </a:xfrm>
          <a:prstGeom prst="roundRect">
            <a:avLst>
              <a:gd fmla="val 13889" name="adj"/>
            </a:avLst>
          </a:prstGeom>
          <a:solidFill>
            <a:srgbClr val="1A2F44"/>
          </a:solidFill>
          <a:ln cap="flat" cmpd="sng" w="12600">
            <a:solidFill>
              <a:srgbClr val="253F57"/>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52" name="Google Shape;352;p16"/>
          <p:cNvSpPr/>
          <p:nvPr/>
        </p:nvSpPr>
        <p:spPr>
          <a:xfrm>
            <a:off x="502920" y="2569320"/>
            <a:ext cx="365040" cy="4107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600" u="none" strike="noStrike">
                <a:solidFill>
                  <a:srgbClr val="22A89A"/>
                </a:solidFill>
                <a:latin typeface="Calibri"/>
                <a:ea typeface="Calibri"/>
                <a:cs typeface="Calibri"/>
                <a:sym typeface="Calibri"/>
              </a:rPr>
              <a:t>✓</a:t>
            </a:r>
            <a:endParaRPr b="0" sz="1600" u="none" strike="noStrike">
              <a:solidFill>
                <a:srgbClr val="FFFFFF"/>
              </a:solidFill>
              <a:latin typeface="Arial"/>
              <a:ea typeface="Arial"/>
              <a:cs typeface="Arial"/>
              <a:sym typeface="Arial"/>
            </a:endParaRPr>
          </a:p>
        </p:txBody>
      </p:sp>
      <p:sp>
        <p:nvSpPr>
          <p:cNvPr id="353" name="Google Shape;353;p16"/>
          <p:cNvSpPr/>
          <p:nvPr/>
        </p:nvSpPr>
        <p:spPr>
          <a:xfrm>
            <a:off x="987480" y="2560320"/>
            <a:ext cx="7634520" cy="4564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50" u="none" strike="noStrike">
                <a:solidFill>
                  <a:srgbClr val="D6DDE3"/>
                </a:solidFill>
                <a:latin typeface="Calibri"/>
                <a:ea typeface="Calibri"/>
                <a:cs typeface="Calibri"/>
                <a:sym typeface="Calibri"/>
              </a:rPr>
              <a:t>The controlled AEIF vs. baseline comparison provides direct evidence that trajectory-aware design meaningfully differentiates conversational AI responses.</a:t>
            </a:r>
            <a:endParaRPr b="0" sz="1050" u="none" strike="noStrike">
              <a:solidFill>
                <a:srgbClr val="FFFFFF"/>
              </a:solidFill>
              <a:latin typeface="Arial"/>
              <a:ea typeface="Arial"/>
              <a:cs typeface="Arial"/>
              <a:sym typeface="Arial"/>
            </a:endParaRPr>
          </a:p>
        </p:txBody>
      </p:sp>
      <p:sp>
        <p:nvSpPr>
          <p:cNvPr id="354" name="Google Shape;354;p16"/>
          <p:cNvSpPr/>
          <p:nvPr/>
        </p:nvSpPr>
        <p:spPr>
          <a:xfrm>
            <a:off x="365760" y="3264480"/>
            <a:ext cx="8411760" cy="657720"/>
          </a:xfrm>
          <a:prstGeom prst="roundRect">
            <a:avLst>
              <a:gd fmla="val 13889" name="adj"/>
            </a:avLst>
          </a:prstGeom>
          <a:solidFill>
            <a:srgbClr val="1A2F44"/>
          </a:solidFill>
          <a:ln cap="flat" cmpd="sng" w="12600">
            <a:solidFill>
              <a:srgbClr val="253F57"/>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55" name="Google Shape;355;p16"/>
          <p:cNvSpPr/>
          <p:nvPr/>
        </p:nvSpPr>
        <p:spPr>
          <a:xfrm>
            <a:off x="502920" y="3337560"/>
            <a:ext cx="365040" cy="4107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600" u="none" strike="noStrike">
                <a:solidFill>
                  <a:srgbClr val="22A89A"/>
                </a:solidFill>
                <a:latin typeface="Calibri"/>
                <a:ea typeface="Calibri"/>
                <a:cs typeface="Calibri"/>
                <a:sym typeface="Calibri"/>
              </a:rPr>
              <a:t>✓</a:t>
            </a:r>
            <a:endParaRPr b="0" sz="1600" u="none" strike="noStrike">
              <a:solidFill>
                <a:srgbClr val="FFFFFF"/>
              </a:solidFill>
              <a:latin typeface="Arial"/>
              <a:ea typeface="Arial"/>
              <a:cs typeface="Arial"/>
              <a:sym typeface="Arial"/>
            </a:endParaRPr>
          </a:p>
        </p:txBody>
      </p:sp>
      <p:sp>
        <p:nvSpPr>
          <p:cNvPr id="356" name="Google Shape;356;p16"/>
          <p:cNvSpPr/>
          <p:nvPr/>
        </p:nvSpPr>
        <p:spPr>
          <a:xfrm>
            <a:off x="987480" y="3328560"/>
            <a:ext cx="7634520" cy="4564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50" u="none" strike="noStrike">
                <a:solidFill>
                  <a:srgbClr val="D6DDE3"/>
                </a:solidFill>
                <a:latin typeface="Calibri"/>
                <a:ea typeface="Calibri"/>
                <a:cs typeface="Calibri"/>
                <a:sym typeface="Calibri"/>
              </a:rPr>
              <a:t>The system is explicitly adapted for the Nigerian young-adult population through Pidgin vocabulary and embedded Nigerian crisis resources.</a:t>
            </a:r>
            <a:endParaRPr b="0" sz="1050" u="none" strike="noStrike">
              <a:solidFill>
                <a:srgbClr val="FFFFFF"/>
              </a:solidFill>
              <a:latin typeface="Arial"/>
              <a:ea typeface="Arial"/>
              <a:cs typeface="Arial"/>
              <a:sym typeface="Arial"/>
            </a:endParaRPr>
          </a:p>
        </p:txBody>
      </p:sp>
      <p:sp>
        <p:nvSpPr>
          <p:cNvPr id="357" name="Google Shape;357;p16"/>
          <p:cNvSpPr/>
          <p:nvPr/>
        </p:nvSpPr>
        <p:spPr>
          <a:xfrm>
            <a:off x="457200" y="4055400"/>
            <a:ext cx="82290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300" u="none" strike="noStrike">
                <a:solidFill>
                  <a:srgbClr val="E8A838"/>
                </a:solidFill>
                <a:latin typeface="Cambria"/>
                <a:ea typeface="Cambria"/>
                <a:cs typeface="Cambria"/>
                <a:sym typeface="Cambria"/>
              </a:rPr>
              <a:t>Future Work</a:t>
            </a:r>
            <a:endParaRPr b="0" sz="1300" u="none" strike="noStrike">
              <a:solidFill>
                <a:srgbClr val="FFFFFF"/>
              </a:solidFill>
              <a:latin typeface="Arial"/>
              <a:ea typeface="Arial"/>
              <a:cs typeface="Arial"/>
              <a:sym typeface="Arial"/>
            </a:endParaRPr>
          </a:p>
        </p:txBody>
      </p:sp>
      <p:sp>
        <p:nvSpPr>
          <p:cNvPr id="358" name="Google Shape;358;p16"/>
          <p:cNvSpPr/>
          <p:nvPr/>
        </p:nvSpPr>
        <p:spPr>
          <a:xfrm>
            <a:off x="457200" y="4378935"/>
            <a:ext cx="8229000" cy="237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50" u="none" strike="noStrike">
                <a:solidFill>
                  <a:srgbClr val="8E99A4"/>
                </a:solidFill>
                <a:latin typeface="Calibri"/>
                <a:ea typeface="Calibri"/>
                <a:cs typeface="Calibri"/>
                <a:sym typeface="Calibri"/>
              </a:rPr>
              <a:t>→ Contextual emotion classification — using conversational history per message, not just current text</a:t>
            </a:r>
            <a:endParaRPr b="0" sz="950" u="none" strike="noStrike">
              <a:solidFill>
                <a:srgbClr val="FFFFFF"/>
              </a:solidFill>
              <a:latin typeface="Arial"/>
              <a:ea typeface="Arial"/>
              <a:cs typeface="Arial"/>
              <a:sym typeface="Arial"/>
            </a:endParaRPr>
          </a:p>
        </p:txBody>
      </p:sp>
      <p:sp>
        <p:nvSpPr>
          <p:cNvPr id="359" name="Google Shape;359;p16"/>
          <p:cNvSpPr/>
          <p:nvPr/>
        </p:nvSpPr>
        <p:spPr>
          <a:xfrm>
            <a:off x="457200" y="4665855"/>
            <a:ext cx="8229000" cy="237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50" u="none" strike="noStrike">
                <a:solidFill>
                  <a:srgbClr val="8E99A4"/>
                </a:solidFill>
                <a:latin typeface="Calibri"/>
                <a:ea typeface="Calibri"/>
                <a:cs typeface="Calibri"/>
                <a:sym typeface="Calibri"/>
              </a:rPr>
              <a:t>→ LLM-based secondary crisis detection layer for novel expressions</a:t>
            </a:r>
            <a:endParaRPr b="0" sz="950" u="none" strike="noStrike">
              <a:solidFill>
                <a:srgbClr val="FFFFFF"/>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364" name="Shape 364"/>
        <p:cNvGrpSpPr/>
        <p:nvPr/>
      </p:nvGrpSpPr>
      <p:grpSpPr>
        <a:xfrm>
          <a:off x="0" y="0"/>
          <a:ext cx="0" cy="0"/>
          <a:chOff x="0" y="0"/>
          <a:chExt cx="0" cy="0"/>
        </a:xfrm>
      </p:grpSpPr>
      <p:sp>
        <p:nvSpPr>
          <p:cNvPr id="365" name="Google Shape;365;p17"/>
          <p:cNvSpPr/>
          <p:nvPr/>
        </p:nvSpPr>
        <p:spPr>
          <a:xfrm>
            <a:off x="0" y="0"/>
            <a:ext cx="9143280" cy="54000"/>
          </a:xfrm>
          <a:prstGeom prst="rect">
            <a:avLst/>
          </a:prstGeom>
          <a:solidFill>
            <a:srgbClr val="22A89A"/>
          </a:solidFill>
          <a:ln cap="flat" cmpd="sng" w="12600">
            <a:solidFill>
              <a:srgbClr val="22A89A"/>
            </a:solidFill>
            <a:prstDash val="solid"/>
            <a:round/>
            <a:headEnd len="sm" w="sm" type="none"/>
            <a:tailEnd len="sm" w="sm" type="none"/>
          </a:ln>
        </p:spPr>
        <p:txBody>
          <a:bodyPr anchorCtr="0" anchor="t" bIns="9700" lIns="90000" spcFirstLastPara="1" rIns="90000" wrap="square" tIns="97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66" name="Google Shape;366;p17"/>
          <p:cNvSpPr/>
          <p:nvPr/>
        </p:nvSpPr>
        <p:spPr>
          <a:xfrm>
            <a:off x="457200" y="1280160"/>
            <a:ext cx="8228880" cy="9136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5600" u="none" strike="noStrike">
                <a:solidFill>
                  <a:srgbClr val="FFFFFF"/>
                </a:solidFill>
                <a:latin typeface="Cambria"/>
                <a:ea typeface="Cambria"/>
                <a:cs typeface="Cambria"/>
                <a:sym typeface="Cambria"/>
              </a:rPr>
              <a:t>THANK YOU</a:t>
            </a:r>
            <a:endParaRPr b="0" sz="5600" u="none" strike="noStrike">
              <a:solidFill>
                <a:srgbClr val="FFFFFF"/>
              </a:solidFill>
              <a:latin typeface="Arial"/>
              <a:ea typeface="Arial"/>
              <a:cs typeface="Arial"/>
              <a:sym typeface="Arial"/>
            </a:endParaRPr>
          </a:p>
        </p:txBody>
      </p:sp>
      <p:sp>
        <p:nvSpPr>
          <p:cNvPr id="367" name="Google Shape;367;p17"/>
          <p:cNvSpPr/>
          <p:nvPr/>
        </p:nvSpPr>
        <p:spPr>
          <a:xfrm>
            <a:off x="3200400" y="2304360"/>
            <a:ext cx="2742480" cy="36000"/>
          </a:xfrm>
          <a:prstGeom prst="rect">
            <a:avLst/>
          </a:prstGeom>
          <a:solidFill>
            <a:srgbClr val="E8A838"/>
          </a:solidFill>
          <a:ln cap="flat" cmpd="sng" w="12600">
            <a:solidFill>
              <a:srgbClr val="E8A838"/>
            </a:solidFill>
            <a:prstDash val="solid"/>
            <a:round/>
            <a:headEnd len="sm" w="sm" type="none"/>
            <a:tailEnd len="sm" w="sm" type="none"/>
          </a:ln>
        </p:spPr>
        <p:txBody>
          <a:bodyPr anchorCtr="0" anchor="t" bIns="0" lIns="90000" spcFirstLastPara="1" rIns="90000" wrap="square" tIns="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68" name="Google Shape;368;p17"/>
          <p:cNvSpPr/>
          <p:nvPr/>
        </p:nvSpPr>
        <p:spPr>
          <a:xfrm>
            <a:off x="457200" y="2487240"/>
            <a:ext cx="8228880" cy="32832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1" lang="en-US" sz="1600" u="none" strike="noStrike">
                <a:solidFill>
                  <a:srgbClr val="22A89A"/>
                </a:solidFill>
                <a:latin typeface="Calibri"/>
                <a:ea typeface="Calibri"/>
                <a:cs typeface="Calibri"/>
                <a:sym typeface="Calibri"/>
              </a:rPr>
              <a:t>Questions &amp; Discussion</a:t>
            </a:r>
            <a:endParaRPr b="0" sz="1600" u="none" strike="noStrike">
              <a:solidFill>
                <a:srgbClr val="FFFFFF"/>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