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400500-FE6D-4947-8818-2905A753AF13}">
  <a:tblStyle styleId="{7C400500-FE6D-4947-8818-2905A753AF1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 name="Google Shape;18;p1: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Introduce yourself: name, project title, what AIDA stands for. This is a second defense so the committee has seen the work. Briefly say: we have a working system evaluated on a 58-case test set.</a:t>
            </a:r>
            <a:endParaRPr b="0" sz="2000" u="none" strike="noStrike">
              <a:solidFill>
                <a:srgbClr val="000000"/>
              </a:solidFill>
              <a:latin typeface="Arial"/>
              <a:ea typeface="Arial"/>
              <a:cs typeface="Arial"/>
              <a:sym typeface="Arial"/>
            </a:endParaRPr>
          </a:p>
        </p:txBody>
      </p:sp>
      <p:sp>
        <p:nvSpPr>
          <p:cNvPr id="19" name="Google Shape;19;p1: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Walk through the outline quickly. Tell them we have a working prototype and will show real evaluation data.</a:t>
            </a:r>
            <a:endParaRPr b="0" sz="2000" u="none" strike="noStrike">
              <a:solidFill>
                <a:srgbClr val="000000"/>
              </a:solidFill>
              <a:latin typeface="Arial"/>
              <a:ea typeface="Arial"/>
              <a:cs typeface="Arial"/>
              <a:sym typeface="Arial"/>
            </a:endParaRPr>
          </a:p>
        </p:txBody>
      </p:sp>
      <p:sp>
        <p:nvSpPr>
          <p:cNvPr id="34" name="Google Shape;34;p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p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72" name="Google Shape;72;p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af6faebf0_0_6: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g3eaf6faebf0_0_6: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Nigeria has one of the worst mental health workforce gaps in the world. Chatbots exist but they treat each message as if the conversation just started. That's the gap we address</a:t>
            </a:r>
            <a:endParaRPr b="0" sz="2000" u="none" strike="noStrike">
              <a:solidFill>
                <a:srgbClr val="000000"/>
              </a:solidFill>
              <a:latin typeface="Arial"/>
              <a:ea typeface="Arial"/>
              <a:cs typeface="Arial"/>
              <a:sym typeface="Arial"/>
            </a:endParaRPr>
          </a:p>
        </p:txBody>
      </p:sp>
      <p:sp>
        <p:nvSpPr>
          <p:cNvPr id="90" name="Google Shape;90;g3eaf6faebf0_0_6: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4: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Five concrete objectives. The most important is the controlled comparison — we built a parallel baseline pipeline with no trajectory or strategy, and ran both on the same inputs.</a:t>
            </a:r>
            <a:endParaRPr b="0" sz="2000" u="none" strike="noStrike">
              <a:solidFill>
                <a:srgbClr val="000000"/>
              </a:solidFill>
              <a:latin typeface="Arial"/>
              <a:ea typeface="Arial"/>
              <a:cs typeface="Arial"/>
              <a:sym typeface="Arial"/>
            </a:endParaRPr>
          </a:p>
        </p:txBody>
      </p:sp>
      <p:sp>
        <p:nvSpPr>
          <p:cNvPr id="103" name="Google Shape;103;p4: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eaf6faebf0_1_0: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eaf6faebf0_1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4" name="Google Shape;124;g3eaf6faebf0_1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5: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31" name="Google Shape;131;p5: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6: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pipeline processes every message left to right. Layer 1 (safety) is unconditional — if crisis detected, no other layer runs. Layers 4 and 5 are what distinguish AEIF from the baseline.</a:t>
            </a:r>
            <a:endParaRPr b="0" sz="2000" u="none" strike="noStrike">
              <a:solidFill>
                <a:srgbClr val="000000"/>
              </a:solidFill>
              <a:latin typeface="Arial"/>
              <a:ea typeface="Arial"/>
              <a:cs typeface="Arial"/>
              <a:sym typeface="Arial"/>
            </a:endParaRPr>
          </a:p>
        </p:txBody>
      </p:sp>
      <p:sp>
        <p:nvSpPr>
          <p:cNvPr id="175" name="Google Shape;175;p6: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8: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Two-path architecture. The ambiguity pre-check is key — it catches messages like 'I got the job but I'm terrified' before the transformer misclassifies them. Nigerian Pidgin terms are hard-coded into the keyword lists.</a:t>
            </a:r>
            <a:endParaRPr b="0" sz="2000" u="none" strike="noStrike">
              <a:solidFill>
                <a:srgbClr val="000000"/>
              </a:solidFill>
              <a:latin typeface="Arial"/>
              <a:ea typeface="Arial"/>
              <a:cs typeface="Arial"/>
              <a:sym typeface="Arial"/>
            </a:endParaRPr>
          </a:p>
        </p:txBody>
      </p:sp>
      <p:sp>
        <p:nvSpPr>
          <p:cNvPr id="181" name="Google Shape;181;p8: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9: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9: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08" name="Google Shape;208;p9: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af6faebf0_1_12: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g3eaf6faebf0_1_12: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The severity scores are the core of the trend analyser. We take an unweighted arithmetic mean of the last 10 turns. The strategy lookup table has 12 conditions — 6 for when a trend is established, and 6 first-turn defaults based on the current emotion.</a:t>
            </a:r>
            <a:endParaRPr b="0" sz="2000" u="none" strike="noStrike">
              <a:solidFill>
                <a:srgbClr val="000000"/>
              </a:solidFill>
              <a:latin typeface="Arial"/>
              <a:ea typeface="Arial"/>
              <a:cs typeface="Arial"/>
              <a:sym typeface="Arial"/>
            </a:endParaRPr>
          </a:p>
        </p:txBody>
      </p:sp>
      <p:sp>
        <p:nvSpPr>
          <p:cNvPr id="261" name="Google Shape;261;g3eaf6faebf0_1_12: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0: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77.1% sounds modest but the test set was deliberately hard. Crisis detection is 100% which is non-negotiable for a mental health system. AMBIGUOUS is the hardest cluster — emotionally contradictory language is genuinely hard to classify.</a:t>
            </a:r>
            <a:endParaRPr b="0" sz="2000" u="none" strike="noStrike">
              <a:solidFill>
                <a:srgbClr val="000000"/>
              </a:solidFill>
              <a:latin typeface="Arial"/>
              <a:ea typeface="Arial"/>
              <a:cs typeface="Arial"/>
              <a:sym typeface="Arial"/>
            </a:endParaRPr>
          </a:p>
        </p:txBody>
      </p:sp>
      <p:sp>
        <p:nvSpPr>
          <p:cNvPr id="277" name="Google Shape;277;p10: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af6faebf0_1_11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af6faebf0_1_11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37" name="Google Shape;337;g3eaf6faebf0_1_116: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eaf6faebf0_1_166:notes"/>
          <p:cNvSpPr/>
          <p:nvPr>
            <p:ph idx="2" type="sldImg"/>
          </p:nvPr>
        </p:nvSpPr>
        <p:spPr>
          <a:xfrm>
            <a:off x="216000" y="812520"/>
            <a:ext cx="7127400" cy="40089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eaf6faebf0_1_16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6" name="Google Shape;346;g3eaf6faebf0_1_166: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2: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2: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Three key conclusions. The most important: trajectory-aware strategy selection is not just a technical elaboration — it produces qualitatively different and better responses. Future work: a real user study with Nigerian participants would make this even stronger.</a:t>
            </a:r>
            <a:endParaRPr b="0" sz="2000" u="none" strike="noStrike">
              <a:solidFill>
                <a:srgbClr val="000000"/>
              </a:solidFill>
              <a:latin typeface="Arial"/>
              <a:ea typeface="Arial"/>
              <a:cs typeface="Arial"/>
              <a:sym typeface="Arial"/>
            </a:endParaRPr>
          </a:p>
        </p:txBody>
      </p:sp>
      <p:sp>
        <p:nvSpPr>
          <p:cNvPr id="354" name="Google Shape;354;p12: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eaf6faebf0_1_144:notes"/>
          <p:cNvSpPr/>
          <p:nvPr>
            <p:ph idx="2" type="sldImg"/>
          </p:nvPr>
        </p:nvSpPr>
        <p:spPr>
          <a:xfrm>
            <a:off x="685800" y="1143000"/>
            <a:ext cx="5485800" cy="30855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9" name="Google Shape;369;g3eaf6faebf0_1_144:notes"/>
          <p:cNvSpPr txBox="1"/>
          <p:nvPr>
            <p:ph idx="1" type="body"/>
          </p:nvPr>
        </p:nvSpPr>
        <p:spPr>
          <a:xfrm>
            <a:off x="685800" y="4400640"/>
            <a:ext cx="54858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Three key conclusions. The most important: trajectory-aware strategy selection is not just a technical elaboration — it produces qualitatively different and better responses. Future work: a real user study with Nigerian participants would make this even stronger.</a:t>
            </a:r>
            <a:endParaRPr b="0" sz="2000" u="none" strike="noStrike">
              <a:solidFill>
                <a:srgbClr val="000000"/>
              </a:solidFill>
              <a:latin typeface="Arial"/>
              <a:ea typeface="Arial"/>
              <a:cs typeface="Arial"/>
              <a:sym typeface="Arial"/>
            </a:endParaRPr>
          </a:p>
        </p:txBody>
      </p:sp>
      <p:sp>
        <p:nvSpPr>
          <p:cNvPr id="370" name="Google Shape;370;g3eaf6faebf0_1_144:notes"/>
          <p:cNvSpPr txBox="1"/>
          <p:nvPr>
            <p:ph idx="12" type="sldNum"/>
          </p:nvPr>
        </p:nvSpPr>
        <p:spPr>
          <a:xfrm>
            <a:off x="3884760" y="8685360"/>
            <a:ext cx="2971200" cy="4578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685800" y="1143000"/>
            <a:ext cx="5485680" cy="30855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3:notes"/>
          <p:cNvSpPr txBox="1"/>
          <p:nvPr>
            <p:ph idx="1" type="body"/>
          </p:nvPr>
        </p:nvSpPr>
        <p:spPr>
          <a:xfrm>
            <a:off x="685800" y="4400640"/>
            <a:ext cx="5485680" cy="359964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2000"/>
              <a:buFont typeface="Arial"/>
              <a:buNone/>
            </a:pPr>
            <a:r>
              <a:rPr b="0" lang="en-US" sz="2000" u="none" strike="noStrike">
                <a:solidFill>
                  <a:srgbClr val="000000"/>
                </a:solidFill>
                <a:latin typeface="Arial"/>
                <a:ea typeface="Arial"/>
                <a:cs typeface="Arial"/>
                <a:sym typeface="Arial"/>
              </a:rPr>
              <a:t>Open the floor to questions. Key topics they might ask about: why 77% and not higher, what about clinical validation, how does the trend analyser handle very short conversations.</a:t>
            </a:r>
            <a:endParaRPr b="0" sz="2000" u="none" strike="noStrike">
              <a:solidFill>
                <a:srgbClr val="000000"/>
              </a:solidFill>
              <a:latin typeface="Arial"/>
              <a:ea typeface="Arial"/>
              <a:cs typeface="Arial"/>
              <a:sym typeface="Arial"/>
            </a:endParaRPr>
          </a:p>
        </p:txBody>
      </p:sp>
      <p:sp>
        <p:nvSpPr>
          <p:cNvPr id="379" name="Google Shape;379;p13:notes"/>
          <p:cNvSpPr txBox="1"/>
          <p:nvPr>
            <p:ph idx="12" type="sldNum"/>
          </p:nvPr>
        </p:nvSpPr>
        <p:spPr>
          <a:xfrm>
            <a:off x="3884760" y="8685360"/>
            <a:ext cx="2971080" cy="45792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fld id="{00000000-1234-1234-1234-123412341234}" type="slidenum">
              <a:rPr b="0" lang="en-US" sz="1200" u="none" strike="noStrike">
                <a:solidFill>
                  <a:schemeClr val="dk1"/>
                </a:solidFill>
                <a:latin typeface="Arial"/>
                <a:ea typeface="Arial"/>
                <a:cs typeface="Arial"/>
                <a:sym typeface="Arial"/>
              </a:rPr>
              <a:t>‹#›</a:t>
            </a:fld>
            <a:endParaRPr b="0" sz="1200" u="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title">
  <p:cSld name="TITLE">
    <p:spTree>
      <p:nvGrpSpPr>
        <p:cNvPr id="12" name="Shape 12"/>
        <p:cNvGrpSpPr/>
        <p:nvPr/>
      </p:nvGrpSpPr>
      <p:grpSpPr>
        <a:xfrm>
          <a:off x="0" y="0"/>
          <a:ext cx="0" cy="0"/>
          <a:chOff x="0" y="0"/>
          <a:chExt cx="0" cy="0"/>
        </a:xfrm>
      </p:grpSpPr>
      <p:sp>
        <p:nvSpPr>
          <p:cNvPr id="13" name="Google Shape;13;p2"/>
          <p:cNvSpPr txBox="1"/>
          <p:nvPr>
            <p:ph type="title"/>
          </p:nvPr>
        </p:nvSpPr>
        <p:spPr>
          <a:xfrm>
            <a:off x="457200" y="205200"/>
            <a:ext cx="8229240" cy="858600"/>
          </a:xfrm>
          <a:prstGeom prst="rect">
            <a:avLst/>
          </a:prstGeom>
          <a:noFill/>
          <a:ln>
            <a:noFill/>
          </a:ln>
        </p:spPr>
        <p:txBody>
          <a:bodyPr anchorCtr="0" anchor="ctr" bIns="0" lIns="0" spcFirstLastPara="1" rIns="0" wrap="square" tIns="0">
            <a:sp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spAutoFit/>
          </a:bodyPr>
          <a:lstStyle>
            <a:lvl1pPr lvl="0" algn="l">
              <a:spcBef>
                <a:spcPts val="1417"/>
              </a:spcBef>
              <a:spcAft>
                <a:spcPts val="0"/>
              </a:spcAft>
              <a:buSzPts val="810"/>
              <a:buChar char="●"/>
              <a:defRPr/>
            </a:lvl1pPr>
            <a:lvl2pPr lvl="1" algn="l">
              <a:spcBef>
                <a:spcPts val="1134"/>
              </a:spcBef>
              <a:spcAft>
                <a:spcPts val="0"/>
              </a:spcAft>
              <a:buSzPts val="1350"/>
              <a:buChar char="−"/>
              <a:defRPr/>
            </a:lvl2pPr>
            <a:lvl3pPr lvl="2" algn="l">
              <a:spcBef>
                <a:spcPts val="850"/>
              </a:spcBef>
              <a:spcAft>
                <a:spcPts val="0"/>
              </a:spcAft>
              <a:buSzPts val="810"/>
              <a:buChar char="●"/>
              <a:defRPr/>
            </a:lvl3pPr>
            <a:lvl4pPr lvl="3" algn="l">
              <a:spcBef>
                <a:spcPts val="567"/>
              </a:spcBef>
              <a:spcAft>
                <a:spcPts val="0"/>
              </a:spcAft>
              <a:buSzPts val="1350"/>
              <a:buChar char="−"/>
              <a:defRPr/>
            </a:lvl4pPr>
            <a:lvl5pPr lvl="4" algn="l">
              <a:spcBef>
                <a:spcPts val="283"/>
              </a:spcBef>
              <a:spcAft>
                <a:spcPts val="0"/>
              </a:spcAft>
              <a:buSzPts val="810"/>
              <a:buChar char="●"/>
              <a:defRPr/>
            </a:lvl5pPr>
            <a:lvl6pPr lvl="5" algn="l">
              <a:spcBef>
                <a:spcPts val="283"/>
              </a:spcBef>
              <a:spcAft>
                <a:spcPts val="0"/>
              </a:spcAft>
              <a:buSzPts val="810"/>
              <a:buChar char="●"/>
              <a:defRPr/>
            </a:lvl6pPr>
            <a:lvl7pPr lvl="6" algn="l">
              <a:spcBef>
                <a:spcPts val="283"/>
              </a:spcBef>
              <a:spcAft>
                <a:spcPts val="0"/>
              </a:spcAft>
              <a:buSzPts val="810"/>
              <a:buChar char="●"/>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type="blank">
  <p:cSld name="BLANK">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05200"/>
            <a:ext cx="8229240" cy="858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Clr>
                <a:schemeClr val="dk1"/>
              </a:buClr>
              <a:buSzPts val="1800"/>
              <a:buFont typeface="Calibri"/>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320040" lvl="0" marL="457200" marR="0" rtl="0" algn="l">
              <a:spcBef>
                <a:spcPts val="1417"/>
              </a:spcBef>
              <a:spcAft>
                <a:spcPts val="0"/>
              </a:spcAft>
              <a:buClr>
                <a:srgbClr val="000000"/>
              </a:buClr>
              <a:buSzPts val="1440"/>
              <a:buFont typeface="Noto Sans Symbols"/>
              <a:buChar char="●"/>
              <a:defRPr b="0" i="0" sz="3200" u="none" cap="none" strike="noStrike">
                <a:solidFill>
                  <a:schemeClr val="dk1"/>
                </a:solidFill>
                <a:latin typeface="Calibri"/>
                <a:ea typeface="Calibri"/>
                <a:cs typeface="Calibri"/>
                <a:sym typeface="Calibri"/>
              </a:defRPr>
            </a:lvl1pPr>
            <a:lvl2pPr indent="-342900" lvl="1" marL="914400" marR="0" rtl="0" algn="l">
              <a:spcBef>
                <a:spcPts val="1134"/>
              </a:spcBef>
              <a:spcAft>
                <a:spcPts val="0"/>
              </a:spcAft>
              <a:buClr>
                <a:srgbClr val="000000"/>
              </a:buClr>
              <a:buSzPts val="1800"/>
              <a:buFont typeface="Noto Sans Symbols"/>
              <a:buChar char="−"/>
              <a:defRPr b="0" i="0" sz="2400" u="none" cap="none" strike="noStrike">
                <a:solidFill>
                  <a:schemeClr val="dk1"/>
                </a:solidFill>
                <a:latin typeface="Calibri"/>
                <a:ea typeface="Calibri"/>
                <a:cs typeface="Calibri"/>
                <a:sym typeface="Calibri"/>
              </a:defRPr>
            </a:lvl2pPr>
            <a:lvl3pPr indent="-285750" lvl="2" marL="1371600" marR="0" rtl="0" algn="l">
              <a:spcBef>
                <a:spcPts val="850"/>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3pPr>
            <a:lvl4pPr indent="-323850" lvl="3" marL="1828800" marR="0" rtl="0" algn="l">
              <a:spcBef>
                <a:spcPts val="567"/>
              </a:spcBef>
              <a:spcAft>
                <a:spcPts val="0"/>
              </a:spcAft>
              <a:buClr>
                <a:srgbClr val="000000"/>
              </a:buClr>
              <a:buSzPts val="1500"/>
              <a:buFont typeface="Noto Sans Symbols"/>
              <a:buChar char="−"/>
              <a:defRPr b="0" i="0" sz="2000" u="none" cap="none" strike="noStrike">
                <a:solidFill>
                  <a:schemeClr val="dk1"/>
                </a:solidFill>
                <a:latin typeface="Calibri"/>
                <a:ea typeface="Calibri"/>
                <a:cs typeface="Calibri"/>
                <a:sym typeface="Calibri"/>
              </a:defRPr>
            </a:lvl4pPr>
            <a:lvl5pPr indent="-285750" lvl="4" marL="22860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5pPr>
            <a:lvl6pPr indent="-285750" lvl="5" marL="27432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6pPr>
            <a:lvl7pPr indent="-285750" lvl="6" marL="3200400" marR="0" rtl="0" algn="l">
              <a:spcBef>
                <a:spcPts val="283"/>
              </a:spcBef>
              <a:spcAft>
                <a:spcPts val="0"/>
              </a:spcAft>
              <a:buClr>
                <a:srgbClr val="000000"/>
              </a:buClr>
              <a:buSzPts val="900"/>
              <a:buFont typeface="Noto Sans Symbols"/>
              <a:buChar char="●"/>
              <a:defRPr b="0" i="0" sz="20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0" name="Shape 20"/>
        <p:cNvGrpSpPr/>
        <p:nvPr/>
      </p:nvGrpSpPr>
      <p:grpSpPr>
        <a:xfrm>
          <a:off x="0" y="0"/>
          <a:ext cx="0" cy="0"/>
          <a:chOff x="0" y="0"/>
          <a:chExt cx="0" cy="0"/>
        </a:xfrm>
      </p:grpSpPr>
      <p:sp>
        <p:nvSpPr>
          <p:cNvPr id="21" name="Google Shape;21;p4"/>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 name="Google Shape;22;p4"/>
          <p:cNvSpPr/>
          <p:nvPr/>
        </p:nvSpPr>
        <p:spPr>
          <a:xfrm>
            <a:off x="538075" y="722475"/>
            <a:ext cx="822900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100" u="none" strike="noStrike">
                <a:solidFill>
                  <a:srgbClr val="22A89A"/>
                </a:solidFill>
                <a:latin typeface="Calibri"/>
                <a:ea typeface="Calibri"/>
                <a:cs typeface="Calibri"/>
                <a:sym typeface="Calibri"/>
              </a:rPr>
              <a:t>LANDMARK UNIVERSITY, OMU-ARAN</a:t>
            </a:r>
            <a:endParaRPr b="0" sz="1100" u="none" strike="noStrike">
              <a:solidFill>
                <a:srgbClr val="FFFFFF"/>
              </a:solidFill>
              <a:latin typeface="Arial"/>
              <a:ea typeface="Arial"/>
              <a:cs typeface="Arial"/>
              <a:sym typeface="Arial"/>
            </a:endParaRPr>
          </a:p>
        </p:txBody>
      </p:sp>
      <p:sp>
        <p:nvSpPr>
          <p:cNvPr id="23" name="Google Shape;23;p4"/>
          <p:cNvSpPr/>
          <p:nvPr/>
        </p:nvSpPr>
        <p:spPr>
          <a:xfrm>
            <a:off x="457200" y="1115635"/>
            <a:ext cx="8229000" cy="22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100" u="none" strike="noStrike">
                <a:solidFill>
                  <a:srgbClr val="8E99A4"/>
                </a:solidFill>
                <a:latin typeface="Calibri"/>
                <a:ea typeface="Calibri"/>
                <a:cs typeface="Calibri"/>
                <a:sym typeface="Calibri"/>
              </a:rPr>
              <a:t>DEPARTMENT OF COMPUTER SCIENCE</a:t>
            </a:r>
            <a:endParaRPr b="0" sz="1100" u="none" strike="noStrike">
              <a:solidFill>
                <a:srgbClr val="FFFFFF"/>
              </a:solidFill>
              <a:latin typeface="Arial"/>
              <a:ea typeface="Arial"/>
              <a:cs typeface="Arial"/>
              <a:sym typeface="Arial"/>
            </a:endParaRPr>
          </a:p>
        </p:txBody>
      </p:sp>
      <p:sp>
        <p:nvSpPr>
          <p:cNvPr id="24" name="Google Shape;24;p4"/>
          <p:cNvSpPr/>
          <p:nvPr/>
        </p:nvSpPr>
        <p:spPr>
          <a:xfrm>
            <a:off x="457200" y="1828800"/>
            <a:ext cx="822888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2400" u="none" strike="noStrike">
                <a:solidFill>
                  <a:srgbClr val="22A89A"/>
                </a:solidFill>
                <a:latin typeface="Calibri"/>
                <a:ea typeface="Calibri"/>
                <a:cs typeface="Calibri"/>
                <a:sym typeface="Calibri"/>
              </a:rPr>
              <a:t>Affective Intelligent Dialogue Agent</a:t>
            </a:r>
            <a:endParaRPr b="0" sz="2400" u="none" strike="noStrike">
              <a:solidFill>
                <a:srgbClr val="FFFFFF"/>
              </a:solidFill>
              <a:latin typeface="Arial"/>
              <a:ea typeface="Arial"/>
              <a:cs typeface="Arial"/>
              <a:sym typeface="Arial"/>
            </a:endParaRPr>
          </a:p>
        </p:txBody>
      </p:sp>
      <p:sp>
        <p:nvSpPr>
          <p:cNvPr id="25" name="Google Shape;25;p4"/>
          <p:cNvSpPr/>
          <p:nvPr/>
        </p:nvSpPr>
        <p:spPr>
          <a:xfrm>
            <a:off x="457200" y="2286000"/>
            <a:ext cx="822888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2000" u="none" strike="noStrike">
                <a:solidFill>
                  <a:srgbClr val="D6DDE3"/>
                </a:solidFill>
                <a:latin typeface="Calibri"/>
                <a:ea typeface="Calibri"/>
                <a:cs typeface="Calibri"/>
                <a:sym typeface="Calibri"/>
              </a:rPr>
              <a:t>for Preliminary Mental Health Intervention</a:t>
            </a:r>
            <a:endParaRPr b="0" sz="2000" u="none" strike="noStrike">
              <a:solidFill>
                <a:srgbClr val="FFFFFF"/>
              </a:solidFill>
              <a:latin typeface="Arial"/>
              <a:ea typeface="Arial"/>
              <a:cs typeface="Arial"/>
              <a:sym typeface="Arial"/>
            </a:endParaRPr>
          </a:p>
        </p:txBody>
      </p:sp>
      <p:sp>
        <p:nvSpPr>
          <p:cNvPr id="26" name="Google Shape;26;p4"/>
          <p:cNvSpPr/>
          <p:nvPr/>
        </p:nvSpPr>
        <p:spPr>
          <a:xfrm>
            <a:off x="3200400" y="281628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7" name="Google Shape;27;p4"/>
          <p:cNvSpPr/>
          <p:nvPr/>
        </p:nvSpPr>
        <p:spPr>
          <a:xfrm>
            <a:off x="457200" y="2999160"/>
            <a:ext cx="8228880" cy="2919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300" u="none" strike="noStrike">
                <a:solidFill>
                  <a:srgbClr val="FFFFFF"/>
                </a:solidFill>
                <a:latin typeface="Calibri"/>
                <a:ea typeface="Calibri"/>
                <a:cs typeface="Calibri"/>
                <a:sym typeface="Calibri"/>
              </a:rPr>
              <a:t>EMEKA, YOHANAN KAMSI</a:t>
            </a:r>
            <a:endParaRPr b="0" sz="1300" u="none" strike="noStrike">
              <a:solidFill>
                <a:srgbClr val="FFFFFF"/>
              </a:solidFill>
              <a:latin typeface="Arial"/>
              <a:ea typeface="Arial"/>
              <a:cs typeface="Arial"/>
              <a:sym typeface="Arial"/>
            </a:endParaRPr>
          </a:p>
        </p:txBody>
      </p:sp>
      <p:sp>
        <p:nvSpPr>
          <p:cNvPr id="28" name="Google Shape;28;p4"/>
          <p:cNvSpPr/>
          <p:nvPr/>
        </p:nvSpPr>
        <p:spPr>
          <a:xfrm>
            <a:off x="0" y="4023375"/>
            <a:ext cx="9143400" cy="1119300"/>
          </a:xfrm>
          <a:prstGeom prst="rect">
            <a:avLst/>
          </a:prstGeom>
          <a:solidFill>
            <a:srgbClr val="091320"/>
          </a:solidFill>
          <a:ln cap="flat" cmpd="sng" w="12600">
            <a:solidFill>
              <a:srgbClr val="09132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9" name="Google Shape;29;p4"/>
          <p:cNvSpPr/>
          <p:nvPr/>
        </p:nvSpPr>
        <p:spPr>
          <a:xfrm>
            <a:off x="457200" y="3959313"/>
            <a:ext cx="8229000" cy="11607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1600" u="none" strike="noStrike">
                <a:solidFill>
                  <a:srgbClr val="8E99A4"/>
                </a:solidFill>
                <a:latin typeface="Calibri"/>
                <a:ea typeface="Calibri"/>
                <a:cs typeface="Calibri"/>
                <a:sym typeface="Calibri"/>
              </a:rPr>
              <a:t>Supervisor: </a:t>
            </a:r>
            <a:r>
              <a:rPr lang="en-US" sz="1600">
                <a:solidFill>
                  <a:srgbClr val="8E99A4"/>
                </a:solidFill>
                <a:latin typeface="Calibri"/>
                <a:ea typeface="Calibri"/>
                <a:cs typeface="Calibri"/>
                <a:sym typeface="Calibri"/>
              </a:rPr>
              <a:t>Dr. DOLA OLAWOYE</a:t>
            </a:r>
            <a:endParaRPr b="0" sz="1600" u="none" strike="noStrike">
              <a:solidFill>
                <a:srgbClr val="FFFFFF"/>
              </a:solidFill>
              <a:latin typeface="Arial"/>
              <a:ea typeface="Arial"/>
              <a:cs typeface="Arial"/>
              <a:sym typeface="Arial"/>
            </a:endParaRPr>
          </a:p>
        </p:txBody>
      </p:sp>
      <p:pic>
        <p:nvPicPr>
          <p:cNvPr id="30" name="Google Shape;30;p4"/>
          <p:cNvPicPr preferRelativeResize="0"/>
          <p:nvPr/>
        </p:nvPicPr>
        <p:blipFill>
          <a:blip r:embed="rId3">
            <a:alphaModFix/>
          </a:blip>
          <a:stretch>
            <a:fillRect/>
          </a:stretch>
        </p:blipFill>
        <p:spPr>
          <a:xfrm>
            <a:off x="315838" y="1115625"/>
            <a:ext cx="1952625" cy="2200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5" name="Shape 35"/>
        <p:cNvGrpSpPr/>
        <p:nvPr/>
      </p:nvGrpSpPr>
      <p:grpSpPr>
        <a:xfrm>
          <a:off x="0" y="0"/>
          <a:ext cx="0" cy="0"/>
          <a:chOff x="0" y="0"/>
          <a:chExt cx="0" cy="0"/>
        </a:xfrm>
      </p:grpSpPr>
      <p:sp>
        <p:nvSpPr>
          <p:cNvPr id="36" name="Google Shape;36;p5"/>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OUTLINE</a:t>
            </a:r>
            <a:endParaRPr b="0" sz="2800" u="none" strike="noStrike">
              <a:solidFill>
                <a:srgbClr val="000000"/>
              </a:solidFill>
              <a:latin typeface="Arial"/>
              <a:ea typeface="Arial"/>
              <a:cs typeface="Arial"/>
              <a:sym typeface="Arial"/>
            </a:endParaRPr>
          </a:p>
        </p:txBody>
      </p:sp>
      <p:sp>
        <p:nvSpPr>
          <p:cNvPr id="37" name="Google Shape;37;p5"/>
          <p:cNvSpPr/>
          <p:nvPr/>
        </p:nvSpPr>
        <p:spPr>
          <a:xfrm>
            <a:off x="457200" y="96012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 name="Google Shape;38;p5"/>
          <p:cNvSpPr/>
          <p:nvPr/>
        </p:nvSpPr>
        <p:spPr>
          <a:xfrm>
            <a:off x="567000" y="111564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9" name="Google Shape;39;p5"/>
          <p:cNvSpPr/>
          <p:nvPr/>
        </p:nvSpPr>
        <p:spPr>
          <a:xfrm>
            <a:off x="567000" y="111564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01</a:t>
            </a:r>
            <a:endParaRPr b="0" sz="1100" u="none" strike="noStrike">
              <a:solidFill>
                <a:srgbClr val="000000"/>
              </a:solidFill>
              <a:latin typeface="Arial"/>
              <a:ea typeface="Arial"/>
              <a:cs typeface="Arial"/>
              <a:sym typeface="Arial"/>
            </a:endParaRPr>
          </a:p>
        </p:txBody>
      </p:sp>
      <p:sp>
        <p:nvSpPr>
          <p:cNvPr id="40" name="Google Shape;40;p5"/>
          <p:cNvSpPr/>
          <p:nvPr/>
        </p:nvSpPr>
        <p:spPr>
          <a:xfrm>
            <a:off x="1115640" y="110628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Introduction and Problem Statement</a:t>
            </a:r>
            <a:endParaRPr b="0" sz="1300" u="none" strike="noStrike">
              <a:solidFill>
                <a:srgbClr val="000000"/>
              </a:solidFill>
              <a:latin typeface="Arial"/>
              <a:ea typeface="Arial"/>
              <a:cs typeface="Arial"/>
              <a:sym typeface="Arial"/>
            </a:endParaRPr>
          </a:p>
        </p:txBody>
      </p:sp>
      <p:sp>
        <p:nvSpPr>
          <p:cNvPr id="41" name="Google Shape;41;p5"/>
          <p:cNvSpPr/>
          <p:nvPr/>
        </p:nvSpPr>
        <p:spPr>
          <a:xfrm>
            <a:off x="457200" y="184716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2" name="Google Shape;42;p5"/>
          <p:cNvSpPr/>
          <p:nvPr/>
        </p:nvSpPr>
        <p:spPr>
          <a:xfrm>
            <a:off x="567000" y="200268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3" name="Google Shape;43;p5"/>
          <p:cNvSpPr/>
          <p:nvPr/>
        </p:nvSpPr>
        <p:spPr>
          <a:xfrm>
            <a:off x="567000" y="200268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02</a:t>
            </a:r>
            <a:endParaRPr b="0" sz="1100" u="none" strike="noStrike">
              <a:solidFill>
                <a:srgbClr val="000000"/>
              </a:solidFill>
              <a:latin typeface="Arial"/>
              <a:ea typeface="Arial"/>
              <a:cs typeface="Arial"/>
              <a:sym typeface="Arial"/>
            </a:endParaRPr>
          </a:p>
        </p:txBody>
      </p:sp>
      <p:sp>
        <p:nvSpPr>
          <p:cNvPr id="44" name="Google Shape;44;p5"/>
          <p:cNvSpPr/>
          <p:nvPr/>
        </p:nvSpPr>
        <p:spPr>
          <a:xfrm>
            <a:off x="1115640" y="199332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Aim &amp; Objectives</a:t>
            </a:r>
            <a:endParaRPr b="0" sz="1300" u="none" strike="noStrike">
              <a:solidFill>
                <a:srgbClr val="000000"/>
              </a:solidFill>
              <a:latin typeface="Arial"/>
              <a:ea typeface="Arial"/>
              <a:cs typeface="Arial"/>
              <a:sym typeface="Arial"/>
            </a:endParaRPr>
          </a:p>
        </p:txBody>
      </p:sp>
      <p:sp>
        <p:nvSpPr>
          <p:cNvPr id="45" name="Google Shape;45;p5"/>
          <p:cNvSpPr/>
          <p:nvPr/>
        </p:nvSpPr>
        <p:spPr>
          <a:xfrm>
            <a:off x="457200" y="273420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46" name="Google Shape;46;p5"/>
          <p:cNvSpPr/>
          <p:nvPr/>
        </p:nvSpPr>
        <p:spPr>
          <a:xfrm>
            <a:off x="567000" y="288936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47" name="Google Shape;47;p5"/>
          <p:cNvSpPr/>
          <p:nvPr/>
        </p:nvSpPr>
        <p:spPr>
          <a:xfrm>
            <a:off x="567000" y="288936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03</a:t>
            </a:r>
            <a:endParaRPr b="0" sz="1100" u="none" strike="noStrike">
              <a:solidFill>
                <a:srgbClr val="000000"/>
              </a:solidFill>
              <a:latin typeface="Arial"/>
              <a:ea typeface="Arial"/>
              <a:cs typeface="Arial"/>
              <a:sym typeface="Arial"/>
            </a:endParaRPr>
          </a:p>
        </p:txBody>
      </p:sp>
      <p:sp>
        <p:nvSpPr>
          <p:cNvPr id="48" name="Google Shape;48;p5"/>
          <p:cNvSpPr/>
          <p:nvPr/>
        </p:nvSpPr>
        <p:spPr>
          <a:xfrm>
            <a:off x="1115640" y="288036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Literature Review</a:t>
            </a:r>
            <a:endParaRPr b="0" sz="1300" u="none" strike="noStrike">
              <a:solidFill>
                <a:srgbClr val="000000"/>
              </a:solidFill>
              <a:latin typeface="Arial"/>
              <a:ea typeface="Arial"/>
              <a:cs typeface="Arial"/>
              <a:sym typeface="Arial"/>
            </a:endParaRPr>
          </a:p>
        </p:txBody>
      </p:sp>
      <p:sp>
        <p:nvSpPr>
          <p:cNvPr id="49" name="Google Shape;49;p5"/>
          <p:cNvSpPr/>
          <p:nvPr/>
        </p:nvSpPr>
        <p:spPr>
          <a:xfrm>
            <a:off x="457200" y="362088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0" name="Google Shape;50;p5"/>
          <p:cNvSpPr/>
          <p:nvPr/>
        </p:nvSpPr>
        <p:spPr>
          <a:xfrm>
            <a:off x="567000" y="377640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1" name="Google Shape;51;p5"/>
          <p:cNvSpPr/>
          <p:nvPr/>
        </p:nvSpPr>
        <p:spPr>
          <a:xfrm>
            <a:off x="567000" y="377640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04</a:t>
            </a:r>
            <a:endParaRPr b="0" sz="1100" u="none" strike="noStrike">
              <a:solidFill>
                <a:srgbClr val="000000"/>
              </a:solidFill>
              <a:latin typeface="Arial"/>
              <a:ea typeface="Arial"/>
              <a:cs typeface="Arial"/>
              <a:sym typeface="Arial"/>
            </a:endParaRPr>
          </a:p>
        </p:txBody>
      </p:sp>
      <p:sp>
        <p:nvSpPr>
          <p:cNvPr id="52" name="Google Shape;52;p5"/>
          <p:cNvSpPr/>
          <p:nvPr/>
        </p:nvSpPr>
        <p:spPr>
          <a:xfrm>
            <a:off x="1115640" y="376740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Methodology: AEIF Framework</a:t>
            </a:r>
            <a:endParaRPr b="0" sz="1300" u="none" strike="noStrike">
              <a:solidFill>
                <a:srgbClr val="000000"/>
              </a:solidFill>
              <a:latin typeface="Arial"/>
              <a:ea typeface="Arial"/>
              <a:cs typeface="Arial"/>
              <a:sym typeface="Arial"/>
            </a:endParaRPr>
          </a:p>
        </p:txBody>
      </p:sp>
      <p:sp>
        <p:nvSpPr>
          <p:cNvPr id="53" name="Google Shape;53;p5"/>
          <p:cNvSpPr/>
          <p:nvPr/>
        </p:nvSpPr>
        <p:spPr>
          <a:xfrm>
            <a:off x="4892040" y="96012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4" name="Google Shape;54;p5"/>
          <p:cNvSpPr/>
          <p:nvPr/>
        </p:nvSpPr>
        <p:spPr>
          <a:xfrm>
            <a:off x="5001840" y="111564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5" name="Google Shape;55;p5"/>
          <p:cNvSpPr/>
          <p:nvPr/>
        </p:nvSpPr>
        <p:spPr>
          <a:xfrm>
            <a:off x="5001840" y="111564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05</a:t>
            </a:r>
            <a:endParaRPr b="0" sz="1100" u="none" strike="noStrike">
              <a:solidFill>
                <a:srgbClr val="000000"/>
              </a:solidFill>
              <a:latin typeface="Arial"/>
              <a:ea typeface="Arial"/>
              <a:cs typeface="Arial"/>
              <a:sym typeface="Arial"/>
            </a:endParaRPr>
          </a:p>
        </p:txBody>
      </p:sp>
      <p:sp>
        <p:nvSpPr>
          <p:cNvPr id="56" name="Google Shape;56;p5"/>
          <p:cNvSpPr/>
          <p:nvPr/>
        </p:nvSpPr>
        <p:spPr>
          <a:xfrm>
            <a:off x="5550480" y="110628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Emotion Classification</a:t>
            </a:r>
            <a:endParaRPr b="0" sz="1300" u="none" strike="noStrike">
              <a:solidFill>
                <a:srgbClr val="000000"/>
              </a:solidFill>
              <a:latin typeface="Arial"/>
              <a:ea typeface="Arial"/>
              <a:cs typeface="Arial"/>
              <a:sym typeface="Arial"/>
            </a:endParaRPr>
          </a:p>
        </p:txBody>
      </p:sp>
      <p:sp>
        <p:nvSpPr>
          <p:cNvPr id="57" name="Google Shape;57;p5"/>
          <p:cNvSpPr/>
          <p:nvPr/>
        </p:nvSpPr>
        <p:spPr>
          <a:xfrm>
            <a:off x="4892040" y="184716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58" name="Google Shape;58;p5"/>
          <p:cNvSpPr/>
          <p:nvPr/>
        </p:nvSpPr>
        <p:spPr>
          <a:xfrm>
            <a:off x="5001840" y="200268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59" name="Google Shape;59;p5"/>
          <p:cNvSpPr/>
          <p:nvPr/>
        </p:nvSpPr>
        <p:spPr>
          <a:xfrm>
            <a:off x="5001840" y="200268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06</a:t>
            </a:r>
            <a:endParaRPr b="0" sz="1100" u="none" strike="noStrike">
              <a:solidFill>
                <a:srgbClr val="000000"/>
              </a:solidFill>
              <a:latin typeface="Arial"/>
              <a:ea typeface="Arial"/>
              <a:cs typeface="Arial"/>
              <a:sym typeface="Arial"/>
            </a:endParaRPr>
          </a:p>
        </p:txBody>
      </p:sp>
      <p:sp>
        <p:nvSpPr>
          <p:cNvPr id="60" name="Google Shape;60;p5"/>
          <p:cNvSpPr/>
          <p:nvPr/>
        </p:nvSpPr>
        <p:spPr>
          <a:xfrm>
            <a:off x="5550480" y="199332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Trend analysis and Strategy Selection</a:t>
            </a:r>
            <a:endParaRPr b="0" sz="1300" u="none" strike="noStrike">
              <a:solidFill>
                <a:srgbClr val="000000"/>
              </a:solidFill>
              <a:latin typeface="Arial"/>
              <a:ea typeface="Arial"/>
              <a:cs typeface="Arial"/>
              <a:sym typeface="Arial"/>
            </a:endParaRPr>
          </a:p>
        </p:txBody>
      </p:sp>
      <p:sp>
        <p:nvSpPr>
          <p:cNvPr id="61" name="Google Shape;61;p5"/>
          <p:cNvSpPr/>
          <p:nvPr/>
        </p:nvSpPr>
        <p:spPr>
          <a:xfrm>
            <a:off x="4892040" y="273420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2" name="Google Shape;62;p5"/>
          <p:cNvSpPr/>
          <p:nvPr/>
        </p:nvSpPr>
        <p:spPr>
          <a:xfrm>
            <a:off x="5001840" y="288936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3" name="Google Shape;63;p5"/>
          <p:cNvSpPr/>
          <p:nvPr/>
        </p:nvSpPr>
        <p:spPr>
          <a:xfrm>
            <a:off x="5001840" y="288936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07</a:t>
            </a:r>
            <a:endParaRPr b="0" sz="1100" u="none" strike="noStrike">
              <a:solidFill>
                <a:srgbClr val="000000"/>
              </a:solidFill>
              <a:latin typeface="Arial"/>
              <a:ea typeface="Arial"/>
              <a:cs typeface="Arial"/>
              <a:sym typeface="Arial"/>
            </a:endParaRPr>
          </a:p>
        </p:txBody>
      </p:sp>
      <p:sp>
        <p:nvSpPr>
          <p:cNvPr id="64" name="Google Shape;64;p5"/>
          <p:cNvSpPr/>
          <p:nvPr/>
        </p:nvSpPr>
        <p:spPr>
          <a:xfrm>
            <a:off x="5550480" y="288036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300">
                <a:solidFill>
                  <a:srgbClr val="0D1B2A"/>
                </a:solidFill>
                <a:latin typeface="Calibri"/>
                <a:ea typeface="Calibri"/>
                <a:cs typeface="Calibri"/>
                <a:sym typeface="Calibri"/>
              </a:rPr>
              <a:t>Evaluation Results</a:t>
            </a:r>
            <a:endParaRPr b="0" sz="1300" u="none" strike="noStrike">
              <a:solidFill>
                <a:srgbClr val="000000"/>
              </a:solidFill>
              <a:latin typeface="Arial"/>
              <a:ea typeface="Arial"/>
              <a:cs typeface="Arial"/>
              <a:sym typeface="Arial"/>
            </a:endParaRPr>
          </a:p>
        </p:txBody>
      </p:sp>
      <p:sp>
        <p:nvSpPr>
          <p:cNvPr id="65" name="Google Shape;65;p5"/>
          <p:cNvSpPr/>
          <p:nvPr/>
        </p:nvSpPr>
        <p:spPr>
          <a:xfrm>
            <a:off x="4892040" y="3620880"/>
            <a:ext cx="4159800" cy="730800"/>
          </a:xfrm>
          <a:prstGeom prst="roundRect">
            <a:avLst>
              <a:gd fmla="val 1000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66" name="Google Shape;66;p5"/>
          <p:cNvSpPr/>
          <p:nvPr/>
        </p:nvSpPr>
        <p:spPr>
          <a:xfrm>
            <a:off x="5001840" y="3776400"/>
            <a:ext cx="419760" cy="419760"/>
          </a:xfrm>
          <a:prstGeom prst="ellipse">
            <a:avLst/>
          </a:prstGeom>
          <a:solidFill>
            <a:srgbClr val="1B6B6B"/>
          </a:solidFill>
          <a:ln cap="flat" cmpd="sng" w="12600">
            <a:solidFill>
              <a:srgbClr val="1B6B6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67" name="Google Shape;67;p5"/>
          <p:cNvSpPr/>
          <p:nvPr/>
        </p:nvSpPr>
        <p:spPr>
          <a:xfrm>
            <a:off x="5001840" y="3776400"/>
            <a:ext cx="419760" cy="41976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FFFFFF"/>
                </a:solidFill>
                <a:latin typeface="Calibri"/>
                <a:ea typeface="Calibri"/>
                <a:cs typeface="Calibri"/>
                <a:sym typeface="Calibri"/>
              </a:rPr>
              <a:t>08</a:t>
            </a:r>
            <a:endParaRPr b="0" sz="1100" u="none" strike="noStrike">
              <a:solidFill>
                <a:srgbClr val="000000"/>
              </a:solidFill>
              <a:latin typeface="Arial"/>
              <a:ea typeface="Arial"/>
              <a:cs typeface="Arial"/>
              <a:sym typeface="Arial"/>
            </a:endParaRPr>
          </a:p>
        </p:txBody>
      </p:sp>
      <p:sp>
        <p:nvSpPr>
          <p:cNvPr id="68" name="Google Shape;68;p5"/>
          <p:cNvSpPr/>
          <p:nvPr/>
        </p:nvSpPr>
        <p:spPr>
          <a:xfrm>
            <a:off x="5550480" y="3767400"/>
            <a:ext cx="3382560" cy="4381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300" u="none" strike="noStrike">
                <a:solidFill>
                  <a:srgbClr val="0D1B2A"/>
                </a:solidFill>
                <a:latin typeface="Calibri"/>
                <a:ea typeface="Calibri"/>
                <a:cs typeface="Calibri"/>
                <a:sym typeface="Calibri"/>
              </a:rPr>
              <a:t>Conclusion &amp; Future Work</a:t>
            </a:r>
            <a:endParaRPr b="0" sz="1300" u="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6"/>
          <p:cNvSpPr/>
          <p:nvPr/>
        </p:nvSpPr>
        <p:spPr>
          <a:xfrm>
            <a:off x="0" y="0"/>
            <a:ext cx="914328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5" name="Google Shape;75;p6"/>
          <p:cNvSpPr/>
          <p:nvPr/>
        </p:nvSpPr>
        <p:spPr>
          <a:xfrm>
            <a:off x="365760" y="118872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6" name="Google Shape;76;p6"/>
          <p:cNvSpPr/>
          <p:nvPr/>
        </p:nvSpPr>
        <p:spPr>
          <a:xfrm>
            <a:off x="365760" y="123444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1 in 4</a:t>
            </a:r>
            <a:endParaRPr b="0" sz="2800" u="none" strike="noStrike">
              <a:solidFill>
                <a:srgbClr val="000000"/>
              </a:solidFill>
              <a:latin typeface="Arial"/>
              <a:ea typeface="Arial"/>
              <a:cs typeface="Arial"/>
              <a:sym typeface="Arial"/>
            </a:endParaRPr>
          </a:p>
        </p:txBody>
      </p:sp>
      <p:sp>
        <p:nvSpPr>
          <p:cNvPr id="77" name="Google Shape;77;p6"/>
          <p:cNvSpPr/>
          <p:nvPr/>
        </p:nvSpPr>
        <p:spPr>
          <a:xfrm>
            <a:off x="365760" y="166428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Nigerians affected by a mental</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health condition (WHO)</a:t>
            </a:r>
            <a:endParaRPr b="0" sz="950" u="none" strike="noStrike">
              <a:solidFill>
                <a:srgbClr val="000000"/>
              </a:solidFill>
              <a:latin typeface="Arial"/>
              <a:ea typeface="Arial"/>
              <a:cs typeface="Arial"/>
              <a:sym typeface="Arial"/>
            </a:endParaRPr>
          </a:p>
        </p:txBody>
      </p:sp>
      <p:sp>
        <p:nvSpPr>
          <p:cNvPr id="78" name="Google Shape;78;p6"/>
          <p:cNvSpPr/>
          <p:nvPr/>
        </p:nvSpPr>
        <p:spPr>
          <a:xfrm>
            <a:off x="365760" y="228600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79" name="Google Shape;79;p6"/>
          <p:cNvSpPr/>
          <p:nvPr/>
        </p:nvSpPr>
        <p:spPr>
          <a:xfrm>
            <a:off x="365760" y="233172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&lt; 300</a:t>
            </a:r>
            <a:endParaRPr b="0" sz="2800" u="none" strike="noStrike">
              <a:solidFill>
                <a:srgbClr val="000000"/>
              </a:solidFill>
              <a:latin typeface="Arial"/>
              <a:ea typeface="Arial"/>
              <a:cs typeface="Arial"/>
              <a:sym typeface="Arial"/>
            </a:endParaRPr>
          </a:p>
        </p:txBody>
      </p:sp>
      <p:sp>
        <p:nvSpPr>
          <p:cNvPr id="80" name="Google Shape;80;p6"/>
          <p:cNvSpPr/>
          <p:nvPr/>
        </p:nvSpPr>
        <p:spPr>
          <a:xfrm>
            <a:off x="365760" y="276156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Psychiatrists for 200M+ population</a:t>
            </a:r>
            <a:endParaRPr b="0" sz="950" u="none" strike="noStrike">
              <a:solidFill>
                <a:srgbClr val="000000"/>
              </a:solidFill>
              <a:latin typeface="Arial"/>
              <a:ea typeface="Arial"/>
              <a:cs typeface="Arial"/>
              <a:sym typeface="Arial"/>
            </a:endParaRPr>
          </a:p>
        </p:txBody>
      </p:sp>
      <p:sp>
        <p:nvSpPr>
          <p:cNvPr id="81" name="Google Shape;81;p6"/>
          <p:cNvSpPr/>
          <p:nvPr/>
        </p:nvSpPr>
        <p:spPr>
          <a:xfrm>
            <a:off x="365760" y="3383280"/>
            <a:ext cx="2468160" cy="913680"/>
          </a:xfrm>
          <a:prstGeom prst="roundRect">
            <a:avLst>
              <a:gd fmla="val 10000" name="adj"/>
            </a:avLst>
          </a:prstGeom>
          <a:solidFill>
            <a:srgbClr val="0D1B2A"/>
          </a:solidFill>
          <a:ln cap="flat" cmpd="sng" w="12600">
            <a:solidFill>
              <a:srgbClr val="0D1B2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82" name="Google Shape;82;p6"/>
          <p:cNvSpPr/>
          <p:nvPr/>
        </p:nvSpPr>
        <p:spPr>
          <a:xfrm>
            <a:off x="365760" y="3429000"/>
            <a:ext cx="2468160" cy="4564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2800" u="none" strike="noStrike">
                <a:solidFill>
                  <a:srgbClr val="E8A838"/>
                </a:solidFill>
                <a:latin typeface="Cambria"/>
                <a:ea typeface="Cambria"/>
                <a:cs typeface="Cambria"/>
                <a:sym typeface="Cambria"/>
              </a:rPr>
              <a:t>&gt; 90%</a:t>
            </a:r>
            <a:endParaRPr b="0" sz="2800" u="none" strike="noStrike">
              <a:solidFill>
                <a:srgbClr val="000000"/>
              </a:solidFill>
              <a:latin typeface="Arial"/>
              <a:ea typeface="Arial"/>
              <a:cs typeface="Arial"/>
              <a:sym typeface="Arial"/>
            </a:endParaRPr>
          </a:p>
        </p:txBody>
      </p:sp>
      <p:sp>
        <p:nvSpPr>
          <p:cNvPr id="83" name="Google Shape;83;p6"/>
          <p:cNvSpPr/>
          <p:nvPr/>
        </p:nvSpPr>
        <p:spPr>
          <a:xfrm>
            <a:off x="365760" y="3858840"/>
            <a:ext cx="2468160" cy="38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Mental health treatment gap</a:t>
            </a:r>
            <a:endParaRPr b="0" sz="9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950" u="none" strike="noStrike">
                <a:solidFill>
                  <a:srgbClr val="D6DDE3"/>
                </a:solidFill>
                <a:latin typeface="Calibri"/>
                <a:ea typeface="Calibri"/>
                <a:cs typeface="Calibri"/>
                <a:sym typeface="Calibri"/>
              </a:rPr>
              <a:t>in sub-Saharan Africa</a:t>
            </a:r>
            <a:endParaRPr b="0" sz="950" u="none" strike="noStrike">
              <a:solidFill>
                <a:srgbClr val="000000"/>
              </a:solidFill>
              <a:latin typeface="Arial"/>
              <a:ea typeface="Arial"/>
              <a:cs typeface="Arial"/>
              <a:sym typeface="Arial"/>
            </a:endParaRPr>
          </a:p>
        </p:txBody>
      </p:sp>
      <p:sp>
        <p:nvSpPr>
          <p:cNvPr id="84" name="Google Shape;84;p6"/>
          <p:cNvSpPr/>
          <p:nvPr/>
        </p:nvSpPr>
        <p:spPr>
          <a:xfrm>
            <a:off x="3063240" y="1170360"/>
            <a:ext cx="5714400" cy="35472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85" name="Google Shape;85;p6"/>
          <p:cNvSpPr/>
          <p:nvPr/>
        </p:nvSpPr>
        <p:spPr>
          <a:xfrm>
            <a:off x="413275" y="213330"/>
            <a:ext cx="5394300" cy="6393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None/>
            </a:pPr>
            <a:r>
              <a:rPr b="1" lang="en-US" sz="1800">
                <a:solidFill>
                  <a:schemeClr val="lt1"/>
                </a:solidFill>
                <a:latin typeface="Calibri"/>
                <a:ea typeface="Calibri"/>
                <a:cs typeface="Calibri"/>
                <a:sym typeface="Calibri"/>
              </a:rPr>
              <a:t>INTRODUCTION</a:t>
            </a:r>
            <a:endParaRPr sz="2350">
              <a:solidFill>
                <a:srgbClr val="D6DDE3"/>
              </a:solidFill>
              <a:latin typeface="Calibri"/>
              <a:ea typeface="Calibri"/>
              <a:cs typeface="Calibri"/>
              <a:sym typeface="Calibri"/>
            </a:endParaRPr>
          </a:p>
        </p:txBody>
      </p:sp>
      <p:sp>
        <p:nvSpPr>
          <p:cNvPr id="86" name="Google Shape;86;p6"/>
          <p:cNvSpPr/>
          <p:nvPr/>
        </p:nvSpPr>
        <p:spPr>
          <a:xfrm>
            <a:off x="3246125" y="1338425"/>
            <a:ext cx="5348400" cy="31368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500">
                <a:solidFill>
                  <a:schemeClr val="dk1"/>
                </a:solidFill>
                <a:latin typeface="Calibri"/>
                <a:ea typeface="Calibri"/>
                <a:cs typeface="Calibri"/>
                <a:sym typeface="Calibri"/>
              </a:rPr>
              <a:t>Mental health disorders affect 1 in 8 people globally (WHO, 2022); in Nigeria, fewer than 10% of those affected access care.</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AI-powered chatbots (e.g. Woebot, Wysa, Tess) have shown efficacy in reducing depression and anxiety symptoms through CBT-aligned conversation</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Existing chatbots detect current emotion but lack trajectory awareness they cannot distinguish between transient distress and escalating crisis</a:t>
            </a:r>
            <a:endParaRPr sz="15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500">
                <a:solidFill>
                  <a:schemeClr val="dk1"/>
                </a:solidFill>
                <a:latin typeface="Calibri"/>
                <a:ea typeface="Calibri"/>
                <a:cs typeface="Calibri"/>
                <a:sym typeface="Calibri"/>
              </a:rPr>
              <a:t>AIDA addresses this gap through the Adaptive Emotion-Aware Intervention Framework (AEIF), a 6-layer pipeline that integrates emotion detection, trend analysis, and strategy selection.</a:t>
            </a:r>
            <a:endParaRPr sz="1500">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sz="1500">
              <a:solidFill>
                <a:srgbClr val="1B6B6B"/>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0" y="0"/>
            <a:ext cx="9143400" cy="9594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93" name="Google Shape;93;p7"/>
          <p:cNvSpPr/>
          <p:nvPr/>
        </p:nvSpPr>
        <p:spPr>
          <a:xfrm>
            <a:off x="457200" y="274320"/>
            <a:ext cx="8229000" cy="41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a:solidFill>
                  <a:srgbClr val="FFFFFF"/>
                </a:solidFill>
                <a:latin typeface="Calibri"/>
                <a:ea typeface="Calibri"/>
                <a:cs typeface="Calibri"/>
                <a:sym typeface="Calibri"/>
              </a:rPr>
              <a:t>STATEMENT OF PROBLEM</a:t>
            </a:r>
            <a:endParaRPr b="0" sz="1800" u="none" strike="noStrike">
              <a:solidFill>
                <a:srgbClr val="000000"/>
              </a:solidFill>
              <a:latin typeface="Arial"/>
              <a:ea typeface="Arial"/>
              <a:cs typeface="Arial"/>
              <a:sym typeface="Arial"/>
            </a:endParaRPr>
          </a:p>
        </p:txBody>
      </p:sp>
      <p:sp>
        <p:nvSpPr>
          <p:cNvPr id="94" name="Google Shape;94;p7"/>
          <p:cNvSpPr/>
          <p:nvPr/>
        </p:nvSpPr>
        <p:spPr>
          <a:xfrm>
            <a:off x="928915" y="1179800"/>
            <a:ext cx="7120200" cy="37854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95" name="Google Shape;95;p7"/>
          <p:cNvSpPr/>
          <p:nvPr/>
        </p:nvSpPr>
        <p:spPr>
          <a:xfrm>
            <a:off x="1152511" y="210510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Existing mental health chatbots detect a user’s current emotional state, but do not model emotional trajectory over time.</a:t>
            </a:r>
            <a:endParaRPr b="0" sz="1381" u="none" strike="noStrike">
              <a:solidFill>
                <a:srgbClr val="000000"/>
              </a:solidFill>
              <a:latin typeface="Arial"/>
              <a:ea typeface="Arial"/>
              <a:cs typeface="Arial"/>
              <a:sym typeface="Arial"/>
            </a:endParaRPr>
          </a:p>
        </p:txBody>
      </p:sp>
      <p:sp>
        <p:nvSpPr>
          <p:cNvPr id="96" name="Google Shape;96;p7"/>
          <p:cNvSpPr/>
          <p:nvPr/>
        </p:nvSpPr>
        <p:spPr>
          <a:xfrm>
            <a:off x="1152511" y="2793664"/>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Without trend awareness, chatbots can’t differentiate between a user who is persistently distressed and a user who is improving.</a:t>
            </a:r>
            <a:endParaRPr b="0" sz="1381" u="none" strike="noStrike">
              <a:solidFill>
                <a:srgbClr val="000000"/>
              </a:solidFill>
              <a:latin typeface="Arial"/>
              <a:ea typeface="Arial"/>
              <a:cs typeface="Arial"/>
              <a:sym typeface="Arial"/>
            </a:endParaRPr>
          </a:p>
        </p:txBody>
      </p:sp>
      <p:sp>
        <p:nvSpPr>
          <p:cNvPr id="97" name="Google Shape;97;p7"/>
          <p:cNvSpPr/>
          <p:nvPr/>
        </p:nvSpPr>
        <p:spPr>
          <a:xfrm>
            <a:off x="1152511" y="3447133"/>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b="0" lang="en-US" sz="1381" u="none" strike="noStrike">
                <a:solidFill>
                  <a:srgbClr val="0D1B2A"/>
                </a:solidFill>
                <a:latin typeface="Calibri"/>
                <a:ea typeface="Calibri"/>
                <a:cs typeface="Calibri"/>
                <a:sym typeface="Calibri"/>
              </a:rPr>
              <a:t>Nigerian Pidgin English is entirely absent from emotion classification datasets.</a:t>
            </a:r>
            <a:endParaRPr b="0" sz="1381" u="none" strike="noStrike">
              <a:solidFill>
                <a:srgbClr val="000000"/>
              </a:solidFill>
              <a:latin typeface="Arial"/>
              <a:ea typeface="Arial"/>
              <a:cs typeface="Arial"/>
              <a:sym typeface="Arial"/>
            </a:endParaRPr>
          </a:p>
        </p:txBody>
      </p:sp>
      <p:sp>
        <p:nvSpPr>
          <p:cNvPr id="98" name="Google Shape;98;p7"/>
          <p:cNvSpPr/>
          <p:nvPr/>
        </p:nvSpPr>
        <p:spPr>
          <a:xfrm>
            <a:off x="1152511" y="414827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81" u="none" strike="noStrike">
                <a:solidFill>
                  <a:srgbClr val="1B6B6B"/>
                </a:solidFill>
                <a:latin typeface="Calibri"/>
                <a:ea typeface="Calibri"/>
                <a:cs typeface="Calibri"/>
                <a:sym typeface="Calibri"/>
              </a:rPr>
              <a:t>• </a:t>
            </a:r>
            <a:r>
              <a:rPr lang="en-US" sz="1381">
                <a:solidFill>
                  <a:srgbClr val="0D1B2A"/>
                </a:solidFill>
                <a:latin typeface="Calibri"/>
                <a:ea typeface="Calibri"/>
                <a:cs typeface="Calibri"/>
                <a:sym typeface="Calibri"/>
              </a:rPr>
              <a:t>Strategy selection in existing systems is not driven by trajectory data, limiting response quality in multi-turn conversations</a:t>
            </a:r>
            <a:endParaRPr sz="1381">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81">
              <a:solidFill>
                <a:srgbClr val="0D1B2A"/>
              </a:solidFill>
              <a:latin typeface="Calibri"/>
              <a:ea typeface="Calibri"/>
              <a:cs typeface="Calibri"/>
              <a:sym typeface="Calibri"/>
            </a:endParaRPr>
          </a:p>
        </p:txBody>
      </p:sp>
      <p:sp>
        <p:nvSpPr>
          <p:cNvPr id="99" name="Google Shape;99;p7"/>
          <p:cNvSpPr/>
          <p:nvPr/>
        </p:nvSpPr>
        <p:spPr>
          <a:xfrm>
            <a:off x="1152511" y="1450735"/>
            <a:ext cx="6712500" cy="596100"/>
          </a:xfrm>
          <a:prstGeom prst="rect">
            <a:avLst/>
          </a:prstGeom>
          <a:noFill/>
          <a:ln>
            <a:noFill/>
          </a:ln>
        </p:spPr>
        <p:txBody>
          <a:bodyPr anchorCtr="0" anchor="ctr" bIns="56475" lIns="112950" spcFirstLastPara="1" rIns="112950" wrap="square" tIns="56475">
            <a:noAutofit/>
          </a:bodyPr>
          <a:lstStyle/>
          <a:p>
            <a:pPr indent="0" lvl="0" marL="0" marR="0" rtl="0" algn="l">
              <a:lnSpc>
                <a:spcPct val="100000"/>
              </a:lnSpc>
              <a:spcBef>
                <a:spcPts val="0"/>
              </a:spcBef>
              <a:spcAft>
                <a:spcPts val="0"/>
              </a:spcAft>
              <a:buNone/>
            </a:pPr>
            <a:r>
              <a:rPr b="1" lang="en-US" sz="1350" u="none" strike="noStrike">
                <a:solidFill>
                  <a:srgbClr val="0D1B2A"/>
                </a:solidFill>
                <a:latin typeface="Calibri"/>
                <a:ea typeface="Calibri"/>
                <a:cs typeface="Calibri"/>
                <a:sym typeface="Calibri"/>
              </a:rPr>
              <a:t>• </a:t>
            </a:r>
            <a:r>
              <a:rPr lang="en-US" sz="1350">
                <a:solidFill>
                  <a:srgbClr val="0D1B2A"/>
                </a:solidFill>
                <a:latin typeface="Calibri"/>
                <a:ea typeface="Calibri"/>
                <a:cs typeface="Calibri"/>
                <a:sym typeface="Calibri"/>
              </a:rPr>
              <a:t>Calculations done by the Association of Psychiatrists in Nigeria (APN) has revealed that Nigeria has a psychiatrist-to-population ratio of approximately 1:1 million, leaving millions without access to mental health support</a:t>
            </a:r>
            <a:endParaRPr sz="1350">
              <a:solidFill>
                <a:srgbClr val="0D1B2A"/>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350">
              <a:solidFill>
                <a:srgbClr val="0D1B2A"/>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4" name="Shape 104"/>
        <p:cNvGrpSpPr/>
        <p:nvPr/>
      </p:nvGrpSpPr>
      <p:grpSpPr>
        <a:xfrm>
          <a:off x="0" y="0"/>
          <a:ext cx="0" cy="0"/>
          <a:chOff x="0" y="0"/>
          <a:chExt cx="0" cy="0"/>
        </a:xfrm>
      </p:grpSpPr>
      <p:sp>
        <p:nvSpPr>
          <p:cNvPr id="105" name="Google Shape;105;p8"/>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800" u="none" strike="noStrike">
                <a:solidFill>
                  <a:srgbClr val="0D1B2A"/>
                </a:solidFill>
                <a:latin typeface="Cambria"/>
                <a:ea typeface="Cambria"/>
                <a:cs typeface="Cambria"/>
                <a:sym typeface="Cambria"/>
              </a:rPr>
              <a:t>AIM &amp; OBJECTIVES</a:t>
            </a:r>
            <a:endParaRPr b="0" sz="2800" u="none" strike="noStrike">
              <a:solidFill>
                <a:srgbClr val="000000"/>
              </a:solidFill>
              <a:latin typeface="Arial"/>
              <a:ea typeface="Arial"/>
              <a:cs typeface="Arial"/>
              <a:sym typeface="Arial"/>
            </a:endParaRPr>
          </a:p>
        </p:txBody>
      </p:sp>
      <p:sp>
        <p:nvSpPr>
          <p:cNvPr id="106" name="Google Shape;106;p8"/>
          <p:cNvSpPr/>
          <p:nvPr/>
        </p:nvSpPr>
        <p:spPr>
          <a:xfrm>
            <a:off x="365760" y="841320"/>
            <a:ext cx="8411760" cy="803880"/>
          </a:xfrm>
          <a:prstGeom prst="roundRect">
            <a:avLst>
              <a:gd fmla="val 11364" name="adj"/>
            </a:avLst>
          </a:prstGeom>
          <a:solidFill>
            <a:srgbClr val="1B6B6B"/>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07" name="Google Shape;107;p8"/>
          <p:cNvSpPr/>
          <p:nvPr/>
        </p:nvSpPr>
        <p:spPr>
          <a:xfrm>
            <a:off x="548640" y="896040"/>
            <a:ext cx="63936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2A89A"/>
                </a:solidFill>
                <a:latin typeface="Calibri"/>
                <a:ea typeface="Calibri"/>
                <a:cs typeface="Calibri"/>
                <a:sym typeface="Calibri"/>
              </a:rPr>
              <a:t>AIM</a:t>
            </a:r>
            <a:endParaRPr b="0" sz="900" u="none" strike="noStrike">
              <a:solidFill>
                <a:srgbClr val="000000"/>
              </a:solidFill>
              <a:latin typeface="Arial"/>
              <a:ea typeface="Arial"/>
              <a:cs typeface="Arial"/>
              <a:sym typeface="Arial"/>
            </a:endParaRPr>
          </a:p>
        </p:txBody>
      </p:sp>
      <p:sp>
        <p:nvSpPr>
          <p:cNvPr id="108" name="Google Shape;108;p8"/>
          <p:cNvSpPr/>
          <p:nvPr/>
        </p:nvSpPr>
        <p:spPr>
          <a:xfrm>
            <a:off x="548640" y="1161360"/>
            <a:ext cx="8091720" cy="419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00" u="none" strike="noStrike">
                <a:solidFill>
                  <a:srgbClr val="FFFFFF"/>
                </a:solidFill>
                <a:latin typeface="Calibri"/>
                <a:ea typeface="Calibri"/>
                <a:cs typeface="Calibri"/>
                <a:sym typeface="Calibri"/>
              </a:rPr>
              <a:t>To design, implement and evaluate </a:t>
            </a:r>
            <a:r>
              <a:rPr lang="en-US" sz="1100">
                <a:solidFill>
                  <a:srgbClr val="FFFFFF"/>
                </a:solidFill>
                <a:latin typeface="Calibri"/>
                <a:ea typeface="Calibri"/>
                <a:cs typeface="Calibri"/>
                <a:sym typeface="Calibri"/>
              </a:rPr>
              <a:t>the Adaptive Intelligent Dialogue Agent using the Adaptive Emotion-Aware Intervention Framework</a:t>
            </a:r>
            <a:endParaRPr b="0" sz="1100" u="none" strike="noStrike">
              <a:solidFill>
                <a:srgbClr val="000000"/>
              </a:solidFill>
              <a:latin typeface="Arial"/>
              <a:ea typeface="Arial"/>
              <a:cs typeface="Arial"/>
              <a:sym typeface="Arial"/>
            </a:endParaRPr>
          </a:p>
        </p:txBody>
      </p:sp>
      <p:sp>
        <p:nvSpPr>
          <p:cNvPr id="109" name="Google Shape;109;p8"/>
          <p:cNvSpPr/>
          <p:nvPr/>
        </p:nvSpPr>
        <p:spPr>
          <a:xfrm>
            <a:off x="365760" y="18104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0" name="Google Shape;110;p8"/>
          <p:cNvSpPr/>
          <p:nvPr/>
        </p:nvSpPr>
        <p:spPr>
          <a:xfrm>
            <a:off x="502920" y="18835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1" name="Google Shape;111;p8"/>
          <p:cNvSpPr/>
          <p:nvPr/>
        </p:nvSpPr>
        <p:spPr>
          <a:xfrm>
            <a:off x="502920" y="18835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01</a:t>
            </a:r>
            <a:endParaRPr b="0" sz="1000" u="none" strike="noStrike">
              <a:solidFill>
                <a:srgbClr val="000000"/>
              </a:solidFill>
              <a:latin typeface="Arial"/>
              <a:ea typeface="Arial"/>
              <a:cs typeface="Arial"/>
              <a:sym typeface="Arial"/>
            </a:endParaRPr>
          </a:p>
        </p:txBody>
      </p:sp>
      <p:sp>
        <p:nvSpPr>
          <p:cNvPr id="112" name="Google Shape;112;p8"/>
          <p:cNvSpPr/>
          <p:nvPr/>
        </p:nvSpPr>
        <p:spPr>
          <a:xfrm>
            <a:off x="1051560" y="1901880"/>
            <a:ext cx="7588800" cy="383400"/>
          </a:xfrm>
          <a:prstGeom prst="rect">
            <a:avLst/>
          </a:prstGeom>
          <a:noFill/>
          <a:ln>
            <a:noFill/>
          </a:ln>
        </p:spPr>
        <p:txBody>
          <a:bodyPr anchorCtr="0" anchor="ctr" bIns="45000" lIns="90000" spcFirstLastPara="1" rIns="90000" wrap="square" tIns="45000">
            <a:noAutofit/>
          </a:bodyPr>
          <a:lstStyle/>
          <a:p>
            <a:pPr indent="0" lvl="0" marL="0" rtl="0" algn="l">
              <a:spcBef>
                <a:spcPts val="800"/>
              </a:spcBef>
              <a:spcAft>
                <a:spcPts val="0"/>
              </a:spcAft>
              <a:buClr>
                <a:schemeClr val="dk1"/>
              </a:buClr>
              <a:buFont typeface="Arial"/>
              <a:buNone/>
            </a:pPr>
            <a:r>
              <a:rPr lang="en-US" sz="1100">
                <a:solidFill>
                  <a:schemeClr val="dk1"/>
                </a:solidFill>
                <a:latin typeface="Times New Roman"/>
                <a:ea typeface="Times New Roman"/>
                <a:cs typeface="Times New Roman"/>
                <a:sym typeface="Times New Roman"/>
              </a:rPr>
              <a:t>Design the 6-layer AEIF framework, integrating emotion classification, trend analysis, and strategy selection.</a:t>
            </a:r>
            <a:endParaRPr b="0" sz="1100" u="none" strike="noStrike">
              <a:solidFill>
                <a:srgbClr val="000000"/>
              </a:solidFill>
              <a:latin typeface="Arial"/>
              <a:ea typeface="Arial"/>
              <a:cs typeface="Arial"/>
              <a:sym typeface="Arial"/>
            </a:endParaRPr>
          </a:p>
        </p:txBody>
      </p:sp>
      <p:sp>
        <p:nvSpPr>
          <p:cNvPr id="113" name="Google Shape;113;p8"/>
          <p:cNvSpPr/>
          <p:nvPr/>
        </p:nvSpPr>
        <p:spPr>
          <a:xfrm>
            <a:off x="365760" y="243216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4" name="Google Shape;114;p8"/>
          <p:cNvSpPr/>
          <p:nvPr/>
        </p:nvSpPr>
        <p:spPr>
          <a:xfrm>
            <a:off x="502920" y="250560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5" name="Google Shape;115;p8"/>
          <p:cNvSpPr/>
          <p:nvPr/>
        </p:nvSpPr>
        <p:spPr>
          <a:xfrm>
            <a:off x="502920" y="250560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02</a:t>
            </a:r>
            <a:endParaRPr b="0" sz="1000" u="none" strike="noStrike">
              <a:solidFill>
                <a:srgbClr val="000000"/>
              </a:solidFill>
              <a:latin typeface="Arial"/>
              <a:ea typeface="Arial"/>
              <a:cs typeface="Arial"/>
              <a:sym typeface="Arial"/>
            </a:endParaRPr>
          </a:p>
        </p:txBody>
      </p:sp>
      <p:sp>
        <p:nvSpPr>
          <p:cNvPr id="116" name="Google Shape;116;p8"/>
          <p:cNvSpPr/>
          <p:nvPr/>
        </p:nvSpPr>
        <p:spPr>
          <a:xfrm>
            <a:off x="1051560" y="252360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150" u="none" strike="noStrike">
                <a:solidFill>
                  <a:srgbClr val="0D1B2A"/>
                </a:solidFill>
                <a:latin typeface="Calibri"/>
                <a:ea typeface="Calibri"/>
                <a:cs typeface="Calibri"/>
                <a:sym typeface="Calibri"/>
              </a:rPr>
              <a:t>Build an emotional trend analyser that derives 7 trajectory types from session history</a:t>
            </a:r>
            <a:endParaRPr b="0" sz="1150" u="none" strike="noStrike">
              <a:solidFill>
                <a:srgbClr val="000000"/>
              </a:solidFill>
              <a:latin typeface="Arial"/>
              <a:ea typeface="Arial"/>
              <a:cs typeface="Arial"/>
              <a:sym typeface="Arial"/>
            </a:endParaRPr>
          </a:p>
        </p:txBody>
      </p:sp>
      <p:sp>
        <p:nvSpPr>
          <p:cNvPr id="117" name="Google Shape;117;p8"/>
          <p:cNvSpPr/>
          <p:nvPr/>
        </p:nvSpPr>
        <p:spPr>
          <a:xfrm>
            <a:off x="365760" y="3054240"/>
            <a:ext cx="8411760" cy="547920"/>
          </a:xfrm>
          <a:prstGeom prst="roundRect">
            <a:avLst>
              <a:gd fmla="val 13333"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8" name="Google Shape;118;p8"/>
          <p:cNvSpPr/>
          <p:nvPr/>
        </p:nvSpPr>
        <p:spPr>
          <a:xfrm>
            <a:off x="502920" y="3127320"/>
            <a:ext cx="392400" cy="3924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19" name="Google Shape;119;p8"/>
          <p:cNvSpPr/>
          <p:nvPr/>
        </p:nvSpPr>
        <p:spPr>
          <a:xfrm>
            <a:off x="502920" y="3127320"/>
            <a:ext cx="392400" cy="392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000" u="none" strike="noStrike">
                <a:solidFill>
                  <a:srgbClr val="FFFFFF"/>
                </a:solidFill>
                <a:latin typeface="Calibri"/>
                <a:ea typeface="Calibri"/>
                <a:cs typeface="Calibri"/>
                <a:sym typeface="Calibri"/>
              </a:rPr>
              <a:t>03</a:t>
            </a:r>
            <a:endParaRPr b="0" sz="1000" u="none" strike="noStrike">
              <a:solidFill>
                <a:srgbClr val="000000"/>
              </a:solidFill>
              <a:latin typeface="Arial"/>
              <a:ea typeface="Arial"/>
              <a:cs typeface="Arial"/>
              <a:sym typeface="Arial"/>
            </a:endParaRPr>
          </a:p>
        </p:txBody>
      </p:sp>
      <p:sp>
        <p:nvSpPr>
          <p:cNvPr id="120" name="Google Shape;120;p8"/>
          <p:cNvSpPr/>
          <p:nvPr/>
        </p:nvSpPr>
        <p:spPr>
          <a:xfrm>
            <a:off x="1051560" y="3145680"/>
            <a:ext cx="75888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150">
                <a:solidFill>
                  <a:srgbClr val="091320"/>
                </a:solidFill>
              </a:rPr>
              <a:t>Evaluate the system using au</a:t>
            </a:r>
            <a:r>
              <a:rPr lang="en-US" sz="1150">
                <a:solidFill>
                  <a:srgbClr val="091320"/>
                </a:solidFill>
              </a:rPr>
              <a:t>tomated metrics: emotion detection accuracy, trend accuracy, and crisis detection accuracy</a:t>
            </a:r>
            <a:endParaRPr b="0" sz="1150" u="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9"/>
          <p:cNvSpPr/>
          <p:nvPr/>
        </p:nvSpPr>
        <p:spPr>
          <a:xfrm>
            <a:off x="90425" y="735475"/>
            <a:ext cx="8982300" cy="4340700"/>
          </a:xfrm>
          <a:prstGeom prst="roundRect">
            <a:avLst>
              <a:gd fmla="val 2577" name="adj"/>
            </a:avLst>
          </a:prstGeom>
          <a:solidFill>
            <a:srgbClr val="F9F7F4"/>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200">
                <a:solidFill>
                  <a:schemeClr val="dk1"/>
                </a:solidFill>
              </a:rPr>
              <a:t>Woebot (Fitzpatrick et al., 2017) — RCT showing significant depression reduction using CBT-based chatbot, but no emotion trajectory tracking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Wysa (Inkster et al., 2018) — Empathy-driven conversational agent with demonstrated real-world impact, but limited to single-turn emotion detection</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Emotional Support Conversation framework (Liu et al., 2021) — Proposed multi-strategy approach for ESC, but no trajectory-to-strategy mapping</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GoEmotions dataset (Demszky et al., 2020) — 27 fine-grained emotion categories, basis for AEIF's 6-cluster taxonomy</a:t>
            </a:r>
            <a:endParaRPr sz="1200">
              <a:solidFill>
                <a:schemeClr val="dk1"/>
              </a:solidFill>
            </a:endParaRPr>
          </a:p>
          <a:p>
            <a:pPr indent="0" lvl="0" marL="0" rtl="0" algn="l">
              <a:spcBef>
                <a:spcPts val="800"/>
              </a:spcBef>
              <a:spcAft>
                <a:spcPts val="0"/>
              </a:spcAft>
              <a:buClr>
                <a:schemeClr val="dk1"/>
              </a:buClr>
              <a:buFont typeface="Arial"/>
              <a:buNone/>
            </a:pPr>
            <a:r>
              <a:rPr lang="en-US" sz="1200">
                <a:solidFill>
                  <a:schemeClr val="dk1"/>
                </a:solidFill>
              </a:rPr>
              <a:t>Key gap: No existing system integrates emotion trajectory analysis directly into strategy selection for mental health chatbots</a:t>
            </a:r>
            <a:endParaRPr sz="1200">
              <a:solidFill>
                <a:schemeClr val="dk1"/>
              </a:solidFill>
            </a:endParaRPr>
          </a:p>
        </p:txBody>
      </p:sp>
      <p:sp>
        <p:nvSpPr>
          <p:cNvPr id="127" name="Google Shape;127;p9"/>
          <p:cNvSpPr txBox="1"/>
          <p:nvPr/>
        </p:nvSpPr>
        <p:spPr>
          <a:xfrm>
            <a:off x="90426" y="178525"/>
            <a:ext cx="85725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Times New Roman"/>
                <a:ea typeface="Times New Roman"/>
                <a:cs typeface="Times New Roman"/>
                <a:sym typeface="Times New Roman"/>
              </a:rPr>
              <a:t>LITERATURE REVIEW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32" name="Shape 132"/>
        <p:cNvGrpSpPr/>
        <p:nvPr/>
      </p:nvGrpSpPr>
      <p:grpSpPr>
        <a:xfrm>
          <a:off x="0" y="0"/>
          <a:ext cx="0" cy="0"/>
          <a:chOff x="0" y="0"/>
          <a:chExt cx="0" cy="0"/>
        </a:xfrm>
      </p:grpSpPr>
      <p:sp>
        <p:nvSpPr>
          <p:cNvPr id="133" name="Google Shape;133;p10"/>
          <p:cNvSpPr/>
          <p:nvPr/>
        </p:nvSpPr>
        <p:spPr>
          <a:xfrm>
            <a:off x="457200" y="201240"/>
            <a:ext cx="8228880" cy="4107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200">
                <a:solidFill>
                  <a:srgbClr val="FFFFFF"/>
                </a:solidFill>
                <a:latin typeface="Cambria"/>
                <a:ea typeface="Cambria"/>
                <a:cs typeface="Cambria"/>
                <a:sym typeface="Cambria"/>
              </a:rPr>
              <a:t>METHODOLOGY: </a:t>
            </a:r>
            <a:r>
              <a:rPr b="1" lang="en-US" sz="2200" u="none" strike="noStrike">
                <a:solidFill>
                  <a:srgbClr val="FFFFFF"/>
                </a:solidFill>
                <a:latin typeface="Cambria"/>
                <a:ea typeface="Cambria"/>
                <a:cs typeface="Cambria"/>
                <a:sym typeface="Cambria"/>
              </a:rPr>
              <a:t>AEIF FRAMEWORK</a:t>
            </a:r>
            <a:endParaRPr b="0" sz="2200" u="none" strike="noStrike">
              <a:solidFill>
                <a:srgbClr val="FFFFFF"/>
              </a:solidFill>
              <a:latin typeface="Arial"/>
              <a:ea typeface="Arial"/>
              <a:cs typeface="Arial"/>
              <a:sym typeface="Arial"/>
            </a:endParaRPr>
          </a:p>
        </p:txBody>
      </p:sp>
      <p:sp>
        <p:nvSpPr>
          <p:cNvPr id="134" name="Google Shape;134;p10"/>
          <p:cNvSpPr/>
          <p:nvPr/>
        </p:nvSpPr>
        <p:spPr>
          <a:xfrm>
            <a:off x="457200" y="585360"/>
            <a:ext cx="822888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22A89A"/>
                </a:solidFill>
                <a:latin typeface="Calibri"/>
                <a:ea typeface="Calibri"/>
                <a:cs typeface="Calibri"/>
                <a:sym typeface="Calibri"/>
              </a:rPr>
              <a:t>Adaptive Emotion-Aware Intervention Framework — 6-Layer Pipeline</a:t>
            </a:r>
            <a:endParaRPr b="0" sz="1100" u="none" strike="noStrike">
              <a:solidFill>
                <a:srgbClr val="FFFFFF"/>
              </a:solidFill>
              <a:latin typeface="Arial"/>
              <a:ea typeface="Arial"/>
              <a:cs typeface="Arial"/>
              <a:sym typeface="Arial"/>
            </a:endParaRPr>
          </a:p>
        </p:txBody>
      </p:sp>
      <p:sp>
        <p:nvSpPr>
          <p:cNvPr id="135" name="Google Shape;135;p10"/>
          <p:cNvSpPr/>
          <p:nvPr/>
        </p:nvSpPr>
        <p:spPr>
          <a:xfrm>
            <a:off x="274320" y="1051560"/>
            <a:ext cx="1325160" cy="3199680"/>
          </a:xfrm>
          <a:prstGeom prst="roundRect">
            <a:avLst>
              <a:gd fmla="val 6897" name="adj"/>
            </a:avLst>
          </a:prstGeom>
          <a:solidFill>
            <a:srgbClr val="1A2F44"/>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36" name="Google Shape;136;p10"/>
          <p:cNvSpPr/>
          <p:nvPr/>
        </p:nvSpPr>
        <p:spPr>
          <a:xfrm>
            <a:off x="685800" y="1161360"/>
            <a:ext cx="502200" cy="502200"/>
          </a:xfrm>
          <a:prstGeom prst="ellipse">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37" name="Google Shape;137;p10"/>
          <p:cNvSpPr/>
          <p:nvPr/>
        </p:nvSpPr>
        <p:spPr>
          <a:xfrm>
            <a:off x="6858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1</a:t>
            </a:r>
            <a:endParaRPr b="0" sz="1500" u="none" strike="noStrike">
              <a:solidFill>
                <a:srgbClr val="FFFFFF"/>
              </a:solidFill>
              <a:latin typeface="Arial"/>
              <a:ea typeface="Arial"/>
              <a:cs typeface="Arial"/>
              <a:sym typeface="Arial"/>
            </a:endParaRPr>
          </a:p>
        </p:txBody>
      </p:sp>
      <p:sp>
        <p:nvSpPr>
          <p:cNvPr id="138" name="Google Shape;138;p10"/>
          <p:cNvSpPr/>
          <p:nvPr/>
        </p:nvSpPr>
        <p:spPr>
          <a:xfrm>
            <a:off x="3290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Safety Detection</a:t>
            </a:r>
            <a:endParaRPr b="0" sz="950" u="none" strike="noStrike">
              <a:solidFill>
                <a:srgbClr val="FFFFFF"/>
              </a:solidFill>
              <a:latin typeface="Arial"/>
              <a:ea typeface="Arial"/>
              <a:cs typeface="Arial"/>
              <a:sym typeface="Arial"/>
            </a:endParaRPr>
          </a:p>
        </p:txBody>
      </p:sp>
      <p:sp>
        <p:nvSpPr>
          <p:cNvPr id="139" name="Google Shape;139;p10"/>
          <p:cNvSpPr/>
          <p:nvPr/>
        </p:nvSpPr>
        <p:spPr>
          <a:xfrm>
            <a:off x="3290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If crisis is detected in input → immediate helpline response,</a:t>
            </a:r>
            <a:endParaRPr b="0" sz="800" u="none" strike="noStrike">
              <a:solidFill>
                <a:srgbClr val="FFFFFF"/>
              </a:solidFill>
              <a:latin typeface="Arial"/>
              <a:ea typeface="Arial"/>
              <a:cs typeface="Arial"/>
              <a:sym typeface="Arial"/>
            </a:endParaRPr>
          </a:p>
        </p:txBody>
      </p:sp>
      <p:sp>
        <p:nvSpPr>
          <p:cNvPr id="140" name="Google Shape;140;p10"/>
          <p:cNvSpPr/>
          <p:nvPr/>
        </p:nvSpPr>
        <p:spPr>
          <a:xfrm>
            <a:off x="161856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41" name="Google Shape;141;p10"/>
          <p:cNvSpPr/>
          <p:nvPr/>
        </p:nvSpPr>
        <p:spPr>
          <a:xfrm>
            <a:off x="1737360" y="1051560"/>
            <a:ext cx="1325160" cy="3199680"/>
          </a:xfrm>
          <a:prstGeom prst="roundRect">
            <a:avLst>
              <a:gd fmla="val 6897" name="adj"/>
            </a:avLst>
          </a:prstGeom>
          <a:solidFill>
            <a:srgbClr val="1A2F44"/>
          </a:solidFill>
          <a:ln cap="flat" cmpd="sng" w="12600">
            <a:solidFill>
              <a:srgbClr val="E8852E"/>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2" name="Google Shape;142;p10"/>
          <p:cNvSpPr/>
          <p:nvPr/>
        </p:nvSpPr>
        <p:spPr>
          <a:xfrm>
            <a:off x="2148840" y="1161360"/>
            <a:ext cx="502200" cy="502200"/>
          </a:xfrm>
          <a:prstGeom prst="ellipse">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3" name="Google Shape;143;p10"/>
          <p:cNvSpPr/>
          <p:nvPr/>
        </p:nvSpPr>
        <p:spPr>
          <a:xfrm>
            <a:off x="214884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2</a:t>
            </a:r>
            <a:endParaRPr b="0" sz="1500" u="none" strike="noStrike">
              <a:solidFill>
                <a:srgbClr val="FFFFFF"/>
              </a:solidFill>
              <a:latin typeface="Arial"/>
              <a:ea typeface="Arial"/>
              <a:cs typeface="Arial"/>
              <a:sym typeface="Arial"/>
            </a:endParaRPr>
          </a:p>
        </p:txBody>
      </p:sp>
      <p:sp>
        <p:nvSpPr>
          <p:cNvPr id="144" name="Google Shape;144;p10"/>
          <p:cNvSpPr/>
          <p:nvPr/>
        </p:nvSpPr>
        <p:spPr>
          <a:xfrm>
            <a:off x="179208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Emotion Classification</a:t>
            </a:r>
            <a:endParaRPr b="0" sz="950" u="none" strike="noStrike">
              <a:solidFill>
                <a:srgbClr val="FFFFFF"/>
              </a:solidFill>
              <a:latin typeface="Arial"/>
              <a:ea typeface="Arial"/>
              <a:cs typeface="Arial"/>
              <a:sym typeface="Arial"/>
            </a:endParaRPr>
          </a:p>
        </p:txBody>
      </p:sp>
      <p:sp>
        <p:nvSpPr>
          <p:cNvPr id="145" name="Google Shape;145;p10"/>
          <p:cNvSpPr/>
          <p:nvPr/>
        </p:nvSpPr>
        <p:spPr>
          <a:xfrm>
            <a:off x="179208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j-hartmann/distilroberta → 6 clusters: POSITIVE, SADNESS, ANXIETY, ANGER, NEUTRAL, AMBIGUOUS</a:t>
            </a:r>
            <a:endParaRPr b="0" sz="800" u="none" strike="noStrike">
              <a:solidFill>
                <a:srgbClr val="FFFFFF"/>
              </a:solidFill>
              <a:latin typeface="Arial"/>
              <a:ea typeface="Arial"/>
              <a:cs typeface="Arial"/>
              <a:sym typeface="Arial"/>
            </a:endParaRPr>
          </a:p>
        </p:txBody>
      </p:sp>
      <p:sp>
        <p:nvSpPr>
          <p:cNvPr id="146" name="Google Shape;146;p10"/>
          <p:cNvSpPr/>
          <p:nvPr/>
        </p:nvSpPr>
        <p:spPr>
          <a:xfrm>
            <a:off x="308160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47" name="Google Shape;147;p10"/>
          <p:cNvSpPr/>
          <p:nvPr/>
        </p:nvSpPr>
        <p:spPr>
          <a:xfrm>
            <a:off x="3200400" y="1051560"/>
            <a:ext cx="1325160" cy="3199680"/>
          </a:xfrm>
          <a:prstGeom prst="roundRect">
            <a:avLst>
              <a:gd fmla="val 6897" name="adj"/>
            </a:avLst>
          </a:prstGeom>
          <a:solidFill>
            <a:srgbClr val="1A2F44"/>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48" name="Google Shape;148;p10"/>
          <p:cNvSpPr/>
          <p:nvPr/>
        </p:nvSpPr>
        <p:spPr>
          <a:xfrm>
            <a:off x="3611880" y="1161360"/>
            <a:ext cx="502200" cy="502200"/>
          </a:xfrm>
          <a:prstGeom prst="ellipse">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49" name="Google Shape;149;p10"/>
          <p:cNvSpPr/>
          <p:nvPr/>
        </p:nvSpPr>
        <p:spPr>
          <a:xfrm>
            <a:off x="361188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3</a:t>
            </a:r>
            <a:endParaRPr b="0" sz="1500" u="none" strike="noStrike">
              <a:solidFill>
                <a:srgbClr val="FFFFFF"/>
              </a:solidFill>
              <a:latin typeface="Arial"/>
              <a:ea typeface="Arial"/>
              <a:cs typeface="Arial"/>
              <a:sym typeface="Arial"/>
            </a:endParaRPr>
          </a:p>
        </p:txBody>
      </p:sp>
      <p:sp>
        <p:nvSpPr>
          <p:cNvPr id="150" name="Google Shape;150;p10"/>
          <p:cNvSpPr/>
          <p:nvPr/>
        </p:nvSpPr>
        <p:spPr>
          <a:xfrm>
            <a:off x="325512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E8A838"/>
                </a:solidFill>
                <a:latin typeface="Calibri"/>
                <a:ea typeface="Calibri"/>
                <a:cs typeface="Calibri"/>
                <a:sym typeface="Calibri"/>
              </a:rPr>
              <a:t>Memory (Session Store)</a:t>
            </a:r>
            <a:endParaRPr b="0" sz="950" u="none" strike="noStrike">
              <a:solidFill>
                <a:srgbClr val="FFFFFF"/>
              </a:solidFill>
              <a:latin typeface="Arial"/>
              <a:ea typeface="Arial"/>
              <a:cs typeface="Arial"/>
              <a:sym typeface="Arial"/>
            </a:endParaRPr>
          </a:p>
        </p:txBody>
      </p:sp>
      <p:sp>
        <p:nvSpPr>
          <p:cNvPr id="151" name="Google Shape;151;p10"/>
          <p:cNvSpPr/>
          <p:nvPr/>
        </p:nvSpPr>
        <p:spPr>
          <a:xfrm>
            <a:off x="325512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In-memory conversation history (20-turn cap)</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Stores role, text, emotion, confidence, strategy per turn</a:t>
            </a:r>
            <a:endParaRPr b="0" sz="800" u="none" strike="noStrike">
              <a:solidFill>
                <a:srgbClr val="FFFFFF"/>
              </a:solidFill>
              <a:latin typeface="Arial"/>
              <a:ea typeface="Arial"/>
              <a:cs typeface="Arial"/>
              <a:sym typeface="Arial"/>
            </a:endParaRPr>
          </a:p>
        </p:txBody>
      </p:sp>
      <p:sp>
        <p:nvSpPr>
          <p:cNvPr id="152" name="Google Shape;152;p10"/>
          <p:cNvSpPr/>
          <p:nvPr/>
        </p:nvSpPr>
        <p:spPr>
          <a:xfrm>
            <a:off x="454464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3" name="Google Shape;153;p10"/>
          <p:cNvSpPr/>
          <p:nvPr/>
        </p:nvSpPr>
        <p:spPr>
          <a:xfrm>
            <a:off x="4663440" y="1051560"/>
            <a:ext cx="1325160" cy="3199680"/>
          </a:xfrm>
          <a:prstGeom prst="roundRect">
            <a:avLst>
              <a:gd fmla="val 6897" name="adj"/>
            </a:avLst>
          </a:prstGeom>
          <a:solidFill>
            <a:srgbClr val="1A2F44"/>
          </a:solidFill>
          <a:ln cap="flat" cmpd="sng" w="12600">
            <a:solidFill>
              <a:srgbClr val="22A89A"/>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4" name="Google Shape;154;p10"/>
          <p:cNvSpPr/>
          <p:nvPr/>
        </p:nvSpPr>
        <p:spPr>
          <a:xfrm>
            <a:off x="5074920" y="1161360"/>
            <a:ext cx="502200" cy="502200"/>
          </a:xfrm>
          <a:prstGeom prst="ellipse">
            <a:avLst/>
          </a:prstGeom>
          <a:solidFill>
            <a:srgbClr val="22A89A"/>
          </a:solidFill>
          <a:ln cap="flat" cmpd="sng" w="12600">
            <a:solidFill>
              <a:srgbClr val="22A89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55" name="Google Shape;155;p10"/>
          <p:cNvSpPr/>
          <p:nvPr/>
        </p:nvSpPr>
        <p:spPr>
          <a:xfrm>
            <a:off x="507492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4</a:t>
            </a:r>
            <a:endParaRPr b="0" sz="1500" u="none" strike="noStrike">
              <a:solidFill>
                <a:srgbClr val="FFFFFF"/>
              </a:solidFill>
              <a:latin typeface="Arial"/>
              <a:ea typeface="Arial"/>
              <a:cs typeface="Arial"/>
              <a:sym typeface="Arial"/>
            </a:endParaRPr>
          </a:p>
        </p:txBody>
      </p:sp>
      <p:sp>
        <p:nvSpPr>
          <p:cNvPr id="156" name="Google Shape;156;p10"/>
          <p:cNvSpPr/>
          <p:nvPr/>
        </p:nvSpPr>
        <p:spPr>
          <a:xfrm>
            <a:off x="471816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2A89A"/>
                </a:solidFill>
                <a:latin typeface="Calibri"/>
                <a:ea typeface="Calibri"/>
                <a:cs typeface="Calibri"/>
                <a:sym typeface="Calibri"/>
              </a:rPr>
              <a:t>Trend Analysis</a:t>
            </a:r>
            <a:endParaRPr b="0" sz="950" u="none" strike="noStrike">
              <a:solidFill>
                <a:srgbClr val="FFFFFF"/>
              </a:solidFill>
              <a:latin typeface="Arial"/>
              <a:ea typeface="Arial"/>
              <a:cs typeface="Arial"/>
              <a:sym typeface="Arial"/>
            </a:endParaRPr>
          </a:p>
        </p:txBody>
      </p:sp>
      <p:sp>
        <p:nvSpPr>
          <p:cNvPr id="157" name="Google Shape;157;p10"/>
          <p:cNvSpPr/>
          <p:nvPr/>
        </p:nvSpPr>
        <p:spPr>
          <a:xfrm>
            <a:off x="471816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Weighted severity scoring over last 10 turns → 7 trajectory types</a:t>
            </a:r>
            <a:endParaRPr b="0" sz="800" u="none" strike="noStrike">
              <a:solidFill>
                <a:srgbClr val="FFFFFF"/>
              </a:solidFill>
              <a:latin typeface="Arial"/>
              <a:ea typeface="Arial"/>
              <a:cs typeface="Arial"/>
              <a:sym typeface="Arial"/>
            </a:endParaRPr>
          </a:p>
        </p:txBody>
      </p:sp>
      <p:sp>
        <p:nvSpPr>
          <p:cNvPr id="158" name="Google Shape;158;p10"/>
          <p:cNvSpPr/>
          <p:nvPr/>
        </p:nvSpPr>
        <p:spPr>
          <a:xfrm>
            <a:off x="600768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59" name="Google Shape;159;p10"/>
          <p:cNvSpPr/>
          <p:nvPr/>
        </p:nvSpPr>
        <p:spPr>
          <a:xfrm>
            <a:off x="6126480" y="1051560"/>
            <a:ext cx="1325160" cy="3199680"/>
          </a:xfrm>
          <a:prstGeom prst="roundRect">
            <a:avLst>
              <a:gd fmla="val 6897" name="adj"/>
            </a:avLst>
          </a:prstGeom>
          <a:solidFill>
            <a:srgbClr val="1A2F44"/>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0" name="Google Shape;160;p10"/>
          <p:cNvSpPr/>
          <p:nvPr/>
        </p:nvSpPr>
        <p:spPr>
          <a:xfrm>
            <a:off x="6537960" y="1161360"/>
            <a:ext cx="502200" cy="502200"/>
          </a:xfrm>
          <a:prstGeom prst="ellipse">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1" name="Google Shape;161;p10"/>
          <p:cNvSpPr/>
          <p:nvPr/>
        </p:nvSpPr>
        <p:spPr>
          <a:xfrm>
            <a:off x="653796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5</a:t>
            </a:r>
            <a:endParaRPr b="0" sz="1500" u="none" strike="noStrike">
              <a:solidFill>
                <a:srgbClr val="FFFFFF"/>
              </a:solidFill>
              <a:latin typeface="Arial"/>
              <a:ea typeface="Arial"/>
              <a:cs typeface="Arial"/>
              <a:sym typeface="Arial"/>
            </a:endParaRPr>
          </a:p>
        </p:txBody>
      </p:sp>
      <p:sp>
        <p:nvSpPr>
          <p:cNvPr id="162" name="Google Shape;162;p10"/>
          <p:cNvSpPr/>
          <p:nvPr/>
        </p:nvSpPr>
        <p:spPr>
          <a:xfrm>
            <a:off x="618120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Strategy Selection</a:t>
            </a:r>
            <a:endParaRPr b="0" sz="950" u="none" strike="noStrike">
              <a:solidFill>
                <a:srgbClr val="FFFFFF"/>
              </a:solidFill>
              <a:latin typeface="Arial"/>
              <a:ea typeface="Arial"/>
              <a:cs typeface="Arial"/>
              <a:sym typeface="Arial"/>
            </a:endParaRPr>
          </a:p>
        </p:txBody>
      </p:sp>
      <p:sp>
        <p:nvSpPr>
          <p:cNvPr id="163" name="Google Shape;163;p10"/>
          <p:cNvSpPr/>
          <p:nvPr/>
        </p:nvSpPr>
        <p:spPr>
          <a:xfrm>
            <a:off x="618120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12-condition lookup: trend + emotion → one of 9 CBT-aligned strategies</a:t>
            </a:r>
            <a:endParaRPr b="0" sz="800" u="none" strike="noStrike">
              <a:solidFill>
                <a:srgbClr val="FFFFFF"/>
              </a:solidFill>
              <a:latin typeface="Arial"/>
              <a:ea typeface="Arial"/>
              <a:cs typeface="Arial"/>
              <a:sym typeface="Arial"/>
            </a:endParaRPr>
          </a:p>
        </p:txBody>
      </p:sp>
      <p:sp>
        <p:nvSpPr>
          <p:cNvPr id="164" name="Google Shape;164;p10"/>
          <p:cNvSpPr/>
          <p:nvPr/>
        </p:nvSpPr>
        <p:spPr>
          <a:xfrm>
            <a:off x="7470720" y="2468880"/>
            <a:ext cx="109080" cy="273600"/>
          </a:xfrm>
          <a:prstGeom prst="rect">
            <a:avLst/>
          </a:prstGeom>
          <a:noFill/>
          <a:ln>
            <a:noFill/>
          </a:ln>
        </p:spPr>
        <p:txBody>
          <a:bodyPr anchorCtr="0" anchor="ctr" bIns="45000" lIns="54700" spcFirstLastPara="1" rIns="54700" wrap="square" tIns="45000">
            <a:noAutofit/>
          </a:bodyPr>
          <a:lstStyle/>
          <a:p>
            <a:pPr indent="0" lvl="0" marL="0" marR="0" rtl="0" algn="ctr">
              <a:lnSpc>
                <a:spcPct val="100000"/>
              </a:lnSpc>
              <a:spcBef>
                <a:spcPts val="0"/>
              </a:spcBef>
              <a:spcAft>
                <a:spcPts val="0"/>
              </a:spcAft>
              <a:buNone/>
            </a:pPr>
            <a:r>
              <a:rPr b="0" lang="en-US" sz="1000" u="none" strike="noStrike">
                <a:solidFill>
                  <a:srgbClr val="22A89A"/>
                </a:solidFill>
                <a:latin typeface="Calibri"/>
                <a:ea typeface="Calibri"/>
                <a:cs typeface="Calibri"/>
                <a:sym typeface="Calibri"/>
              </a:rPr>
              <a:t>▶</a:t>
            </a:r>
            <a:endParaRPr b="0" sz="1000" u="none" strike="noStrike">
              <a:solidFill>
                <a:srgbClr val="FFFFFF"/>
              </a:solidFill>
              <a:latin typeface="Arial"/>
              <a:ea typeface="Arial"/>
              <a:cs typeface="Arial"/>
              <a:sym typeface="Arial"/>
            </a:endParaRPr>
          </a:p>
        </p:txBody>
      </p:sp>
      <p:sp>
        <p:nvSpPr>
          <p:cNvPr id="165" name="Google Shape;165;p10"/>
          <p:cNvSpPr/>
          <p:nvPr/>
        </p:nvSpPr>
        <p:spPr>
          <a:xfrm>
            <a:off x="7589520" y="1051560"/>
            <a:ext cx="1325160" cy="3199680"/>
          </a:xfrm>
          <a:prstGeom prst="roundRect">
            <a:avLst>
              <a:gd fmla="val 6897" name="adj"/>
            </a:avLst>
          </a:prstGeom>
          <a:solidFill>
            <a:srgbClr val="1A2F44"/>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6" name="Google Shape;166;p10"/>
          <p:cNvSpPr/>
          <p:nvPr/>
        </p:nvSpPr>
        <p:spPr>
          <a:xfrm>
            <a:off x="8001000" y="1161360"/>
            <a:ext cx="502200" cy="502200"/>
          </a:xfrm>
          <a:prstGeom prst="ellipse">
            <a:avLst/>
          </a:prstGeom>
          <a:solidFill>
            <a:srgbClr val="7B9ED9"/>
          </a:solidFill>
          <a:ln cap="flat" cmpd="sng" w="12600">
            <a:solidFill>
              <a:srgbClr val="7B9ED9"/>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167" name="Google Shape;167;p10"/>
          <p:cNvSpPr/>
          <p:nvPr/>
        </p:nvSpPr>
        <p:spPr>
          <a:xfrm>
            <a:off x="8001000" y="1161360"/>
            <a:ext cx="50220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500" u="none" strike="noStrike">
                <a:solidFill>
                  <a:srgbClr val="FFFFFF"/>
                </a:solidFill>
                <a:latin typeface="Calibri"/>
                <a:ea typeface="Calibri"/>
                <a:cs typeface="Calibri"/>
                <a:sym typeface="Calibri"/>
              </a:rPr>
              <a:t>6</a:t>
            </a:r>
            <a:endParaRPr b="0" sz="1500" u="none" strike="noStrike">
              <a:solidFill>
                <a:srgbClr val="FFFFFF"/>
              </a:solidFill>
              <a:latin typeface="Arial"/>
              <a:ea typeface="Arial"/>
              <a:cs typeface="Arial"/>
              <a:sym typeface="Arial"/>
            </a:endParaRPr>
          </a:p>
        </p:txBody>
      </p:sp>
      <p:sp>
        <p:nvSpPr>
          <p:cNvPr id="168" name="Google Shape;168;p10"/>
          <p:cNvSpPr/>
          <p:nvPr/>
        </p:nvSpPr>
        <p:spPr>
          <a:xfrm>
            <a:off x="7644240" y="1783080"/>
            <a:ext cx="1215360" cy="5022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950" u="none" strike="noStrike">
                <a:solidFill>
                  <a:srgbClr val="7B9ED9"/>
                </a:solidFill>
                <a:latin typeface="Calibri"/>
                <a:ea typeface="Calibri"/>
                <a:cs typeface="Calibri"/>
                <a:sym typeface="Calibri"/>
              </a:rPr>
              <a:t>Response Generation</a:t>
            </a:r>
            <a:endParaRPr b="0" sz="950" u="none" strike="noStrike">
              <a:solidFill>
                <a:srgbClr val="FFFFFF"/>
              </a:solidFill>
              <a:latin typeface="Arial"/>
              <a:ea typeface="Arial"/>
              <a:cs typeface="Arial"/>
              <a:sym typeface="Arial"/>
            </a:endParaRPr>
          </a:p>
        </p:txBody>
      </p:sp>
      <p:sp>
        <p:nvSpPr>
          <p:cNvPr id="169" name="Google Shape;169;p10"/>
          <p:cNvSpPr/>
          <p:nvPr/>
        </p:nvSpPr>
        <p:spPr>
          <a:xfrm>
            <a:off x="7644240" y="2350080"/>
            <a:ext cx="1215360" cy="18280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Groq API → LLaMA-3.3-70b-versatile with strategy-specific system prompt</a:t>
            </a:r>
            <a:endParaRPr b="0" sz="800" u="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lang="en-US" sz="800" u="none" strike="noStrike">
                <a:solidFill>
                  <a:srgbClr val="D6DDE3"/>
                </a:solidFill>
                <a:latin typeface="Calibri"/>
                <a:ea typeface="Calibri"/>
                <a:cs typeface="Calibri"/>
                <a:sym typeface="Calibri"/>
              </a:rPr>
              <a:t>Baseline mode: same model, no trend/strategy in prompt</a:t>
            </a:r>
            <a:endParaRPr b="0" sz="800" u="none" strike="noStrike">
              <a:solidFill>
                <a:srgbClr val="FFFFFF"/>
              </a:solidFill>
              <a:latin typeface="Arial"/>
              <a:ea typeface="Arial"/>
              <a:cs typeface="Arial"/>
              <a:sym typeface="Arial"/>
            </a:endParaRPr>
          </a:p>
        </p:txBody>
      </p:sp>
      <p:sp>
        <p:nvSpPr>
          <p:cNvPr id="170" name="Google Shape;170;p10"/>
          <p:cNvSpPr/>
          <p:nvPr/>
        </p:nvSpPr>
        <p:spPr>
          <a:xfrm>
            <a:off x="274320" y="4434840"/>
            <a:ext cx="132516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 User Message</a:t>
            </a:r>
            <a:endParaRPr b="0" sz="800" u="none" strike="noStrike">
              <a:solidFill>
                <a:srgbClr val="FFFFFF"/>
              </a:solidFill>
              <a:latin typeface="Arial"/>
              <a:ea typeface="Arial"/>
              <a:cs typeface="Arial"/>
              <a:sym typeface="Arial"/>
            </a:endParaRPr>
          </a:p>
        </p:txBody>
      </p:sp>
      <p:sp>
        <p:nvSpPr>
          <p:cNvPr id="171" name="Google Shape;171;p10"/>
          <p:cNvSpPr/>
          <p:nvPr/>
        </p:nvSpPr>
        <p:spPr>
          <a:xfrm>
            <a:off x="7955280" y="4434840"/>
            <a:ext cx="913680" cy="273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00" u="none" strike="noStrike">
                <a:solidFill>
                  <a:srgbClr val="8E99A4"/>
                </a:solidFill>
                <a:latin typeface="Calibri"/>
                <a:ea typeface="Calibri"/>
                <a:cs typeface="Calibri"/>
                <a:sym typeface="Calibri"/>
              </a:rPr>
              <a:t>Response →</a:t>
            </a:r>
            <a:endParaRPr b="0" sz="800" u="none" strike="noStrike">
              <a:solidFill>
                <a:srgbClr val="FFFFF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76" name="Shape 176"/>
        <p:cNvGrpSpPr/>
        <p:nvPr/>
      </p:nvGrpSpPr>
      <p:grpSpPr>
        <a:xfrm>
          <a:off x="0" y="0"/>
          <a:ext cx="0" cy="0"/>
          <a:chOff x="0" y="0"/>
          <a:chExt cx="0" cy="0"/>
        </a:xfrm>
      </p:grpSpPr>
      <p:pic>
        <p:nvPicPr>
          <p:cNvPr id="177" name="Google Shape;177;p11"/>
          <p:cNvPicPr preferRelativeResize="0"/>
          <p:nvPr/>
        </p:nvPicPr>
        <p:blipFill rotWithShape="1">
          <a:blip r:embed="rId3">
            <a:alphaModFix/>
          </a:blip>
          <a:srcRect b="0" l="0" r="0" t="0"/>
          <a:stretch/>
        </p:blipFill>
        <p:spPr>
          <a:xfrm>
            <a:off x="1440000" y="0"/>
            <a:ext cx="6480000" cy="5143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82" name="Shape 182"/>
        <p:cNvGrpSpPr/>
        <p:nvPr/>
      </p:nvGrpSpPr>
      <p:grpSpPr>
        <a:xfrm>
          <a:off x="0" y="0"/>
          <a:ext cx="0" cy="0"/>
          <a:chOff x="0" y="0"/>
          <a:chExt cx="0" cy="0"/>
        </a:xfrm>
      </p:grpSpPr>
      <p:sp>
        <p:nvSpPr>
          <p:cNvPr id="183" name="Google Shape;183;p12"/>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a:solidFill>
                  <a:srgbClr val="0D1B2A"/>
                </a:solidFill>
                <a:latin typeface="Cambria"/>
                <a:ea typeface="Cambria"/>
                <a:cs typeface="Cambria"/>
                <a:sym typeface="Cambria"/>
              </a:rPr>
              <a:t>METHODOLOGY: </a:t>
            </a:r>
            <a:r>
              <a:rPr b="1" lang="en-US" sz="2600" u="none" strike="noStrike">
                <a:solidFill>
                  <a:srgbClr val="0D1B2A"/>
                </a:solidFill>
                <a:latin typeface="Cambria"/>
                <a:ea typeface="Cambria"/>
                <a:cs typeface="Cambria"/>
                <a:sym typeface="Cambria"/>
              </a:rPr>
              <a:t>EMOTION CLASSIFICATION</a:t>
            </a:r>
            <a:endParaRPr b="0" sz="2600" u="none" strike="noStrike">
              <a:solidFill>
                <a:srgbClr val="000000"/>
              </a:solidFill>
              <a:latin typeface="Arial"/>
              <a:ea typeface="Arial"/>
              <a:cs typeface="Arial"/>
              <a:sym typeface="Arial"/>
            </a:endParaRPr>
          </a:p>
        </p:txBody>
      </p:sp>
      <p:sp>
        <p:nvSpPr>
          <p:cNvPr id="184" name="Google Shape;184;p12"/>
          <p:cNvSpPr/>
          <p:nvPr/>
        </p:nvSpPr>
        <p:spPr>
          <a:xfrm>
            <a:off x="151275" y="850325"/>
            <a:ext cx="6147000" cy="4125900"/>
          </a:xfrm>
          <a:prstGeom prst="roundRect">
            <a:avLst>
              <a:gd fmla="val 2410"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85" name="Google Shape;185;p12"/>
          <p:cNvSpPr/>
          <p:nvPr/>
        </p:nvSpPr>
        <p:spPr>
          <a:xfrm>
            <a:off x="386685" y="3548545"/>
            <a:ext cx="4114200" cy="2553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1B6B6B"/>
                </a:solidFill>
                <a:latin typeface="Calibri"/>
                <a:ea typeface="Calibri"/>
                <a:cs typeface="Calibri"/>
                <a:sym typeface="Calibri"/>
              </a:rPr>
              <a:t>Ambiguity Pre-check:</a:t>
            </a:r>
            <a:endParaRPr b="0" sz="1100" u="none" strike="noStrike">
              <a:solidFill>
                <a:srgbClr val="000000"/>
              </a:solidFill>
              <a:latin typeface="Arial"/>
              <a:ea typeface="Arial"/>
              <a:cs typeface="Arial"/>
              <a:sym typeface="Arial"/>
            </a:endParaRPr>
          </a:p>
        </p:txBody>
      </p:sp>
      <p:sp>
        <p:nvSpPr>
          <p:cNvPr id="186" name="Google Shape;186;p12"/>
          <p:cNvSpPr/>
          <p:nvPr/>
        </p:nvSpPr>
        <p:spPr>
          <a:xfrm>
            <a:off x="386675" y="3795375"/>
            <a:ext cx="3984900" cy="456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00" u="none" strike="noStrike">
                <a:solidFill>
                  <a:srgbClr val="0D1B2A"/>
                </a:solidFill>
                <a:latin typeface="Calibri"/>
                <a:ea typeface="Calibri"/>
                <a:cs typeface="Calibri"/>
                <a:sym typeface="Calibri"/>
              </a:rPr>
              <a:t>If message has contrastive conjunction (but, though) AND both positive + negative keywords → AMBIGUOUS</a:t>
            </a:r>
            <a:endParaRPr b="0" sz="1000" u="none" strike="noStrike">
              <a:solidFill>
                <a:srgbClr val="000000"/>
              </a:solidFill>
              <a:latin typeface="Arial"/>
              <a:ea typeface="Arial"/>
              <a:cs typeface="Arial"/>
              <a:sym typeface="Arial"/>
            </a:endParaRPr>
          </a:p>
        </p:txBody>
      </p:sp>
      <p:sp>
        <p:nvSpPr>
          <p:cNvPr id="187" name="Google Shape;187;p12"/>
          <p:cNvSpPr/>
          <p:nvPr/>
        </p:nvSpPr>
        <p:spPr>
          <a:xfrm>
            <a:off x="269500" y="1109003"/>
            <a:ext cx="5596800" cy="24996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Font typeface="Arial"/>
              <a:buNone/>
            </a:pPr>
            <a:r>
              <a:t/>
            </a:r>
            <a:endParaRPr sz="1000">
              <a:solidFill>
                <a:schemeClr val="dk1"/>
              </a:solidFill>
              <a:latin typeface="Calibri"/>
              <a:ea typeface="Calibri"/>
              <a:cs typeface="Calibri"/>
              <a:sym typeface="Calibri"/>
            </a:endParaRPr>
          </a:p>
          <a:p>
            <a:pPr indent="0" lvl="0" marL="0" rtl="0" algn="l">
              <a:spcBef>
                <a:spcPts val="0"/>
              </a:spcBef>
              <a:spcAft>
                <a:spcPts val="0"/>
              </a:spcAft>
              <a:buNone/>
            </a:pPr>
            <a:r>
              <a:rPr lang="en-US" sz="1000">
                <a:solidFill>
                  <a:schemeClr val="dk1"/>
                </a:solidFill>
                <a:latin typeface="Times New Roman"/>
                <a:ea typeface="Times New Roman"/>
                <a:cs typeface="Times New Roman"/>
                <a:sym typeface="Times New Roman"/>
              </a:rPr>
              <a:t>AEIF defines 6 mutually exclusive emotion clusters mapped from HuggingFace and GoEmotions labels:</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POSITIVE (0.0) — joy, love, gratitude, optimism, relief</a:t>
            </a:r>
            <a:endParaRPr sz="10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NEUTRAL (0.3) — neutral statements, factual content</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AMBIGUOUS (0.4) — confusion, surprise, contradictory expressions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ANXIETY (0.6) — fear, nervousness, worry, dread</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ANGER (0.7) — anger, annoyance, disgust, frustration</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SADNESS (0.8) — sadness, grief, disappointment, hopelessness</a:t>
            </a:r>
            <a:endParaRPr sz="1000">
              <a:solidFill>
                <a:schemeClr val="dk1"/>
              </a:solidFill>
            </a:endParaRPr>
          </a:p>
          <a:p>
            <a:pPr indent="0" lvl="0" marL="0" rtl="0" algn="l">
              <a:spcBef>
                <a:spcPts val="800"/>
              </a:spcBef>
              <a:spcAft>
                <a:spcPts val="0"/>
              </a:spcAft>
              <a:buNone/>
            </a:pPr>
            <a:r>
              <a:rPr lang="en-US" sz="1000">
                <a:solidFill>
                  <a:schemeClr val="dk1"/>
                </a:solidFill>
                <a:latin typeface="Times New Roman"/>
                <a:ea typeface="Times New Roman"/>
                <a:cs typeface="Times New Roman"/>
                <a:sym typeface="Times New Roman"/>
              </a:rPr>
              <a:t>  CRISIS (1.0) — detected by safety layer before emotion classification</a:t>
            </a:r>
            <a:endParaRPr sz="1000">
              <a:solidFill>
                <a:schemeClr val="dk1"/>
              </a:solidFill>
            </a:endParaRPr>
          </a:p>
          <a:p>
            <a:pPr indent="0" lvl="0" marL="0" marR="0" rtl="0" algn="l">
              <a:lnSpc>
                <a:spcPct val="100000"/>
              </a:lnSpc>
              <a:spcBef>
                <a:spcPts val="0"/>
              </a:spcBef>
              <a:spcAft>
                <a:spcPts val="0"/>
              </a:spcAft>
              <a:buNone/>
            </a:pPr>
            <a:r>
              <a:t/>
            </a:r>
            <a:endParaRPr b="0" sz="1000" u="none" strike="noStrike">
              <a:solidFill>
                <a:srgbClr val="000000"/>
              </a:solidFill>
              <a:latin typeface="Arial"/>
              <a:ea typeface="Arial"/>
              <a:cs typeface="Arial"/>
              <a:sym typeface="Arial"/>
            </a:endParaRPr>
          </a:p>
        </p:txBody>
      </p:sp>
      <p:sp>
        <p:nvSpPr>
          <p:cNvPr id="188" name="Google Shape;188;p12"/>
          <p:cNvSpPr/>
          <p:nvPr/>
        </p:nvSpPr>
        <p:spPr>
          <a:xfrm>
            <a:off x="6489449" y="850325"/>
            <a:ext cx="2527800" cy="3794100"/>
          </a:xfrm>
          <a:prstGeom prst="roundRect">
            <a:avLst>
              <a:gd fmla="val 243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89" name="Google Shape;189;p12"/>
          <p:cNvSpPr/>
          <p:nvPr/>
        </p:nvSpPr>
        <p:spPr>
          <a:xfrm>
            <a:off x="6581952" y="960125"/>
            <a:ext cx="2342700" cy="31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Example Classifications</a:t>
            </a:r>
            <a:endParaRPr b="0" sz="1300" u="none" strike="noStrike">
              <a:solidFill>
                <a:srgbClr val="000000"/>
              </a:solidFill>
              <a:latin typeface="Arial"/>
              <a:ea typeface="Arial"/>
              <a:cs typeface="Arial"/>
              <a:sym typeface="Arial"/>
            </a:endParaRPr>
          </a:p>
        </p:txBody>
      </p:sp>
      <p:sp>
        <p:nvSpPr>
          <p:cNvPr id="190" name="Google Shape;190;p12"/>
          <p:cNvSpPr/>
          <p:nvPr/>
        </p:nvSpPr>
        <p:spPr>
          <a:xfrm>
            <a:off x="6551118" y="141732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1" name="Google Shape;191;p12"/>
          <p:cNvSpPr/>
          <p:nvPr/>
        </p:nvSpPr>
        <p:spPr>
          <a:xfrm>
            <a:off x="6612786" y="143568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feel so worthless and tired"</a:t>
            </a:r>
            <a:endParaRPr b="0" sz="900" u="none" strike="noStrike">
              <a:solidFill>
                <a:srgbClr val="000000"/>
              </a:solidFill>
              <a:latin typeface="Arial"/>
              <a:ea typeface="Arial"/>
              <a:cs typeface="Arial"/>
              <a:sym typeface="Arial"/>
            </a:endParaRPr>
          </a:p>
        </p:txBody>
      </p:sp>
      <p:sp>
        <p:nvSpPr>
          <p:cNvPr id="192" name="Google Shape;192;p12"/>
          <p:cNvSpPr/>
          <p:nvPr/>
        </p:nvSpPr>
        <p:spPr>
          <a:xfrm>
            <a:off x="6612786" y="169164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(98%)</a:t>
            </a:r>
            <a:endParaRPr b="0" sz="950" u="none" strike="noStrike">
              <a:solidFill>
                <a:srgbClr val="000000"/>
              </a:solidFill>
              <a:latin typeface="Arial"/>
              <a:ea typeface="Arial"/>
              <a:cs typeface="Arial"/>
              <a:sym typeface="Arial"/>
            </a:endParaRPr>
          </a:p>
        </p:txBody>
      </p:sp>
      <p:sp>
        <p:nvSpPr>
          <p:cNvPr id="193" name="Google Shape;193;p12"/>
          <p:cNvSpPr/>
          <p:nvPr/>
        </p:nvSpPr>
        <p:spPr>
          <a:xfrm>
            <a:off x="6551118" y="205740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4" name="Google Shape;194;p12"/>
          <p:cNvSpPr/>
          <p:nvPr/>
        </p:nvSpPr>
        <p:spPr>
          <a:xfrm>
            <a:off x="6612786" y="207576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got the job but I'm terrified"</a:t>
            </a:r>
            <a:endParaRPr b="0" sz="900" u="none" strike="noStrike">
              <a:solidFill>
                <a:srgbClr val="000000"/>
              </a:solidFill>
              <a:latin typeface="Arial"/>
              <a:ea typeface="Arial"/>
              <a:cs typeface="Arial"/>
              <a:sym typeface="Arial"/>
            </a:endParaRPr>
          </a:p>
        </p:txBody>
      </p:sp>
      <p:sp>
        <p:nvSpPr>
          <p:cNvPr id="195" name="Google Shape;195;p12"/>
          <p:cNvSpPr/>
          <p:nvPr/>
        </p:nvSpPr>
        <p:spPr>
          <a:xfrm>
            <a:off x="6612786" y="233172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 AMBIGUOUS (pre-check)</a:t>
            </a:r>
            <a:endParaRPr b="0" sz="950" u="none" strike="noStrike">
              <a:solidFill>
                <a:srgbClr val="000000"/>
              </a:solidFill>
              <a:latin typeface="Arial"/>
              <a:ea typeface="Arial"/>
              <a:cs typeface="Arial"/>
              <a:sym typeface="Arial"/>
            </a:endParaRPr>
          </a:p>
        </p:txBody>
      </p:sp>
      <p:sp>
        <p:nvSpPr>
          <p:cNvPr id="196" name="Google Shape;196;p12"/>
          <p:cNvSpPr/>
          <p:nvPr/>
        </p:nvSpPr>
        <p:spPr>
          <a:xfrm>
            <a:off x="6551118" y="269748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197" name="Google Shape;197;p12"/>
          <p:cNvSpPr/>
          <p:nvPr/>
        </p:nvSpPr>
        <p:spPr>
          <a:xfrm>
            <a:off x="6612786" y="271584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"E be like say nobody dey for me"</a:t>
            </a:r>
            <a:endParaRPr b="0" sz="900" u="none" strike="noStrike">
              <a:solidFill>
                <a:srgbClr val="000000"/>
              </a:solidFill>
              <a:latin typeface="Arial"/>
              <a:ea typeface="Arial"/>
              <a:cs typeface="Arial"/>
              <a:sym typeface="Arial"/>
            </a:endParaRPr>
          </a:p>
        </p:txBody>
      </p:sp>
      <p:sp>
        <p:nvSpPr>
          <p:cNvPr id="198" name="Google Shape;198;p12"/>
          <p:cNvSpPr/>
          <p:nvPr/>
        </p:nvSpPr>
        <p:spPr>
          <a:xfrm>
            <a:off x="6612786" y="297180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 SADNESS (Pidgin fallback)</a:t>
            </a:r>
            <a:endParaRPr b="0" sz="950" u="none" strike="noStrike">
              <a:solidFill>
                <a:srgbClr val="000000"/>
              </a:solidFill>
              <a:latin typeface="Arial"/>
              <a:ea typeface="Arial"/>
              <a:cs typeface="Arial"/>
              <a:sym typeface="Arial"/>
            </a:endParaRPr>
          </a:p>
        </p:txBody>
      </p:sp>
      <p:sp>
        <p:nvSpPr>
          <p:cNvPr id="199" name="Google Shape;199;p12"/>
          <p:cNvSpPr/>
          <p:nvPr/>
        </p:nvSpPr>
        <p:spPr>
          <a:xfrm>
            <a:off x="6551118" y="333756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0" name="Google Shape;200;p12"/>
          <p:cNvSpPr/>
          <p:nvPr/>
        </p:nvSpPr>
        <p:spPr>
          <a:xfrm>
            <a:off x="6612786" y="335592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think I finally passed!"</a:t>
            </a:r>
            <a:endParaRPr b="0" sz="900" u="none" strike="noStrike">
              <a:solidFill>
                <a:srgbClr val="000000"/>
              </a:solidFill>
              <a:latin typeface="Arial"/>
              <a:ea typeface="Arial"/>
              <a:cs typeface="Arial"/>
              <a:sym typeface="Arial"/>
            </a:endParaRPr>
          </a:p>
        </p:txBody>
      </p:sp>
      <p:sp>
        <p:nvSpPr>
          <p:cNvPr id="201" name="Google Shape;201;p12"/>
          <p:cNvSpPr/>
          <p:nvPr/>
        </p:nvSpPr>
        <p:spPr>
          <a:xfrm>
            <a:off x="6612786" y="361188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 POSITIVE (91%)</a:t>
            </a:r>
            <a:endParaRPr b="0" sz="950" u="none" strike="noStrike">
              <a:solidFill>
                <a:srgbClr val="000000"/>
              </a:solidFill>
              <a:latin typeface="Arial"/>
              <a:ea typeface="Arial"/>
              <a:cs typeface="Arial"/>
              <a:sym typeface="Arial"/>
            </a:endParaRPr>
          </a:p>
        </p:txBody>
      </p:sp>
      <p:sp>
        <p:nvSpPr>
          <p:cNvPr id="202" name="Google Shape;202;p12"/>
          <p:cNvSpPr/>
          <p:nvPr/>
        </p:nvSpPr>
        <p:spPr>
          <a:xfrm>
            <a:off x="6551118" y="3977645"/>
            <a:ext cx="2373900" cy="547800"/>
          </a:xfrm>
          <a:prstGeom prst="roundRect">
            <a:avLst>
              <a:gd fmla="val 11667" name="adj"/>
            </a:avLst>
          </a:prstGeom>
          <a:solidFill>
            <a:srgbClr val="F9F9F9"/>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03" name="Google Shape;203;p12"/>
          <p:cNvSpPr/>
          <p:nvPr/>
        </p:nvSpPr>
        <p:spPr>
          <a:xfrm>
            <a:off x="6612786" y="3996005"/>
            <a:ext cx="22503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900" u="none" strike="noStrike">
                <a:solidFill>
                  <a:srgbClr val="0D1B2A"/>
                </a:solidFill>
                <a:latin typeface="Calibri"/>
                <a:ea typeface="Calibri"/>
                <a:cs typeface="Calibri"/>
                <a:sym typeface="Calibri"/>
              </a:rPr>
              <a:t>"I can't stop worrying about it"</a:t>
            </a:r>
            <a:endParaRPr b="0" sz="900" u="none" strike="noStrike">
              <a:solidFill>
                <a:srgbClr val="000000"/>
              </a:solidFill>
              <a:latin typeface="Arial"/>
              <a:ea typeface="Arial"/>
              <a:cs typeface="Arial"/>
              <a:sym typeface="Arial"/>
            </a:endParaRPr>
          </a:p>
        </p:txBody>
      </p:sp>
      <p:sp>
        <p:nvSpPr>
          <p:cNvPr id="204" name="Google Shape;204;p12"/>
          <p:cNvSpPr/>
          <p:nvPr/>
        </p:nvSpPr>
        <p:spPr>
          <a:xfrm>
            <a:off x="6612786" y="4251965"/>
            <a:ext cx="22503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 ANXIETY (83%)</a:t>
            </a:r>
            <a:endParaRPr b="0" sz="950" u="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3"/>
          <p:cNvSpPr/>
          <p:nvPr/>
        </p:nvSpPr>
        <p:spPr>
          <a:xfrm>
            <a:off x="0" y="0"/>
            <a:ext cx="9143280" cy="91368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1" name="Google Shape;211;p13"/>
          <p:cNvSpPr/>
          <p:nvPr/>
        </p:nvSpPr>
        <p:spPr>
          <a:xfrm>
            <a:off x="457200" y="274320"/>
            <a:ext cx="822888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12" name="Google Shape;212;p13"/>
          <p:cNvSpPr/>
          <p:nvPr/>
        </p:nvSpPr>
        <p:spPr>
          <a:xfrm>
            <a:off x="365760" y="1005840"/>
            <a:ext cx="4114080" cy="31932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400" u="none" strike="noStrike">
                <a:solidFill>
                  <a:srgbClr val="0D1B2A"/>
                </a:solidFill>
                <a:latin typeface="Cambria"/>
                <a:ea typeface="Cambria"/>
                <a:cs typeface="Cambria"/>
                <a:sym typeface="Cambria"/>
              </a:rPr>
              <a:t>7 Trend Types</a:t>
            </a:r>
            <a:endParaRPr b="0" sz="1400" u="none" strike="noStrike">
              <a:solidFill>
                <a:srgbClr val="000000"/>
              </a:solidFill>
              <a:latin typeface="Arial"/>
              <a:ea typeface="Arial"/>
              <a:cs typeface="Arial"/>
              <a:sym typeface="Arial"/>
            </a:endParaRPr>
          </a:p>
        </p:txBody>
      </p:sp>
      <p:sp>
        <p:nvSpPr>
          <p:cNvPr id="213" name="Google Shape;213;p13"/>
          <p:cNvSpPr/>
          <p:nvPr/>
        </p:nvSpPr>
        <p:spPr>
          <a:xfrm>
            <a:off x="365760" y="1472040"/>
            <a:ext cx="200520" cy="31932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4" name="Google Shape;214;p13"/>
          <p:cNvSpPr/>
          <p:nvPr/>
        </p:nvSpPr>
        <p:spPr>
          <a:xfrm>
            <a:off x="685800" y="14173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PERSISTENT_DISTRESS</a:t>
            </a:r>
            <a:endParaRPr b="0" sz="950" u="none" strike="noStrike">
              <a:solidFill>
                <a:srgbClr val="000000"/>
              </a:solidFill>
              <a:latin typeface="Arial"/>
              <a:ea typeface="Arial"/>
              <a:cs typeface="Arial"/>
              <a:sym typeface="Arial"/>
            </a:endParaRPr>
          </a:p>
        </p:txBody>
      </p:sp>
      <p:sp>
        <p:nvSpPr>
          <p:cNvPr id="215" name="Google Shape;215;p13"/>
          <p:cNvSpPr/>
          <p:nvPr/>
        </p:nvSpPr>
        <p:spPr>
          <a:xfrm>
            <a:off x="685800" y="16732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severity &gt; 0.55</a:t>
            </a:r>
            <a:endParaRPr b="0" sz="850" u="none" strike="noStrike">
              <a:solidFill>
                <a:srgbClr val="000000"/>
              </a:solidFill>
              <a:latin typeface="Arial"/>
              <a:ea typeface="Arial"/>
              <a:cs typeface="Arial"/>
              <a:sym typeface="Arial"/>
            </a:endParaRPr>
          </a:p>
        </p:txBody>
      </p:sp>
      <p:sp>
        <p:nvSpPr>
          <p:cNvPr id="216" name="Google Shape;216;p13"/>
          <p:cNvSpPr/>
          <p:nvPr/>
        </p:nvSpPr>
        <p:spPr>
          <a:xfrm>
            <a:off x="365760" y="1965960"/>
            <a:ext cx="200520" cy="319320"/>
          </a:xfrm>
          <a:prstGeom prst="rect">
            <a:avLst/>
          </a:prstGeom>
          <a:solidFill>
            <a:srgbClr val="E06030"/>
          </a:solidFill>
          <a:ln cap="flat" cmpd="sng" w="12600">
            <a:solidFill>
              <a:srgbClr val="E0603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17" name="Google Shape;217;p13"/>
          <p:cNvSpPr/>
          <p:nvPr/>
        </p:nvSpPr>
        <p:spPr>
          <a:xfrm>
            <a:off x="685800" y="191124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ESCALATING_DISTRESS</a:t>
            </a:r>
            <a:endParaRPr b="0" sz="950" u="none" strike="noStrike">
              <a:solidFill>
                <a:srgbClr val="000000"/>
              </a:solidFill>
              <a:latin typeface="Arial"/>
              <a:ea typeface="Arial"/>
              <a:cs typeface="Arial"/>
              <a:sym typeface="Arial"/>
            </a:endParaRPr>
          </a:p>
        </p:txBody>
      </p:sp>
      <p:sp>
        <p:nvSpPr>
          <p:cNvPr id="218" name="Google Shape;218;p13"/>
          <p:cNvSpPr/>
          <p:nvPr/>
        </p:nvSpPr>
        <p:spPr>
          <a:xfrm>
            <a:off x="685800" y="21672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increasing severity scores</a:t>
            </a:r>
            <a:endParaRPr b="0" sz="850" u="none" strike="noStrike">
              <a:solidFill>
                <a:srgbClr val="000000"/>
              </a:solidFill>
              <a:latin typeface="Arial"/>
              <a:ea typeface="Arial"/>
              <a:cs typeface="Arial"/>
              <a:sym typeface="Arial"/>
            </a:endParaRPr>
          </a:p>
        </p:txBody>
      </p:sp>
      <p:sp>
        <p:nvSpPr>
          <p:cNvPr id="219" name="Google Shape;219;p13"/>
          <p:cNvSpPr/>
          <p:nvPr/>
        </p:nvSpPr>
        <p:spPr>
          <a:xfrm>
            <a:off x="365760" y="2459880"/>
            <a:ext cx="200520" cy="319320"/>
          </a:xfrm>
          <a:prstGeom prst="rect">
            <a:avLst/>
          </a:prstGeom>
          <a:solidFill>
            <a:srgbClr val="C04040"/>
          </a:solidFill>
          <a:ln cap="flat" cmpd="sng" w="12600">
            <a:solidFill>
              <a:srgbClr val="C0404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0" name="Google Shape;220;p13"/>
          <p:cNvSpPr/>
          <p:nvPr/>
        </p:nvSpPr>
        <p:spPr>
          <a:xfrm>
            <a:off x="685800" y="24048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ELEVATED_ANGER</a:t>
            </a:r>
            <a:endParaRPr b="0" sz="950" u="none" strike="noStrike">
              <a:solidFill>
                <a:srgbClr val="000000"/>
              </a:solidFill>
              <a:latin typeface="Arial"/>
              <a:ea typeface="Arial"/>
              <a:cs typeface="Arial"/>
              <a:sym typeface="Arial"/>
            </a:endParaRPr>
          </a:p>
        </p:txBody>
      </p:sp>
      <p:sp>
        <p:nvSpPr>
          <p:cNvPr id="221" name="Google Shape;221;p13"/>
          <p:cNvSpPr/>
          <p:nvPr/>
        </p:nvSpPr>
        <p:spPr>
          <a:xfrm>
            <a:off x="685800" y="26607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2+ consecutive ANGER turns</a:t>
            </a:r>
            <a:endParaRPr b="0" sz="850" u="none" strike="noStrike">
              <a:solidFill>
                <a:srgbClr val="000000"/>
              </a:solidFill>
              <a:latin typeface="Arial"/>
              <a:ea typeface="Arial"/>
              <a:cs typeface="Arial"/>
              <a:sym typeface="Arial"/>
            </a:endParaRPr>
          </a:p>
        </p:txBody>
      </p:sp>
      <p:sp>
        <p:nvSpPr>
          <p:cNvPr id="222" name="Google Shape;222;p13"/>
          <p:cNvSpPr/>
          <p:nvPr/>
        </p:nvSpPr>
        <p:spPr>
          <a:xfrm>
            <a:off x="365760" y="2953440"/>
            <a:ext cx="200520" cy="31932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3" name="Google Shape;223;p13"/>
          <p:cNvSpPr/>
          <p:nvPr/>
        </p:nvSpPr>
        <p:spPr>
          <a:xfrm>
            <a:off x="685800" y="28987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IMPROVING</a:t>
            </a:r>
            <a:endParaRPr b="0" sz="950" u="none" strike="noStrike">
              <a:solidFill>
                <a:srgbClr val="000000"/>
              </a:solidFill>
              <a:latin typeface="Arial"/>
              <a:ea typeface="Arial"/>
              <a:cs typeface="Arial"/>
              <a:sym typeface="Arial"/>
            </a:endParaRPr>
          </a:p>
        </p:txBody>
      </p:sp>
      <p:sp>
        <p:nvSpPr>
          <p:cNvPr id="224" name="Google Shape;224;p13"/>
          <p:cNvSpPr/>
          <p:nvPr/>
        </p:nvSpPr>
        <p:spPr>
          <a:xfrm>
            <a:off x="685800" y="31546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Strictly decreasing + started negative</a:t>
            </a:r>
            <a:endParaRPr b="0" sz="850" u="none" strike="noStrike">
              <a:solidFill>
                <a:srgbClr val="000000"/>
              </a:solidFill>
              <a:latin typeface="Arial"/>
              <a:ea typeface="Arial"/>
              <a:cs typeface="Arial"/>
              <a:sym typeface="Arial"/>
            </a:endParaRPr>
          </a:p>
        </p:txBody>
      </p:sp>
      <p:sp>
        <p:nvSpPr>
          <p:cNvPr id="225" name="Google Shape;225;p13"/>
          <p:cNvSpPr/>
          <p:nvPr/>
        </p:nvSpPr>
        <p:spPr>
          <a:xfrm>
            <a:off x="365760" y="3447360"/>
            <a:ext cx="200520" cy="319320"/>
          </a:xfrm>
          <a:prstGeom prst="rect">
            <a:avLst/>
          </a:prstGeom>
          <a:solidFill>
            <a:srgbClr val="2E8B57"/>
          </a:solidFill>
          <a:ln cap="flat" cmpd="sng" w="12600">
            <a:solidFill>
              <a:srgbClr val="2E8B5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26" name="Google Shape;226;p13"/>
          <p:cNvSpPr/>
          <p:nvPr/>
        </p:nvSpPr>
        <p:spPr>
          <a:xfrm>
            <a:off x="685800" y="339228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STABLE_POSITIVE</a:t>
            </a:r>
            <a:endParaRPr b="0" sz="950" u="none" strike="noStrike">
              <a:solidFill>
                <a:srgbClr val="000000"/>
              </a:solidFill>
              <a:latin typeface="Arial"/>
              <a:ea typeface="Arial"/>
              <a:cs typeface="Arial"/>
              <a:sym typeface="Arial"/>
            </a:endParaRPr>
          </a:p>
        </p:txBody>
      </p:sp>
      <p:sp>
        <p:nvSpPr>
          <p:cNvPr id="227" name="Google Shape;227;p13"/>
          <p:cNvSpPr/>
          <p:nvPr/>
        </p:nvSpPr>
        <p:spPr>
          <a:xfrm>
            <a:off x="685800" y="364860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Mean ≤ 0.2, recent POSITIVE turn</a:t>
            </a:r>
            <a:endParaRPr b="0" sz="850" u="none" strike="noStrike">
              <a:solidFill>
                <a:srgbClr val="000000"/>
              </a:solidFill>
              <a:latin typeface="Arial"/>
              <a:ea typeface="Arial"/>
              <a:cs typeface="Arial"/>
              <a:sym typeface="Arial"/>
            </a:endParaRPr>
          </a:p>
        </p:txBody>
      </p:sp>
      <p:sp>
        <p:nvSpPr>
          <p:cNvPr id="228" name="Google Shape;228;p13"/>
          <p:cNvSpPr/>
          <p:nvPr/>
        </p:nvSpPr>
        <p:spPr>
          <a:xfrm>
            <a:off x="365760" y="3940920"/>
            <a:ext cx="200520" cy="31932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29" name="Google Shape;229;p13"/>
          <p:cNvSpPr/>
          <p:nvPr/>
        </p:nvSpPr>
        <p:spPr>
          <a:xfrm>
            <a:off x="685800" y="388620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FLUCTUATING</a:t>
            </a:r>
            <a:endParaRPr b="0" sz="950" u="none" strike="noStrike">
              <a:solidFill>
                <a:srgbClr val="000000"/>
              </a:solidFill>
              <a:latin typeface="Arial"/>
              <a:ea typeface="Arial"/>
              <a:cs typeface="Arial"/>
              <a:sym typeface="Arial"/>
            </a:endParaRPr>
          </a:p>
        </p:txBody>
      </p:sp>
      <p:sp>
        <p:nvSpPr>
          <p:cNvPr id="230" name="Google Shape;230;p13"/>
          <p:cNvSpPr/>
          <p:nvPr/>
        </p:nvSpPr>
        <p:spPr>
          <a:xfrm>
            <a:off x="685800" y="414216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One or more direction reversals</a:t>
            </a:r>
            <a:endParaRPr b="0" sz="850" u="none" strike="noStrike">
              <a:solidFill>
                <a:srgbClr val="000000"/>
              </a:solidFill>
              <a:latin typeface="Arial"/>
              <a:ea typeface="Arial"/>
              <a:cs typeface="Arial"/>
              <a:sym typeface="Arial"/>
            </a:endParaRPr>
          </a:p>
        </p:txBody>
      </p:sp>
      <p:sp>
        <p:nvSpPr>
          <p:cNvPr id="231" name="Google Shape;231;p13"/>
          <p:cNvSpPr/>
          <p:nvPr/>
        </p:nvSpPr>
        <p:spPr>
          <a:xfrm>
            <a:off x="365760" y="4434840"/>
            <a:ext cx="200520" cy="31932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2" name="Google Shape;232;p13"/>
          <p:cNvSpPr/>
          <p:nvPr/>
        </p:nvSpPr>
        <p:spPr>
          <a:xfrm>
            <a:off x="685800" y="4380120"/>
            <a:ext cx="3291120" cy="2919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0D1B2A"/>
                </a:solidFill>
                <a:latin typeface="Calibri"/>
                <a:ea typeface="Calibri"/>
                <a:cs typeface="Calibri"/>
                <a:sym typeface="Calibri"/>
              </a:rPr>
              <a:t>INSUFFICIENT_DATA</a:t>
            </a:r>
            <a:endParaRPr b="0" sz="950" u="none" strike="noStrike">
              <a:solidFill>
                <a:srgbClr val="000000"/>
              </a:solidFill>
              <a:latin typeface="Arial"/>
              <a:ea typeface="Arial"/>
              <a:cs typeface="Arial"/>
              <a:sym typeface="Arial"/>
            </a:endParaRPr>
          </a:p>
        </p:txBody>
      </p:sp>
      <p:sp>
        <p:nvSpPr>
          <p:cNvPr id="233" name="Google Shape;233;p13"/>
          <p:cNvSpPr/>
          <p:nvPr/>
        </p:nvSpPr>
        <p:spPr>
          <a:xfrm>
            <a:off x="685800" y="4636080"/>
            <a:ext cx="3291120" cy="2188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Fewer than 3 turns</a:t>
            </a:r>
            <a:endParaRPr b="0" sz="850" u="none" strike="noStrike">
              <a:solidFill>
                <a:srgbClr val="000000"/>
              </a:solidFill>
              <a:latin typeface="Arial"/>
              <a:ea typeface="Arial"/>
              <a:cs typeface="Arial"/>
              <a:sym typeface="Arial"/>
            </a:endParaRPr>
          </a:p>
        </p:txBody>
      </p:sp>
      <p:sp>
        <p:nvSpPr>
          <p:cNvPr id="234" name="Google Shape;234;p13"/>
          <p:cNvSpPr/>
          <p:nvPr/>
        </p:nvSpPr>
        <p:spPr>
          <a:xfrm>
            <a:off x="4536853" y="1005850"/>
            <a:ext cx="4388400" cy="2193900"/>
          </a:xfrm>
          <a:prstGeom prst="roundRect">
            <a:avLst>
              <a:gd fmla="val 4167" name="adj"/>
            </a:avLst>
          </a:prstGeom>
          <a:solidFill>
            <a:srgbClr val="F8F4FF"/>
          </a:solidFill>
          <a:ln cap="flat" cmpd="sng" w="12600">
            <a:solidFill>
              <a:srgbClr val="D6DDE3"/>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35" name="Google Shape;235;p13"/>
          <p:cNvSpPr/>
          <p:nvPr/>
        </p:nvSpPr>
        <p:spPr>
          <a:xfrm>
            <a:off x="4674007" y="1078920"/>
            <a:ext cx="3839700" cy="291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300" u="none" strike="noStrike">
                <a:solidFill>
                  <a:srgbClr val="0D1B2A"/>
                </a:solidFill>
                <a:latin typeface="Cambria"/>
                <a:ea typeface="Cambria"/>
                <a:cs typeface="Cambria"/>
                <a:sym typeface="Cambria"/>
              </a:rPr>
              <a:t>Severity Scoring</a:t>
            </a:r>
            <a:endParaRPr b="0" sz="1300" u="none" strike="noStrike">
              <a:solidFill>
                <a:srgbClr val="000000"/>
              </a:solidFill>
              <a:latin typeface="Arial"/>
              <a:ea typeface="Arial"/>
              <a:cs typeface="Arial"/>
              <a:sym typeface="Arial"/>
            </a:endParaRPr>
          </a:p>
        </p:txBody>
      </p:sp>
      <p:sp>
        <p:nvSpPr>
          <p:cNvPr id="236" name="Google Shape;236;p13"/>
          <p:cNvSpPr/>
          <p:nvPr/>
        </p:nvSpPr>
        <p:spPr>
          <a:xfrm>
            <a:off x="4674007" y="14446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27AE60"/>
                </a:solidFill>
                <a:latin typeface="Calibri"/>
                <a:ea typeface="Calibri"/>
                <a:cs typeface="Calibri"/>
                <a:sym typeface="Calibri"/>
              </a:rPr>
              <a:t>POSITIVE</a:t>
            </a:r>
            <a:endParaRPr b="0" sz="950" u="none" strike="noStrike">
              <a:solidFill>
                <a:srgbClr val="000000"/>
              </a:solidFill>
              <a:latin typeface="Arial"/>
              <a:ea typeface="Arial"/>
              <a:cs typeface="Arial"/>
              <a:sym typeface="Arial"/>
            </a:endParaRPr>
          </a:p>
        </p:txBody>
      </p:sp>
      <p:sp>
        <p:nvSpPr>
          <p:cNvPr id="237" name="Google Shape;237;p13"/>
          <p:cNvSpPr/>
          <p:nvPr/>
        </p:nvSpPr>
        <p:spPr>
          <a:xfrm>
            <a:off x="6260189" y="1490400"/>
            <a:ext cx="136500" cy="145500"/>
          </a:xfrm>
          <a:prstGeom prst="rect">
            <a:avLst/>
          </a:prstGeom>
          <a:solidFill>
            <a:srgbClr val="27AE60"/>
          </a:solidFill>
          <a:ln cap="flat" cmpd="sng" w="12600">
            <a:solidFill>
              <a:srgbClr val="27AE60"/>
            </a:solidFill>
            <a:prstDash val="solid"/>
            <a:round/>
            <a:headEnd len="sm" w="sm" type="none"/>
            <a:tailEnd len="sm" w="sm" type="none"/>
          </a:ln>
        </p:spPr>
        <p:txBody>
          <a:bodyPr anchorCtr="0" anchor="t" bIns="45000" lIns="68400" spcFirstLastPara="1" rIns="684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38" name="Google Shape;238;p13"/>
          <p:cNvSpPr/>
          <p:nvPr/>
        </p:nvSpPr>
        <p:spPr>
          <a:xfrm>
            <a:off x="8450796" y="14446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0.0</a:t>
            </a:r>
            <a:endParaRPr b="0" sz="900" u="none" strike="noStrike">
              <a:solidFill>
                <a:srgbClr val="000000"/>
              </a:solidFill>
              <a:latin typeface="Arial"/>
              <a:ea typeface="Arial"/>
              <a:cs typeface="Arial"/>
              <a:sym typeface="Arial"/>
            </a:endParaRPr>
          </a:p>
        </p:txBody>
      </p:sp>
      <p:sp>
        <p:nvSpPr>
          <p:cNvPr id="239" name="Google Shape;239;p13"/>
          <p:cNvSpPr/>
          <p:nvPr/>
        </p:nvSpPr>
        <p:spPr>
          <a:xfrm>
            <a:off x="4674007" y="169164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8E99A4"/>
                </a:solidFill>
                <a:latin typeface="Calibri"/>
                <a:ea typeface="Calibri"/>
                <a:cs typeface="Calibri"/>
                <a:sym typeface="Calibri"/>
              </a:rPr>
              <a:t>NEUTRAL</a:t>
            </a:r>
            <a:endParaRPr b="0" sz="950" u="none" strike="noStrike">
              <a:solidFill>
                <a:srgbClr val="000000"/>
              </a:solidFill>
              <a:latin typeface="Arial"/>
              <a:ea typeface="Arial"/>
              <a:cs typeface="Arial"/>
              <a:sym typeface="Arial"/>
            </a:endParaRPr>
          </a:p>
        </p:txBody>
      </p:sp>
      <p:sp>
        <p:nvSpPr>
          <p:cNvPr id="240" name="Google Shape;240;p13"/>
          <p:cNvSpPr/>
          <p:nvPr/>
        </p:nvSpPr>
        <p:spPr>
          <a:xfrm>
            <a:off x="6260189" y="1737360"/>
            <a:ext cx="685200" cy="145500"/>
          </a:xfrm>
          <a:prstGeom prst="rect">
            <a:avLst/>
          </a:prstGeom>
          <a:solidFill>
            <a:srgbClr val="8E99A4"/>
          </a:solidFill>
          <a:ln cap="flat" cmpd="sng" w="12600">
            <a:solidFill>
              <a:srgbClr val="8E99A4"/>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1" name="Google Shape;241;p13"/>
          <p:cNvSpPr/>
          <p:nvPr/>
        </p:nvSpPr>
        <p:spPr>
          <a:xfrm>
            <a:off x="8450796" y="169164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8E99A4"/>
                </a:solidFill>
                <a:latin typeface="Calibri"/>
                <a:ea typeface="Calibri"/>
                <a:cs typeface="Calibri"/>
                <a:sym typeface="Calibri"/>
              </a:rPr>
              <a:t>0.3</a:t>
            </a:r>
            <a:endParaRPr b="0" sz="900" u="none" strike="noStrike">
              <a:solidFill>
                <a:srgbClr val="000000"/>
              </a:solidFill>
              <a:latin typeface="Arial"/>
              <a:ea typeface="Arial"/>
              <a:cs typeface="Arial"/>
              <a:sym typeface="Arial"/>
            </a:endParaRPr>
          </a:p>
        </p:txBody>
      </p:sp>
      <p:sp>
        <p:nvSpPr>
          <p:cNvPr id="242" name="Google Shape;242;p13"/>
          <p:cNvSpPr/>
          <p:nvPr/>
        </p:nvSpPr>
        <p:spPr>
          <a:xfrm>
            <a:off x="4674007" y="193860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7B5EA7"/>
                </a:solidFill>
                <a:latin typeface="Calibri"/>
                <a:ea typeface="Calibri"/>
                <a:cs typeface="Calibri"/>
                <a:sym typeface="Calibri"/>
              </a:rPr>
              <a:t>AMBIGUOUS</a:t>
            </a:r>
            <a:endParaRPr b="0" sz="950" u="none" strike="noStrike">
              <a:solidFill>
                <a:srgbClr val="000000"/>
              </a:solidFill>
              <a:latin typeface="Arial"/>
              <a:ea typeface="Arial"/>
              <a:cs typeface="Arial"/>
              <a:sym typeface="Arial"/>
            </a:endParaRPr>
          </a:p>
        </p:txBody>
      </p:sp>
      <p:sp>
        <p:nvSpPr>
          <p:cNvPr id="243" name="Google Shape;243;p13"/>
          <p:cNvSpPr/>
          <p:nvPr/>
        </p:nvSpPr>
        <p:spPr>
          <a:xfrm>
            <a:off x="6260189" y="1984320"/>
            <a:ext cx="913800" cy="145500"/>
          </a:xfrm>
          <a:prstGeom prst="rect">
            <a:avLst/>
          </a:prstGeom>
          <a:solidFill>
            <a:srgbClr val="7B5EA7"/>
          </a:solidFill>
          <a:ln cap="flat" cmpd="sng" w="12600">
            <a:solidFill>
              <a:srgbClr val="7B5EA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4" name="Google Shape;244;p13"/>
          <p:cNvSpPr/>
          <p:nvPr/>
        </p:nvSpPr>
        <p:spPr>
          <a:xfrm>
            <a:off x="8450796" y="193860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7B5EA7"/>
                </a:solidFill>
                <a:latin typeface="Calibri"/>
                <a:ea typeface="Calibri"/>
                <a:cs typeface="Calibri"/>
                <a:sym typeface="Calibri"/>
              </a:rPr>
              <a:t>0.4</a:t>
            </a:r>
            <a:endParaRPr b="0" sz="900" u="none" strike="noStrike">
              <a:solidFill>
                <a:srgbClr val="000000"/>
              </a:solidFill>
              <a:latin typeface="Arial"/>
              <a:ea typeface="Arial"/>
              <a:cs typeface="Arial"/>
              <a:sym typeface="Arial"/>
            </a:endParaRPr>
          </a:p>
        </p:txBody>
      </p:sp>
      <p:sp>
        <p:nvSpPr>
          <p:cNvPr id="245" name="Google Shape;245;p13"/>
          <p:cNvSpPr/>
          <p:nvPr/>
        </p:nvSpPr>
        <p:spPr>
          <a:xfrm>
            <a:off x="4674007" y="21855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E8852E"/>
                </a:solidFill>
                <a:latin typeface="Calibri"/>
                <a:ea typeface="Calibri"/>
                <a:cs typeface="Calibri"/>
                <a:sym typeface="Calibri"/>
              </a:rPr>
              <a:t>ANXIETY</a:t>
            </a:r>
            <a:endParaRPr b="0" sz="950" u="none" strike="noStrike">
              <a:solidFill>
                <a:srgbClr val="000000"/>
              </a:solidFill>
              <a:latin typeface="Arial"/>
              <a:ea typeface="Arial"/>
              <a:cs typeface="Arial"/>
              <a:sym typeface="Arial"/>
            </a:endParaRPr>
          </a:p>
        </p:txBody>
      </p:sp>
      <p:sp>
        <p:nvSpPr>
          <p:cNvPr id="246" name="Google Shape;246;p13"/>
          <p:cNvSpPr/>
          <p:nvPr/>
        </p:nvSpPr>
        <p:spPr>
          <a:xfrm>
            <a:off x="6260189" y="2231280"/>
            <a:ext cx="1371000" cy="145500"/>
          </a:xfrm>
          <a:prstGeom prst="rect">
            <a:avLst/>
          </a:prstGeom>
          <a:solidFill>
            <a:srgbClr val="E8852E"/>
          </a:solidFill>
          <a:ln cap="flat" cmpd="sng" w="12600">
            <a:solidFill>
              <a:srgbClr val="E8852E"/>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47" name="Google Shape;247;p13"/>
          <p:cNvSpPr/>
          <p:nvPr/>
        </p:nvSpPr>
        <p:spPr>
          <a:xfrm>
            <a:off x="8450796" y="21855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E8852E"/>
                </a:solidFill>
                <a:latin typeface="Calibri"/>
                <a:ea typeface="Calibri"/>
                <a:cs typeface="Calibri"/>
                <a:sym typeface="Calibri"/>
              </a:rPr>
              <a:t>0.6</a:t>
            </a:r>
            <a:endParaRPr b="0" sz="900" u="none" strike="noStrike">
              <a:solidFill>
                <a:srgbClr val="000000"/>
              </a:solidFill>
              <a:latin typeface="Arial"/>
              <a:ea typeface="Arial"/>
              <a:cs typeface="Arial"/>
              <a:sym typeface="Arial"/>
            </a:endParaRPr>
          </a:p>
        </p:txBody>
      </p:sp>
      <p:sp>
        <p:nvSpPr>
          <p:cNvPr id="248" name="Google Shape;248;p13"/>
          <p:cNvSpPr/>
          <p:nvPr/>
        </p:nvSpPr>
        <p:spPr>
          <a:xfrm>
            <a:off x="4674007" y="243216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ANGER</a:t>
            </a:r>
            <a:endParaRPr b="0" sz="950" u="none" strike="noStrike">
              <a:solidFill>
                <a:srgbClr val="000000"/>
              </a:solidFill>
              <a:latin typeface="Arial"/>
              <a:ea typeface="Arial"/>
              <a:cs typeface="Arial"/>
              <a:sym typeface="Arial"/>
            </a:endParaRPr>
          </a:p>
        </p:txBody>
      </p:sp>
      <p:sp>
        <p:nvSpPr>
          <p:cNvPr id="249" name="Google Shape;249;p13"/>
          <p:cNvSpPr/>
          <p:nvPr/>
        </p:nvSpPr>
        <p:spPr>
          <a:xfrm>
            <a:off x="6260189" y="2477880"/>
            <a:ext cx="15996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0" name="Google Shape;250;p13"/>
          <p:cNvSpPr/>
          <p:nvPr/>
        </p:nvSpPr>
        <p:spPr>
          <a:xfrm>
            <a:off x="8450796" y="243216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0.7</a:t>
            </a:r>
            <a:endParaRPr b="0" sz="900" u="none" strike="noStrike">
              <a:solidFill>
                <a:srgbClr val="000000"/>
              </a:solidFill>
              <a:latin typeface="Arial"/>
              <a:ea typeface="Arial"/>
              <a:cs typeface="Arial"/>
              <a:sym typeface="Arial"/>
            </a:endParaRPr>
          </a:p>
        </p:txBody>
      </p:sp>
      <p:sp>
        <p:nvSpPr>
          <p:cNvPr id="251" name="Google Shape;251;p13"/>
          <p:cNvSpPr/>
          <p:nvPr/>
        </p:nvSpPr>
        <p:spPr>
          <a:xfrm>
            <a:off x="4674007" y="267912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5B6DC7"/>
                </a:solidFill>
                <a:latin typeface="Calibri"/>
                <a:ea typeface="Calibri"/>
                <a:cs typeface="Calibri"/>
                <a:sym typeface="Calibri"/>
              </a:rPr>
              <a:t>SADNESS</a:t>
            </a:r>
            <a:endParaRPr b="0" sz="950" u="none" strike="noStrike">
              <a:solidFill>
                <a:srgbClr val="000000"/>
              </a:solidFill>
              <a:latin typeface="Arial"/>
              <a:ea typeface="Arial"/>
              <a:cs typeface="Arial"/>
              <a:sym typeface="Arial"/>
            </a:endParaRPr>
          </a:p>
        </p:txBody>
      </p:sp>
      <p:sp>
        <p:nvSpPr>
          <p:cNvPr id="252" name="Google Shape;252;p13"/>
          <p:cNvSpPr/>
          <p:nvPr/>
        </p:nvSpPr>
        <p:spPr>
          <a:xfrm>
            <a:off x="6260189" y="2724840"/>
            <a:ext cx="1828200" cy="145500"/>
          </a:xfrm>
          <a:prstGeom prst="rect">
            <a:avLst/>
          </a:prstGeom>
          <a:solidFill>
            <a:srgbClr val="5B6DC7"/>
          </a:solidFill>
          <a:ln cap="flat" cmpd="sng" w="12600">
            <a:solidFill>
              <a:srgbClr val="5B6DC7"/>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3" name="Google Shape;253;p13"/>
          <p:cNvSpPr/>
          <p:nvPr/>
        </p:nvSpPr>
        <p:spPr>
          <a:xfrm>
            <a:off x="8450796" y="267912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5B6DC7"/>
                </a:solidFill>
                <a:latin typeface="Calibri"/>
                <a:ea typeface="Calibri"/>
                <a:cs typeface="Calibri"/>
                <a:sym typeface="Calibri"/>
              </a:rPr>
              <a:t>0.8</a:t>
            </a:r>
            <a:endParaRPr b="0" sz="900" u="none" strike="noStrike">
              <a:solidFill>
                <a:srgbClr val="000000"/>
              </a:solidFill>
              <a:latin typeface="Arial"/>
              <a:ea typeface="Arial"/>
              <a:cs typeface="Arial"/>
              <a:sym typeface="Arial"/>
            </a:endParaRPr>
          </a:p>
        </p:txBody>
      </p:sp>
      <p:sp>
        <p:nvSpPr>
          <p:cNvPr id="254" name="Google Shape;254;p13"/>
          <p:cNvSpPr/>
          <p:nvPr/>
        </p:nvSpPr>
        <p:spPr>
          <a:xfrm>
            <a:off x="4674007" y="2926080"/>
            <a:ext cx="18282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50" u="none" strike="noStrike">
                <a:solidFill>
                  <a:srgbClr val="C0392B"/>
                </a:solidFill>
                <a:latin typeface="Calibri"/>
                <a:ea typeface="Calibri"/>
                <a:cs typeface="Calibri"/>
                <a:sym typeface="Calibri"/>
              </a:rPr>
              <a:t>CRISIS</a:t>
            </a:r>
            <a:endParaRPr b="0" sz="950" u="none" strike="noStrike">
              <a:solidFill>
                <a:srgbClr val="000000"/>
              </a:solidFill>
              <a:latin typeface="Arial"/>
              <a:ea typeface="Arial"/>
              <a:cs typeface="Arial"/>
              <a:sym typeface="Arial"/>
            </a:endParaRPr>
          </a:p>
        </p:txBody>
      </p:sp>
      <p:sp>
        <p:nvSpPr>
          <p:cNvPr id="255" name="Google Shape;255;p13"/>
          <p:cNvSpPr/>
          <p:nvPr/>
        </p:nvSpPr>
        <p:spPr>
          <a:xfrm>
            <a:off x="6260189" y="2971800"/>
            <a:ext cx="2285400" cy="145500"/>
          </a:xfrm>
          <a:prstGeom prst="rect">
            <a:avLst/>
          </a:prstGeom>
          <a:solidFill>
            <a:srgbClr val="C0392B"/>
          </a:solidFill>
          <a:ln cap="flat" cmpd="sng" w="12600">
            <a:solidFill>
              <a:srgbClr val="C0392B"/>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56" name="Google Shape;256;p13"/>
          <p:cNvSpPr/>
          <p:nvPr/>
        </p:nvSpPr>
        <p:spPr>
          <a:xfrm>
            <a:off x="8450796" y="2926080"/>
            <a:ext cx="456600" cy="219000"/>
          </a:xfrm>
          <a:prstGeom prst="rect">
            <a:avLst/>
          </a:prstGeom>
          <a:noFill/>
          <a:ln>
            <a:noFill/>
          </a:ln>
        </p:spPr>
        <p:txBody>
          <a:bodyPr anchorCtr="0" anchor="ctr" bIns="45000" lIns="90000" spcFirstLastPara="1" rIns="90000" wrap="square" tIns="45000">
            <a:noAutofit/>
          </a:bodyPr>
          <a:lstStyle/>
          <a:p>
            <a:pPr indent="0" lvl="0" marL="0" marR="0" rtl="0" algn="r">
              <a:lnSpc>
                <a:spcPct val="100000"/>
              </a:lnSpc>
              <a:spcBef>
                <a:spcPts val="0"/>
              </a:spcBef>
              <a:spcAft>
                <a:spcPts val="0"/>
              </a:spcAft>
              <a:buNone/>
            </a:pPr>
            <a:r>
              <a:rPr b="1" lang="en-US" sz="900" u="none" strike="noStrike">
                <a:solidFill>
                  <a:srgbClr val="C0392B"/>
                </a:solidFill>
                <a:latin typeface="Calibri"/>
                <a:ea typeface="Calibri"/>
                <a:cs typeface="Calibri"/>
                <a:sym typeface="Calibri"/>
              </a:rPr>
              <a:t>1.0</a:t>
            </a:r>
            <a:endParaRPr b="0" sz="900" u="none" strike="noStrike">
              <a:solidFill>
                <a:srgbClr val="000000"/>
              </a:solidFill>
              <a:latin typeface="Arial"/>
              <a:ea typeface="Arial"/>
              <a:cs typeface="Arial"/>
              <a:sym typeface="Arial"/>
            </a:endParaRPr>
          </a:p>
        </p:txBody>
      </p:sp>
      <p:sp>
        <p:nvSpPr>
          <p:cNvPr id="257" name="Google Shape;257;p13"/>
          <p:cNvSpPr/>
          <p:nvPr/>
        </p:nvSpPr>
        <p:spPr>
          <a:xfrm>
            <a:off x="4707575" y="3547875"/>
            <a:ext cx="3707700" cy="8322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0"/>
              </a:spcBef>
              <a:spcAft>
                <a:spcPts val="0"/>
              </a:spcAft>
              <a:buClr>
                <a:schemeClr val="dk1"/>
              </a:buClr>
              <a:buFont typeface="Arial"/>
              <a:buNone/>
            </a:pPr>
            <a:r>
              <a:rPr lang="en-US" sz="1100">
                <a:solidFill>
                  <a:schemeClr val="dk1"/>
                </a:solidFill>
                <a:latin typeface="Calibri"/>
                <a:ea typeface="Calibri"/>
                <a:cs typeface="Calibri"/>
                <a:sym typeface="Calibri"/>
              </a:rPr>
              <a:t>Trend Analysis is calculated using the unweighted arithmetic mean of severity scores over sliding window (max 10 entries)</a:t>
            </a:r>
            <a:endParaRPr sz="1100">
              <a:solidFill>
                <a:schemeClr val="dk1"/>
              </a:solidFill>
              <a:latin typeface="Calibri"/>
              <a:ea typeface="Calibri"/>
              <a:cs typeface="Calibri"/>
              <a:sym typeface="Calibri"/>
            </a:endParaRPr>
          </a:p>
          <a:p>
            <a:pPr indent="0" lvl="0" marL="0" rtl="0" algn="l">
              <a:spcBef>
                <a:spcPts val="800"/>
              </a:spcBef>
              <a:spcAft>
                <a:spcPts val="0"/>
              </a:spcAft>
              <a:buClr>
                <a:schemeClr val="dk1"/>
              </a:buClr>
              <a:buFont typeface="Arial"/>
              <a:buNone/>
            </a:pPr>
            <a:r>
              <a:rPr lang="en-US" sz="1100">
                <a:solidFill>
                  <a:schemeClr val="dk1"/>
                </a:solidFill>
                <a:latin typeface="Calibri"/>
                <a:ea typeface="Calibri"/>
                <a:cs typeface="Calibri"/>
                <a:sym typeface="Calibri"/>
              </a:rPr>
              <a:t>Minimum 3 turns required before trend is derived</a:t>
            </a:r>
            <a:endParaRPr sz="11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p14"/>
          <p:cNvSpPr/>
          <p:nvPr/>
        </p:nvSpPr>
        <p:spPr>
          <a:xfrm>
            <a:off x="0" y="0"/>
            <a:ext cx="9143400" cy="913800"/>
          </a:xfrm>
          <a:prstGeom prst="rect">
            <a:avLst/>
          </a:prstGeom>
          <a:solidFill>
            <a:srgbClr val="0D1B2A"/>
          </a:solidFill>
          <a:ln cap="flat" cmpd="sng" w="12600">
            <a:solidFill>
              <a:srgbClr val="0D1B2A"/>
            </a:solidFill>
            <a:prstDash val="solid"/>
            <a:round/>
            <a:headEnd len="sm" w="sm" type="none"/>
            <a:tailEnd len="sm" w="sm" type="none"/>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264" name="Google Shape;264;p14"/>
          <p:cNvSpPr/>
          <p:nvPr/>
        </p:nvSpPr>
        <p:spPr>
          <a:xfrm>
            <a:off x="457200" y="274320"/>
            <a:ext cx="8229000" cy="3834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u="none" strike="noStrike">
                <a:solidFill>
                  <a:srgbClr val="FFFFFF"/>
                </a:solidFill>
                <a:latin typeface="Calibri"/>
                <a:ea typeface="Calibri"/>
                <a:cs typeface="Calibri"/>
                <a:sym typeface="Calibri"/>
              </a:rPr>
              <a:t>TREND ANALYSIS &amp; STRATEGY SELECTION</a:t>
            </a:r>
            <a:endParaRPr b="0" sz="1800" u="none" strike="noStrike">
              <a:solidFill>
                <a:srgbClr val="000000"/>
              </a:solidFill>
              <a:latin typeface="Arial"/>
              <a:ea typeface="Arial"/>
              <a:cs typeface="Arial"/>
              <a:sym typeface="Arial"/>
            </a:endParaRPr>
          </a:p>
        </p:txBody>
      </p:sp>
      <p:sp>
        <p:nvSpPr>
          <p:cNvPr id="265" name="Google Shape;265;p14"/>
          <p:cNvSpPr/>
          <p:nvPr/>
        </p:nvSpPr>
        <p:spPr>
          <a:xfrm>
            <a:off x="160735" y="1308786"/>
            <a:ext cx="4159800" cy="27663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66" name="Google Shape;266;p14"/>
          <p:cNvSpPr/>
          <p:nvPr/>
        </p:nvSpPr>
        <p:spPr>
          <a:xfrm>
            <a:off x="297890" y="1372888"/>
            <a:ext cx="39312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200" u="none" strike="noStrike">
                <a:solidFill>
                  <a:srgbClr val="0D1B2A"/>
                </a:solidFill>
                <a:latin typeface="Cambria"/>
                <a:ea typeface="Cambria"/>
                <a:cs typeface="Cambria"/>
                <a:sym typeface="Cambria"/>
              </a:rPr>
              <a:t>Strategy Mapping</a:t>
            </a:r>
            <a:endParaRPr b="0" sz="1200" u="none" strike="noStrike">
              <a:solidFill>
                <a:srgbClr val="000000"/>
              </a:solidFill>
              <a:latin typeface="Arial"/>
              <a:ea typeface="Arial"/>
              <a:cs typeface="Arial"/>
              <a:sym typeface="Arial"/>
            </a:endParaRPr>
          </a:p>
        </p:txBody>
      </p:sp>
      <p:sp>
        <p:nvSpPr>
          <p:cNvPr id="267" name="Google Shape;267;p14"/>
          <p:cNvSpPr/>
          <p:nvPr/>
        </p:nvSpPr>
        <p:spPr>
          <a:xfrm>
            <a:off x="297893" y="172028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PERSISTENT_DISTRESS → VALIDATION</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AND</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REFLECTION</a:t>
            </a:r>
            <a:endParaRPr b="0" u="none" strike="noStrike">
              <a:solidFill>
                <a:srgbClr val="000000"/>
              </a:solidFill>
              <a:latin typeface="Arial"/>
              <a:ea typeface="Arial"/>
              <a:cs typeface="Arial"/>
              <a:sym typeface="Arial"/>
            </a:endParaRPr>
          </a:p>
        </p:txBody>
      </p:sp>
      <p:sp>
        <p:nvSpPr>
          <p:cNvPr id="268" name="Google Shape;268;p14"/>
          <p:cNvSpPr/>
          <p:nvPr/>
        </p:nvSpPr>
        <p:spPr>
          <a:xfrm>
            <a:off x="297893" y="2102664"/>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ESCALATING_DISTRESS → GROUNDING</a:t>
            </a:r>
            <a:endParaRPr b="0" u="none" strike="noStrike">
              <a:solidFill>
                <a:srgbClr val="000000"/>
              </a:solidFill>
              <a:latin typeface="Arial"/>
              <a:ea typeface="Arial"/>
              <a:cs typeface="Arial"/>
              <a:sym typeface="Arial"/>
            </a:endParaRPr>
          </a:p>
        </p:txBody>
      </p:sp>
      <p:sp>
        <p:nvSpPr>
          <p:cNvPr id="269" name="Google Shape;269;p14"/>
          <p:cNvSpPr/>
          <p:nvPr/>
        </p:nvSpPr>
        <p:spPr>
          <a:xfrm>
            <a:off x="297893" y="2485042"/>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IMPROVING → ENCOURAGEMENT</a:t>
            </a:r>
            <a:endParaRPr b="0" u="none" strike="noStrike">
              <a:solidFill>
                <a:srgbClr val="000000"/>
              </a:solidFill>
              <a:latin typeface="Arial"/>
              <a:ea typeface="Arial"/>
              <a:cs typeface="Arial"/>
              <a:sym typeface="Arial"/>
            </a:endParaRPr>
          </a:p>
        </p:txBody>
      </p:sp>
      <p:sp>
        <p:nvSpPr>
          <p:cNvPr id="270" name="Google Shape;270;p14"/>
          <p:cNvSpPr/>
          <p:nvPr/>
        </p:nvSpPr>
        <p:spPr>
          <a:xfrm>
            <a:off x="297893" y="2866737"/>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STABLE_POSITIVE → POSITIVE</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REINFORCEMENT</a:t>
            </a:r>
            <a:endParaRPr b="0" u="none" strike="noStrike">
              <a:solidFill>
                <a:srgbClr val="000000"/>
              </a:solidFill>
              <a:latin typeface="Arial"/>
              <a:ea typeface="Arial"/>
              <a:cs typeface="Arial"/>
              <a:sym typeface="Arial"/>
            </a:endParaRPr>
          </a:p>
        </p:txBody>
      </p:sp>
      <p:sp>
        <p:nvSpPr>
          <p:cNvPr id="271" name="Google Shape;271;p14"/>
          <p:cNvSpPr/>
          <p:nvPr/>
        </p:nvSpPr>
        <p:spPr>
          <a:xfrm>
            <a:off x="297893" y="324911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u="none" strike="noStrike">
                <a:solidFill>
                  <a:srgbClr val="0D1B2A"/>
                </a:solidFill>
                <a:latin typeface="Calibri"/>
                <a:ea typeface="Calibri"/>
                <a:cs typeface="Calibri"/>
                <a:sym typeface="Calibri"/>
              </a:rPr>
              <a:t>FLUCTUATING → EXPLORATORY</a:t>
            </a:r>
            <a:r>
              <a:rPr lang="en-US">
                <a:solidFill>
                  <a:srgbClr val="0D1B2A"/>
                </a:solidFill>
                <a:latin typeface="Calibri"/>
                <a:ea typeface="Calibri"/>
                <a:cs typeface="Calibri"/>
                <a:sym typeface="Calibri"/>
              </a:rPr>
              <a:t> </a:t>
            </a:r>
            <a:r>
              <a:rPr b="0" lang="en-US" u="none" strike="noStrike">
                <a:solidFill>
                  <a:srgbClr val="0D1B2A"/>
                </a:solidFill>
                <a:latin typeface="Calibri"/>
                <a:ea typeface="Calibri"/>
                <a:cs typeface="Calibri"/>
                <a:sym typeface="Calibri"/>
              </a:rPr>
              <a:t>INQUIRY</a:t>
            </a:r>
            <a:endParaRPr b="0" u="none" strike="noStrike">
              <a:solidFill>
                <a:srgbClr val="000000"/>
              </a:solidFill>
              <a:latin typeface="Arial"/>
              <a:ea typeface="Arial"/>
              <a:cs typeface="Arial"/>
              <a:sym typeface="Arial"/>
            </a:endParaRPr>
          </a:p>
        </p:txBody>
      </p:sp>
      <p:sp>
        <p:nvSpPr>
          <p:cNvPr id="272" name="Google Shape;272;p14"/>
          <p:cNvSpPr/>
          <p:nvPr/>
        </p:nvSpPr>
        <p:spPr>
          <a:xfrm>
            <a:off x="297110" y="3631465"/>
            <a:ext cx="3931200" cy="3807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a:solidFill>
                  <a:srgbClr val="0D1B2A"/>
                </a:solidFill>
                <a:latin typeface="Calibri"/>
                <a:ea typeface="Calibri"/>
                <a:cs typeface="Calibri"/>
                <a:sym typeface="Calibri"/>
              </a:rPr>
              <a:t>ELEVATING ANGER</a:t>
            </a:r>
            <a:r>
              <a:rPr b="0" lang="en-US" u="none" strike="noStrike">
                <a:solidFill>
                  <a:srgbClr val="0D1B2A"/>
                </a:solidFill>
                <a:latin typeface="Calibri"/>
                <a:ea typeface="Calibri"/>
                <a:cs typeface="Calibri"/>
                <a:sym typeface="Calibri"/>
              </a:rPr>
              <a:t> → </a:t>
            </a:r>
            <a:r>
              <a:rPr lang="en-US">
                <a:solidFill>
                  <a:srgbClr val="0D1B2A"/>
                </a:solidFill>
                <a:latin typeface="Calibri"/>
                <a:ea typeface="Calibri"/>
                <a:cs typeface="Calibri"/>
                <a:sym typeface="Calibri"/>
              </a:rPr>
              <a:t>CALM REFLECTION</a:t>
            </a:r>
            <a:endParaRPr b="0" u="none" strike="noStrike">
              <a:solidFill>
                <a:srgbClr val="000000"/>
              </a:solidFill>
              <a:latin typeface="Arial"/>
              <a:ea typeface="Arial"/>
              <a:cs typeface="Arial"/>
              <a:sym typeface="Arial"/>
            </a:endParaRPr>
          </a:p>
        </p:txBody>
      </p:sp>
      <p:sp>
        <p:nvSpPr>
          <p:cNvPr id="273" name="Google Shape;273;p14"/>
          <p:cNvSpPr/>
          <p:nvPr/>
        </p:nvSpPr>
        <p:spPr>
          <a:xfrm>
            <a:off x="4429503" y="1372885"/>
            <a:ext cx="4524900" cy="2639400"/>
          </a:xfrm>
          <a:prstGeom prst="roundRect">
            <a:avLst>
              <a:gd fmla="val 6452" name="adj"/>
            </a:avLst>
          </a:prstGeom>
          <a:solidFill>
            <a:srgbClr val="F0FAF5"/>
          </a:solidFill>
          <a:ln cap="flat" cmpd="sng" w="12600">
            <a:solidFill>
              <a:srgbClr val="D6DDE3"/>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System prompt contains the AEIF persona declaration,</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current emotion cluster, the emotional trend, the selected strategy label, the full strategy</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instruction corresponding to that label, the last ten turns of conversation history formatted</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SzPts val="1100"/>
              <a:buNone/>
            </a:pPr>
            <a:r>
              <a:rPr lang="en-US" sz="1200">
                <a:solidFill>
                  <a:schemeClr val="dk1"/>
                </a:solidFill>
                <a:latin typeface="Times New Roman"/>
                <a:ea typeface="Times New Roman"/>
                <a:cs typeface="Times New Roman"/>
                <a:sym typeface="Times New Roman"/>
              </a:rPr>
              <a:t>with role and emotion labels, and six hard rules constraining the LLMs output: </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maximum</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four sentences</a:t>
            </a:r>
            <a:r>
              <a:rPr lang="en-US" sz="1200">
                <a:solidFill>
                  <a:schemeClr val="dk1"/>
                </a:solidFill>
                <a:latin typeface="Times New Roman"/>
                <a:ea typeface="Times New Roman"/>
                <a:cs typeface="Times New Roman"/>
                <a:sym typeface="Times New Roman"/>
              </a:rPr>
              <a:t>,</a:t>
            </a:r>
            <a:r>
              <a:rPr lang="en-US" sz="1200">
                <a:solidFill>
                  <a:schemeClr val="dk1"/>
                </a:solidFill>
                <a:latin typeface="Times New Roman"/>
                <a:ea typeface="Times New Roman"/>
                <a:cs typeface="Times New Roman"/>
                <a:sym typeface="Times New Roman"/>
              </a:rPr>
              <a:t> exactly one open question</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clinical vocabulary</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no diagnosis or</a:t>
            </a:r>
            <a:endParaRPr sz="1200">
              <a:solidFill>
                <a:schemeClr val="dk1"/>
              </a:solidFill>
              <a:latin typeface="Times New Roman"/>
              <a:ea typeface="Times New Roman"/>
              <a:cs typeface="Times New Roman"/>
              <a:sym typeface="Times New Roman"/>
            </a:endParaRPr>
          </a:p>
          <a:p>
            <a:pPr indent="0" lvl="0" marL="0" rtl="0" algn="l">
              <a:spcBef>
                <a:spcPts val="800"/>
              </a:spcBef>
              <a:spcAft>
                <a:spcPts val="0"/>
              </a:spcAft>
              <a:buNone/>
            </a:pPr>
            <a:r>
              <a:rPr lang="en-US" sz="1200">
                <a:solidFill>
                  <a:schemeClr val="dk1"/>
                </a:solidFill>
                <a:latin typeface="Times New Roman"/>
                <a:ea typeface="Times New Roman"/>
                <a:cs typeface="Times New Roman"/>
                <a:sym typeface="Times New Roman"/>
              </a:rPr>
              <a:t>prescription, no clinical advice, tone specification).</a:t>
            </a:r>
            <a:endParaRPr sz="1200">
              <a:solidFill>
                <a:schemeClr val="dk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78" name="Shape 278"/>
        <p:cNvGrpSpPr/>
        <p:nvPr/>
      </p:nvGrpSpPr>
      <p:grpSpPr>
        <a:xfrm>
          <a:off x="0" y="0"/>
          <a:ext cx="0" cy="0"/>
          <a:chOff x="0" y="0"/>
          <a:chExt cx="0" cy="0"/>
        </a:xfrm>
      </p:grpSpPr>
      <p:sp>
        <p:nvSpPr>
          <p:cNvPr id="279" name="Google Shape;279;p15"/>
          <p:cNvSpPr/>
          <p:nvPr/>
        </p:nvSpPr>
        <p:spPr>
          <a:xfrm>
            <a:off x="457200" y="255960"/>
            <a:ext cx="8228880" cy="45648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0D1B2A"/>
                </a:solidFill>
                <a:latin typeface="Cambria"/>
                <a:ea typeface="Cambria"/>
                <a:cs typeface="Cambria"/>
                <a:sym typeface="Cambria"/>
              </a:rPr>
              <a:t>EVALUATION RESULTS</a:t>
            </a:r>
            <a:endParaRPr b="0" sz="2600" u="none" strike="noStrike">
              <a:solidFill>
                <a:srgbClr val="000000"/>
              </a:solidFill>
              <a:latin typeface="Arial"/>
              <a:ea typeface="Arial"/>
              <a:cs typeface="Arial"/>
              <a:sym typeface="Arial"/>
            </a:endParaRPr>
          </a:p>
        </p:txBody>
      </p:sp>
      <p:sp>
        <p:nvSpPr>
          <p:cNvPr id="280" name="Google Shape;280;p15"/>
          <p:cNvSpPr/>
          <p:nvPr/>
        </p:nvSpPr>
        <p:spPr>
          <a:xfrm>
            <a:off x="457200" y="694800"/>
            <a:ext cx="8228880" cy="2552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i="1" lang="en-US" sz="1100" u="none" strike="noStrike">
                <a:solidFill>
                  <a:srgbClr val="8E99A4"/>
                </a:solidFill>
                <a:latin typeface="Calibri"/>
                <a:ea typeface="Calibri"/>
                <a:cs typeface="Calibri"/>
                <a:sym typeface="Calibri"/>
              </a:rPr>
              <a:t>Automated testing on 58-case annotated test set</a:t>
            </a:r>
            <a:endParaRPr b="0" sz="1100" u="none" strike="noStrike">
              <a:solidFill>
                <a:srgbClr val="000000"/>
              </a:solidFill>
              <a:latin typeface="Arial"/>
              <a:ea typeface="Arial"/>
              <a:cs typeface="Arial"/>
              <a:sym typeface="Arial"/>
            </a:endParaRPr>
          </a:p>
        </p:txBody>
      </p:sp>
      <p:sp>
        <p:nvSpPr>
          <p:cNvPr id="281" name="Google Shape;281;p15"/>
          <p:cNvSpPr/>
          <p:nvPr/>
        </p:nvSpPr>
        <p:spPr>
          <a:xfrm>
            <a:off x="365760" y="1007045"/>
            <a:ext cx="1965300" cy="1828200"/>
          </a:xfrm>
          <a:prstGeom prst="roundRect">
            <a:avLst>
              <a:gd fmla="val 6000" name="adj"/>
            </a:avLst>
          </a:prstGeom>
          <a:solidFill>
            <a:srgbClr val="FFFFFF"/>
          </a:solidFill>
          <a:ln cap="flat" cmpd="sng" w="12600">
            <a:solidFill>
              <a:srgbClr val="1B6B6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2" name="Google Shape;282;p15"/>
          <p:cNvSpPr/>
          <p:nvPr/>
        </p:nvSpPr>
        <p:spPr>
          <a:xfrm>
            <a:off x="3657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1B6B6B"/>
                </a:solidFill>
                <a:latin typeface="Cambria"/>
                <a:ea typeface="Cambria"/>
                <a:cs typeface="Cambria"/>
                <a:sym typeface="Cambria"/>
              </a:rPr>
              <a:t>77.1%</a:t>
            </a:r>
            <a:endParaRPr b="0" sz="3600" u="none" strike="noStrike">
              <a:solidFill>
                <a:srgbClr val="000000"/>
              </a:solidFill>
              <a:latin typeface="Arial"/>
              <a:ea typeface="Arial"/>
              <a:cs typeface="Arial"/>
              <a:sym typeface="Arial"/>
            </a:endParaRPr>
          </a:p>
        </p:txBody>
      </p:sp>
      <p:sp>
        <p:nvSpPr>
          <p:cNvPr id="283" name="Google Shape;283;p15"/>
          <p:cNvSpPr/>
          <p:nvPr/>
        </p:nvSpPr>
        <p:spPr>
          <a:xfrm>
            <a:off x="3657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Emotion</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84" name="Google Shape;284;p15"/>
          <p:cNvSpPr/>
          <p:nvPr/>
        </p:nvSpPr>
        <p:spPr>
          <a:xfrm>
            <a:off x="4388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on 58 cases incl. Pidgin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&amp; ambiguous inputs</a:t>
            </a:r>
            <a:endParaRPr b="0" sz="850" u="none" strike="noStrike">
              <a:solidFill>
                <a:srgbClr val="000000"/>
              </a:solidFill>
              <a:latin typeface="Arial"/>
              <a:ea typeface="Arial"/>
              <a:cs typeface="Arial"/>
              <a:sym typeface="Arial"/>
            </a:endParaRPr>
          </a:p>
        </p:txBody>
      </p:sp>
      <p:sp>
        <p:nvSpPr>
          <p:cNvPr id="285" name="Google Shape;285;p15"/>
          <p:cNvSpPr/>
          <p:nvPr/>
        </p:nvSpPr>
        <p:spPr>
          <a:xfrm>
            <a:off x="2496240" y="1007045"/>
            <a:ext cx="1965300" cy="1828200"/>
          </a:xfrm>
          <a:prstGeom prst="roundRect">
            <a:avLst>
              <a:gd fmla="val 6000" name="adj"/>
            </a:avLst>
          </a:prstGeom>
          <a:solidFill>
            <a:srgbClr val="FFFFFF"/>
          </a:solidFill>
          <a:ln cap="flat" cmpd="sng" w="12600">
            <a:solidFill>
              <a:srgbClr val="C0392B"/>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86" name="Google Shape;286;p15"/>
          <p:cNvSpPr/>
          <p:nvPr/>
        </p:nvSpPr>
        <p:spPr>
          <a:xfrm>
            <a:off x="249624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C0392B"/>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87" name="Google Shape;287;p15"/>
          <p:cNvSpPr/>
          <p:nvPr/>
        </p:nvSpPr>
        <p:spPr>
          <a:xfrm>
            <a:off x="249624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Crisis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Detection</a:t>
            </a:r>
            <a:endParaRPr b="0" sz="1100" u="none" strike="noStrike">
              <a:solidFill>
                <a:srgbClr val="000000"/>
              </a:solidFill>
              <a:latin typeface="Arial"/>
              <a:ea typeface="Arial"/>
              <a:cs typeface="Arial"/>
              <a:sym typeface="Arial"/>
            </a:endParaRPr>
          </a:p>
        </p:txBody>
      </p:sp>
      <p:sp>
        <p:nvSpPr>
          <p:cNvPr id="288" name="Google Shape;288;p15"/>
          <p:cNvSpPr/>
          <p:nvPr/>
        </p:nvSpPr>
        <p:spPr>
          <a:xfrm>
            <a:off x="256932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10/10 cases — non-negotiable</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safety threshold</a:t>
            </a:r>
            <a:endParaRPr b="0" sz="850" u="none" strike="noStrike">
              <a:solidFill>
                <a:srgbClr val="000000"/>
              </a:solidFill>
              <a:latin typeface="Arial"/>
              <a:ea typeface="Arial"/>
              <a:cs typeface="Arial"/>
              <a:sym typeface="Arial"/>
            </a:endParaRPr>
          </a:p>
        </p:txBody>
      </p:sp>
      <p:sp>
        <p:nvSpPr>
          <p:cNvPr id="289" name="Google Shape;289;p15"/>
          <p:cNvSpPr/>
          <p:nvPr/>
        </p:nvSpPr>
        <p:spPr>
          <a:xfrm>
            <a:off x="4626720" y="1007045"/>
            <a:ext cx="1965300" cy="1828200"/>
          </a:xfrm>
          <a:prstGeom prst="roundRect">
            <a:avLst>
              <a:gd fmla="val 6000" name="adj"/>
            </a:avLst>
          </a:prstGeom>
          <a:solidFill>
            <a:srgbClr val="FFFFFF"/>
          </a:solidFill>
          <a:ln cap="flat" cmpd="sng" w="12600">
            <a:solidFill>
              <a:srgbClr val="27AE60"/>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0" name="Google Shape;290;p15"/>
          <p:cNvSpPr/>
          <p:nvPr/>
        </p:nvSpPr>
        <p:spPr>
          <a:xfrm>
            <a:off x="462672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27AE60"/>
                </a:solidFill>
                <a:latin typeface="Cambria"/>
                <a:ea typeface="Cambria"/>
                <a:cs typeface="Cambria"/>
                <a:sym typeface="Cambria"/>
              </a:rPr>
              <a:t>100%</a:t>
            </a:r>
            <a:endParaRPr b="0" sz="3600" u="none" strike="noStrike">
              <a:solidFill>
                <a:srgbClr val="000000"/>
              </a:solidFill>
              <a:latin typeface="Arial"/>
              <a:ea typeface="Arial"/>
              <a:cs typeface="Arial"/>
              <a:sym typeface="Arial"/>
            </a:endParaRPr>
          </a:p>
        </p:txBody>
      </p:sp>
      <p:sp>
        <p:nvSpPr>
          <p:cNvPr id="291" name="Google Shape;291;p15"/>
          <p:cNvSpPr/>
          <p:nvPr/>
        </p:nvSpPr>
        <p:spPr>
          <a:xfrm>
            <a:off x="462672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Trend</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Accuracy</a:t>
            </a:r>
            <a:endParaRPr b="0" sz="1100" u="none" strike="noStrike">
              <a:solidFill>
                <a:srgbClr val="000000"/>
              </a:solidFill>
              <a:latin typeface="Arial"/>
              <a:ea typeface="Arial"/>
              <a:cs typeface="Arial"/>
              <a:sym typeface="Arial"/>
            </a:endParaRPr>
          </a:p>
        </p:txBody>
      </p:sp>
      <p:sp>
        <p:nvSpPr>
          <p:cNvPr id="292" name="Google Shape;292;p15"/>
          <p:cNvSpPr/>
          <p:nvPr/>
        </p:nvSpPr>
        <p:spPr>
          <a:xfrm>
            <a:off x="470016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7/7 scripted multi-turn</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sequences</a:t>
            </a:r>
            <a:endParaRPr b="0" sz="850" u="none" strike="noStrike">
              <a:solidFill>
                <a:srgbClr val="000000"/>
              </a:solidFill>
              <a:latin typeface="Arial"/>
              <a:ea typeface="Arial"/>
              <a:cs typeface="Arial"/>
              <a:sym typeface="Arial"/>
            </a:endParaRPr>
          </a:p>
        </p:txBody>
      </p:sp>
      <p:sp>
        <p:nvSpPr>
          <p:cNvPr id="293" name="Google Shape;293;p15"/>
          <p:cNvSpPr/>
          <p:nvPr/>
        </p:nvSpPr>
        <p:spPr>
          <a:xfrm>
            <a:off x="6757560" y="1007045"/>
            <a:ext cx="1965300" cy="1828200"/>
          </a:xfrm>
          <a:prstGeom prst="roundRect">
            <a:avLst>
              <a:gd fmla="val 6000" name="adj"/>
            </a:avLst>
          </a:prstGeom>
          <a:solidFill>
            <a:srgbClr val="FFFFFF"/>
          </a:solidFill>
          <a:ln cap="flat" cmpd="sng" w="12600">
            <a:solidFill>
              <a:srgbClr val="7B9ED9"/>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4" name="Google Shape;294;p15"/>
          <p:cNvSpPr/>
          <p:nvPr/>
        </p:nvSpPr>
        <p:spPr>
          <a:xfrm>
            <a:off x="6757560" y="1098485"/>
            <a:ext cx="1965300" cy="6576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3600" u="none" strike="noStrike">
                <a:solidFill>
                  <a:srgbClr val="7B9ED9"/>
                </a:solidFill>
                <a:latin typeface="Cambria"/>
                <a:ea typeface="Cambria"/>
                <a:cs typeface="Cambria"/>
                <a:sym typeface="Cambria"/>
              </a:rPr>
              <a:t>31/31</a:t>
            </a:r>
            <a:endParaRPr b="0" sz="3600" u="none" strike="noStrike">
              <a:solidFill>
                <a:srgbClr val="000000"/>
              </a:solidFill>
              <a:latin typeface="Arial"/>
              <a:ea typeface="Arial"/>
              <a:cs typeface="Arial"/>
              <a:sym typeface="Arial"/>
            </a:endParaRPr>
          </a:p>
        </p:txBody>
      </p:sp>
      <p:sp>
        <p:nvSpPr>
          <p:cNvPr id="295" name="Google Shape;295;p15"/>
          <p:cNvSpPr/>
          <p:nvPr/>
        </p:nvSpPr>
        <p:spPr>
          <a:xfrm>
            <a:off x="6757560" y="1711205"/>
            <a:ext cx="1965300" cy="438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Unit Tests</a:t>
            </a:r>
            <a:endParaRPr b="0" sz="110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1" lang="en-US" sz="1100" u="none" strike="noStrike">
                <a:solidFill>
                  <a:srgbClr val="0D1B2A"/>
                </a:solidFill>
                <a:latin typeface="Calibri"/>
                <a:ea typeface="Calibri"/>
                <a:cs typeface="Calibri"/>
                <a:sym typeface="Calibri"/>
              </a:rPr>
              <a:t>Passing</a:t>
            </a:r>
            <a:endParaRPr b="0" sz="1100" u="none" strike="noStrike">
              <a:solidFill>
                <a:srgbClr val="000000"/>
              </a:solidFill>
              <a:latin typeface="Arial"/>
              <a:ea typeface="Arial"/>
              <a:cs typeface="Arial"/>
              <a:sym typeface="Arial"/>
            </a:endParaRPr>
          </a:p>
        </p:txBody>
      </p:sp>
      <p:sp>
        <p:nvSpPr>
          <p:cNvPr id="296" name="Google Shape;296;p15"/>
          <p:cNvSpPr/>
          <p:nvPr/>
        </p:nvSpPr>
        <p:spPr>
          <a:xfrm>
            <a:off x="6830640" y="2141045"/>
            <a:ext cx="1819200" cy="6210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Crisis, emotion, trend,</a:t>
            </a:r>
            <a:endParaRPr b="0" sz="850" u="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lang="en-US" sz="850" u="none" strike="noStrike">
                <a:solidFill>
                  <a:srgbClr val="8E99A4"/>
                </a:solidFill>
                <a:latin typeface="Calibri"/>
                <a:ea typeface="Calibri"/>
                <a:cs typeface="Calibri"/>
                <a:sym typeface="Calibri"/>
              </a:rPr>
              <a:t>strategy, pipeline</a:t>
            </a:r>
            <a:endParaRPr b="0" sz="850" u="none" strike="noStrike">
              <a:solidFill>
                <a:srgbClr val="000000"/>
              </a:solidFill>
              <a:latin typeface="Arial"/>
              <a:ea typeface="Arial"/>
              <a:cs typeface="Arial"/>
              <a:sym typeface="Arial"/>
            </a:endParaRPr>
          </a:p>
        </p:txBody>
      </p:sp>
      <p:sp>
        <p:nvSpPr>
          <p:cNvPr id="297" name="Google Shape;297;p15"/>
          <p:cNvSpPr/>
          <p:nvPr/>
        </p:nvSpPr>
        <p:spPr>
          <a:xfrm>
            <a:off x="365750" y="2964000"/>
            <a:ext cx="5211300" cy="2099400"/>
          </a:xfrm>
          <a:prstGeom prst="roundRect">
            <a:avLst>
              <a:gd fmla="val 5319" name="adj"/>
            </a:avLst>
          </a:prstGeom>
          <a:solidFill>
            <a:srgbClr val="FFFFFF"/>
          </a:solidFill>
          <a:ln cap="flat" cmpd="sng" w="12600">
            <a:solidFill>
              <a:srgbClr val="FFFFFF"/>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298" name="Google Shape;298;p15"/>
          <p:cNvSpPr/>
          <p:nvPr/>
        </p:nvSpPr>
        <p:spPr>
          <a:xfrm>
            <a:off x="502920" y="3037085"/>
            <a:ext cx="49371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Emotion Classification — By Cluster</a:t>
            </a:r>
            <a:endParaRPr b="0" sz="1100" u="none" strike="noStrike">
              <a:solidFill>
                <a:srgbClr val="000000"/>
              </a:solidFill>
              <a:latin typeface="Arial"/>
              <a:ea typeface="Arial"/>
              <a:cs typeface="Arial"/>
              <a:sym typeface="Arial"/>
            </a:endParaRPr>
          </a:p>
        </p:txBody>
      </p:sp>
      <p:sp>
        <p:nvSpPr>
          <p:cNvPr id="299" name="Google Shape;299;p15"/>
          <p:cNvSpPr/>
          <p:nvPr/>
        </p:nvSpPr>
        <p:spPr>
          <a:xfrm>
            <a:off x="5029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Cluster</a:t>
            </a:r>
            <a:endParaRPr b="0" sz="900" u="none" strike="noStrike">
              <a:solidFill>
                <a:srgbClr val="000000"/>
              </a:solidFill>
              <a:latin typeface="Arial"/>
              <a:ea typeface="Arial"/>
              <a:cs typeface="Arial"/>
              <a:sym typeface="Arial"/>
            </a:endParaRPr>
          </a:p>
        </p:txBody>
      </p:sp>
      <p:sp>
        <p:nvSpPr>
          <p:cNvPr id="300" name="Google Shape;300;p15"/>
          <p:cNvSpPr/>
          <p:nvPr/>
        </p:nvSpPr>
        <p:spPr>
          <a:xfrm>
            <a:off x="171900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Prec.</a:t>
            </a:r>
            <a:endParaRPr b="0" sz="900" u="none" strike="noStrike">
              <a:solidFill>
                <a:srgbClr val="000000"/>
              </a:solidFill>
              <a:latin typeface="Arial"/>
              <a:ea typeface="Arial"/>
              <a:cs typeface="Arial"/>
              <a:sym typeface="Arial"/>
            </a:endParaRPr>
          </a:p>
        </p:txBody>
      </p:sp>
      <p:sp>
        <p:nvSpPr>
          <p:cNvPr id="301" name="Google Shape;301;p15"/>
          <p:cNvSpPr/>
          <p:nvPr/>
        </p:nvSpPr>
        <p:spPr>
          <a:xfrm>
            <a:off x="293508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Recall</a:t>
            </a:r>
            <a:endParaRPr b="0" sz="900" u="none" strike="noStrike">
              <a:solidFill>
                <a:srgbClr val="000000"/>
              </a:solidFill>
              <a:latin typeface="Arial"/>
              <a:ea typeface="Arial"/>
              <a:cs typeface="Arial"/>
              <a:sym typeface="Arial"/>
            </a:endParaRPr>
          </a:p>
        </p:txBody>
      </p:sp>
      <p:sp>
        <p:nvSpPr>
          <p:cNvPr id="302" name="Google Shape;302;p15"/>
          <p:cNvSpPr/>
          <p:nvPr/>
        </p:nvSpPr>
        <p:spPr>
          <a:xfrm>
            <a:off x="4151520" y="3338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1B6B6B"/>
                </a:solidFill>
                <a:latin typeface="Calibri"/>
                <a:ea typeface="Calibri"/>
                <a:cs typeface="Calibri"/>
                <a:sym typeface="Calibri"/>
              </a:rPr>
              <a:t>F1</a:t>
            </a:r>
            <a:endParaRPr b="0" sz="900" u="none" strike="noStrike">
              <a:solidFill>
                <a:srgbClr val="000000"/>
              </a:solidFill>
              <a:latin typeface="Arial"/>
              <a:ea typeface="Arial"/>
              <a:cs typeface="Arial"/>
              <a:sym typeface="Arial"/>
            </a:endParaRPr>
          </a:p>
        </p:txBody>
      </p:sp>
      <p:sp>
        <p:nvSpPr>
          <p:cNvPr id="303" name="Google Shape;303;p15"/>
          <p:cNvSpPr/>
          <p:nvPr/>
        </p:nvSpPr>
        <p:spPr>
          <a:xfrm>
            <a:off x="5029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POSITIVE</a:t>
            </a:r>
            <a:endParaRPr b="0" sz="900" u="none" strike="noStrike">
              <a:solidFill>
                <a:srgbClr val="000000"/>
              </a:solidFill>
              <a:latin typeface="Arial"/>
              <a:ea typeface="Arial"/>
              <a:cs typeface="Arial"/>
              <a:sym typeface="Arial"/>
            </a:endParaRPr>
          </a:p>
        </p:txBody>
      </p:sp>
      <p:sp>
        <p:nvSpPr>
          <p:cNvPr id="304" name="Google Shape;304;p15"/>
          <p:cNvSpPr/>
          <p:nvPr/>
        </p:nvSpPr>
        <p:spPr>
          <a:xfrm>
            <a:off x="171900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05" name="Google Shape;305;p15"/>
          <p:cNvSpPr/>
          <p:nvPr/>
        </p:nvSpPr>
        <p:spPr>
          <a:xfrm>
            <a:off x="293508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0.89</a:t>
            </a:r>
            <a:endParaRPr b="0" sz="900" u="none" strike="noStrike">
              <a:solidFill>
                <a:srgbClr val="000000"/>
              </a:solidFill>
              <a:latin typeface="Arial"/>
              <a:ea typeface="Arial"/>
              <a:cs typeface="Arial"/>
              <a:sym typeface="Arial"/>
            </a:endParaRPr>
          </a:p>
        </p:txBody>
      </p:sp>
      <p:sp>
        <p:nvSpPr>
          <p:cNvPr id="306" name="Google Shape;306;p15"/>
          <p:cNvSpPr/>
          <p:nvPr/>
        </p:nvSpPr>
        <p:spPr>
          <a:xfrm>
            <a:off x="4151520" y="371076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94</a:t>
            </a:r>
            <a:endParaRPr b="0" sz="900" u="none" strike="noStrike">
              <a:solidFill>
                <a:srgbClr val="000000"/>
              </a:solidFill>
              <a:latin typeface="Arial"/>
              <a:ea typeface="Arial"/>
              <a:cs typeface="Arial"/>
              <a:sym typeface="Arial"/>
            </a:endParaRPr>
          </a:p>
        </p:txBody>
      </p:sp>
      <p:sp>
        <p:nvSpPr>
          <p:cNvPr id="307" name="Google Shape;307;p15"/>
          <p:cNvSpPr/>
          <p:nvPr/>
        </p:nvSpPr>
        <p:spPr>
          <a:xfrm>
            <a:off x="5029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SADNESS</a:t>
            </a:r>
            <a:endParaRPr b="0" sz="900" u="none" strike="noStrike">
              <a:solidFill>
                <a:srgbClr val="000000"/>
              </a:solidFill>
              <a:latin typeface="Arial"/>
              <a:ea typeface="Arial"/>
              <a:cs typeface="Arial"/>
              <a:sym typeface="Arial"/>
            </a:endParaRPr>
          </a:p>
        </p:txBody>
      </p:sp>
      <p:sp>
        <p:nvSpPr>
          <p:cNvPr id="308" name="Google Shape;308;p15"/>
          <p:cNvSpPr/>
          <p:nvPr/>
        </p:nvSpPr>
        <p:spPr>
          <a:xfrm>
            <a:off x="171900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09" name="Google Shape;309;p15"/>
          <p:cNvSpPr/>
          <p:nvPr/>
        </p:nvSpPr>
        <p:spPr>
          <a:xfrm>
            <a:off x="293508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10" name="Google Shape;310;p15"/>
          <p:cNvSpPr/>
          <p:nvPr/>
        </p:nvSpPr>
        <p:spPr>
          <a:xfrm>
            <a:off x="4151520" y="39300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
        <p:nvSpPr>
          <p:cNvPr id="311" name="Google Shape;311;p15"/>
          <p:cNvSpPr/>
          <p:nvPr/>
        </p:nvSpPr>
        <p:spPr>
          <a:xfrm>
            <a:off x="5029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ANXIETY</a:t>
            </a:r>
            <a:endParaRPr b="0" sz="900" u="none" strike="noStrike">
              <a:solidFill>
                <a:srgbClr val="000000"/>
              </a:solidFill>
              <a:latin typeface="Arial"/>
              <a:ea typeface="Arial"/>
              <a:cs typeface="Arial"/>
              <a:sym typeface="Arial"/>
            </a:endParaRPr>
          </a:p>
        </p:txBody>
      </p:sp>
      <p:sp>
        <p:nvSpPr>
          <p:cNvPr id="312" name="Google Shape;312;p15"/>
          <p:cNvSpPr/>
          <p:nvPr/>
        </p:nvSpPr>
        <p:spPr>
          <a:xfrm>
            <a:off x="171900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13" name="Google Shape;313;p15"/>
          <p:cNvSpPr/>
          <p:nvPr/>
        </p:nvSpPr>
        <p:spPr>
          <a:xfrm>
            <a:off x="293508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14" name="Google Shape;314;p15"/>
          <p:cNvSpPr/>
          <p:nvPr/>
        </p:nvSpPr>
        <p:spPr>
          <a:xfrm>
            <a:off x="4151520" y="41496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a:t>
            </a:r>
            <a:endParaRPr b="0" sz="900" u="none" strike="noStrike">
              <a:solidFill>
                <a:srgbClr val="000000"/>
              </a:solidFill>
              <a:latin typeface="Arial"/>
              <a:ea typeface="Arial"/>
              <a:cs typeface="Arial"/>
              <a:sym typeface="Arial"/>
            </a:endParaRPr>
          </a:p>
        </p:txBody>
      </p:sp>
      <p:sp>
        <p:nvSpPr>
          <p:cNvPr id="315" name="Google Shape;315;p15"/>
          <p:cNvSpPr/>
          <p:nvPr/>
        </p:nvSpPr>
        <p:spPr>
          <a:xfrm>
            <a:off x="5029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NEUTRAL</a:t>
            </a:r>
            <a:endParaRPr b="0" sz="900" u="none" strike="noStrike">
              <a:solidFill>
                <a:srgbClr val="000000"/>
              </a:solidFill>
              <a:latin typeface="Arial"/>
              <a:ea typeface="Arial"/>
              <a:cs typeface="Arial"/>
              <a:sym typeface="Arial"/>
            </a:endParaRPr>
          </a:p>
        </p:txBody>
      </p:sp>
      <p:sp>
        <p:nvSpPr>
          <p:cNvPr id="316" name="Google Shape;316;p15"/>
          <p:cNvSpPr/>
          <p:nvPr/>
        </p:nvSpPr>
        <p:spPr>
          <a:xfrm>
            <a:off x="171900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a:t>
            </a:r>
            <a:endParaRPr b="0" sz="900" u="none" strike="noStrike">
              <a:solidFill>
                <a:srgbClr val="000000"/>
              </a:solidFill>
              <a:latin typeface="Arial"/>
              <a:ea typeface="Arial"/>
              <a:cs typeface="Arial"/>
              <a:sym typeface="Arial"/>
            </a:endParaRPr>
          </a:p>
        </p:txBody>
      </p:sp>
      <p:sp>
        <p:nvSpPr>
          <p:cNvPr id="317" name="Google Shape;317;p15"/>
          <p:cNvSpPr/>
          <p:nvPr/>
        </p:nvSpPr>
        <p:spPr>
          <a:xfrm>
            <a:off x="293508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0.90</a:t>
            </a:r>
            <a:endParaRPr b="0" sz="900" u="none" strike="noStrike">
              <a:solidFill>
                <a:srgbClr val="000000"/>
              </a:solidFill>
              <a:latin typeface="Arial"/>
              <a:ea typeface="Arial"/>
              <a:cs typeface="Arial"/>
              <a:sym typeface="Arial"/>
            </a:endParaRPr>
          </a:p>
        </p:txBody>
      </p:sp>
      <p:sp>
        <p:nvSpPr>
          <p:cNvPr id="318" name="Google Shape;318;p15"/>
          <p:cNvSpPr/>
          <p:nvPr/>
        </p:nvSpPr>
        <p:spPr>
          <a:xfrm>
            <a:off x="4151520" y="436920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64</a:t>
            </a:r>
            <a:endParaRPr b="0" sz="900" u="none" strike="noStrike">
              <a:solidFill>
                <a:srgbClr val="000000"/>
              </a:solidFill>
              <a:latin typeface="Arial"/>
              <a:ea typeface="Arial"/>
              <a:cs typeface="Arial"/>
              <a:sym typeface="Arial"/>
            </a:endParaRPr>
          </a:p>
        </p:txBody>
      </p:sp>
      <p:sp>
        <p:nvSpPr>
          <p:cNvPr id="319" name="Google Shape;319;p15"/>
          <p:cNvSpPr/>
          <p:nvPr/>
        </p:nvSpPr>
        <p:spPr>
          <a:xfrm>
            <a:off x="5029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AMBIGUOUS</a:t>
            </a:r>
            <a:endParaRPr b="0" sz="900" u="none" strike="noStrike">
              <a:solidFill>
                <a:srgbClr val="000000"/>
              </a:solidFill>
              <a:latin typeface="Arial"/>
              <a:ea typeface="Arial"/>
              <a:cs typeface="Arial"/>
              <a:sym typeface="Arial"/>
            </a:endParaRPr>
          </a:p>
        </p:txBody>
      </p:sp>
      <p:sp>
        <p:nvSpPr>
          <p:cNvPr id="320" name="Google Shape;320;p15"/>
          <p:cNvSpPr/>
          <p:nvPr/>
        </p:nvSpPr>
        <p:spPr>
          <a:xfrm>
            <a:off x="171900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1" name="Google Shape;321;p15"/>
          <p:cNvSpPr/>
          <p:nvPr/>
        </p:nvSpPr>
        <p:spPr>
          <a:xfrm>
            <a:off x="293508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4</a:t>
            </a:r>
            <a:r>
              <a:rPr b="0" lang="en-US" sz="900" u="none" strike="noStrike">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22" name="Google Shape;322;p15"/>
          <p:cNvSpPr/>
          <p:nvPr/>
        </p:nvSpPr>
        <p:spPr>
          <a:xfrm>
            <a:off x="4151520" y="45884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57</a:t>
            </a:r>
            <a:endParaRPr b="0" sz="900" u="none" strike="noStrike">
              <a:solidFill>
                <a:srgbClr val="000000"/>
              </a:solidFill>
              <a:latin typeface="Arial"/>
              <a:ea typeface="Arial"/>
              <a:cs typeface="Arial"/>
              <a:sym typeface="Arial"/>
            </a:endParaRPr>
          </a:p>
        </p:txBody>
      </p:sp>
      <p:sp>
        <p:nvSpPr>
          <p:cNvPr id="323" name="Google Shape;323;p15"/>
          <p:cNvSpPr/>
          <p:nvPr/>
        </p:nvSpPr>
        <p:spPr>
          <a:xfrm>
            <a:off x="5029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CRISIS</a:t>
            </a:r>
            <a:endParaRPr b="0" sz="900" u="none" strike="noStrike">
              <a:solidFill>
                <a:srgbClr val="000000"/>
              </a:solidFill>
              <a:latin typeface="Arial"/>
              <a:ea typeface="Arial"/>
              <a:cs typeface="Arial"/>
              <a:sym typeface="Arial"/>
            </a:endParaRPr>
          </a:p>
        </p:txBody>
      </p:sp>
      <p:sp>
        <p:nvSpPr>
          <p:cNvPr id="324" name="Google Shape;324;p15"/>
          <p:cNvSpPr/>
          <p:nvPr/>
        </p:nvSpPr>
        <p:spPr>
          <a:xfrm>
            <a:off x="171900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5" name="Google Shape;325;p15"/>
          <p:cNvSpPr/>
          <p:nvPr/>
        </p:nvSpPr>
        <p:spPr>
          <a:xfrm>
            <a:off x="293508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6" name="Google Shape;326;p15"/>
          <p:cNvSpPr/>
          <p:nvPr/>
        </p:nvSpPr>
        <p:spPr>
          <a:xfrm>
            <a:off x="4151520" y="4808045"/>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900" u="none" strike="noStrike">
                <a:solidFill>
                  <a:srgbClr val="27AE60"/>
                </a:solidFill>
                <a:latin typeface="Calibri"/>
                <a:ea typeface="Calibri"/>
                <a:cs typeface="Calibri"/>
                <a:sym typeface="Calibri"/>
              </a:rPr>
              <a:t>1.00</a:t>
            </a:r>
            <a:endParaRPr b="0" sz="900" u="none" strike="noStrike">
              <a:solidFill>
                <a:srgbClr val="000000"/>
              </a:solidFill>
              <a:latin typeface="Arial"/>
              <a:ea typeface="Arial"/>
              <a:cs typeface="Arial"/>
              <a:sym typeface="Arial"/>
            </a:endParaRPr>
          </a:p>
        </p:txBody>
      </p:sp>
      <p:sp>
        <p:nvSpPr>
          <p:cNvPr id="327" name="Google Shape;327;p15"/>
          <p:cNvSpPr/>
          <p:nvPr/>
        </p:nvSpPr>
        <p:spPr>
          <a:xfrm>
            <a:off x="5760720" y="2964005"/>
            <a:ext cx="3016800" cy="1718400"/>
          </a:xfrm>
          <a:prstGeom prst="roundRect">
            <a:avLst>
              <a:gd fmla="val 5319" name="adj"/>
            </a:avLst>
          </a:prstGeom>
          <a:solidFill>
            <a:srgbClr val="FFF8EC"/>
          </a:solidFill>
          <a:ln cap="flat" cmpd="sng" w="12600">
            <a:solidFill>
              <a:srgbClr val="E8A838"/>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28" name="Google Shape;328;p15"/>
          <p:cNvSpPr/>
          <p:nvPr/>
        </p:nvSpPr>
        <p:spPr>
          <a:xfrm>
            <a:off x="5897880" y="3037085"/>
            <a:ext cx="2742600" cy="273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100" u="none" strike="noStrike">
                <a:solidFill>
                  <a:srgbClr val="0D1B2A"/>
                </a:solidFill>
                <a:latin typeface="Cambria"/>
                <a:ea typeface="Cambria"/>
                <a:cs typeface="Cambria"/>
                <a:sym typeface="Cambria"/>
              </a:rPr>
              <a:t>Context on 77.1%</a:t>
            </a:r>
            <a:endParaRPr b="0" sz="1100" u="none" strike="noStrike">
              <a:solidFill>
                <a:srgbClr val="000000"/>
              </a:solidFill>
              <a:latin typeface="Arial"/>
              <a:ea typeface="Arial"/>
              <a:cs typeface="Arial"/>
              <a:sym typeface="Arial"/>
            </a:endParaRPr>
          </a:p>
        </p:txBody>
      </p:sp>
      <p:sp>
        <p:nvSpPr>
          <p:cNvPr id="329" name="Google Shape;329;p15"/>
          <p:cNvSpPr/>
          <p:nvPr/>
        </p:nvSpPr>
        <p:spPr>
          <a:xfrm>
            <a:off x="5897880" y="3366125"/>
            <a:ext cx="2742600" cy="12426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On a plain English test set (no Pidgin, no ambiguous inputs)</a:t>
            </a:r>
            <a:r>
              <a:rPr lang="en-US" sz="900">
                <a:solidFill>
                  <a:srgbClr val="0D1B2A"/>
                </a:solidFill>
                <a:latin typeface="Calibri"/>
                <a:ea typeface="Calibri"/>
                <a:cs typeface="Calibri"/>
                <a:sym typeface="Calibri"/>
              </a:rPr>
              <a:t>, </a:t>
            </a:r>
            <a:r>
              <a:rPr b="0" lang="en-US" sz="900" u="none" strike="noStrike">
                <a:solidFill>
                  <a:srgbClr val="0D1B2A"/>
                </a:solidFill>
                <a:latin typeface="Calibri"/>
                <a:ea typeface="Calibri"/>
                <a:cs typeface="Calibri"/>
                <a:sym typeface="Calibri"/>
              </a:rPr>
              <a:t>the system scored 100%.</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The 77.1% reflects genuine challenge: 8 ambiguous cases, 6 Pidgin cases, 4 context-contradicting cases.</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b="0" sz="900" u="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Most difficult: AMBIGUOUS cluster (F1 = 0.61).</a:t>
            </a:r>
            <a:endParaRPr b="0" sz="900" u="none" strike="noStrike">
              <a:solidFill>
                <a:srgbClr val="000000"/>
              </a:solidFill>
              <a:latin typeface="Arial"/>
              <a:ea typeface="Arial"/>
              <a:cs typeface="Arial"/>
              <a:sym typeface="Arial"/>
            </a:endParaRPr>
          </a:p>
        </p:txBody>
      </p:sp>
      <p:sp>
        <p:nvSpPr>
          <p:cNvPr id="330" name="Google Shape;330;p15"/>
          <p:cNvSpPr/>
          <p:nvPr/>
        </p:nvSpPr>
        <p:spPr>
          <a:xfrm>
            <a:off x="5029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ANGER</a:t>
            </a:r>
            <a:endParaRPr b="0" sz="900" u="none" strike="noStrike">
              <a:solidFill>
                <a:srgbClr val="000000"/>
              </a:solidFill>
              <a:latin typeface="Arial"/>
              <a:ea typeface="Arial"/>
              <a:cs typeface="Arial"/>
              <a:sym typeface="Arial"/>
            </a:endParaRPr>
          </a:p>
        </p:txBody>
      </p:sp>
      <p:sp>
        <p:nvSpPr>
          <p:cNvPr id="331" name="Google Shape;331;p15"/>
          <p:cNvSpPr/>
          <p:nvPr/>
        </p:nvSpPr>
        <p:spPr>
          <a:xfrm>
            <a:off x="171900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0.80</a:t>
            </a:r>
            <a:endParaRPr b="0" sz="900" u="none" strike="noStrike">
              <a:solidFill>
                <a:srgbClr val="000000"/>
              </a:solidFill>
              <a:latin typeface="Arial"/>
              <a:ea typeface="Arial"/>
              <a:cs typeface="Arial"/>
              <a:sym typeface="Arial"/>
            </a:endParaRPr>
          </a:p>
        </p:txBody>
      </p:sp>
      <p:sp>
        <p:nvSpPr>
          <p:cNvPr id="332" name="Google Shape;332;p15"/>
          <p:cNvSpPr/>
          <p:nvPr/>
        </p:nvSpPr>
        <p:spPr>
          <a:xfrm>
            <a:off x="293508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900">
                <a:solidFill>
                  <a:srgbClr val="0D1B2A"/>
                </a:solidFill>
                <a:latin typeface="Calibri"/>
                <a:ea typeface="Calibri"/>
                <a:cs typeface="Calibri"/>
                <a:sym typeface="Calibri"/>
              </a:rPr>
              <a:t>1</a:t>
            </a:r>
            <a:r>
              <a:rPr lang="en-US" sz="900">
                <a:solidFill>
                  <a:srgbClr val="0D1B2A"/>
                </a:solidFill>
                <a:latin typeface="Calibri"/>
                <a:ea typeface="Calibri"/>
                <a:cs typeface="Calibri"/>
                <a:sym typeface="Calibri"/>
              </a:rPr>
              <a:t>.</a:t>
            </a:r>
            <a:r>
              <a:rPr lang="en-US" sz="900">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0</a:t>
            </a:r>
            <a:endParaRPr b="0" sz="900" u="none" strike="noStrike">
              <a:solidFill>
                <a:srgbClr val="000000"/>
              </a:solidFill>
              <a:latin typeface="Arial"/>
              <a:ea typeface="Arial"/>
              <a:cs typeface="Arial"/>
              <a:sym typeface="Arial"/>
            </a:endParaRPr>
          </a:p>
        </p:txBody>
      </p:sp>
      <p:sp>
        <p:nvSpPr>
          <p:cNvPr id="333" name="Google Shape;333;p15"/>
          <p:cNvSpPr/>
          <p:nvPr/>
        </p:nvSpPr>
        <p:spPr>
          <a:xfrm>
            <a:off x="4151520" y="3510828"/>
            <a:ext cx="1188000" cy="2190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900" u="none" strike="noStrike">
                <a:solidFill>
                  <a:srgbClr val="0D1B2A"/>
                </a:solidFill>
                <a:latin typeface="Calibri"/>
                <a:ea typeface="Calibri"/>
                <a:cs typeface="Calibri"/>
                <a:sym typeface="Calibri"/>
              </a:rPr>
              <a:t>0.</a:t>
            </a:r>
            <a:r>
              <a:rPr lang="en-US" sz="900">
                <a:solidFill>
                  <a:srgbClr val="0D1B2A"/>
                </a:solidFill>
                <a:latin typeface="Calibri"/>
                <a:ea typeface="Calibri"/>
                <a:cs typeface="Calibri"/>
                <a:sym typeface="Calibri"/>
              </a:rPr>
              <a:t>89</a:t>
            </a:r>
            <a:endParaRPr b="0" sz="900" u="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graphicFrame>
        <p:nvGraphicFramePr>
          <p:cNvPr id="339" name="Google Shape;339;p16"/>
          <p:cNvGraphicFramePr/>
          <p:nvPr/>
        </p:nvGraphicFramePr>
        <p:xfrm>
          <a:off x="152400" y="871268"/>
          <a:ext cx="3000000" cy="3000000"/>
        </p:xfrm>
        <a:graphic>
          <a:graphicData uri="http://schemas.openxmlformats.org/drawingml/2006/table">
            <a:tbl>
              <a:tblPr>
                <a:noFill/>
                <a:tableStyleId>{7C400500-FE6D-4947-8818-2905A753AF13}</a:tableStyleId>
              </a:tblPr>
              <a:tblGrid>
                <a:gridCol w="1438275"/>
                <a:gridCol w="3228975"/>
                <a:gridCol w="4257675"/>
              </a:tblGrid>
              <a:tr h="495300">
                <a:tc>
                  <a:txBody>
                    <a:bodyPr/>
                    <a:lstStyle/>
                    <a:p>
                      <a:pPr indent="0" lvl="0" marL="0" rtl="0" algn="l">
                        <a:spcBef>
                          <a:spcPts val="0"/>
                        </a:spcBef>
                        <a:spcAft>
                          <a:spcPts val="0"/>
                        </a:spcAft>
                        <a:buNone/>
                      </a:pPr>
                      <a:r>
                        <a:rPr b="1" lang="en-US" sz="1100"/>
                        <a:t>Input:</a:t>
                      </a:r>
                      <a:r>
                        <a:rPr lang="en-US" sz="1100"/>
                        <a:t> "Nothing seems to interest me anymore"</a:t>
                      </a:r>
                      <a:endParaRPr sz="1100"/>
                    </a:p>
                  </a:txBody>
                  <a:tcPr marT="91425" marB="91425" marR="91425" marL="91425"/>
                </a:tc>
                <a:tc>
                  <a:txBody>
                    <a:bodyPr/>
                    <a:lstStyle/>
                    <a:p>
                      <a:pPr indent="0" lvl="0" marL="0" rtl="0" algn="l">
                        <a:spcBef>
                          <a:spcPts val="0"/>
                        </a:spcBef>
                        <a:spcAft>
                          <a:spcPts val="0"/>
                        </a:spcAft>
                        <a:buNone/>
                      </a:pPr>
                      <a:r>
                        <a:rPr lang="en-US"/>
                        <a:t>"It can be really tough to feel like you've lost your spark... What's one thing you used to enjoy that you haven't tried in a while?"</a:t>
                      </a:r>
                      <a:endParaRPr/>
                    </a:p>
                  </a:txBody>
                  <a:tcPr marT="91425" marB="91425" marR="91425" marL="91425"/>
                </a:tc>
                <a:tc>
                  <a:txBody>
                    <a:bodyPr/>
                    <a:lstStyle/>
                    <a:p>
                      <a:pPr indent="0" lvl="0" marL="0" rtl="0" algn="l">
                        <a:spcBef>
                          <a:spcPts val="0"/>
                        </a:spcBef>
                        <a:spcAft>
                          <a:spcPts val="0"/>
                        </a:spcAft>
                        <a:buNone/>
                      </a:pPr>
                      <a:r>
                        <a:rPr lang="en-US"/>
                        <a:t>"It can be really discouraging when things that used to bring you joy no longer do... What's one thing that you used to enjoy doing that you haven't done in a while?"</a:t>
                      </a:r>
                      <a:endParaRPr/>
                    </a:p>
                  </a:txBody>
                  <a:tcPr marT="91425" marB="91425" marR="91425" marL="91425"/>
                </a:tc>
              </a:tr>
            </a:tbl>
          </a:graphicData>
        </a:graphic>
      </p:graphicFrame>
      <p:graphicFrame>
        <p:nvGraphicFramePr>
          <p:cNvPr id="340" name="Google Shape;340;p16"/>
          <p:cNvGraphicFramePr/>
          <p:nvPr/>
        </p:nvGraphicFramePr>
        <p:xfrm>
          <a:off x="118523" y="2129293"/>
          <a:ext cx="3000000" cy="3000000"/>
        </p:xfrm>
        <a:graphic>
          <a:graphicData uri="http://schemas.openxmlformats.org/drawingml/2006/table">
            <a:tbl>
              <a:tblPr>
                <a:noFill/>
                <a:tableStyleId>{7C400500-FE6D-4947-8818-2905A753AF13}</a:tableStyleId>
              </a:tblPr>
              <a:tblGrid>
                <a:gridCol w="1619250"/>
                <a:gridCol w="3390900"/>
                <a:gridCol w="3914775"/>
              </a:tblGrid>
              <a:tr h="495300">
                <a:tc>
                  <a:txBody>
                    <a:bodyPr/>
                    <a:lstStyle/>
                    <a:p>
                      <a:pPr indent="0" lvl="0" marL="0" rtl="0" algn="l">
                        <a:spcBef>
                          <a:spcPts val="0"/>
                        </a:spcBef>
                        <a:spcAft>
                          <a:spcPts val="0"/>
                        </a:spcAft>
                        <a:buNone/>
                      </a:pPr>
                      <a:r>
                        <a:rPr b="1" lang="en-US" sz="1100"/>
                        <a:t>Input:</a:t>
                      </a:r>
                      <a:r>
                        <a:rPr lang="en-US" sz="1100"/>
                        <a:t> "I'm really anxious about my exam next week"</a:t>
                      </a:r>
                      <a:endParaRPr sz="1100"/>
                    </a:p>
                  </a:txBody>
                  <a:tcPr marT="91425" marB="91425" marR="91425" marL="91425"/>
                </a:tc>
                <a:tc>
                  <a:txBody>
                    <a:bodyPr/>
                    <a:lstStyle/>
                    <a:p>
                      <a:pPr indent="0" lvl="0" marL="0" rtl="0" algn="l">
                        <a:spcBef>
                          <a:spcPts val="0"/>
                        </a:spcBef>
                        <a:spcAft>
                          <a:spcPts val="0"/>
                        </a:spcAft>
                        <a:buNone/>
                      </a:pPr>
                      <a:r>
                        <a:rPr lang="en-US"/>
                        <a:t>"It's completely normal to feel anxious... Would you like to talk a bit more about what's been going through your mind?"</a:t>
                      </a:r>
                      <a:endParaRPr/>
                    </a:p>
                  </a:txBody>
                  <a:tcPr marT="91425" marB="91425" marR="91425" marL="91425"/>
                </a:tc>
                <a:tc>
                  <a:txBody>
                    <a:bodyPr/>
                    <a:lstStyle/>
                    <a:p>
                      <a:pPr indent="0" lvl="0" marL="0" rtl="0" algn="l">
                        <a:spcBef>
                          <a:spcPts val="0"/>
                        </a:spcBef>
                        <a:spcAft>
                          <a:spcPts val="0"/>
                        </a:spcAft>
                        <a:buNone/>
                      </a:pPr>
                      <a:r>
                        <a:rPr lang="en-US"/>
                        <a:t>"Let's take a deep breath together... why don't you notice the things around you? What's the first thing you notice when you look around you?"</a:t>
                      </a:r>
                      <a:endParaRPr/>
                    </a:p>
                  </a:txBody>
                  <a:tcPr marT="91425" marB="91425" marR="91425" marL="91425"/>
                </a:tc>
              </a:tr>
            </a:tbl>
          </a:graphicData>
        </a:graphic>
      </p:graphicFrame>
      <p:graphicFrame>
        <p:nvGraphicFramePr>
          <p:cNvPr id="341" name="Google Shape;341;p16"/>
          <p:cNvGraphicFramePr/>
          <p:nvPr/>
        </p:nvGraphicFramePr>
        <p:xfrm>
          <a:off x="138742" y="3387318"/>
          <a:ext cx="3000000" cy="3000000"/>
        </p:xfrm>
        <a:graphic>
          <a:graphicData uri="http://schemas.openxmlformats.org/drawingml/2006/table">
            <a:tbl>
              <a:tblPr>
                <a:noFill/>
                <a:tableStyleId>{7C400500-FE6D-4947-8818-2905A753AF13}</a:tableStyleId>
              </a:tblPr>
              <a:tblGrid>
                <a:gridCol w="1466850"/>
                <a:gridCol w="3181350"/>
                <a:gridCol w="4267200"/>
              </a:tblGrid>
              <a:tr h="495300">
                <a:tc>
                  <a:txBody>
                    <a:bodyPr/>
                    <a:lstStyle/>
                    <a:p>
                      <a:pPr indent="0" lvl="0" marL="0" rtl="0" algn="l">
                        <a:spcBef>
                          <a:spcPts val="0"/>
                        </a:spcBef>
                        <a:spcAft>
                          <a:spcPts val="0"/>
                        </a:spcAft>
                        <a:buNone/>
                      </a:pPr>
                      <a:r>
                        <a:rPr b="1" lang="en-US" sz="1100"/>
                        <a:t>Input:</a:t>
                      </a:r>
                      <a:r>
                        <a:rPr lang="en-US" sz="1100"/>
                        <a:t> "I got the job but I'm terrified I'll mess it up"</a:t>
                      </a:r>
                      <a:endParaRPr sz="1100"/>
                    </a:p>
                  </a:txBody>
                  <a:tcPr marT="91425" marB="91425" marR="91425" marL="91425"/>
                </a:tc>
                <a:tc>
                  <a:txBody>
                    <a:bodyPr/>
                    <a:lstStyle/>
                    <a:p>
                      <a:pPr indent="0" lvl="0" marL="0" rtl="0" algn="l">
                        <a:spcBef>
                          <a:spcPts val="0"/>
                        </a:spcBef>
                        <a:spcAft>
                          <a:spcPts val="0"/>
                        </a:spcAft>
                        <a:buNone/>
                      </a:pPr>
                      <a:r>
                        <a:rPr lang="en-US"/>
                        <a:t>"It's completely normal to feel that way... What are some things that make you feel most uncertain about your new role?"</a:t>
                      </a:r>
                      <a:endParaRPr/>
                    </a:p>
                  </a:txBody>
                  <a:tcPr marT="91425" marB="91425" marR="91425" marL="91425"/>
                </a:tc>
                <a:tc>
                  <a:txBody>
                    <a:bodyPr/>
                    <a:lstStyle/>
                    <a:p>
                      <a:pPr indent="0" lvl="0" marL="0" rtl="0" algn="l">
                        <a:spcBef>
                          <a:spcPts val="0"/>
                        </a:spcBef>
                        <a:spcAft>
                          <a:spcPts val="0"/>
                        </a:spcAft>
                        <a:buNone/>
                      </a:pPr>
                      <a:r>
                        <a:rPr lang="en-US"/>
                        <a:t>"I hear both excitement about getting the job and fear about messing it up. That's a lot to hold at once. Can you tell me more about which feeling is stronger right now?"</a:t>
                      </a:r>
                      <a:endParaRPr/>
                    </a:p>
                  </a:txBody>
                  <a:tcPr marT="91425" marB="91425" marR="91425" marL="91425"/>
                </a:tc>
              </a:tr>
            </a:tbl>
          </a:graphicData>
        </a:graphic>
      </p:graphicFrame>
      <p:graphicFrame>
        <p:nvGraphicFramePr>
          <p:cNvPr id="342" name="Google Shape;342;p16"/>
          <p:cNvGraphicFramePr/>
          <p:nvPr/>
        </p:nvGraphicFramePr>
        <p:xfrm>
          <a:off x="2147250" y="314143"/>
          <a:ext cx="3000000" cy="3000000"/>
        </p:xfrm>
        <a:graphic>
          <a:graphicData uri="http://schemas.openxmlformats.org/drawingml/2006/table">
            <a:tbl>
              <a:tblPr>
                <a:noFill/>
                <a:tableStyleId>{7C400500-FE6D-4947-8818-2905A753AF13}</a:tableStyleId>
              </a:tblPr>
              <a:tblGrid>
                <a:gridCol w="2768675"/>
                <a:gridCol w="2229650"/>
              </a:tblGrid>
              <a:tr h="180975">
                <a:tc>
                  <a:txBody>
                    <a:bodyPr/>
                    <a:lstStyle/>
                    <a:p>
                      <a:pPr indent="0" lvl="0" marL="0" rtl="0" algn="ctr">
                        <a:lnSpc>
                          <a:spcPct val="115000"/>
                        </a:lnSpc>
                        <a:spcBef>
                          <a:spcPts val="0"/>
                        </a:spcBef>
                        <a:spcAft>
                          <a:spcPts val="0"/>
                        </a:spcAft>
                        <a:buNone/>
                      </a:pPr>
                      <a:r>
                        <a:rPr b="1" lang="en-US" sz="1100"/>
                        <a:t>Baseline Response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AEIF Response</a:t>
                      </a:r>
                      <a:endParaRPr b="1" sz="1100"/>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7"/>
          <p:cNvSpPr txBox="1"/>
          <p:nvPr/>
        </p:nvSpPr>
        <p:spPr>
          <a:xfrm>
            <a:off x="485225" y="539150"/>
            <a:ext cx="75615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Why AEIF wins: Detected PERSISTENT_DISTRESS trend across session → escalated from VALIDATION to VALIDATION_AND_REFLECTION → deeper validation without platitudes. Baseline stays on generic STANDARD script.</a:t>
            </a:r>
            <a:endParaRPr/>
          </a:p>
        </p:txBody>
      </p:sp>
      <p:sp>
        <p:nvSpPr>
          <p:cNvPr id="349" name="Google Shape;349;p17"/>
          <p:cNvSpPr txBox="1"/>
          <p:nvPr/>
        </p:nvSpPr>
        <p:spPr>
          <a:xfrm>
            <a:off x="571050" y="1554550"/>
            <a:ext cx="7475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Why AEIF wins: Detected ANXIETY cluster → selected GROUNDING strategy → offers an actionable calming technique. Baseline just talks about the anxiety without offering anything to do about it.</a:t>
            </a:r>
            <a:endParaRPr/>
          </a:p>
        </p:txBody>
      </p:sp>
      <p:sp>
        <p:nvSpPr>
          <p:cNvPr id="350" name="Google Shape;350;p17"/>
          <p:cNvSpPr txBox="1"/>
          <p:nvPr/>
        </p:nvSpPr>
        <p:spPr>
          <a:xfrm>
            <a:off x="571050" y="2534000"/>
            <a:ext cx="7475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chemeClr val="dk1"/>
                </a:solidFill>
              </a:rPr>
              <a:t>Why AEIF wins</a:t>
            </a:r>
            <a:r>
              <a:rPr b="1" lang="en-US">
                <a:solidFill>
                  <a:schemeClr val="dk1"/>
                </a:solidFill>
              </a:rPr>
              <a:t>:</a:t>
            </a:r>
            <a:r>
              <a:rPr lang="en-US">
                <a:solidFill>
                  <a:schemeClr val="dk1"/>
                </a:solidFill>
              </a:rPr>
              <a:t> The "but" + positive + negative pattern triggered the ambiguity pre-check → selected CLARIFICATION_REQUEST instead of giving generic career advice like Baseline.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55" name="Shape 355"/>
        <p:cNvGrpSpPr/>
        <p:nvPr/>
      </p:nvGrpSpPr>
      <p:grpSpPr>
        <a:xfrm>
          <a:off x="0" y="0"/>
          <a:ext cx="0" cy="0"/>
          <a:chOff x="0" y="0"/>
          <a:chExt cx="0" cy="0"/>
        </a:xfrm>
      </p:grpSpPr>
      <p:sp>
        <p:nvSpPr>
          <p:cNvPr id="356" name="Google Shape;356;p18"/>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7" name="Google Shape;357;p18"/>
          <p:cNvSpPr/>
          <p:nvPr/>
        </p:nvSpPr>
        <p:spPr>
          <a:xfrm>
            <a:off x="457200" y="320040"/>
            <a:ext cx="8228880" cy="47484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FFFFFF"/>
                </a:solidFill>
                <a:latin typeface="Cambria"/>
                <a:ea typeface="Cambria"/>
                <a:cs typeface="Cambria"/>
                <a:sym typeface="Cambria"/>
              </a:rPr>
              <a:t>CONCLUSION &amp; FUTURE WORK</a:t>
            </a:r>
            <a:endParaRPr b="0" sz="2600" u="none" strike="noStrike">
              <a:solidFill>
                <a:srgbClr val="FFFFFF"/>
              </a:solidFill>
              <a:latin typeface="Arial"/>
              <a:ea typeface="Arial"/>
              <a:cs typeface="Arial"/>
              <a:sym typeface="Arial"/>
            </a:endParaRPr>
          </a:p>
        </p:txBody>
      </p:sp>
      <p:sp>
        <p:nvSpPr>
          <p:cNvPr id="358" name="Google Shape;358;p18"/>
          <p:cNvSpPr/>
          <p:nvPr/>
        </p:nvSpPr>
        <p:spPr>
          <a:xfrm>
            <a:off x="365750" y="960126"/>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59" name="Google Shape;359;p18"/>
          <p:cNvSpPr/>
          <p:nvPr/>
        </p:nvSpPr>
        <p:spPr>
          <a:xfrm>
            <a:off x="502910" y="1049671"/>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60" name="Google Shape;360;p18"/>
          <p:cNvSpPr/>
          <p:nvPr/>
        </p:nvSpPr>
        <p:spPr>
          <a:xfrm>
            <a:off x="987471" y="1038644"/>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AEIF achieves 77.1% emotion accuracy, 100% crisis detection, 100% trend accuracy on a challenging, culturally diverse 58-case test set.</a:t>
            </a:r>
            <a:endParaRPr b="0" sz="1050" u="none" strike="noStrike">
              <a:solidFill>
                <a:srgbClr val="FFFFFF"/>
              </a:solidFill>
              <a:latin typeface="Arial"/>
              <a:ea typeface="Arial"/>
              <a:cs typeface="Arial"/>
              <a:sym typeface="Arial"/>
            </a:endParaRPr>
          </a:p>
        </p:txBody>
      </p:sp>
      <p:sp>
        <p:nvSpPr>
          <p:cNvPr id="361" name="Google Shape;361;p18"/>
          <p:cNvSpPr/>
          <p:nvPr/>
        </p:nvSpPr>
        <p:spPr>
          <a:xfrm>
            <a:off x="365750" y="1901455"/>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62" name="Google Shape;362;p18"/>
          <p:cNvSpPr/>
          <p:nvPr/>
        </p:nvSpPr>
        <p:spPr>
          <a:xfrm>
            <a:off x="502910" y="1991000"/>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63" name="Google Shape;363;p18"/>
          <p:cNvSpPr/>
          <p:nvPr/>
        </p:nvSpPr>
        <p:spPr>
          <a:xfrm>
            <a:off x="987471" y="1979532"/>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Strategy-aware response generation produces qualitatively superior empathetic alignment versus an unguided baseline — demonstrated across 3 scripted scenarios.</a:t>
            </a:r>
            <a:endParaRPr b="0" sz="1050" u="none" strike="noStrike">
              <a:solidFill>
                <a:srgbClr val="FFFFFF"/>
              </a:solidFill>
              <a:latin typeface="Arial"/>
              <a:ea typeface="Arial"/>
              <a:cs typeface="Arial"/>
              <a:sym typeface="Arial"/>
            </a:endParaRPr>
          </a:p>
        </p:txBody>
      </p:sp>
      <p:sp>
        <p:nvSpPr>
          <p:cNvPr id="364" name="Google Shape;364;p18"/>
          <p:cNvSpPr/>
          <p:nvPr/>
        </p:nvSpPr>
        <p:spPr>
          <a:xfrm>
            <a:off x="365750" y="2842343"/>
            <a:ext cx="8411700" cy="805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39"/>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65" name="Google Shape;365;p18"/>
          <p:cNvSpPr/>
          <p:nvPr/>
        </p:nvSpPr>
        <p:spPr>
          <a:xfrm>
            <a:off x="502910" y="2931888"/>
            <a:ext cx="365100" cy="5034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1600" u="none" strike="noStrike">
                <a:solidFill>
                  <a:srgbClr val="22A89A"/>
                </a:solidFill>
                <a:latin typeface="Calibri"/>
                <a:ea typeface="Calibri"/>
                <a:cs typeface="Calibri"/>
                <a:sym typeface="Calibri"/>
              </a:rPr>
              <a:t>✓</a:t>
            </a:r>
            <a:endParaRPr b="0" sz="1600" u="none" strike="noStrike">
              <a:solidFill>
                <a:srgbClr val="FFFFFF"/>
              </a:solidFill>
              <a:latin typeface="Arial"/>
              <a:ea typeface="Arial"/>
              <a:cs typeface="Arial"/>
              <a:sym typeface="Arial"/>
            </a:endParaRPr>
          </a:p>
        </p:txBody>
      </p:sp>
      <p:sp>
        <p:nvSpPr>
          <p:cNvPr id="366" name="Google Shape;366;p18"/>
          <p:cNvSpPr/>
          <p:nvPr/>
        </p:nvSpPr>
        <p:spPr>
          <a:xfrm>
            <a:off x="987471" y="2920861"/>
            <a:ext cx="7634400" cy="5592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0" lang="en-US" sz="1050" u="none" strike="noStrike">
                <a:solidFill>
                  <a:srgbClr val="D6DDE3"/>
                </a:solidFill>
                <a:latin typeface="Calibri"/>
                <a:ea typeface="Calibri"/>
                <a:cs typeface="Calibri"/>
                <a:sym typeface="Calibri"/>
              </a:rPr>
              <a:t>The controlled AEIF vs. baseline comparison provides direct evidence that trajectory-aware design meaningfully differentiates conversational AI responses.</a:t>
            </a:r>
            <a:endParaRPr b="0" sz="1050" u="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71" name="Shape 371"/>
        <p:cNvGrpSpPr/>
        <p:nvPr/>
      </p:nvGrpSpPr>
      <p:grpSpPr>
        <a:xfrm>
          <a:off x="0" y="0"/>
          <a:ext cx="0" cy="0"/>
          <a:chOff x="0" y="0"/>
          <a:chExt cx="0" cy="0"/>
        </a:xfrm>
      </p:grpSpPr>
      <p:sp>
        <p:nvSpPr>
          <p:cNvPr id="372" name="Google Shape;372;p19"/>
          <p:cNvSpPr/>
          <p:nvPr/>
        </p:nvSpPr>
        <p:spPr>
          <a:xfrm>
            <a:off x="0" y="0"/>
            <a:ext cx="914340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3" name="Google Shape;373;p19"/>
          <p:cNvSpPr/>
          <p:nvPr/>
        </p:nvSpPr>
        <p:spPr>
          <a:xfrm>
            <a:off x="457200" y="320040"/>
            <a:ext cx="8229000" cy="4749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2600" u="none" strike="noStrike">
                <a:solidFill>
                  <a:srgbClr val="FFFFFF"/>
                </a:solidFill>
                <a:latin typeface="Cambria"/>
                <a:ea typeface="Cambria"/>
                <a:cs typeface="Cambria"/>
                <a:sym typeface="Cambria"/>
              </a:rPr>
              <a:t>CONCLUSION &amp; FUTURE WORK</a:t>
            </a:r>
            <a:endParaRPr b="0" sz="2600" u="none" strike="noStrike">
              <a:solidFill>
                <a:srgbClr val="FFFFFF"/>
              </a:solidFill>
              <a:latin typeface="Arial"/>
              <a:ea typeface="Arial"/>
              <a:cs typeface="Arial"/>
              <a:sym typeface="Arial"/>
            </a:endParaRPr>
          </a:p>
        </p:txBody>
      </p:sp>
      <p:sp>
        <p:nvSpPr>
          <p:cNvPr id="374" name="Google Shape;374;p19"/>
          <p:cNvSpPr/>
          <p:nvPr/>
        </p:nvSpPr>
        <p:spPr>
          <a:xfrm>
            <a:off x="365750" y="960132"/>
            <a:ext cx="8411700" cy="1591800"/>
          </a:xfrm>
          <a:prstGeom prst="roundRect">
            <a:avLst>
              <a:gd fmla="val 13889" name="adj"/>
            </a:avLst>
          </a:prstGeom>
          <a:solidFill>
            <a:srgbClr val="1A2F44"/>
          </a:solidFill>
          <a:ln cap="flat" cmpd="sng" w="12600">
            <a:solidFill>
              <a:srgbClr val="253F57"/>
            </a:solidFill>
            <a:prstDash val="solid"/>
            <a:round/>
            <a:headEnd len="sm" w="sm" type="none"/>
            <a:tailEnd len="sm" w="sm" type="none"/>
          </a:ln>
          <a:effectLst>
            <a:outerShdw blurRad="101520" rotWithShape="0" dir="2700000" dist="37674">
              <a:srgbClr val="000000">
                <a:alpha val="18040"/>
              </a:srgbClr>
            </a:outerShdw>
          </a:effectLst>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75" name="Google Shape;375;p19"/>
          <p:cNvSpPr/>
          <p:nvPr/>
        </p:nvSpPr>
        <p:spPr>
          <a:xfrm>
            <a:off x="690925" y="1144925"/>
            <a:ext cx="7634400" cy="1222200"/>
          </a:xfrm>
          <a:prstGeom prst="rect">
            <a:avLst/>
          </a:prstGeom>
          <a:noFill/>
          <a:ln>
            <a:noFill/>
          </a:ln>
        </p:spPr>
        <p:txBody>
          <a:bodyPr anchorCtr="0" anchor="ctr" bIns="45000" lIns="90000" spcFirstLastPara="1" rIns="90000" wrap="square" tIns="45000">
            <a:noAutofit/>
          </a:bodyPr>
          <a:lstStyle/>
          <a:p>
            <a:pPr indent="0" lvl="0" marL="0" rtl="0" algn="l">
              <a:spcBef>
                <a:spcPts val="0"/>
              </a:spcBef>
              <a:spcAft>
                <a:spcPts val="0"/>
              </a:spcAft>
              <a:buClr>
                <a:schemeClr val="dk1"/>
              </a:buClr>
              <a:buSzPts val="1100"/>
              <a:buFont typeface="Arial"/>
              <a:buNone/>
            </a:pPr>
            <a:r>
              <a:rPr lang="en-US" sz="1600">
                <a:solidFill>
                  <a:srgbClr val="D6DDE3"/>
                </a:solidFill>
                <a:latin typeface="Calibri"/>
                <a:ea typeface="Calibri"/>
                <a:cs typeface="Calibri"/>
                <a:sym typeface="Calibri"/>
              </a:rPr>
              <a:t>Future Work</a:t>
            </a:r>
            <a:endParaRPr sz="1600">
              <a:solidFill>
                <a:srgbClr val="D6DDE3"/>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600">
                <a:solidFill>
                  <a:srgbClr val="D6DDE3"/>
                </a:solidFill>
                <a:latin typeface="Calibri"/>
                <a:ea typeface="Calibri"/>
                <a:cs typeface="Calibri"/>
                <a:sym typeface="Calibri"/>
              </a:rPr>
              <a:t>→ LLM-based secondary crisis detection layer for novel expressions</a:t>
            </a:r>
            <a:endParaRPr sz="1600">
              <a:solidFill>
                <a:srgbClr val="D6DDE3"/>
              </a:solidFill>
              <a:latin typeface="Calibri"/>
              <a:ea typeface="Calibri"/>
              <a:cs typeface="Calibri"/>
              <a:sym typeface="Calibri"/>
            </a:endParaRPr>
          </a:p>
          <a:p>
            <a:pPr indent="0" lvl="0" marL="0" marR="0" rtl="0" algn="l">
              <a:lnSpc>
                <a:spcPct val="100000"/>
              </a:lnSpc>
              <a:spcBef>
                <a:spcPts val="0"/>
              </a:spcBef>
              <a:spcAft>
                <a:spcPts val="0"/>
              </a:spcAft>
              <a:buNone/>
            </a:pPr>
            <a:r>
              <a:rPr lang="en-US" sz="1600">
                <a:solidFill>
                  <a:srgbClr val="D6DDE3"/>
                </a:solidFill>
                <a:latin typeface="Calibri"/>
                <a:ea typeface="Calibri"/>
                <a:cs typeface="Calibri"/>
                <a:sym typeface="Calibri"/>
              </a:rPr>
              <a:t>→ Formal user study with Nigerian young-adult participants to validate real-world efficacy</a:t>
            </a:r>
            <a:endParaRPr sz="1600">
              <a:solidFill>
                <a:srgbClr val="D6DDE3"/>
              </a:solidFill>
              <a:latin typeface="Calibri"/>
              <a:ea typeface="Calibri"/>
              <a:cs typeface="Calibri"/>
              <a:sym typeface="Calibri"/>
            </a:endParaRPr>
          </a:p>
          <a:p>
            <a:pPr indent="0" lvl="0" marL="0" rtl="0" algn="l">
              <a:spcBef>
                <a:spcPts val="0"/>
              </a:spcBef>
              <a:spcAft>
                <a:spcPts val="0"/>
              </a:spcAft>
              <a:buClr>
                <a:schemeClr val="dk1"/>
              </a:buClr>
              <a:buFont typeface="Arial"/>
              <a:buNone/>
            </a:pPr>
            <a:r>
              <a:rPr lang="en-US" sz="1600">
                <a:solidFill>
                  <a:srgbClr val="D6DDE3"/>
                </a:solidFill>
                <a:latin typeface="Calibri"/>
                <a:ea typeface="Calibri"/>
                <a:cs typeface="Calibri"/>
                <a:sym typeface="Calibri"/>
              </a:rPr>
              <a:t>→ Fine-tuning a BERT model to classify nigerian pidgin.</a:t>
            </a:r>
            <a:endParaRPr sz="1600">
              <a:solidFill>
                <a:srgbClr val="D6DDE3"/>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380" name="Shape 380"/>
        <p:cNvGrpSpPr/>
        <p:nvPr/>
      </p:nvGrpSpPr>
      <p:grpSpPr>
        <a:xfrm>
          <a:off x="0" y="0"/>
          <a:ext cx="0" cy="0"/>
          <a:chOff x="0" y="0"/>
          <a:chExt cx="0" cy="0"/>
        </a:xfrm>
      </p:grpSpPr>
      <p:sp>
        <p:nvSpPr>
          <p:cNvPr id="381" name="Google Shape;381;p20"/>
          <p:cNvSpPr/>
          <p:nvPr/>
        </p:nvSpPr>
        <p:spPr>
          <a:xfrm>
            <a:off x="0" y="0"/>
            <a:ext cx="9143280" cy="54000"/>
          </a:xfrm>
          <a:prstGeom prst="rect">
            <a:avLst/>
          </a:prstGeom>
          <a:solidFill>
            <a:srgbClr val="22A89A"/>
          </a:solidFill>
          <a:ln cap="flat" cmpd="sng" w="12600">
            <a:solidFill>
              <a:srgbClr val="22A89A"/>
            </a:solidFill>
            <a:prstDash val="solid"/>
            <a:round/>
            <a:headEnd len="sm" w="sm" type="none"/>
            <a:tailEnd len="sm" w="sm" type="none"/>
          </a:ln>
        </p:spPr>
        <p:txBody>
          <a:bodyPr anchorCtr="0" anchor="t" bIns="9700" lIns="90000" spcFirstLastPara="1" rIns="90000" wrap="square" tIns="9700">
            <a:noAutofit/>
          </a:bodyPr>
          <a:lstStyle/>
          <a:p>
            <a:pPr indent="0" lvl="0" marL="0" marR="0" rtl="0" algn="l">
              <a:spcBef>
                <a:spcPts val="0"/>
              </a:spcBef>
              <a:spcAft>
                <a:spcPts val="0"/>
              </a:spcAft>
              <a:buNone/>
            </a:pPr>
            <a:r>
              <a:t/>
            </a:r>
            <a:endParaRPr b="0" sz="1800" u="none" strike="noStrike">
              <a:solidFill>
                <a:srgbClr val="FFFFFF"/>
              </a:solidFill>
              <a:latin typeface="Arial"/>
              <a:ea typeface="Arial"/>
              <a:cs typeface="Arial"/>
              <a:sym typeface="Arial"/>
            </a:endParaRPr>
          </a:p>
        </p:txBody>
      </p:sp>
      <p:sp>
        <p:nvSpPr>
          <p:cNvPr id="382" name="Google Shape;382;p20"/>
          <p:cNvSpPr/>
          <p:nvPr/>
        </p:nvSpPr>
        <p:spPr>
          <a:xfrm>
            <a:off x="457200" y="1280160"/>
            <a:ext cx="8228880" cy="91368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1" lang="en-US" sz="5600" u="none" strike="noStrike">
                <a:solidFill>
                  <a:srgbClr val="FFFFFF"/>
                </a:solidFill>
                <a:latin typeface="Cambria"/>
                <a:ea typeface="Cambria"/>
                <a:cs typeface="Cambria"/>
                <a:sym typeface="Cambria"/>
              </a:rPr>
              <a:t>THANK YOU</a:t>
            </a:r>
            <a:endParaRPr b="0" sz="5600" u="none" strike="noStrike">
              <a:solidFill>
                <a:srgbClr val="FFFFFF"/>
              </a:solidFill>
              <a:latin typeface="Arial"/>
              <a:ea typeface="Arial"/>
              <a:cs typeface="Arial"/>
              <a:sym typeface="Arial"/>
            </a:endParaRPr>
          </a:p>
        </p:txBody>
      </p:sp>
      <p:sp>
        <p:nvSpPr>
          <p:cNvPr id="383" name="Google Shape;383;p20"/>
          <p:cNvSpPr/>
          <p:nvPr/>
        </p:nvSpPr>
        <p:spPr>
          <a:xfrm>
            <a:off x="3200400" y="2304360"/>
            <a:ext cx="2742480" cy="36000"/>
          </a:xfrm>
          <a:prstGeom prst="rect">
            <a:avLst/>
          </a:prstGeom>
          <a:solidFill>
            <a:srgbClr val="E8A838"/>
          </a:solidFill>
          <a:ln cap="flat" cmpd="sng" w="12600">
            <a:solidFill>
              <a:srgbClr val="E8A838"/>
            </a:solidFill>
            <a:prstDash val="solid"/>
            <a:round/>
            <a:headEnd len="sm" w="sm" type="none"/>
            <a:tailEnd len="sm" w="sm" type="none"/>
          </a:ln>
        </p:spPr>
        <p:txBody>
          <a:bodyPr anchorCtr="0" anchor="t" bIns="0" lIns="90000" spcFirstLastPara="1" rIns="90000" wrap="square" tIns="0">
            <a:noAutofit/>
          </a:bodyPr>
          <a:lstStyle/>
          <a:p>
            <a:pPr indent="0" lvl="0" marL="0" marR="0" rtl="0" algn="l">
              <a:spcBef>
                <a:spcPts val="0"/>
              </a:spcBef>
              <a:spcAft>
                <a:spcPts val="0"/>
              </a:spcAft>
              <a:buNone/>
            </a:pPr>
            <a:r>
              <a:t/>
            </a:r>
            <a:endParaRPr b="0" sz="1800" u="none" strike="noStrike">
              <a:solidFill>
                <a:srgbClr val="000000"/>
              </a:solidFill>
              <a:latin typeface="Arial"/>
              <a:ea typeface="Arial"/>
              <a:cs typeface="Arial"/>
              <a:sym typeface="Arial"/>
            </a:endParaRPr>
          </a:p>
        </p:txBody>
      </p:sp>
      <p:sp>
        <p:nvSpPr>
          <p:cNvPr id="384" name="Google Shape;384;p20"/>
          <p:cNvSpPr/>
          <p:nvPr/>
        </p:nvSpPr>
        <p:spPr>
          <a:xfrm>
            <a:off x="457200" y="2487240"/>
            <a:ext cx="8228880" cy="32832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1" lang="en-US" sz="1600" u="none" strike="noStrike">
                <a:solidFill>
                  <a:srgbClr val="22A89A"/>
                </a:solidFill>
                <a:latin typeface="Calibri"/>
                <a:ea typeface="Calibri"/>
                <a:cs typeface="Calibri"/>
                <a:sym typeface="Calibri"/>
              </a:rPr>
              <a:t>Questions &amp; Discussion</a:t>
            </a:r>
            <a:endParaRPr b="0" sz="1600" u="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